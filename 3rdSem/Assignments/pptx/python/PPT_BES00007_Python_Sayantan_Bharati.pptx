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81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Sayantan Bharati, and my topic is an Email Validation System in </a:t>
            </a:r>
            <a:r>
              <a:rPr lang="en-US"/>
              <a:t>Python : </a:t>
            </a:r>
            <a:r>
              <a:rPr lang="en-US" dirty="0"/>
              <a:t>a program that decides whether an e-mail address is correctly formed and, ideally, whether it can actually receive mail.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a:t>
            </a:r>
            <a:r>
              <a:rPr lang="en-US"/>
              <a:t>practical : </a:t>
            </a:r>
            <a:r>
              <a:rPr lang="en-US" dirty="0"/>
              <a:t>bad addresses cost us real communication. We need to check them as early as possible. This little program is also a tour of the Python syllabus: we will use string methods, regular expressions, functions, modules, error handling and classes.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define what a valid address actually looks like, then compare three ways to validate </a:t>
            </a:r>
            <a:r>
              <a:rPr lang="en-US"/>
              <a:t>one : </a:t>
            </a:r>
            <a:r>
              <a:rPr lang="en-US" dirty="0"/>
              <a:t>regex, manual string parsing, and library/DNS </a:t>
            </a:r>
            <a:r>
              <a:rPr lang="en-US"/>
              <a:t>checks : </a:t>
            </a:r>
            <a:r>
              <a:rPr lang="en-US" dirty="0"/>
              <a:t>then show the system design, walk through the code, test the edge cases, and finish with applications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can check an address, we must know its structure. Every address has a local part, an at-sign, and a domain that ends in a top-level domain. The local part has strict rules about dots, and there are length limits, all defined in the RFC standards.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levels of checking, and they differ in cost. A regular expression is instant and offline. Manual parsing is more explicit but longer to write. DNS and SMTP checks are the most reliable but need a network call, so we only do them after the cheap checks pass.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syntax check. The pattern says: one or more allowed characters, an at-sign, a domain, a dot, and a TLD of at least two letters. Using fullmatch and anchoring makes sure we test the entire string, so a stray space or trailing text cannot slip through.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Regex is not the only way. We can do exactly the same job with ordinary string methods, and the advantage is that each rule produces its own tailored error message. For a user-facing form that is very valuable. This also makes the logic easy to explain line by 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a pipeline. We normalise the input, run the cheap syntax test, then the domain check, then optionally the SMTP check. Each stage can reject with a reason, and network steps are wrapped in exception handling so the program never crashes on a bad connection.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object-oriented version. The rules live inside one class, each check is a method, and the result is a small data object. That structure uses almost every topic we covered this </a:t>
            </a:r>
            <a:r>
              <a:rPr lang="en-US"/>
              <a:t>semester : </a:t>
            </a:r>
            <a:r>
              <a:rPr lang="en-US" dirty="0"/>
              <a:t>modules, functions, exception handling and </a:t>
            </a:r>
            <a:r>
              <a:rPr lang="en-US"/>
              <a:t>classes : </a:t>
            </a:r>
            <a:r>
              <a:rPr lang="en-US" dirty="0"/>
              <a:t>and it makes the system easy to extend.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deeper level is asking the internet. An MX lookup tells us whether the domain can receive mail at all. A full SMTP check can even ask about a specific mailbox, but many servers block it, so a failure there is never proof that the address is </a:t>
            </a:r>
            <a:r>
              <a:rPr lang="en-US"/>
              <a:t>fake : </a:t>
            </a:r>
            <a:r>
              <a:rPr lang="en-US" dirty="0"/>
              <a:t>we treat uncertainty as "unknown", not "invalid".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validator is only as good as its tests. We check the obvious good and bad cases, but also the tricky </a:t>
            </a:r>
            <a:r>
              <a:rPr lang="en-US"/>
              <a:t>ones : </a:t>
            </a:r>
            <a:r>
              <a:rPr lang="en-US" dirty="0"/>
              <a:t>plus-tagging, sub-domains, </a:t>
            </a:r>
            <a:r>
              <a:rPr lang="en-US"/>
              <a:t>uppercase : </a:t>
            </a:r>
            <a:r>
              <a:rPr lang="en-US" dirty="0"/>
              <a:t>and we assert on the exact reason message, not just the yes-or-no. That is how we prove it is neither too strict nor too permissive.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this system is used in signup forms, newsletters and CRM cleanup. The main caution is balance: rules that are too strict reject real people, and full mailbox checks are slow and sometimes blocked. It is also personal data, so it should be handled carefully.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validate in layers from cheap to expensive, normalise your input, write clear messages, and remember that the only definitive way to confirm an address is to send a verification e-mail. This project is small, but it is a complete example of practical </a:t>
            </a:r>
            <a:r>
              <a:rPr lang="en-US"/>
              <a:t>Python : </a:t>
            </a:r>
            <a:r>
              <a:rPr lang="en-US" dirty="0"/>
              <a:t>and that is my conclusion.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standard references behind this presentation. Thank you for </a:t>
            </a:r>
            <a:r>
              <a:rPr lang="en-US"/>
              <a:t>listening : </a:t>
            </a:r>
            <a:r>
              <a:rPr lang="en-US" dirty="0"/>
              <a:t>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
        <p:nvSpPr>
          <p:cNvPr id="12" name="deco left"/>
          <p:cNvSpPr/>
          <p:nvPr/>
        </p:nvSpPr>
        <p:spPr>
          <a:xfrm>
            <a:off x="0" y="4010025"/>
            <a:ext cx="447675" cy="2847975"/>
          </a:xfrm>
          <a:custGeom>
            <a:avLst/>
            <a:gdLst/>
            <a:ahLst/>
            <a:cxnLst/>
            <a:rect l="l" t="t" r="r" b="b"/>
            <a:pathLst>
              <a:path w="447675" h="2847975">
                <a:moveTo>
                  <a:pt x="0" y="2847975"/>
                </a:moveTo>
                <a:lnTo>
                  <a:pt x="0" y="0"/>
                </a:lnTo>
                <a:lnTo>
                  <a:pt x="447675" y="2847975"/>
                </a:lnTo>
                <a:close/>
              </a:path>
            </a:pathLst>
          </a:custGeom>
          <a:solidFill>
            <a:srgbClr val="90C226">
              <a:alpha val="85000"/>
            </a:srgbClr>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B4C86A-96BF-EE86-ABCE-4C614623CC74}"/>
              </a:ext>
            </a:extLst>
          </p:cNvPr>
          <p:cNvPicPr>
            <a:picLocks noChangeAspect="1"/>
          </p:cNvPicPr>
          <p:nvPr userDrawn="1"/>
        </p:nvPicPr>
        <p:blipFill>
          <a:blip r:embed="rId5">
            <a:alphaModFix amt="20000"/>
          </a:blip>
          <a:stretch>
            <a:fillRect/>
          </a:stretch>
        </p:blipFill>
        <p:spPr>
          <a:xfrm>
            <a:off x="2517120" y="-65272"/>
            <a:ext cx="7157759" cy="6988544"/>
          </a:xfrm>
          <a:prstGeom prst="rect">
            <a:avLst/>
          </a:prstGeom>
        </p:spPr>
      </p:pic>
      <p:pic>
        <p:nvPicPr>
          <p:cNvPr id="6" name="Picture 5">
            <a:extLst>
              <a:ext uri="{FF2B5EF4-FFF2-40B4-BE49-F238E27FC236}">
                <a16:creationId xmlns:a16="http://schemas.microsoft.com/office/drawing/2014/main" id="{E70BA88C-B0ED-AA73-BCA3-E74A3D6EB7F6}"/>
              </a:ext>
            </a:extLst>
          </p:cNvPr>
          <p:cNvPicPr>
            <a:picLocks noChangeAspect="1"/>
          </p:cNvPicPr>
          <p:nvPr userDrawn="1"/>
        </p:nvPicPr>
        <p:blipFill>
          <a:blip r:embed="rId5">
            <a:alphaModFix/>
          </a:blip>
          <a:stretch>
            <a:fillRect/>
          </a:stretch>
        </p:blipFill>
        <p:spPr>
          <a:xfrm>
            <a:off x="60385" y="60385"/>
            <a:ext cx="547787" cy="53483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sp>
        <p:nvSpPr>
          <p:cNvPr id="2" name="Title 2"/>
          <p:cNvSpPr txBox="1"/>
          <p:nvPr/>
        </p:nvSpPr>
        <p:spPr>
          <a:xfrm>
            <a:off x="548640" y="777240"/>
            <a:ext cx="8229600" cy="914400"/>
          </a:xfrm>
          <a:prstGeom prst="rect">
            <a:avLst/>
          </a:prstGeom>
          <a:noFill/>
          <a:ln>
            <a:noFill/>
          </a:ln>
        </p:spPr>
        <p:txBody>
          <a:bodyPr wrap="square" lIns="0" tIns="0" rIns="0" bIns="0" rtlCol="0" anchor="ctr">
            <a:noAutofit/>
          </a:bodyPr>
          <a:lstStyle/>
          <a:p>
            <a:pPr algn="l">
              <a:spcBef>
                <a:spcPts val="0"/>
              </a:spcBef>
              <a:spcAft>
                <a:spcPts val="0"/>
              </a:spcAft>
              <a:buNone/>
            </a:pPr>
            <a:r>
              <a:rPr lang="en-US" sz="4400" b="1" i="0" dirty="0">
                <a:solidFill>
                  <a:schemeClr val="tx2"/>
                </a:solidFill>
                <a:latin typeface="+mj-lt"/>
                <a:cs typeface="+mj-lt"/>
              </a:rPr>
              <a:t>Email Validation System</a:t>
            </a:r>
            <a:endParaRPr lang="en-US" sz="4400" dirty="0"/>
          </a:p>
        </p:txBody>
      </p:sp>
      <p:sp>
        <p:nvSpPr>
          <p:cNvPr id="3" name="Subtitle 3"/>
          <p:cNvSpPr txBox="1"/>
          <p:nvPr/>
        </p:nvSpPr>
        <p:spPr>
          <a:xfrm>
            <a:off x="548640" y="1737360"/>
            <a:ext cx="8229600" cy="777240"/>
          </a:xfrm>
          <a:prstGeom prst="rect">
            <a:avLst/>
          </a:prstGeom>
          <a:noFill/>
          <a:ln>
            <a:noFill/>
          </a:ln>
        </p:spPr>
        <p:txBody>
          <a:bodyPr wrap="square" lIns="0" tIns="0" rIns="0" bIns="0" rtlCol="0" anchor="t">
            <a:noAutofit/>
          </a:bodyPr>
          <a:lstStyle/>
          <a:p>
            <a:pPr algn="l">
              <a:spcBef>
                <a:spcPts val="0"/>
              </a:spcBef>
              <a:spcAft>
                <a:spcPts val="0"/>
              </a:spcAft>
              <a:buNone/>
            </a:pPr>
            <a:r>
              <a:rPr lang="en-US" sz="2000" b="0" i="0" dirty="0">
                <a:solidFill>
                  <a:schemeClr val="accent2">
                    <a:lumMod val="75000"/>
                  </a:schemeClr>
                </a:solidFill>
                <a:latin typeface="+mj-lt"/>
                <a:cs typeface="+mj-lt"/>
              </a:rPr>
              <a:t>Checking E-mail Syntax and Deliverability using Python</a:t>
            </a:r>
            <a:endParaRPr lang="en-US" sz="2000" dirty="0"/>
          </a:p>
        </p:txBody>
      </p:sp>
      <p:sp>
        <p:nvSpPr>
          <p:cNvPr id="4" name="Details 4"/>
          <p:cNvSpPr txBox="1"/>
          <p:nvPr/>
        </p:nvSpPr>
        <p:spPr>
          <a:xfrm>
            <a:off x="548640" y="2743200"/>
            <a:ext cx="6035040" cy="3383280"/>
          </a:xfrm>
          <a:prstGeom prst="rect">
            <a:avLst/>
          </a:prstGeom>
          <a:noFill/>
          <a:ln>
            <a:noFill/>
          </a:ln>
        </p:spPr>
        <p:txBody>
          <a:bodyPr wrap="square" lIns="0" tIns="0" rIns="0" bIns="0" rtlCol="0" anchor="t">
            <a:noAutofit/>
          </a:bodyPr>
          <a:lstStyle/>
          <a:p>
            <a:pPr algn="l">
              <a:spcBef>
                <a:spcPts val="0"/>
              </a:spcBef>
              <a:spcAft>
                <a:spcPts val="700"/>
              </a:spcAft>
              <a:buNone/>
            </a:pPr>
            <a:r>
              <a:rPr lang="en-US" sz="1400" b="1" i="0" dirty="0">
                <a:solidFill>
                  <a:schemeClr val="accent2">
                    <a:lumMod val="75000"/>
                  </a:schemeClr>
                </a:solidFill>
                <a:latin typeface="+mn-lt"/>
                <a:cs typeface="+mn-lt"/>
              </a:rPr>
              <a:t>Course: </a:t>
            </a:r>
            <a:r>
              <a:rPr lang="en-US" sz="1400" b="0" i="0" dirty="0">
                <a:solidFill>
                  <a:schemeClr val="tx2"/>
                </a:solidFill>
                <a:latin typeface="+mn-lt"/>
                <a:cs typeface="+mn-lt"/>
              </a:rPr>
              <a:t>Python Programming (BES00007)</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Presented by: </a:t>
            </a:r>
            <a:r>
              <a:rPr lang="en-US" sz="1400" b="0" i="0" dirty="0">
                <a:solidFill>
                  <a:schemeClr val="tx2"/>
                </a:solidFill>
                <a:latin typeface="+mn-lt"/>
                <a:cs typeface="+mn-lt"/>
              </a:rPr>
              <a:t>Sayantan Bharati | BWU/BTS/25/503 | Section B</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Programme: </a:t>
            </a:r>
            <a:r>
              <a:rPr lang="en-US" sz="1400" b="0" i="0" dirty="0">
                <a:solidFill>
                  <a:schemeClr val="tx2"/>
                </a:solidFill>
                <a:latin typeface="+mn-lt"/>
                <a:cs typeface="+mn-lt"/>
              </a:rPr>
              <a:t>B.Tech (CSE), Batch 2025, AY 2026-27 (Odd Semester 3)</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Faculty: </a:t>
            </a:r>
            <a:r>
              <a:rPr lang="en-US" sz="1400" b="0" i="0" dirty="0">
                <a:solidFill>
                  <a:schemeClr val="tx2"/>
                </a:solidFill>
                <a:latin typeface="+mn-lt"/>
                <a:cs typeface="+mn-lt"/>
              </a:rPr>
              <a:t>Pranab Gharai</a:t>
            </a:r>
            <a:endParaRPr lang="en-US" sz="1400" dirty="0"/>
          </a:p>
          <a:p>
            <a:pPr algn="l">
              <a:spcBef>
                <a:spcPts val="0"/>
              </a:spcBef>
              <a:spcAft>
                <a:spcPts val="700"/>
              </a:spcAft>
              <a:buNone/>
            </a:pPr>
            <a:r>
              <a:rPr lang="en-US" sz="1400" b="0" i="0" dirty="0">
                <a:solidFill>
                  <a:schemeClr val="tx2"/>
                </a:solidFill>
                <a:latin typeface="+mn-lt"/>
                <a:cs typeface="+mn-lt"/>
              </a:rPr>
              <a:t>Department of Computer Science &amp; Engineering, Brainware University</a:t>
            </a:r>
            <a:endParaRPr lang="en-US" sz="1400" dirty="0"/>
          </a:p>
          <a:p>
            <a:pPr algn="l">
              <a:spcBef>
                <a:spcPts val="0"/>
              </a:spcBef>
              <a:spcAft>
                <a:spcPts val="700"/>
              </a:spcAft>
              <a:buNone/>
            </a:pPr>
            <a:r>
              <a:rPr lang="en-US" sz="1400" b="1" i="0" dirty="0">
                <a:solidFill>
                  <a:schemeClr val="accent2">
                    <a:lumMod val="75000"/>
                  </a:schemeClr>
                </a:solidFill>
                <a:latin typeface="+mn-lt"/>
                <a:cs typeface="+mn-lt"/>
              </a:rPr>
              <a:t>Date: </a:t>
            </a:r>
            <a:r>
              <a:rPr lang="en-US" sz="1400" b="0" i="0" dirty="0">
                <a:solidFill>
                  <a:schemeClr val="tx2"/>
                </a:solidFill>
                <a:latin typeface="+mn-lt"/>
                <a:cs typeface="+mn-lt"/>
              </a:rPr>
              <a:t>02-11-2026</a:t>
            </a:r>
            <a:endParaRPr lang="en-US" sz="1400" dirty="0"/>
          </a:p>
        </p:txBody>
      </p:sp>
      <p:sp>
        <p:nvSpPr>
          <p:cNvPr id="5" name="Hero Circle 5"/>
          <p:cNvSpPr/>
          <p:nvPr/>
        </p:nvSpPr>
        <p:spPr>
          <a:xfrm>
            <a:off x="6858000" y="2834640"/>
            <a:ext cx="2103120" cy="2103120"/>
          </a:xfrm>
          <a:prstGeom prst="ellipse">
            <a:avLst/>
          </a:prstGeom>
          <a:solidFill>
            <a:schemeClr val="accent1">
              <a:lumMod val="20000"/>
              <a:lumOff val="80000"/>
            </a:schemeClr>
          </a:solidFill>
          <a:ln w="19050">
            <a:solidFill>
              <a:schemeClr val="accent2"/>
            </a:solidFill>
          </a:ln>
        </p:spPr>
        <p:txBody>
          <a:bodyPr/>
          <a:lstStyle/>
          <a:p>
            <a:endParaRPr lang="en-IN"/>
          </a:p>
        </p:txBody>
      </p:sp>
      <p:sp>
        <p:nvSpPr>
          <p:cNvPr id="6" name="At Symbol 6"/>
          <p:cNvSpPr txBox="1"/>
          <p:nvPr/>
        </p:nvSpPr>
        <p:spPr>
          <a:xfrm>
            <a:off x="6858000" y="2834640"/>
            <a:ext cx="2103120" cy="2103120"/>
          </a:xfrm>
          <a:prstGeom prst="rect">
            <a:avLst/>
          </a:prstGeom>
          <a:noFill/>
          <a:ln>
            <a:noFill/>
          </a:ln>
        </p:spPr>
        <p:txBody>
          <a:bodyPr wrap="square" lIns="0" tIns="0" rIns="0" bIns="0" rtlCol="0" anchor="ctr">
            <a:noAutofit/>
          </a:bodyPr>
          <a:lstStyle/>
          <a:p>
            <a:pPr algn="ctr">
              <a:spcBef>
                <a:spcPts val="0"/>
              </a:spcBef>
              <a:spcAft>
                <a:spcPts val="0"/>
              </a:spcAft>
              <a:buNone/>
            </a:pPr>
            <a:r>
              <a:rPr lang="en-US" sz="9600" b="1" i="0" dirty="0">
                <a:solidFill>
                  <a:schemeClr val="accent2">
                    <a:lumMod val="75000"/>
                  </a:schemeClr>
                </a:solidFill>
                <a:latin typeface="+mj-lt"/>
                <a:cs typeface="+mj-lt"/>
              </a:rPr>
              <a:t>@</a:t>
            </a:r>
            <a:endParaRPr lang="en-US" sz="9600" dirty="0"/>
          </a:p>
        </p:txBody>
      </p:sp>
      <p:sp>
        <p:nvSpPr>
          <p:cNvPr id="7" name="Tick Badge 7"/>
          <p:cNvSpPr/>
          <p:nvPr/>
        </p:nvSpPr>
        <p:spPr>
          <a:xfrm>
            <a:off x="8183880" y="4343400"/>
            <a:ext cx="777240" cy="777240"/>
          </a:xfrm>
          <a:prstGeom prst="ellipse">
            <a:avLst/>
          </a:prstGeom>
          <a:solidFill>
            <a:schemeClr val="accent2"/>
          </a:solidFill>
          <a:ln w="38100">
            <a:solidFill>
              <a:schemeClr val="bg1"/>
            </a:solidFill>
          </a:ln>
        </p:spPr>
        <p:txBody>
          <a:bodyPr/>
          <a:lstStyle/>
          <a:p>
            <a:endParaRPr lang="en-IN"/>
          </a:p>
        </p:txBody>
      </p:sp>
      <p:pic>
        <p:nvPicPr>
          <p:cNvPr id="8" name="Icon 8" descr="check"/>
          <p:cNvPicPr>
            <a:picLocks noChangeAspect="1"/>
          </p:cNvPicPr>
          <p:nvPr/>
        </p:nvPicPr>
        <p:blipFill>
          <a:blip r:embed="rId3"/>
          <a:stretch>
            <a:fillRect/>
          </a:stretch>
        </p:blipFill>
        <p:spPr>
          <a:xfrm>
            <a:off x="8348472" y="4507992"/>
            <a:ext cx="448056" cy="4480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Introduct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Introduction : Why Validate E-mail Addresses?</a:t>
            </a:r>
            <a:endParaRPr lang="en-US" sz="2600" dirty="0"/>
          </a:p>
        </p:txBody>
      </p:sp>
      <p:sp>
        <p:nvSpPr>
          <p:cNvPr id="3" name="Bullets 3"/>
          <p:cNvSpPr txBox="1"/>
          <p:nvPr/>
        </p:nvSpPr>
        <p:spPr>
          <a:xfrm>
            <a:off x="548640" y="1463040"/>
            <a:ext cx="4846320" cy="457200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Every signup, contact form and mailing list collects e-mail addresses.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A wrong address means lost communication and wasted mail-outs.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Validation catches typos like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or </a:t>
            </a:r>
            <a:r>
              <a:rPr lang="en-US" sz="1302" b="0" i="0" dirty="0">
                <a:solidFill>
                  <a:schemeClr val="accent2">
                    <a:lumMod val="75000"/>
                  </a:schemeClr>
                </a:solidFill>
                <a:latin typeface="Courier New"/>
                <a:cs typeface="Courier New"/>
              </a:rPr>
              <a:t>user@mail</a:t>
            </a:r>
            <a:r>
              <a:rPr lang="en-US" sz="1400" b="0" i="0" dirty="0">
                <a:solidFill>
                  <a:schemeClr val="tx2"/>
                </a:solidFill>
                <a:latin typeface="+mn-lt"/>
                <a:cs typeface="+mn-lt"/>
              </a:rPr>
              <a:t> before they are stored.</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Two levels: </a:t>
            </a:r>
            <a:r>
              <a:rPr lang="en-US" sz="1400" b="1" i="0" dirty="0">
                <a:solidFill>
                  <a:schemeClr val="tx2"/>
                </a:solidFill>
                <a:latin typeface="+mn-lt"/>
                <a:cs typeface="+mn-lt"/>
              </a:rPr>
              <a:t>syntax validation</a:t>
            </a:r>
            <a:r>
              <a:rPr lang="en-US" sz="1400" b="0" i="0" dirty="0">
                <a:solidFill>
                  <a:schemeClr val="tx2"/>
                </a:solidFill>
                <a:latin typeface="+mn-lt"/>
                <a:cs typeface="+mn-lt"/>
              </a:rPr>
              <a:t> (is it well-formed?) and </a:t>
            </a:r>
            <a:r>
              <a:rPr lang="en-US" sz="1400" b="1" i="0" dirty="0">
                <a:solidFill>
                  <a:schemeClr val="tx2"/>
                </a:solidFill>
                <a:latin typeface="+mn-lt"/>
                <a:cs typeface="+mn-lt"/>
              </a:rPr>
              <a:t>deliverability</a:t>
            </a:r>
            <a:r>
              <a:rPr lang="en-US" sz="1400" b="0" i="0" dirty="0">
                <a:solidFill>
                  <a:schemeClr val="tx2"/>
                </a:solidFill>
                <a:latin typeface="+mn-lt"/>
                <a:cs typeface="+mn-lt"/>
              </a:rPr>
              <a:t> (does the mailbox exist?).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Python is ideal: built-in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a:t>
            </a:r>
            <a:r>
              <a:rPr lang="en-US" sz="1400" b="0" i="0" dirty="0">
                <a:solidFill>
                  <a:schemeClr val="tx2"/>
                </a:solidFill>
                <a:latin typeface="+mn-lt"/>
                <a:cs typeface="+mn-lt"/>
              </a:rPr>
              <a:t> methods,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and clean OOP.</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This project applies </a:t>
            </a:r>
            <a:r>
              <a:rPr lang="en-US" sz="1400" b="1" i="0" dirty="0">
                <a:solidFill>
                  <a:schemeClr val="tx2"/>
                </a:solidFill>
                <a:latin typeface="+mn-lt"/>
                <a:cs typeface="+mn-lt"/>
              </a:rPr>
              <a:t>strings, regex, functions, modules, exceptions and classes</a:t>
            </a:r>
            <a:r>
              <a:rPr lang="en-US" sz="1400" b="0" i="0" dirty="0">
                <a:solidFill>
                  <a:schemeClr val="tx2"/>
                </a:solidFill>
                <a:latin typeface="+mn-lt"/>
                <a:cs typeface="+mn-lt"/>
              </a:rPr>
              <a:t> together.</a:t>
            </a:r>
            <a:endParaRPr lang="en-US" sz="1400" dirty="0"/>
          </a:p>
        </p:txBody>
      </p:sp>
      <p:sp>
        <p:nvSpPr>
          <p:cNvPr id="4" name="Before After Card 4"/>
          <p:cNvSpPr/>
          <p:nvPr/>
        </p:nvSpPr>
        <p:spPr>
          <a:xfrm>
            <a:off x="5669280" y="1463040"/>
            <a:ext cx="3383280" cy="4160520"/>
          </a:xfrm>
          <a:prstGeom prst="roundRect">
            <a:avLst>
              <a:gd name="adj" fmla="val 4000"/>
            </a:avLst>
          </a:prstGeom>
          <a:solidFill>
            <a:schemeClr val="bg2">
              <a:lumMod val="60000"/>
              <a:lumOff val="40000"/>
            </a:schemeClr>
          </a:solidFill>
          <a:ln>
            <a:noFill/>
          </a:ln>
        </p:spPr>
        <p:txBody>
          <a:bodyPr/>
          <a:lstStyle/>
          <a:p>
            <a:endParaRPr lang="en-IN"/>
          </a:p>
        </p:txBody>
      </p:sp>
      <p:sp>
        <p:nvSpPr>
          <p:cNvPr id="5" name="Card Heading 5"/>
          <p:cNvSpPr txBox="1"/>
          <p:nvPr/>
        </p:nvSpPr>
        <p:spPr>
          <a:xfrm>
            <a:off x="5852160" y="1554480"/>
            <a:ext cx="3017520" cy="36576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mn-lt"/>
                <a:cs typeface="+mn-lt"/>
              </a:rPr>
              <a:t>Before / after validation</a:t>
            </a:r>
            <a:endParaRPr lang="en-US" sz="1300" dirty="0"/>
          </a:p>
        </p:txBody>
      </p:sp>
      <p:sp>
        <p:nvSpPr>
          <p:cNvPr id="6" name="Example Row 6"/>
          <p:cNvSpPr/>
          <p:nvPr/>
        </p:nvSpPr>
        <p:spPr>
          <a:xfrm>
            <a:off x="5852160" y="2011680"/>
            <a:ext cx="3017520" cy="1005840"/>
          </a:xfrm>
          <a:prstGeom prst="roundRect">
            <a:avLst>
              <a:gd name="adj" fmla="val 8000"/>
            </a:avLst>
          </a:prstGeom>
          <a:solidFill>
            <a:schemeClr val="bg1"/>
          </a:solidFill>
          <a:ln w="15875">
            <a:solidFill>
              <a:schemeClr val="accent5"/>
            </a:solidFill>
          </a:ln>
        </p:spPr>
        <p:txBody>
          <a:bodyPr/>
          <a:lstStyle/>
          <a:p>
            <a:endParaRPr lang="en-IN"/>
          </a:p>
        </p:txBody>
      </p:sp>
      <p:sp>
        <p:nvSpPr>
          <p:cNvPr id="7" name="Status Icon 7"/>
          <p:cNvSpPr/>
          <p:nvPr/>
        </p:nvSpPr>
        <p:spPr>
          <a:xfrm>
            <a:off x="5989320" y="2286000"/>
            <a:ext cx="457200" cy="457200"/>
          </a:xfrm>
          <a:prstGeom prst="ellipse">
            <a:avLst/>
          </a:prstGeom>
          <a:solidFill>
            <a:schemeClr val="accent5"/>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8" name="Example Text 8"/>
          <p:cNvSpPr txBox="1"/>
          <p:nvPr/>
        </p:nvSpPr>
        <p:spPr>
          <a:xfrm>
            <a:off x="6583680" y="214884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user@@mail.com</a:t>
            </a:r>
            <a:endParaRPr lang="en-US" sz="1300" dirty="0"/>
          </a:p>
          <a:p>
            <a:pPr algn="l">
              <a:spcBef>
                <a:spcPts val="300"/>
              </a:spcBef>
              <a:spcAft>
                <a:spcPts val="0"/>
              </a:spcAft>
              <a:buNone/>
            </a:pPr>
            <a:r>
              <a:rPr lang="en-US" sz="1200" b="0" i="0" dirty="0">
                <a:solidFill>
                  <a:schemeClr val="accent5">
                    <a:lumMod val="85000"/>
                  </a:schemeClr>
                </a:solidFill>
                <a:latin typeface="+mn-lt"/>
                <a:cs typeface="+mn-lt"/>
              </a:rPr>
              <a:t>malformed</a:t>
            </a:r>
            <a:endParaRPr lang="en-US" sz="1200" dirty="0"/>
          </a:p>
        </p:txBody>
      </p:sp>
      <p:sp>
        <p:nvSpPr>
          <p:cNvPr id="9" name="Example Row 9"/>
          <p:cNvSpPr/>
          <p:nvPr/>
        </p:nvSpPr>
        <p:spPr>
          <a:xfrm>
            <a:off x="5852160" y="3200400"/>
            <a:ext cx="3017520" cy="1005840"/>
          </a:xfrm>
          <a:prstGeom prst="roundRect">
            <a:avLst>
              <a:gd name="adj" fmla="val 8000"/>
            </a:avLst>
          </a:prstGeom>
          <a:solidFill>
            <a:schemeClr val="bg1"/>
          </a:solidFill>
          <a:ln w="15875">
            <a:solidFill>
              <a:schemeClr val="accent5"/>
            </a:solidFill>
          </a:ln>
        </p:spPr>
        <p:txBody>
          <a:bodyPr/>
          <a:lstStyle/>
          <a:p>
            <a:endParaRPr lang="en-IN"/>
          </a:p>
        </p:txBody>
      </p:sp>
      <p:sp>
        <p:nvSpPr>
          <p:cNvPr id="10" name="Status Icon 10"/>
          <p:cNvSpPr/>
          <p:nvPr/>
        </p:nvSpPr>
        <p:spPr>
          <a:xfrm>
            <a:off x="5989320" y="3474720"/>
            <a:ext cx="457200" cy="457200"/>
          </a:xfrm>
          <a:prstGeom prst="ellipse">
            <a:avLst/>
          </a:prstGeom>
          <a:solidFill>
            <a:schemeClr val="accent5"/>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11" name="Example Text 11"/>
          <p:cNvSpPr txBox="1"/>
          <p:nvPr/>
        </p:nvSpPr>
        <p:spPr>
          <a:xfrm>
            <a:off x="6583680" y="333756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user@mail</a:t>
            </a:r>
            <a:endParaRPr lang="en-US" sz="1300" dirty="0"/>
          </a:p>
          <a:p>
            <a:pPr algn="l">
              <a:spcBef>
                <a:spcPts val="300"/>
              </a:spcBef>
              <a:spcAft>
                <a:spcPts val="0"/>
              </a:spcAft>
              <a:buNone/>
            </a:pPr>
            <a:r>
              <a:rPr lang="en-US" sz="1200" b="0" i="0" dirty="0">
                <a:solidFill>
                  <a:schemeClr val="accent5">
                    <a:lumMod val="85000"/>
                  </a:schemeClr>
                </a:solidFill>
                <a:latin typeface="+mn-lt"/>
                <a:cs typeface="+mn-lt"/>
              </a:rPr>
              <a:t>no TLD</a:t>
            </a:r>
            <a:endParaRPr lang="en-US" sz="1200" dirty="0"/>
          </a:p>
        </p:txBody>
      </p:sp>
      <p:sp>
        <p:nvSpPr>
          <p:cNvPr id="12" name="Example Row 12"/>
          <p:cNvSpPr/>
          <p:nvPr/>
        </p:nvSpPr>
        <p:spPr>
          <a:xfrm>
            <a:off x="5852160" y="4389120"/>
            <a:ext cx="3017520" cy="1005840"/>
          </a:xfrm>
          <a:prstGeom prst="roundRect">
            <a:avLst>
              <a:gd name="adj" fmla="val 8000"/>
            </a:avLst>
          </a:prstGeom>
          <a:solidFill>
            <a:schemeClr val="bg1"/>
          </a:solidFill>
          <a:ln w="15875">
            <a:solidFill>
              <a:schemeClr val="accent2"/>
            </a:solidFill>
          </a:ln>
        </p:spPr>
        <p:txBody>
          <a:bodyPr/>
          <a:lstStyle/>
          <a:p>
            <a:endParaRPr lang="en-IN"/>
          </a:p>
        </p:txBody>
      </p:sp>
      <p:sp>
        <p:nvSpPr>
          <p:cNvPr id="13" name="Status Icon 13"/>
          <p:cNvSpPr/>
          <p:nvPr/>
        </p:nvSpPr>
        <p:spPr>
          <a:xfrm>
            <a:off x="5989320" y="466344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600" b="1" i="0" dirty="0">
                <a:solidFill>
                  <a:schemeClr val="bg1"/>
                </a:solidFill>
                <a:latin typeface="+mn-lt"/>
                <a:cs typeface="+mn-lt"/>
              </a:rPr>
              <a:t>✓</a:t>
            </a:r>
            <a:endParaRPr lang="en-US" sz="1600" dirty="0"/>
          </a:p>
        </p:txBody>
      </p:sp>
      <p:sp>
        <p:nvSpPr>
          <p:cNvPr id="14" name="Example Text 14"/>
          <p:cNvSpPr txBox="1"/>
          <p:nvPr/>
        </p:nvSpPr>
        <p:spPr>
          <a:xfrm>
            <a:off x="6583680" y="4526280"/>
            <a:ext cx="2194560" cy="731520"/>
          </a:xfrm>
          <a:prstGeom prst="rect">
            <a:avLst/>
          </a:prstGeom>
          <a:noFill/>
          <a:ln>
            <a:noFill/>
          </a:ln>
        </p:spPr>
        <p:txBody>
          <a:bodyPr wrap="square" lIns="0" tIns="0" rIns="0" bIns="0" rtlCol="0" anchor="ctr">
            <a:noAutofit/>
          </a:bodyPr>
          <a:lstStyle/>
          <a:p>
            <a:pPr algn="l">
              <a:spcBef>
                <a:spcPts val="0"/>
              </a:spcBef>
              <a:spcAft>
                <a:spcPts val="0"/>
              </a:spcAft>
              <a:buNone/>
            </a:pPr>
            <a:r>
              <a:rPr lang="en-US" sz="1300" b="1" i="0" dirty="0">
                <a:solidFill>
                  <a:schemeClr val="tx2"/>
                </a:solidFill>
                <a:latin typeface="Courier New"/>
                <a:cs typeface="Courier New"/>
              </a:rPr>
              <a:t>alice@mail.com</a:t>
            </a:r>
            <a:endParaRPr lang="en-US" sz="1300" dirty="0"/>
          </a:p>
          <a:p>
            <a:pPr algn="l">
              <a:spcBef>
                <a:spcPts val="300"/>
              </a:spcBef>
              <a:spcAft>
                <a:spcPts val="0"/>
              </a:spcAft>
              <a:buNone/>
            </a:pPr>
            <a:r>
              <a:rPr lang="en-US" sz="1200" b="0" i="0" dirty="0">
                <a:solidFill>
                  <a:schemeClr val="accent2">
                    <a:lumMod val="75000"/>
                  </a:schemeClr>
                </a:solidFill>
                <a:latin typeface="+mn-lt"/>
                <a:cs typeface="+mn-lt"/>
              </a:rPr>
              <a:t>syntactically valid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Index">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Presentation Outline</a:t>
            </a:r>
            <a:endParaRPr lang="en-US" sz="2600" dirty="0"/>
          </a:p>
        </p:txBody>
      </p:sp>
      <p:sp>
        <p:nvSpPr>
          <p:cNvPr id="3" name="Index Row 3"/>
          <p:cNvSpPr/>
          <p:nvPr/>
        </p:nvSpPr>
        <p:spPr>
          <a:xfrm>
            <a:off x="548640" y="1508760"/>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4" name="Index Number 4"/>
          <p:cNvSpPr/>
          <p:nvPr/>
        </p:nvSpPr>
        <p:spPr>
          <a:xfrm>
            <a:off x="685800" y="1655064"/>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1</a:t>
            </a:r>
            <a:endParaRPr lang="en-US" sz="1400" dirty="0"/>
          </a:p>
        </p:txBody>
      </p:sp>
      <p:sp>
        <p:nvSpPr>
          <p:cNvPr id="5" name="Index Text 5"/>
          <p:cNvSpPr txBox="1"/>
          <p:nvPr/>
        </p:nvSpPr>
        <p:spPr>
          <a:xfrm>
            <a:off x="1280160" y="1508760"/>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Anatomy of a Valid E-mail Address</a:t>
            </a:r>
            <a:endParaRPr lang="en-US" sz="1400" dirty="0"/>
          </a:p>
        </p:txBody>
      </p:sp>
      <p:sp>
        <p:nvSpPr>
          <p:cNvPr id="6" name="Index Row 6"/>
          <p:cNvSpPr/>
          <p:nvPr/>
        </p:nvSpPr>
        <p:spPr>
          <a:xfrm>
            <a:off x="548640" y="2404872"/>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7" name="Index Number 7"/>
          <p:cNvSpPr/>
          <p:nvPr/>
        </p:nvSpPr>
        <p:spPr>
          <a:xfrm>
            <a:off x="685800" y="2551176"/>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2</a:t>
            </a:r>
            <a:endParaRPr lang="en-US" sz="1400" dirty="0"/>
          </a:p>
        </p:txBody>
      </p:sp>
      <p:sp>
        <p:nvSpPr>
          <p:cNvPr id="8" name="Index Text 8"/>
          <p:cNvSpPr txBox="1"/>
          <p:nvPr/>
        </p:nvSpPr>
        <p:spPr>
          <a:xfrm>
            <a:off x="1280160" y="2404872"/>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Validation Strategies Overview</a:t>
            </a:r>
            <a:endParaRPr lang="en-US" sz="1400" dirty="0"/>
          </a:p>
        </p:txBody>
      </p:sp>
      <p:sp>
        <p:nvSpPr>
          <p:cNvPr id="9" name="Index Row 9"/>
          <p:cNvSpPr/>
          <p:nvPr/>
        </p:nvSpPr>
        <p:spPr>
          <a:xfrm>
            <a:off x="548640" y="3300984"/>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10" name="Index Number 10"/>
          <p:cNvSpPr/>
          <p:nvPr/>
        </p:nvSpPr>
        <p:spPr>
          <a:xfrm>
            <a:off x="685800" y="3447288"/>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3</a:t>
            </a:r>
            <a:endParaRPr lang="en-US" sz="1400" dirty="0"/>
          </a:p>
        </p:txBody>
      </p:sp>
      <p:sp>
        <p:nvSpPr>
          <p:cNvPr id="11" name="Index Text 11"/>
          <p:cNvSpPr txBox="1"/>
          <p:nvPr/>
        </p:nvSpPr>
        <p:spPr>
          <a:xfrm>
            <a:off x="1280160" y="3300984"/>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Regex-Based Validation</a:t>
            </a:r>
            <a:endParaRPr lang="en-US" sz="1400" dirty="0"/>
          </a:p>
        </p:txBody>
      </p:sp>
      <p:sp>
        <p:nvSpPr>
          <p:cNvPr id="12" name="Index Row 12"/>
          <p:cNvSpPr/>
          <p:nvPr/>
        </p:nvSpPr>
        <p:spPr>
          <a:xfrm>
            <a:off x="548640" y="4197096"/>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13" name="Index Number 13"/>
          <p:cNvSpPr/>
          <p:nvPr/>
        </p:nvSpPr>
        <p:spPr>
          <a:xfrm>
            <a:off x="685800" y="434340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4</a:t>
            </a:r>
            <a:endParaRPr lang="en-US" sz="1400" dirty="0"/>
          </a:p>
        </p:txBody>
      </p:sp>
      <p:sp>
        <p:nvSpPr>
          <p:cNvPr id="14" name="Index Text 14"/>
          <p:cNvSpPr txBox="1"/>
          <p:nvPr/>
        </p:nvSpPr>
        <p:spPr>
          <a:xfrm>
            <a:off x="1280160" y="4197096"/>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String Methods &amp; Manual Parsing</a:t>
            </a:r>
            <a:endParaRPr lang="en-US" sz="1400" dirty="0"/>
          </a:p>
        </p:txBody>
      </p:sp>
      <p:sp>
        <p:nvSpPr>
          <p:cNvPr id="15" name="Index Row 15"/>
          <p:cNvSpPr/>
          <p:nvPr/>
        </p:nvSpPr>
        <p:spPr>
          <a:xfrm>
            <a:off x="548640" y="5093208"/>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16" name="Index Number 16"/>
          <p:cNvSpPr/>
          <p:nvPr/>
        </p:nvSpPr>
        <p:spPr>
          <a:xfrm>
            <a:off x="685800" y="5239512"/>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5</a:t>
            </a:r>
            <a:endParaRPr lang="en-US" sz="1400" dirty="0"/>
          </a:p>
        </p:txBody>
      </p:sp>
      <p:sp>
        <p:nvSpPr>
          <p:cNvPr id="17" name="Index Text 17"/>
          <p:cNvSpPr txBox="1"/>
          <p:nvPr/>
        </p:nvSpPr>
        <p:spPr>
          <a:xfrm>
            <a:off x="1280160" y="5093208"/>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System Design &amp; Program Flow</a:t>
            </a:r>
            <a:endParaRPr lang="en-US" sz="1400" dirty="0"/>
          </a:p>
        </p:txBody>
      </p:sp>
      <p:sp>
        <p:nvSpPr>
          <p:cNvPr id="18" name="Index Row 18"/>
          <p:cNvSpPr/>
          <p:nvPr/>
        </p:nvSpPr>
        <p:spPr>
          <a:xfrm>
            <a:off x="4800600" y="1508760"/>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19" name="Index Number 19"/>
          <p:cNvSpPr/>
          <p:nvPr/>
        </p:nvSpPr>
        <p:spPr>
          <a:xfrm>
            <a:off x="4937760" y="1655064"/>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6</a:t>
            </a:r>
            <a:endParaRPr lang="en-US" sz="1400" dirty="0"/>
          </a:p>
        </p:txBody>
      </p:sp>
      <p:sp>
        <p:nvSpPr>
          <p:cNvPr id="20" name="Index Text 20"/>
          <p:cNvSpPr txBox="1"/>
          <p:nvPr/>
        </p:nvSpPr>
        <p:spPr>
          <a:xfrm>
            <a:off x="5532120" y="1508760"/>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Code Walkthrough : Object-Oriented Design</a:t>
            </a:r>
            <a:endParaRPr lang="en-US" sz="1400" dirty="0"/>
          </a:p>
        </p:txBody>
      </p:sp>
      <p:sp>
        <p:nvSpPr>
          <p:cNvPr id="21" name="Index Row 21"/>
          <p:cNvSpPr/>
          <p:nvPr/>
        </p:nvSpPr>
        <p:spPr>
          <a:xfrm>
            <a:off x="4800600" y="2404872"/>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22" name="Index Number 22"/>
          <p:cNvSpPr/>
          <p:nvPr/>
        </p:nvSpPr>
        <p:spPr>
          <a:xfrm>
            <a:off x="4937760" y="2551176"/>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7</a:t>
            </a:r>
            <a:endParaRPr lang="en-US" sz="1400" dirty="0"/>
          </a:p>
        </p:txBody>
      </p:sp>
      <p:sp>
        <p:nvSpPr>
          <p:cNvPr id="23" name="Index Text 23"/>
          <p:cNvSpPr txBox="1"/>
          <p:nvPr/>
        </p:nvSpPr>
        <p:spPr>
          <a:xfrm>
            <a:off x="5532120" y="2404872"/>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Advanced : DNS/MX &amp; SMTP Checks</a:t>
            </a:r>
            <a:endParaRPr lang="en-US" sz="1400" dirty="0"/>
          </a:p>
        </p:txBody>
      </p:sp>
      <p:sp>
        <p:nvSpPr>
          <p:cNvPr id="24" name="Index Row 24"/>
          <p:cNvSpPr/>
          <p:nvPr/>
        </p:nvSpPr>
        <p:spPr>
          <a:xfrm>
            <a:off x="4800600" y="3300984"/>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25" name="Index Number 25"/>
          <p:cNvSpPr/>
          <p:nvPr/>
        </p:nvSpPr>
        <p:spPr>
          <a:xfrm>
            <a:off x="4937760" y="3447288"/>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8</a:t>
            </a:r>
            <a:endParaRPr lang="en-US" sz="1400" dirty="0"/>
          </a:p>
        </p:txBody>
      </p:sp>
      <p:sp>
        <p:nvSpPr>
          <p:cNvPr id="26" name="Index Text 26"/>
          <p:cNvSpPr txBox="1"/>
          <p:nvPr/>
        </p:nvSpPr>
        <p:spPr>
          <a:xfrm>
            <a:off x="5532120" y="3300984"/>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Testing &amp; Edge Cases</a:t>
            </a:r>
            <a:endParaRPr lang="en-US" sz="1400" dirty="0"/>
          </a:p>
        </p:txBody>
      </p:sp>
      <p:sp>
        <p:nvSpPr>
          <p:cNvPr id="27" name="Index Row 27"/>
          <p:cNvSpPr/>
          <p:nvPr/>
        </p:nvSpPr>
        <p:spPr>
          <a:xfrm>
            <a:off x="4800600" y="4197096"/>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28" name="Index Number 28"/>
          <p:cNvSpPr/>
          <p:nvPr/>
        </p:nvSpPr>
        <p:spPr>
          <a:xfrm>
            <a:off x="4937760" y="4343400"/>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9</a:t>
            </a:r>
            <a:endParaRPr lang="en-US" sz="1400" dirty="0"/>
          </a:p>
        </p:txBody>
      </p:sp>
      <p:sp>
        <p:nvSpPr>
          <p:cNvPr id="29" name="Index Text 29"/>
          <p:cNvSpPr txBox="1"/>
          <p:nvPr/>
        </p:nvSpPr>
        <p:spPr>
          <a:xfrm>
            <a:off x="5532120" y="4197096"/>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Applications &amp; Limitations</a:t>
            </a:r>
            <a:endParaRPr lang="en-US" sz="1400" dirty="0"/>
          </a:p>
        </p:txBody>
      </p:sp>
      <p:sp>
        <p:nvSpPr>
          <p:cNvPr id="30" name="Index Row 30"/>
          <p:cNvSpPr/>
          <p:nvPr/>
        </p:nvSpPr>
        <p:spPr>
          <a:xfrm>
            <a:off x="4800600" y="5093208"/>
            <a:ext cx="4069080" cy="749808"/>
          </a:xfrm>
          <a:prstGeom prst="roundRect">
            <a:avLst>
              <a:gd name="adj" fmla="val 14000"/>
            </a:avLst>
          </a:prstGeom>
          <a:solidFill>
            <a:schemeClr val="bg2">
              <a:lumMod val="60000"/>
              <a:lumOff val="40000"/>
            </a:schemeClr>
          </a:solidFill>
          <a:ln>
            <a:noFill/>
          </a:ln>
        </p:spPr>
        <p:txBody>
          <a:bodyPr/>
          <a:lstStyle/>
          <a:p>
            <a:endParaRPr lang="en-IN"/>
          </a:p>
        </p:txBody>
      </p:sp>
      <p:sp>
        <p:nvSpPr>
          <p:cNvPr id="31" name="Index Number 31"/>
          <p:cNvSpPr/>
          <p:nvPr/>
        </p:nvSpPr>
        <p:spPr>
          <a:xfrm>
            <a:off x="4937760" y="5239512"/>
            <a:ext cx="457200" cy="457200"/>
          </a:xfrm>
          <a:prstGeom prst="ellipse">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400" b="1" i="0" dirty="0">
                <a:solidFill>
                  <a:schemeClr val="bg1"/>
                </a:solidFill>
                <a:latin typeface="+mn-lt"/>
                <a:cs typeface="+mn-lt"/>
              </a:rPr>
              <a:t>10</a:t>
            </a:r>
            <a:endParaRPr lang="en-US" sz="1400" dirty="0"/>
          </a:p>
        </p:txBody>
      </p:sp>
      <p:sp>
        <p:nvSpPr>
          <p:cNvPr id="32" name="Index Text 32"/>
          <p:cNvSpPr txBox="1"/>
          <p:nvPr/>
        </p:nvSpPr>
        <p:spPr>
          <a:xfrm>
            <a:off x="5532120" y="5093208"/>
            <a:ext cx="3200400" cy="74980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Best Practices &amp; Conclusion</a:t>
            </a:r>
            <a:endParaRPr lang="en-US" sz="1400" dirty="0"/>
          </a:p>
        </p:txBody>
      </p:sp>
      <p:sp>
        <p:nvSpPr>
          <p:cNvPr id="33" name="Footer 33"/>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34" name="Slide Number 34"/>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3</a:t>
            </a:fld>
            <a:endParaRPr lang="en-US" sz="1000" dirty="0">
              <a:solidFill>
                <a:schemeClr val="tx2">
                  <a:lumMod val="65000"/>
                  <a:lumOff val="35000"/>
                </a:schemeClr>
              </a:solidFill>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Anatomy">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What Does a Valid Address Look Like?</a:t>
            </a:r>
            <a:endParaRPr lang="en-US" sz="2600" dirty="0"/>
          </a:p>
        </p:txBody>
      </p:sp>
      <p:sp>
        <p:nvSpPr>
          <p:cNvPr id="3" name="Bullets Left 3"/>
          <p:cNvSpPr txBox="1"/>
          <p:nvPr/>
        </p:nvSpPr>
        <p:spPr>
          <a:xfrm>
            <a:off x="548640" y="1417320"/>
            <a:ext cx="4023360" cy="210312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General form: </a:t>
            </a:r>
            <a:r>
              <a:rPr lang="en-US" sz="1400" b="1" i="0" dirty="0">
                <a:solidFill>
                  <a:schemeClr val="accent2">
                    <a:lumMod val="75000"/>
                  </a:schemeClr>
                </a:solidFill>
                <a:latin typeface="Courier New"/>
                <a:cs typeface="Courier New"/>
              </a:rPr>
              <a:t>local-part @ domain</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302" b="0" i="0" dirty="0">
                <a:solidFill>
                  <a:schemeClr val="accent2">
                    <a:lumMod val="75000"/>
                  </a:schemeClr>
                </a:solidFill>
                <a:latin typeface="Courier New"/>
                <a:cs typeface="Courier New"/>
              </a:rPr>
              <a:t>local-part</a:t>
            </a:r>
            <a:r>
              <a:rPr lang="en-US" sz="1400" b="0" i="0" dirty="0">
                <a:solidFill>
                  <a:schemeClr val="tx2"/>
                </a:solidFill>
                <a:latin typeface="+mn-lt"/>
                <a:cs typeface="+mn-lt"/>
              </a:rPr>
              <a:t>: letters, digits and </a:t>
            </a:r>
            <a:r>
              <a:rPr lang="en-US" sz="1302" b="0" i="0" dirty="0">
                <a:solidFill>
                  <a:schemeClr val="accent2">
                    <a:lumMod val="75000"/>
                  </a:schemeClr>
                </a:solidFill>
                <a:latin typeface="Courier New"/>
                <a:cs typeface="Courier New"/>
              </a:rPr>
              <a:t>. _ % + -</a:t>
            </a:r>
            <a:r>
              <a:rPr lang="en-US" sz="1400" b="0" i="0" dirty="0">
                <a:solidFill>
                  <a:schemeClr val="tx2"/>
                </a:solidFill>
                <a:latin typeface="+mn-lt"/>
                <a:cs typeface="+mn-lt"/>
              </a:rPr>
              <a:t>; no leading/trailing dot; no two dots together.</a:t>
            </a:r>
            <a:endParaRPr lang="en-US" sz="1400" dirty="0"/>
          </a:p>
          <a:p>
            <a:pPr marL="228600" indent="-228600" algn="l">
              <a:spcBef>
                <a:spcPts val="0"/>
              </a:spcBef>
              <a:spcAft>
                <a:spcPts val="600"/>
              </a:spcAft>
              <a:buClr>
                <a:schemeClr val="accent2"/>
              </a:buClr>
              <a:buFont typeface="Arial"/>
              <a:buChar char="•"/>
            </a:pPr>
            <a:r>
              <a:rPr lang="en-US" sz="1302" b="0" i="0" dirty="0">
                <a:solidFill>
                  <a:schemeClr val="accent2">
                    <a:lumMod val="75000"/>
                  </a:schemeClr>
                </a:solidFill>
                <a:latin typeface="Courier New"/>
                <a:cs typeface="Courier New"/>
              </a:rPr>
              <a:t>domain</a:t>
            </a:r>
            <a:r>
              <a:rPr lang="en-US" sz="1400" b="0" i="0" dirty="0">
                <a:solidFill>
                  <a:schemeClr val="tx2"/>
                </a:solidFill>
                <a:latin typeface="+mn-lt"/>
                <a:cs typeface="+mn-lt"/>
              </a:rPr>
              <a:t>: dot-separated </a:t>
            </a:r>
            <a:r>
              <a:rPr lang="en-US" sz="1400" b="1" i="0" dirty="0">
                <a:solidFill>
                  <a:schemeClr val="tx2"/>
                </a:solidFill>
                <a:latin typeface="+mn-lt"/>
                <a:cs typeface="+mn-lt"/>
              </a:rPr>
              <a:t>labels</a:t>
            </a:r>
            <a:r>
              <a:rPr lang="en-US" sz="1400" b="0" i="0" dirty="0">
                <a:solidFill>
                  <a:schemeClr val="tx2"/>
                </a:solidFill>
                <a:latin typeface="+mn-lt"/>
                <a:cs typeface="+mn-lt"/>
              </a:rPr>
              <a:t>; each label starts/ends alphanumeric, may contain </a:t>
            </a:r>
            <a:r>
              <a:rPr lang="en-US" sz="1302" b="0" i="0" dirty="0">
                <a:solidFill>
                  <a:schemeClr val="accent2">
                    <a:lumMod val="75000"/>
                  </a:schemeClr>
                </a:solidFill>
                <a:latin typeface="Courier New"/>
                <a:cs typeface="Courier New"/>
              </a:rPr>
              <a:t>-</a:t>
            </a:r>
            <a:r>
              <a:rPr lang="en-US" sz="1400" b="0" i="0" dirty="0">
                <a:solidFill>
                  <a:schemeClr val="tx2"/>
                </a:solidFill>
                <a:latin typeface="+mn-lt"/>
                <a:cs typeface="+mn-lt"/>
              </a:rPr>
              <a:t>.</a:t>
            </a:r>
            <a:endParaRPr lang="en-US" sz="1400" dirty="0"/>
          </a:p>
        </p:txBody>
      </p:sp>
      <p:sp>
        <p:nvSpPr>
          <p:cNvPr id="4" name="Bullets Right 4"/>
          <p:cNvSpPr txBox="1"/>
          <p:nvPr/>
        </p:nvSpPr>
        <p:spPr>
          <a:xfrm>
            <a:off x="4754880" y="1417320"/>
            <a:ext cx="4114800" cy="210312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The final label is the </a:t>
            </a:r>
            <a:r>
              <a:rPr lang="en-US" sz="1400" b="1" i="0" dirty="0">
                <a:solidFill>
                  <a:schemeClr val="tx2"/>
                </a:solidFill>
                <a:latin typeface="+mn-lt"/>
                <a:cs typeface="+mn-lt"/>
              </a:rPr>
              <a:t>TLD</a:t>
            </a:r>
            <a:r>
              <a:rPr lang="en-US" sz="1400" b="0" i="0" dirty="0">
                <a:solidFill>
                  <a:schemeClr val="tx2"/>
                </a:solidFill>
                <a:latin typeface="+mn-lt"/>
                <a:cs typeface="+mn-lt"/>
              </a:rPr>
              <a:t> : at least two letters (</a:t>
            </a:r>
            <a:r>
              <a:rPr lang="en-US" sz="1302" b="0" i="0" dirty="0">
                <a:solidFill>
                  <a:schemeClr val="accent2">
                    <a:lumMod val="75000"/>
                  </a:schemeClr>
                </a:solidFill>
                <a:latin typeface="Courier New"/>
                <a:cs typeface="Courier New"/>
              </a:rPr>
              <a:t>.com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.org</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.in</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Length limits: local-part ≤ </a:t>
            </a:r>
            <a:r>
              <a:rPr lang="en-US" sz="1400" b="1" i="0" dirty="0">
                <a:solidFill>
                  <a:schemeClr val="tx2"/>
                </a:solidFill>
                <a:latin typeface="+mn-lt"/>
                <a:cs typeface="+mn-lt"/>
              </a:rPr>
              <a:t>64</a:t>
            </a:r>
            <a:r>
              <a:rPr lang="en-US" sz="1400" b="0" i="0" dirty="0">
                <a:solidFill>
                  <a:schemeClr val="tx2"/>
                </a:solidFill>
                <a:latin typeface="+mn-lt"/>
                <a:cs typeface="+mn-lt"/>
              </a:rPr>
              <a:t> chars, total address ≤ </a:t>
            </a:r>
            <a:r>
              <a:rPr lang="en-US" sz="1400" b="1" i="0" dirty="0">
                <a:solidFill>
                  <a:schemeClr val="tx2"/>
                </a:solidFill>
                <a:latin typeface="+mn-lt"/>
                <a:cs typeface="+mn-lt"/>
              </a:rPr>
              <a:t>254</a:t>
            </a:r>
            <a:r>
              <a:rPr lang="en-US" sz="1400" b="0" i="0" dirty="0">
                <a:solidFill>
                  <a:schemeClr val="tx2"/>
                </a:solidFill>
                <a:latin typeface="+mn-lt"/>
                <a:cs typeface="+mn-lt"/>
              </a:rPr>
              <a:t> chars.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Governed by RFC 5321 / RFC 5322 (the Internet e-mail standards).</a:t>
            </a:r>
            <a:endParaRPr lang="en-US" sz="1400" dirty="0"/>
          </a:p>
        </p:txBody>
      </p:sp>
      <p:sp>
        <p:nvSpPr>
          <p:cNvPr id="5" name="Diagram Caption 5"/>
          <p:cNvSpPr txBox="1"/>
          <p:nvPr/>
        </p:nvSpPr>
        <p:spPr>
          <a:xfrm>
            <a:off x="548640" y="3611880"/>
            <a:ext cx="8229600" cy="274320"/>
          </a:xfrm>
          <a:prstGeom prst="rect">
            <a:avLst/>
          </a:prstGeom>
          <a:noFill/>
          <a:ln>
            <a:noFill/>
          </a:ln>
        </p:spPr>
        <p:txBody>
          <a:bodyPr wrap="square" lIns="0" tIns="0" rIns="0" bIns="0" rtlCol="0" anchor="ctr">
            <a:noAutofit/>
          </a:bodyPr>
          <a:lstStyle/>
          <a:p>
            <a:pPr algn="l">
              <a:spcBef>
                <a:spcPts val="0"/>
              </a:spcBef>
              <a:spcAft>
                <a:spcPts val="0"/>
              </a:spcAft>
              <a:buNone/>
            </a:pPr>
            <a:r>
              <a:rPr lang="en-US" sz="1200" b="1" i="0" dirty="0">
                <a:solidFill>
                  <a:schemeClr val="tx2">
                    <a:lumMod val="65000"/>
                    <a:lumOff val="35000"/>
                  </a:schemeClr>
                </a:solidFill>
                <a:latin typeface="+mn-lt"/>
                <a:cs typeface="+mn-lt"/>
              </a:rPr>
              <a:t>Anatomy of  alice.smith+news@mail.example.co.in</a:t>
            </a:r>
            <a:endParaRPr lang="en-US" sz="1200" dirty="0"/>
          </a:p>
        </p:txBody>
      </p:sp>
      <p:sp>
        <p:nvSpPr>
          <p:cNvPr id="6" name="Address Part 6"/>
          <p:cNvSpPr/>
          <p:nvPr/>
        </p:nvSpPr>
        <p:spPr>
          <a:xfrm>
            <a:off x="548640" y="3931920"/>
            <a:ext cx="3246120" cy="731520"/>
          </a:xfrm>
          <a:prstGeom prst="roundRect">
            <a:avLst>
              <a:gd name="adj" fmla="val 12000"/>
            </a:avLst>
          </a:prstGeom>
          <a:solidFill>
            <a:schemeClr val="accent1">
              <a:lumMod val="20000"/>
              <a:lumOff val="80000"/>
            </a:schemeClr>
          </a:solidFill>
          <a:ln w="19050">
            <a:solidFill>
              <a:schemeClr val="accent2"/>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alice.smith+news</a:t>
            </a:r>
            <a:endParaRPr lang="en-US" sz="2200" dirty="0"/>
          </a:p>
        </p:txBody>
      </p:sp>
      <p:cxnSp>
        <p:nvCxnSpPr>
          <p:cNvPr id="7" name="Bracket 7"/>
          <p:cNvCxnSpPr/>
          <p:nvPr/>
        </p:nvCxnSpPr>
        <p:spPr>
          <a:xfrm>
            <a:off x="594360" y="4800600"/>
            <a:ext cx="3154680" cy="0"/>
          </a:xfrm>
          <a:prstGeom prst="straightConnector1">
            <a:avLst/>
          </a:prstGeom>
          <a:ln w="28575">
            <a:solidFill>
              <a:schemeClr val="accent2"/>
            </a:solidFill>
          </a:ln>
        </p:spPr>
      </p:cxnSp>
      <p:sp>
        <p:nvSpPr>
          <p:cNvPr id="8" name="Part Label 8"/>
          <p:cNvSpPr txBox="1"/>
          <p:nvPr/>
        </p:nvSpPr>
        <p:spPr>
          <a:xfrm>
            <a:off x="548640" y="4864608"/>
            <a:ext cx="32461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local-part (≤ 64 chars)</a:t>
            </a:r>
            <a:endParaRPr lang="en-US" sz="1200" dirty="0"/>
          </a:p>
        </p:txBody>
      </p:sp>
      <p:sp>
        <p:nvSpPr>
          <p:cNvPr id="9" name="Address Part 9"/>
          <p:cNvSpPr/>
          <p:nvPr/>
        </p:nvSpPr>
        <p:spPr>
          <a:xfrm>
            <a:off x="3931920" y="3931920"/>
            <a:ext cx="640080" cy="731520"/>
          </a:xfrm>
          <a:prstGeom prst="roundRect">
            <a:avLst>
              <a:gd name="adj" fmla="val 12000"/>
            </a:avLst>
          </a:prstGeom>
          <a:solidFill>
            <a:schemeClr val="tx2"/>
          </a:solidFill>
          <a:ln w="19050">
            <a:solidFill>
              <a:schemeClr val="tx2"/>
            </a:solidFill>
          </a:ln>
        </p:spPr>
        <p:txBody>
          <a:bodyPr wrap="square" lIns="18288" tIns="0" rIns="18288" bIns="0" rtlCol="0" anchor="ctr">
            <a:noAutofit/>
          </a:bodyPr>
          <a:lstStyle/>
          <a:p>
            <a:pPr algn="ctr">
              <a:spcBef>
                <a:spcPts val="0"/>
              </a:spcBef>
              <a:spcAft>
                <a:spcPts val="0"/>
              </a:spcAft>
              <a:buNone/>
            </a:pPr>
            <a:r>
              <a:rPr lang="en-US" sz="2200" b="1" i="0" dirty="0">
                <a:solidFill>
                  <a:schemeClr val="bg1"/>
                </a:solidFill>
                <a:latin typeface="Courier New"/>
                <a:cs typeface="Courier New"/>
              </a:rPr>
              <a:t>@</a:t>
            </a:r>
            <a:endParaRPr lang="en-US" sz="2200" dirty="0"/>
          </a:p>
        </p:txBody>
      </p:sp>
      <p:cxnSp>
        <p:nvCxnSpPr>
          <p:cNvPr id="10" name="Bracket 10"/>
          <p:cNvCxnSpPr/>
          <p:nvPr/>
        </p:nvCxnSpPr>
        <p:spPr>
          <a:xfrm>
            <a:off x="3977640" y="4800600"/>
            <a:ext cx="548640" cy="0"/>
          </a:xfrm>
          <a:prstGeom prst="straightConnector1">
            <a:avLst/>
          </a:prstGeom>
          <a:ln w="28575">
            <a:solidFill>
              <a:schemeClr val="tx2"/>
            </a:solidFill>
          </a:ln>
        </p:spPr>
      </p:cxnSp>
      <p:sp>
        <p:nvSpPr>
          <p:cNvPr id="11" name="Part Label 11"/>
          <p:cNvSpPr txBox="1"/>
          <p:nvPr/>
        </p:nvSpPr>
        <p:spPr>
          <a:xfrm>
            <a:off x="3840480" y="4864608"/>
            <a:ext cx="82296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at-sign</a:t>
            </a:r>
            <a:endParaRPr lang="en-US" sz="1200" dirty="0"/>
          </a:p>
        </p:txBody>
      </p:sp>
      <p:sp>
        <p:nvSpPr>
          <p:cNvPr id="12" name="Address Part 12"/>
          <p:cNvSpPr/>
          <p:nvPr/>
        </p:nvSpPr>
        <p:spPr>
          <a:xfrm>
            <a:off x="4709160" y="3931920"/>
            <a:ext cx="2286000" cy="731520"/>
          </a:xfrm>
          <a:prstGeom prst="roundRect">
            <a:avLst>
              <a:gd name="adj" fmla="val 12000"/>
            </a:avLst>
          </a:prstGeom>
          <a:solidFill>
            <a:schemeClr val="accent3">
              <a:lumMod val="25000"/>
              <a:lumOff val="75000"/>
            </a:schemeClr>
          </a:solidFill>
          <a:ln w="19050">
            <a:solidFill>
              <a:schemeClr val="accent3"/>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mail.example</a:t>
            </a:r>
            <a:endParaRPr lang="en-US" sz="2200" dirty="0"/>
          </a:p>
        </p:txBody>
      </p:sp>
      <p:cxnSp>
        <p:nvCxnSpPr>
          <p:cNvPr id="13" name="Bracket 13"/>
          <p:cNvCxnSpPr/>
          <p:nvPr/>
        </p:nvCxnSpPr>
        <p:spPr>
          <a:xfrm>
            <a:off x="4754880" y="4800600"/>
            <a:ext cx="2194560" cy="0"/>
          </a:xfrm>
          <a:prstGeom prst="straightConnector1">
            <a:avLst/>
          </a:prstGeom>
          <a:ln w="28575">
            <a:solidFill>
              <a:schemeClr val="accent3"/>
            </a:solidFill>
          </a:ln>
        </p:spPr>
      </p:cxnSp>
      <p:sp>
        <p:nvSpPr>
          <p:cNvPr id="14" name="Part Label 14"/>
          <p:cNvSpPr txBox="1"/>
          <p:nvPr/>
        </p:nvSpPr>
        <p:spPr>
          <a:xfrm>
            <a:off x="4709160" y="4864608"/>
            <a:ext cx="228600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domain labels</a:t>
            </a:r>
            <a:endParaRPr lang="en-US" sz="1200" dirty="0"/>
          </a:p>
        </p:txBody>
      </p:sp>
      <p:sp>
        <p:nvSpPr>
          <p:cNvPr id="15" name="Address Part 15"/>
          <p:cNvSpPr/>
          <p:nvPr/>
        </p:nvSpPr>
        <p:spPr>
          <a:xfrm>
            <a:off x="7132320" y="3931920"/>
            <a:ext cx="1463040" cy="731520"/>
          </a:xfrm>
          <a:prstGeom prst="roundRect">
            <a:avLst>
              <a:gd name="adj" fmla="val 12000"/>
            </a:avLst>
          </a:prstGeom>
          <a:solidFill>
            <a:schemeClr val="accent4">
              <a:lumMod val="20000"/>
              <a:lumOff val="80000"/>
            </a:schemeClr>
          </a:solidFill>
          <a:ln w="19050">
            <a:solidFill>
              <a:schemeClr val="accent4"/>
            </a:solidFill>
          </a:ln>
        </p:spPr>
        <p:txBody>
          <a:bodyPr wrap="square" lIns="18288" tIns="0" rIns="18288" bIns="0" rtlCol="0" anchor="ctr">
            <a:noAutofit/>
          </a:bodyPr>
          <a:lstStyle/>
          <a:p>
            <a:pPr algn="ctr">
              <a:spcBef>
                <a:spcPts val="0"/>
              </a:spcBef>
              <a:spcAft>
                <a:spcPts val="0"/>
              </a:spcAft>
              <a:buNone/>
            </a:pPr>
            <a:r>
              <a:rPr lang="en-US" sz="2200" b="1" i="0" dirty="0">
                <a:solidFill>
                  <a:schemeClr val="tx2"/>
                </a:solidFill>
                <a:latin typeface="Courier New"/>
                <a:cs typeface="Courier New"/>
              </a:rPr>
              <a:t>.co.in</a:t>
            </a:r>
            <a:endParaRPr lang="en-US" sz="2200" dirty="0"/>
          </a:p>
        </p:txBody>
      </p:sp>
      <p:cxnSp>
        <p:nvCxnSpPr>
          <p:cNvPr id="16" name="Bracket 16"/>
          <p:cNvCxnSpPr/>
          <p:nvPr/>
        </p:nvCxnSpPr>
        <p:spPr>
          <a:xfrm>
            <a:off x="7178040" y="4800600"/>
            <a:ext cx="1371600" cy="0"/>
          </a:xfrm>
          <a:prstGeom prst="straightConnector1">
            <a:avLst/>
          </a:prstGeom>
          <a:ln w="28575">
            <a:solidFill>
              <a:schemeClr val="accent4"/>
            </a:solidFill>
          </a:ln>
        </p:spPr>
      </p:cxnSp>
      <p:sp>
        <p:nvSpPr>
          <p:cNvPr id="17" name="Part Label 17"/>
          <p:cNvSpPr txBox="1"/>
          <p:nvPr/>
        </p:nvSpPr>
        <p:spPr>
          <a:xfrm>
            <a:off x="7040880" y="4864608"/>
            <a:ext cx="16459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solidFill>
                <a:latin typeface="+mn-lt"/>
                <a:cs typeface="+mn-lt"/>
              </a:rPr>
              <a:t>TLD (≥ 2 letters)</a:t>
            </a:r>
            <a:endParaRPr lang="en-US" sz="1200" dirty="0"/>
          </a:p>
        </p:txBody>
      </p:sp>
      <p:cxnSp>
        <p:nvCxnSpPr>
          <p:cNvPr id="18" name="Total Bracket 18"/>
          <p:cNvCxnSpPr/>
          <p:nvPr/>
        </p:nvCxnSpPr>
        <p:spPr>
          <a:xfrm>
            <a:off x="548640" y="5440680"/>
            <a:ext cx="8046720" cy="0"/>
          </a:xfrm>
          <a:prstGeom prst="straightConnector1">
            <a:avLst/>
          </a:prstGeom>
          <a:ln w="15875">
            <a:solidFill>
              <a:schemeClr val="tx2">
                <a:lumMod val="65000"/>
                <a:lumOff val="35000"/>
              </a:schemeClr>
            </a:solidFill>
          </a:ln>
        </p:spPr>
      </p:cxnSp>
      <p:sp>
        <p:nvSpPr>
          <p:cNvPr id="19" name="Total Label 19"/>
          <p:cNvSpPr txBox="1"/>
          <p:nvPr/>
        </p:nvSpPr>
        <p:spPr>
          <a:xfrm>
            <a:off x="548640" y="5504688"/>
            <a:ext cx="8046720" cy="292608"/>
          </a:xfrm>
          <a:prstGeom prst="rect">
            <a:avLst/>
          </a:prstGeom>
          <a:noFill/>
          <a:ln>
            <a:noFill/>
          </a:ln>
        </p:spPr>
        <p:txBody>
          <a:bodyPr wrap="square" lIns="0" tIns="0" rIns="0" bIns="0" rtlCol="0" anchor="ctr">
            <a:noAutofit/>
          </a:bodyPr>
          <a:lstStyle/>
          <a:p>
            <a:pPr algn="ctr">
              <a:spcBef>
                <a:spcPts val="0"/>
              </a:spcBef>
              <a:spcAft>
                <a:spcPts val="0"/>
              </a:spcAft>
              <a:buNone/>
            </a:pPr>
            <a:r>
              <a:rPr lang="en-US" sz="1200" b="0" i="0" dirty="0">
                <a:solidFill>
                  <a:schemeClr val="tx2">
                    <a:lumMod val="65000"/>
                    <a:lumOff val="35000"/>
                  </a:schemeClr>
                </a:solidFill>
                <a:latin typeface="+mn-lt"/>
                <a:cs typeface="+mn-lt"/>
              </a:rPr>
              <a:t>whole address ≤ 254 characters</a:t>
            </a:r>
            <a:endParaRPr lang="en-US" sz="1200" dirty="0"/>
          </a:p>
        </p:txBody>
      </p:sp>
      <p:sp>
        <p:nvSpPr>
          <p:cNvPr id="20" name="Footer 2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1" name="Slide Number 2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4</a:t>
            </a:fld>
            <a:endParaRPr lang="en-US" sz="1000" dirty="0">
              <a:solidFill>
                <a:schemeClr val="tx2">
                  <a:lumMod val="65000"/>
                  <a:lumOff val="35000"/>
                </a:schemeClr>
              </a:solidFill>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ree Ways to Validate">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Three Ways to Validate</a:t>
            </a:r>
            <a:endParaRPr lang="en-US" sz="2600" dirty="0"/>
          </a:p>
        </p:txBody>
      </p:sp>
      <p:sp>
        <p:nvSpPr>
          <p:cNvPr id="3" name="Bullets 3"/>
          <p:cNvSpPr txBox="1"/>
          <p:nvPr/>
        </p:nvSpPr>
        <p:spPr>
          <a:xfrm>
            <a:off x="548640" y="1463040"/>
            <a:ext cx="4343400" cy="457200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1. Regex</a:t>
            </a:r>
            <a:r>
              <a:rPr lang="en-US" sz="1400" b="0" i="0" dirty="0">
                <a:solidFill>
                  <a:schemeClr val="tx2"/>
                </a:solidFill>
                <a:latin typeface="+mn-lt"/>
                <a:cs typeface="+mn-lt"/>
              </a:rPr>
              <a:t> : a pattern match; fast, no network, catches most malformed input.</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2. Manual parsing</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str.split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partition</a:t>
            </a:r>
            <a:r>
              <a:rPr lang="en-US" sz="1400" b="0" i="0" dirty="0">
                <a:solidFill>
                  <a:schemeClr val="tx2"/>
                </a:solidFill>
                <a:latin typeface="+mn-lt"/>
                <a:cs typeface="+mn-lt"/>
              </a:rPr>
              <a:t>, checks on letters/digits; explicit but verbose.</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3. Library / DNS / SMTP</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email_validator</a:t>
            </a:r>
            <a:r>
              <a:rPr lang="en-US" sz="1400" b="0" i="0" dirty="0">
                <a:solidFill>
                  <a:schemeClr val="tx2"/>
                </a:solidFill>
                <a:latin typeface="+mn-lt"/>
                <a:cs typeface="+mn-lt"/>
              </a:rPr>
              <a:t>, MX lookup with </a:t>
            </a:r>
            <a:r>
              <a:rPr lang="en-US" sz="1302" b="0" i="0" dirty="0">
                <a:solidFill>
                  <a:schemeClr val="accent2">
                    <a:lumMod val="75000"/>
                  </a:schemeClr>
                </a:solidFill>
                <a:latin typeface="Courier New"/>
                <a:cs typeface="Courier New"/>
              </a:rPr>
              <a:t>dnspython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handshake.</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Syntax checks are </a:t>
            </a:r>
            <a:r>
              <a:rPr lang="en-US" sz="1400" b="1" i="0" dirty="0">
                <a:solidFill>
                  <a:schemeClr val="tx2"/>
                </a:solidFill>
                <a:latin typeface="+mn-lt"/>
                <a:cs typeface="+mn-lt"/>
              </a:rPr>
              <a:t>offline</a:t>
            </a:r>
            <a:r>
              <a:rPr lang="en-US" sz="1400" b="0" i="0" dirty="0">
                <a:solidFill>
                  <a:schemeClr val="tx2"/>
                </a:solidFill>
                <a:latin typeface="+mn-lt"/>
                <a:cs typeface="+mn-lt"/>
              </a:rPr>
              <a:t>; deliverability checks need the </a:t>
            </a:r>
            <a:r>
              <a:rPr lang="en-US" sz="1400" b="1" i="0" dirty="0">
                <a:solidFill>
                  <a:schemeClr val="tx2"/>
                </a:solidFill>
                <a:latin typeface="+mn-lt"/>
                <a:cs typeface="+mn-lt"/>
              </a:rPr>
              <a:t>network</a:t>
            </a:r>
            <a:r>
              <a:rPr lang="en-US" sz="1400" b="0" i="0" dirty="0">
                <a:solidFill>
                  <a:schemeClr val="tx2"/>
                </a:solidFill>
                <a:latin typeface="+mn-lt"/>
                <a:cs typeface="+mn-lt"/>
              </a:rPr>
              <a: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Best design: </a:t>
            </a:r>
            <a:r>
              <a:rPr lang="en-US" sz="1400" b="1" i="0" dirty="0">
                <a:solidFill>
                  <a:schemeClr val="tx2"/>
                </a:solidFill>
                <a:latin typeface="+mn-lt"/>
                <a:cs typeface="+mn-lt"/>
              </a:rPr>
              <a:t>layered</a:t>
            </a:r>
            <a:r>
              <a:rPr lang="en-US" sz="1400" b="0" i="0" dirty="0">
                <a:solidFill>
                  <a:schemeClr val="tx2"/>
                </a:solidFill>
                <a:latin typeface="+mn-lt"/>
                <a:cs typeface="+mn-lt"/>
              </a:rPr>
              <a:t> : cheap syntax check first, expensive network check only if it passes.</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Trade-off: strictness vs false rejections (valid-but-unusual addresses exist).</a:t>
            </a:r>
            <a:endParaRPr lang="en-US" sz="1400" dirty="0"/>
          </a:p>
        </p:txBody>
      </p:sp>
      <p:sp>
        <p:nvSpPr>
          <p:cNvPr id="4" name="Pyramid Layer 4"/>
          <p:cNvSpPr/>
          <p:nvPr/>
        </p:nvSpPr>
        <p:spPr>
          <a:xfrm>
            <a:off x="6309360" y="1554480"/>
            <a:ext cx="1463040" cy="1005840"/>
          </a:xfrm>
          <a:prstGeom prst="trapezoid">
            <a:avLst>
              <a:gd name="adj" fmla="val 59091"/>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bg1"/>
                </a:solidFill>
                <a:latin typeface="+mn-lt"/>
                <a:cs typeface="+mn-lt"/>
              </a:rPr>
              <a:t>SMTP</a:t>
            </a:r>
            <a:endParaRPr lang="en-US" sz="1300" dirty="0"/>
          </a:p>
        </p:txBody>
      </p:sp>
      <p:sp>
        <p:nvSpPr>
          <p:cNvPr id="5" name="Pyramid Layer 5"/>
          <p:cNvSpPr/>
          <p:nvPr/>
        </p:nvSpPr>
        <p:spPr>
          <a:xfrm>
            <a:off x="5715000" y="2606040"/>
            <a:ext cx="2651760" cy="1005840"/>
          </a:xfrm>
          <a:prstGeom prst="trapezoid">
            <a:avLst>
              <a:gd name="adj" fmla="val 59091"/>
            </a:avLst>
          </a:prstGeom>
          <a:solidFill>
            <a:schemeClr val="accent2"/>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bg1"/>
                </a:solidFill>
                <a:latin typeface="+mn-lt"/>
                <a:cs typeface="+mn-lt"/>
              </a:rPr>
              <a:t>DNS / MX</a:t>
            </a:r>
            <a:endParaRPr lang="en-US" sz="1300" dirty="0"/>
          </a:p>
        </p:txBody>
      </p:sp>
      <p:sp>
        <p:nvSpPr>
          <p:cNvPr id="6" name="Pyramid Layer 6"/>
          <p:cNvSpPr/>
          <p:nvPr/>
        </p:nvSpPr>
        <p:spPr>
          <a:xfrm>
            <a:off x="5120640" y="3657600"/>
            <a:ext cx="3840480" cy="1005840"/>
          </a:xfrm>
          <a:prstGeom prst="trapezoid">
            <a:avLst>
              <a:gd name="adj" fmla="val 59091"/>
            </a:avLst>
          </a:prstGeom>
          <a:solidFill>
            <a:schemeClr val="accent1"/>
          </a:solid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Regex · Manual parsing</a:t>
            </a:r>
            <a:endParaRPr lang="en-US" sz="1300" dirty="0"/>
          </a:p>
        </p:txBody>
      </p:sp>
      <p:sp>
        <p:nvSpPr>
          <p:cNvPr id="7" name="Pyramid Caption 7"/>
          <p:cNvSpPr txBox="1"/>
          <p:nvPr/>
        </p:nvSpPr>
        <p:spPr>
          <a:xfrm>
            <a:off x="5120640" y="4846320"/>
            <a:ext cx="3840480" cy="548640"/>
          </a:xfrm>
          <a:prstGeom prst="rect">
            <a:avLst/>
          </a:prstGeom>
          <a:noFill/>
          <a:ln>
            <a:noFill/>
          </a:ln>
        </p:spPr>
        <p:txBody>
          <a:bodyPr wrap="square" lIns="0" tIns="0" rIns="0" bIns="0" rtlCol="0" anchor="t">
            <a:noAutofit/>
          </a:bodyPr>
          <a:lstStyle/>
          <a:p>
            <a:pPr algn="ctr">
              <a:spcBef>
                <a:spcPts val="0"/>
              </a:spcBef>
              <a:spcAft>
                <a:spcPts val="0"/>
              </a:spcAft>
              <a:buNone/>
            </a:pPr>
            <a:r>
              <a:rPr lang="en-US" sz="1200" b="0" i="0" dirty="0">
                <a:solidFill>
                  <a:schemeClr val="tx2">
                    <a:lumMod val="65000"/>
                    <a:lumOff val="35000"/>
                  </a:schemeClr>
                </a:solidFill>
                <a:latin typeface="+mn-lt"/>
                <a:cs typeface="+mn-lt"/>
              </a:rPr>
              <a:t>Top: slow, needs the network</a:t>
            </a:r>
            <a:endParaRPr lang="en-US" sz="1200" dirty="0"/>
          </a:p>
          <a:p>
            <a:pPr algn="ctr">
              <a:spcBef>
                <a:spcPts val="0"/>
              </a:spcBef>
              <a:spcAft>
                <a:spcPts val="0"/>
              </a:spcAft>
              <a:buNone/>
            </a:pPr>
            <a:r>
              <a:rPr lang="en-US" sz="1200" b="0" i="0" dirty="0">
                <a:solidFill>
                  <a:schemeClr val="tx2">
                    <a:lumMod val="65000"/>
                    <a:lumOff val="35000"/>
                  </a:schemeClr>
                </a:solidFill>
                <a:latin typeface="+mn-lt"/>
                <a:cs typeface="+mn-lt"/>
              </a:rPr>
              <a:t>Base: instant, works offline</a:t>
            </a:r>
            <a:endParaRPr lang="en-US" sz="1200" dirty="0"/>
          </a:p>
        </p:txBody>
      </p:sp>
      <p:sp>
        <p:nvSpPr>
          <p:cNvPr id="8" name="Footer 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9" name="Slide Number 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5</a:t>
            </a:fld>
            <a:endParaRPr lang="en-US" sz="1000" dirty="0">
              <a:solidFill>
                <a:schemeClr val="tx2">
                  <a:lumMod val="65000"/>
                  <a:lumOff val="35000"/>
                </a:schemeClr>
              </a:solidFill>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Regex Validat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Practical Validation with re</a:t>
            </a:r>
            <a:endParaRPr lang="en-US" sz="2600" dirty="0"/>
          </a:p>
        </p:txBody>
      </p:sp>
      <p:sp>
        <p:nvSpPr>
          <p:cNvPr id="3" name="Bullets 3"/>
          <p:cNvSpPr txBox="1"/>
          <p:nvPr/>
        </p:nvSpPr>
        <p:spPr>
          <a:xfrm>
            <a:off x="548640" y="1371600"/>
            <a:ext cx="8321040" cy="1828800"/>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A </a:t>
            </a:r>
            <a:r>
              <a:rPr lang="en-US" sz="1400" b="1" i="0" dirty="0">
                <a:solidFill>
                  <a:schemeClr val="tx2"/>
                </a:solidFill>
                <a:latin typeface="+mn-lt"/>
                <a:cs typeface="+mn-lt"/>
              </a:rPr>
              <a:t>regular expression</a:t>
            </a:r>
            <a:r>
              <a:rPr lang="en-US" sz="1400" b="0" i="0" dirty="0">
                <a:solidFill>
                  <a:schemeClr val="tx2"/>
                </a:solidFill>
                <a:latin typeface="+mn-lt"/>
                <a:cs typeface="+mn-lt"/>
              </a:rPr>
              <a:t> describes the allowed character pattern.</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A good practical pattern: </a:t>
            </a:r>
            <a:r>
              <a:rPr lang="en-US" sz="1302" b="0" i="0" dirty="0">
                <a:solidFill>
                  <a:schemeClr val="accent2">
                    <a:lumMod val="75000"/>
                  </a:schemeClr>
                </a:solidFill>
                <a:latin typeface="Courier New"/>
                <a:cs typeface="Courier New"/>
              </a:rPr>
              <a:t>^[A-Za-z0-9._%+-]+@[A-Za-z0-9.-]+\.[A-Za-z]{2,}$</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 ... $</a:t>
            </a:r>
            <a:r>
              <a:rPr lang="en-US" sz="1400" b="0" i="0" dirty="0">
                <a:solidFill>
                  <a:schemeClr val="tx2"/>
                </a:solidFill>
                <a:latin typeface="+mn-lt"/>
                <a:cs typeface="+mn-lt"/>
              </a:rPr>
              <a:t> anchor the whole string : prevents partial matches.</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re.fullmatch()</a:t>
            </a:r>
            <a:r>
              <a:rPr lang="en-US" sz="1400" b="0" i="0" dirty="0">
                <a:solidFill>
                  <a:schemeClr val="tx2"/>
                </a:solidFill>
                <a:latin typeface="+mn-lt"/>
                <a:cs typeface="+mn-lt"/>
              </a:rPr>
              <a:t> is even safer: the whole string must match.</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Regex is compact but </a:t>
            </a:r>
            <a:r>
              <a:rPr lang="en-US" sz="1400" b="1" i="0" dirty="0">
                <a:solidFill>
                  <a:schemeClr val="tx2"/>
                </a:solidFill>
                <a:latin typeface="+mn-lt"/>
                <a:cs typeface="+mn-lt"/>
              </a:rPr>
              <a:t>not a full RFC parser</a:t>
            </a:r>
            <a:r>
              <a:rPr lang="en-US" sz="1400" b="0" i="0" dirty="0">
                <a:solidFill>
                  <a:schemeClr val="tx2"/>
                </a:solidFill>
                <a:latin typeface="+mn-lt"/>
                <a:cs typeface="+mn-lt"/>
              </a:rPr>
              <a:t> : it cannot check MX records.</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Precompile the pattern for speed when validating many addresses.</a:t>
            </a:r>
            <a:endParaRPr lang="en-US" sz="1400" dirty="0"/>
          </a:p>
        </p:txBody>
      </p:sp>
      <p:sp>
        <p:nvSpPr>
          <p:cNvPr id="4" name="Code Card 4"/>
          <p:cNvSpPr/>
          <p:nvPr/>
        </p:nvSpPr>
        <p:spPr>
          <a:xfrm>
            <a:off x="548640" y="3291840"/>
            <a:ext cx="8321040" cy="1463040"/>
          </a:xfrm>
          <a:prstGeom prst="roundRect">
            <a:avLst>
              <a:gd name="adj" fmla="val 3500"/>
            </a:avLst>
          </a:prstGeom>
          <a:solidFill>
            <a:schemeClr val="tx2"/>
          </a:solidFill>
          <a:ln>
            <a:noFill/>
          </a:ln>
        </p:spPr>
        <p:txBody>
          <a:bodyPr/>
          <a:lstStyle/>
          <a:p>
            <a:endParaRPr lang="en-IN"/>
          </a:p>
        </p:txBody>
      </p:sp>
      <p:sp>
        <p:nvSpPr>
          <p:cNvPr id="5" name="Code Header 5"/>
          <p:cNvSpPr/>
          <p:nvPr/>
        </p:nvSpPr>
        <p:spPr>
          <a:xfrm>
            <a:off x="548640" y="3291840"/>
            <a:ext cx="832104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6" name="Dot 6"/>
          <p:cNvSpPr/>
          <p:nvPr/>
        </p:nvSpPr>
        <p:spPr>
          <a:xfrm>
            <a:off x="713232" y="3401568"/>
            <a:ext cx="91440" cy="91440"/>
          </a:xfrm>
          <a:prstGeom prst="ellipse">
            <a:avLst/>
          </a:prstGeom>
          <a:solidFill>
            <a:schemeClr val="accent5"/>
          </a:solidFill>
          <a:ln>
            <a:noFill/>
          </a:ln>
        </p:spPr>
        <p:txBody>
          <a:bodyPr/>
          <a:lstStyle/>
          <a:p>
            <a:endParaRPr lang="en-IN"/>
          </a:p>
        </p:txBody>
      </p:sp>
      <p:sp>
        <p:nvSpPr>
          <p:cNvPr id="7" name="Dot 7"/>
          <p:cNvSpPr/>
          <p:nvPr/>
        </p:nvSpPr>
        <p:spPr>
          <a:xfrm>
            <a:off x="896112" y="3401568"/>
            <a:ext cx="91440" cy="91440"/>
          </a:xfrm>
          <a:prstGeom prst="ellipse">
            <a:avLst/>
          </a:prstGeom>
          <a:solidFill>
            <a:schemeClr val="accent3"/>
          </a:solidFill>
          <a:ln>
            <a:noFill/>
          </a:ln>
        </p:spPr>
        <p:txBody>
          <a:bodyPr/>
          <a:lstStyle/>
          <a:p>
            <a:endParaRPr lang="en-IN"/>
          </a:p>
        </p:txBody>
      </p:sp>
      <p:sp>
        <p:nvSpPr>
          <p:cNvPr id="8" name="Dot 8"/>
          <p:cNvSpPr/>
          <p:nvPr/>
        </p:nvSpPr>
        <p:spPr>
          <a:xfrm>
            <a:off x="1078992" y="3401568"/>
            <a:ext cx="91440" cy="91440"/>
          </a:xfrm>
          <a:prstGeom prst="ellipse">
            <a:avLst/>
          </a:prstGeom>
          <a:solidFill>
            <a:schemeClr val="accent1"/>
          </a:solidFill>
          <a:ln>
            <a:noFill/>
          </a:ln>
        </p:spPr>
        <p:txBody>
          <a:bodyPr/>
          <a:lstStyle/>
          <a:p>
            <a:endParaRPr lang="en-IN"/>
          </a:p>
        </p:txBody>
      </p:sp>
      <p:sp>
        <p:nvSpPr>
          <p:cNvPr id="9" name="Code Label 9"/>
          <p:cNvSpPr txBox="1"/>
          <p:nvPr/>
        </p:nvSpPr>
        <p:spPr>
          <a:xfrm>
            <a:off x="6492240" y="329184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regex_validation.py</a:t>
            </a:r>
            <a:endParaRPr lang="en-US" sz="1000" dirty="0"/>
          </a:p>
        </p:txBody>
      </p:sp>
      <p:sp>
        <p:nvSpPr>
          <p:cNvPr id="10" name="Code 10"/>
          <p:cNvSpPr txBox="1"/>
          <p:nvPr/>
        </p:nvSpPr>
        <p:spPr>
          <a:xfrm>
            <a:off x="731520" y="3712464"/>
            <a:ext cx="8046720" cy="969264"/>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US" sz="1200" b="1" i="0" dirty="0">
                <a:solidFill>
                  <a:schemeClr val="accent1"/>
                </a:solidFill>
                <a:latin typeface="Courier New"/>
                <a:cs typeface="Courier New"/>
              </a:rPr>
              <a:t>import</a:t>
            </a:r>
            <a:r>
              <a:rPr lang="en-US" sz="1200" b="0" i="0" dirty="0">
                <a:solidFill>
                  <a:schemeClr val="bg2"/>
                </a:solidFill>
                <a:latin typeface="Courier New"/>
                <a:cs typeface="Courier New"/>
              </a:rPr>
              <a:t> </a:t>
            </a:r>
            <a:r>
              <a:rPr lang="en-US" sz="1200" b="0" i="0" dirty="0">
                <a:solidFill>
                  <a:schemeClr val="accent1">
                    <a:lumMod val="55000"/>
                    <a:lumOff val="45000"/>
                  </a:schemeClr>
                </a:solidFill>
                <a:latin typeface="Courier New"/>
                <a:cs typeface="Courier New"/>
              </a:rPr>
              <a:t>re</a:t>
            </a:r>
            <a:endParaRPr lang="en-US" sz="1200" dirty="0"/>
          </a:p>
          <a:p>
            <a:pPr algn="l">
              <a:lnSpc>
                <a:spcPct val="100000"/>
              </a:lnSpc>
              <a:spcBef>
                <a:spcPts val="0"/>
              </a:spcBef>
              <a:spcAft>
                <a:spcPts val="0"/>
              </a:spcAft>
              <a:buNone/>
            </a:pPr>
            <a:r>
              <a:rPr lang="en-US" sz="1200" b="0" i="0" dirty="0">
                <a:solidFill>
                  <a:schemeClr val="bg2"/>
                </a:solidFill>
                <a:latin typeface="Courier New"/>
                <a:cs typeface="Courier New"/>
              </a:rPr>
              <a:t>EMAIL_RE = </a:t>
            </a:r>
            <a:r>
              <a:rPr lang="en-US" sz="1200" b="0" i="0" dirty="0">
                <a:solidFill>
                  <a:schemeClr val="accent1">
                    <a:lumMod val="55000"/>
                    <a:lumOff val="45000"/>
                  </a:schemeClr>
                </a:solidFill>
                <a:latin typeface="Courier New"/>
                <a:cs typeface="Courier New"/>
              </a:rPr>
              <a:t>re</a:t>
            </a:r>
            <a:r>
              <a:rPr lang="en-US" sz="1200" b="0" i="0" dirty="0">
                <a:solidFill>
                  <a:schemeClr val="bg2"/>
                </a:solidFill>
                <a:latin typeface="Courier New"/>
                <a:cs typeface="Courier New"/>
              </a:rPr>
              <a:t>.compile(</a:t>
            </a:r>
            <a:r>
              <a:rPr lang="en-US" sz="1200" b="0" i="0" dirty="0">
                <a:solidFill>
                  <a:schemeClr val="accent3"/>
                </a:solidFill>
                <a:latin typeface="Courier New"/>
                <a:cs typeface="Courier New"/>
              </a:rPr>
              <a:t>r"^[A-Za-z0-9._%+-]+@[A-Za-z0-9.-]+\.[A-Za-z]{2,}$"</a:t>
            </a:r>
            <a:r>
              <a:rPr lang="en-US" sz="1200" b="0" i="0" dirty="0">
                <a:solidFill>
                  <a:schemeClr val="bg2"/>
                </a:solidFill>
                <a:latin typeface="Courier New"/>
                <a:cs typeface="Courier New"/>
              </a:rPr>
              <a:t>)</a:t>
            </a:r>
            <a:endParaRPr lang="en-US" sz="1200" dirty="0"/>
          </a:p>
          <a:p>
            <a:pPr algn="l">
              <a:lnSpc>
                <a:spcPct val="100000"/>
              </a:lnSpc>
              <a:spcBef>
                <a:spcPts val="0"/>
              </a:spcBef>
              <a:spcAft>
                <a:spcPts val="0"/>
              </a:spcAft>
              <a:buNone/>
            </a:pPr>
            <a:endParaRPr lang="en-US" sz="500" dirty="0"/>
          </a:p>
          <a:p>
            <a:pPr algn="l">
              <a:lnSpc>
                <a:spcPct val="100000"/>
              </a:lnSpc>
              <a:spcBef>
                <a:spcPts val="0"/>
              </a:spcBef>
              <a:spcAft>
                <a:spcPts val="0"/>
              </a:spcAft>
              <a:buNone/>
            </a:pPr>
            <a:r>
              <a:rPr lang="en-US" sz="1200" b="1" i="0" dirty="0">
                <a:solidFill>
                  <a:schemeClr val="accent1"/>
                </a:solidFill>
                <a:latin typeface="Courier New"/>
                <a:cs typeface="Courier New"/>
              </a:rPr>
              <a:t>def</a:t>
            </a:r>
            <a:r>
              <a:rPr lang="en-US" sz="1200" b="0" i="0" dirty="0">
                <a:solidFill>
                  <a:schemeClr val="bg2"/>
                </a:solidFill>
                <a:latin typeface="Courier New"/>
                <a:cs typeface="Courier New"/>
              </a:rPr>
              <a:t> </a:t>
            </a:r>
            <a:r>
              <a:rPr lang="en-US" sz="1200" b="0" i="0" dirty="0">
                <a:solidFill>
                  <a:schemeClr val="accent4">
                    <a:lumMod val="75000"/>
                    <a:lumOff val="25000"/>
                  </a:schemeClr>
                </a:solidFill>
                <a:latin typeface="Courier New"/>
                <a:cs typeface="Courier New"/>
              </a:rPr>
              <a:t>is_valid_syntax</a:t>
            </a:r>
            <a:r>
              <a:rPr lang="en-US" sz="1200" b="0" i="0" dirty="0">
                <a:solidFill>
                  <a:schemeClr val="bg2"/>
                </a:solidFill>
                <a:latin typeface="Courier New"/>
                <a:cs typeface="Courier New"/>
              </a:rPr>
              <a:t>(email: </a:t>
            </a:r>
            <a:r>
              <a:rPr lang="en-US" sz="1200" b="0" i="0" dirty="0">
                <a:solidFill>
                  <a:schemeClr val="accent1">
                    <a:lumMod val="55000"/>
                    <a:lumOff val="45000"/>
                  </a:schemeClr>
                </a:solidFill>
                <a:latin typeface="Courier New"/>
                <a:cs typeface="Courier New"/>
              </a:rPr>
              <a:t>str</a:t>
            </a:r>
            <a:r>
              <a:rPr lang="en-US" sz="1200" b="0" i="0" dirty="0">
                <a:solidFill>
                  <a:schemeClr val="bg2"/>
                </a:solidFill>
                <a:latin typeface="Courier New"/>
                <a:cs typeface="Courier New"/>
              </a:rPr>
              <a:t>) -&gt; </a:t>
            </a:r>
            <a:r>
              <a:rPr lang="en-US" sz="1200" b="0" i="0" dirty="0">
                <a:solidFill>
                  <a:schemeClr val="accent1">
                    <a:lumMod val="55000"/>
                    <a:lumOff val="45000"/>
                  </a:schemeClr>
                </a:solidFill>
                <a:latin typeface="Courier New"/>
                <a:cs typeface="Courier New"/>
              </a:rPr>
              <a:t>bool</a:t>
            </a:r>
            <a:r>
              <a:rPr lang="en-US" sz="1200" b="0" i="0" dirty="0">
                <a:solidFill>
                  <a:schemeClr val="bg2"/>
                </a:solidFill>
                <a:latin typeface="Courier New"/>
                <a:cs typeface="Courier New"/>
              </a:rPr>
              <a:t>:</a:t>
            </a:r>
            <a:endParaRPr lang="en-US" sz="1200" dirty="0"/>
          </a:p>
          <a:p>
            <a:pPr algn="l">
              <a:lnSpc>
                <a:spcPct val="100000"/>
              </a:lnSpc>
              <a:spcBef>
                <a:spcPts val="0"/>
              </a:spcBef>
              <a:spcAft>
                <a:spcPts val="0"/>
              </a:spcAft>
              <a:buNone/>
            </a:pPr>
            <a:r>
              <a:rPr lang="en-US" sz="1200" b="0" i="0" dirty="0">
                <a:solidFill>
                  <a:schemeClr val="bg2"/>
                </a:solidFill>
                <a:latin typeface="Courier New"/>
                <a:cs typeface="Courier New"/>
              </a:rPr>
              <a:t>    </a:t>
            </a:r>
            <a:r>
              <a:rPr lang="en-US" sz="1200" b="1" i="0" dirty="0">
                <a:solidFill>
                  <a:schemeClr val="accent1"/>
                </a:solidFill>
                <a:latin typeface="Courier New"/>
                <a:cs typeface="Courier New"/>
              </a:rPr>
              <a:t>return</a:t>
            </a:r>
            <a:r>
              <a:rPr lang="en-US" sz="1200" b="0" i="0" dirty="0">
                <a:solidFill>
                  <a:schemeClr val="bg2"/>
                </a:solidFill>
                <a:latin typeface="Courier New"/>
                <a:cs typeface="Courier New"/>
              </a:rPr>
              <a:t> </a:t>
            </a:r>
            <a:r>
              <a:rPr lang="en-US" sz="1200" b="0" i="0" dirty="0">
                <a:solidFill>
                  <a:schemeClr val="accent1">
                    <a:lumMod val="55000"/>
                    <a:lumOff val="45000"/>
                  </a:schemeClr>
                </a:solidFill>
                <a:latin typeface="Courier New"/>
                <a:cs typeface="Courier New"/>
              </a:rPr>
              <a:t>bool</a:t>
            </a:r>
            <a:r>
              <a:rPr lang="en-US" sz="1200" b="0" i="0" dirty="0">
                <a:solidFill>
                  <a:schemeClr val="bg2"/>
                </a:solidFill>
                <a:latin typeface="Courier New"/>
                <a:cs typeface="Courier New"/>
              </a:rPr>
              <a:t>(EMAIL_RE.fullmatch(email.strip()))</a:t>
            </a:r>
            <a:endParaRPr lang="en-US" sz="1200" dirty="0"/>
          </a:p>
        </p:txBody>
      </p:sp>
      <p:sp>
        <p:nvSpPr>
          <p:cNvPr id="11" name="Pattern Part 11"/>
          <p:cNvSpPr/>
          <p:nvPr/>
        </p:nvSpPr>
        <p:spPr>
          <a:xfrm>
            <a:off x="548640"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12" name="Pattern Label 12"/>
          <p:cNvSpPr txBox="1"/>
          <p:nvPr/>
        </p:nvSpPr>
        <p:spPr>
          <a:xfrm>
            <a:off x="365760"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start</a:t>
            </a:r>
            <a:endParaRPr lang="en-US" sz="1100" dirty="0"/>
          </a:p>
        </p:txBody>
      </p:sp>
      <p:sp>
        <p:nvSpPr>
          <p:cNvPr id="13" name="Pattern Part 13"/>
          <p:cNvSpPr/>
          <p:nvPr/>
        </p:nvSpPr>
        <p:spPr>
          <a:xfrm>
            <a:off x="1115568" y="5029200"/>
            <a:ext cx="1828800" cy="457200"/>
          </a:xfrm>
          <a:prstGeom prst="roundRect">
            <a:avLst>
              <a:gd name="adj" fmla="val 15000"/>
            </a:avLst>
          </a:prstGeom>
          <a:solidFill>
            <a:schemeClr val="accent1">
              <a:lumMod val="20000"/>
              <a:lumOff val="80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[A-Za-z0-9._%+-]+</a:t>
            </a:r>
            <a:endParaRPr lang="en-US" sz="1200" dirty="0"/>
          </a:p>
        </p:txBody>
      </p:sp>
      <p:sp>
        <p:nvSpPr>
          <p:cNvPr id="14" name="Pattern Label 14"/>
          <p:cNvSpPr txBox="1"/>
          <p:nvPr/>
        </p:nvSpPr>
        <p:spPr>
          <a:xfrm>
            <a:off x="1115568" y="5522976"/>
            <a:ext cx="182880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local part</a:t>
            </a:r>
            <a:endParaRPr lang="en-US" sz="1100" dirty="0"/>
          </a:p>
        </p:txBody>
      </p:sp>
      <p:sp>
        <p:nvSpPr>
          <p:cNvPr id="15" name="Pattern Part 15"/>
          <p:cNvSpPr/>
          <p:nvPr/>
        </p:nvSpPr>
        <p:spPr>
          <a:xfrm>
            <a:off x="3054096"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16" name="Pattern Label 16"/>
          <p:cNvSpPr txBox="1"/>
          <p:nvPr/>
        </p:nvSpPr>
        <p:spPr>
          <a:xfrm>
            <a:off x="2871216"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at</a:t>
            </a:r>
            <a:endParaRPr lang="en-US" sz="1100" dirty="0"/>
          </a:p>
        </p:txBody>
      </p:sp>
      <p:sp>
        <p:nvSpPr>
          <p:cNvPr id="17" name="Pattern Part 17"/>
          <p:cNvSpPr/>
          <p:nvPr/>
        </p:nvSpPr>
        <p:spPr>
          <a:xfrm>
            <a:off x="3621024" y="5029200"/>
            <a:ext cx="1737360" cy="457200"/>
          </a:xfrm>
          <a:prstGeom prst="roundRect">
            <a:avLst>
              <a:gd name="adj" fmla="val 15000"/>
            </a:avLst>
          </a:prstGeom>
          <a:solidFill>
            <a:schemeClr val="accent3">
              <a:lumMod val="25000"/>
              <a:lumOff val="75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[A-Za-z0-9.-]+</a:t>
            </a:r>
            <a:endParaRPr lang="en-US" sz="1200" dirty="0"/>
          </a:p>
        </p:txBody>
      </p:sp>
      <p:sp>
        <p:nvSpPr>
          <p:cNvPr id="18" name="Pattern Label 18"/>
          <p:cNvSpPr txBox="1"/>
          <p:nvPr/>
        </p:nvSpPr>
        <p:spPr>
          <a:xfrm>
            <a:off x="3621024" y="5522976"/>
            <a:ext cx="17373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domain</a:t>
            </a:r>
            <a:endParaRPr lang="en-US" sz="1100" dirty="0"/>
          </a:p>
        </p:txBody>
      </p:sp>
      <p:sp>
        <p:nvSpPr>
          <p:cNvPr id="19" name="Pattern Part 19"/>
          <p:cNvSpPr/>
          <p:nvPr/>
        </p:nvSpPr>
        <p:spPr>
          <a:xfrm>
            <a:off x="5468112" y="5029200"/>
            <a:ext cx="54864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20" name="Pattern Label 20"/>
          <p:cNvSpPr txBox="1"/>
          <p:nvPr/>
        </p:nvSpPr>
        <p:spPr>
          <a:xfrm>
            <a:off x="5330952"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dot</a:t>
            </a:r>
            <a:endParaRPr lang="en-US" sz="1100" dirty="0"/>
          </a:p>
        </p:txBody>
      </p:sp>
      <p:sp>
        <p:nvSpPr>
          <p:cNvPr id="21" name="Pattern Part 21"/>
          <p:cNvSpPr/>
          <p:nvPr/>
        </p:nvSpPr>
        <p:spPr>
          <a:xfrm>
            <a:off x="6126480" y="5029200"/>
            <a:ext cx="1645920" cy="457200"/>
          </a:xfrm>
          <a:prstGeom prst="roundRect">
            <a:avLst>
              <a:gd name="adj" fmla="val 15000"/>
            </a:avLst>
          </a:prstGeom>
          <a:solidFill>
            <a:schemeClr val="accent4">
              <a:lumMod val="20000"/>
              <a:lumOff val="80000"/>
            </a:schemeClr>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[A-Za-z]{2,}</a:t>
            </a:r>
            <a:endParaRPr lang="en-US" sz="1200" dirty="0"/>
          </a:p>
        </p:txBody>
      </p:sp>
      <p:sp>
        <p:nvSpPr>
          <p:cNvPr id="22" name="Pattern Label 22"/>
          <p:cNvSpPr txBox="1"/>
          <p:nvPr/>
        </p:nvSpPr>
        <p:spPr>
          <a:xfrm>
            <a:off x="6126480" y="5522976"/>
            <a:ext cx="164592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TLD (2+ letters)</a:t>
            </a:r>
            <a:endParaRPr lang="en-US" sz="1100" dirty="0"/>
          </a:p>
        </p:txBody>
      </p:sp>
      <p:sp>
        <p:nvSpPr>
          <p:cNvPr id="23" name="Pattern Part 23"/>
          <p:cNvSpPr/>
          <p:nvPr/>
        </p:nvSpPr>
        <p:spPr>
          <a:xfrm>
            <a:off x="7882128" y="5029200"/>
            <a:ext cx="457200" cy="457200"/>
          </a:xfrm>
          <a:prstGeom prst="roundRect">
            <a:avLst>
              <a:gd name="adj" fmla="val 15000"/>
            </a:avLst>
          </a:prstGeom>
          <a:solidFill>
            <a:schemeClr val="bg2"/>
          </a:solidFill>
          <a:ln w="1270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tx2"/>
                </a:solidFill>
                <a:latin typeface="Courier New"/>
                <a:cs typeface="Courier New"/>
              </a:rPr>
              <a:t>$</a:t>
            </a:r>
            <a:endParaRPr lang="en-US" sz="1200" dirty="0"/>
          </a:p>
        </p:txBody>
      </p:sp>
      <p:sp>
        <p:nvSpPr>
          <p:cNvPr id="24" name="Pattern Label 24"/>
          <p:cNvSpPr txBox="1"/>
          <p:nvPr/>
        </p:nvSpPr>
        <p:spPr>
          <a:xfrm>
            <a:off x="7699248" y="5522976"/>
            <a:ext cx="822960" cy="274320"/>
          </a:xfrm>
          <a:prstGeom prst="rect">
            <a:avLst/>
          </a:prstGeom>
          <a:noFill/>
          <a:ln>
            <a:noFill/>
          </a:ln>
        </p:spPr>
        <p:txBody>
          <a:bodyPr wrap="square" lIns="0" tIns="0" rIns="0" bIns="0" rtlCol="0" anchor="ctr">
            <a:noAutofit/>
          </a:bodyPr>
          <a:lstStyle/>
          <a:p>
            <a:pPr algn="ctr">
              <a:spcBef>
                <a:spcPts val="0"/>
              </a:spcBef>
              <a:spcAft>
                <a:spcPts val="0"/>
              </a:spcAft>
              <a:buNone/>
            </a:pPr>
            <a:r>
              <a:rPr lang="en-US" sz="1100" b="0" i="0" dirty="0">
                <a:solidFill>
                  <a:schemeClr val="tx2">
                    <a:lumMod val="65000"/>
                    <a:lumOff val="35000"/>
                  </a:schemeClr>
                </a:solidFill>
                <a:latin typeface="+mn-lt"/>
                <a:cs typeface="+mn-lt"/>
              </a:rPr>
              <a:t>end</a:t>
            </a:r>
            <a:endParaRPr lang="en-US" sz="1100" dirty="0"/>
          </a:p>
        </p:txBody>
      </p:sp>
      <p:sp>
        <p:nvSpPr>
          <p:cNvPr id="25" name="Footer 25"/>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6" name="Slide Number 26"/>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6</a:t>
            </a:fld>
            <a:endParaRPr lang="en-US" sz="1000" dirty="0">
              <a:solidFill>
                <a:schemeClr val="tx2">
                  <a:lumMod val="65000"/>
                  <a:lumOff val="35000"/>
                </a:schemeClr>
              </a:solidFill>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anual Parsing">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Alternative : Manual String Validation</a:t>
            </a:r>
            <a:endParaRPr lang="en-US" sz="2600" dirty="0"/>
          </a:p>
        </p:txBody>
      </p:sp>
      <p:sp>
        <p:nvSpPr>
          <p:cNvPr id="3" name="Bullets 3"/>
          <p:cNvSpPr txBox="1"/>
          <p:nvPr/>
        </p:nvSpPr>
        <p:spPr>
          <a:xfrm>
            <a:off x="548640" y="1371600"/>
            <a:ext cx="8321040" cy="1920240"/>
          </a:xfrm>
          <a:prstGeom prst="rect">
            <a:avLst/>
          </a:prstGeom>
          <a:noFill/>
          <a:ln>
            <a:noFill/>
          </a:ln>
        </p:spPr>
        <p:txBody>
          <a:bodyPr wrap="square" lIns="0" tIns="0" rIns="0" bIns="0" rtlCol="0" anchor="t">
            <a:noAutofit/>
          </a:bodyPr>
          <a:lstStyle/>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Sometimes clearer than regex: split and inspect each part yourself.</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Useful methods: </a:t>
            </a:r>
            <a:r>
              <a:rPr lang="en-US" sz="1302" b="0" i="0" dirty="0">
                <a:solidFill>
                  <a:schemeClr val="accent2">
                    <a:lumMod val="75000"/>
                  </a:schemeClr>
                </a:solidFill>
                <a:latin typeface="Courier New"/>
                <a:cs typeface="Courier New"/>
              </a:rPr>
              <a:t>str.strip</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str.count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str.split</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str.partition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str.isalnum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str.startswith</a:t>
            </a:r>
            <a:r>
              <a:rPr lang="en-US" sz="1400" b="0" i="0" dirty="0">
                <a:solidFill>
                  <a:schemeClr val="tx2"/>
                </a:solidFill>
                <a:latin typeface="+mn-lt"/>
                <a:cs typeface="+mn-lt"/>
              </a:rPr>
              <a:t>.</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Steps: exactly one </a:t>
            </a:r>
            <a:r>
              <a:rPr lang="en-US" sz="1302" b="0" i="0" dirty="0">
                <a:solidFill>
                  <a:schemeClr val="accent2">
                    <a:lumMod val="75000"/>
                  </a:schemeClr>
                </a:solidFill>
                <a:latin typeface="Courier New"/>
                <a:cs typeface="Courier New"/>
              </a:rPr>
              <a:t>@</a:t>
            </a:r>
            <a:r>
              <a:rPr lang="en-US" sz="1400" b="0" i="0" dirty="0">
                <a:solidFill>
                  <a:schemeClr val="tx2"/>
                </a:solidFill>
                <a:latin typeface="+mn-lt"/>
                <a:cs typeface="+mn-lt"/>
              </a:rPr>
              <a:t> → non-empty local-part → valid domain labels.</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Easy to give a </a:t>
            </a:r>
            <a:r>
              <a:rPr lang="en-US" sz="1400" b="1" i="0" dirty="0">
                <a:solidFill>
                  <a:schemeClr val="tx2"/>
                </a:solidFill>
                <a:latin typeface="+mn-lt"/>
                <a:cs typeface="+mn-lt"/>
              </a:rPr>
              <a:t>specific error message</a:t>
            </a:r>
            <a:r>
              <a:rPr lang="en-US" sz="1400" b="0" i="0" dirty="0">
                <a:solidFill>
                  <a:schemeClr val="tx2"/>
                </a:solidFill>
                <a:latin typeface="+mn-lt"/>
                <a:cs typeface="+mn-lt"/>
              </a:rPr>
              <a:t> per failure (better UX).</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More code, but transparent and debuggable.</a:t>
            </a:r>
            <a:endParaRPr lang="en-US" sz="1400" dirty="0"/>
          </a:p>
          <a:p>
            <a:pPr marL="228600" indent="-228600" algn="l">
              <a:spcBef>
                <a:spcPts val="0"/>
              </a:spcBef>
              <a:spcAft>
                <a:spcPts val="300"/>
              </a:spcAft>
              <a:buClr>
                <a:schemeClr val="accent2"/>
              </a:buClr>
              <a:buFont typeface="Arial"/>
              <a:buChar char="•"/>
            </a:pPr>
            <a:r>
              <a:rPr lang="en-US" sz="1400" b="0" i="0" dirty="0">
                <a:solidFill>
                  <a:schemeClr val="tx2"/>
                </a:solidFill>
                <a:latin typeface="+mn-lt"/>
                <a:cs typeface="+mn-lt"/>
              </a:rPr>
              <a:t>A good teaching contrast to regex.</a:t>
            </a:r>
            <a:endParaRPr lang="en-US" sz="1400" dirty="0"/>
          </a:p>
        </p:txBody>
      </p:sp>
      <p:sp>
        <p:nvSpPr>
          <p:cNvPr id="4" name="Code Card 4"/>
          <p:cNvSpPr/>
          <p:nvPr/>
        </p:nvSpPr>
        <p:spPr>
          <a:xfrm>
            <a:off x="548640" y="3429000"/>
            <a:ext cx="5394960" cy="2606040"/>
          </a:xfrm>
          <a:prstGeom prst="roundRect">
            <a:avLst>
              <a:gd name="adj" fmla="val 3500"/>
            </a:avLst>
          </a:prstGeom>
          <a:solidFill>
            <a:schemeClr val="tx2"/>
          </a:solidFill>
          <a:ln>
            <a:noFill/>
          </a:ln>
        </p:spPr>
        <p:txBody>
          <a:bodyPr/>
          <a:lstStyle/>
          <a:p>
            <a:endParaRPr lang="en-IN"/>
          </a:p>
        </p:txBody>
      </p:sp>
      <p:sp>
        <p:nvSpPr>
          <p:cNvPr id="5" name="Code Header 5"/>
          <p:cNvSpPr/>
          <p:nvPr/>
        </p:nvSpPr>
        <p:spPr>
          <a:xfrm>
            <a:off x="548640" y="3429000"/>
            <a:ext cx="539496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6" name="Dot 6"/>
          <p:cNvSpPr/>
          <p:nvPr/>
        </p:nvSpPr>
        <p:spPr>
          <a:xfrm>
            <a:off x="713232" y="3538728"/>
            <a:ext cx="91440" cy="91440"/>
          </a:xfrm>
          <a:prstGeom prst="ellipse">
            <a:avLst/>
          </a:prstGeom>
          <a:solidFill>
            <a:schemeClr val="accent5"/>
          </a:solidFill>
          <a:ln>
            <a:noFill/>
          </a:ln>
        </p:spPr>
        <p:txBody>
          <a:bodyPr/>
          <a:lstStyle/>
          <a:p>
            <a:endParaRPr lang="en-IN"/>
          </a:p>
        </p:txBody>
      </p:sp>
      <p:sp>
        <p:nvSpPr>
          <p:cNvPr id="7" name="Dot 7"/>
          <p:cNvSpPr/>
          <p:nvPr/>
        </p:nvSpPr>
        <p:spPr>
          <a:xfrm>
            <a:off x="896112" y="3538728"/>
            <a:ext cx="91440" cy="91440"/>
          </a:xfrm>
          <a:prstGeom prst="ellipse">
            <a:avLst/>
          </a:prstGeom>
          <a:solidFill>
            <a:schemeClr val="accent3"/>
          </a:solidFill>
          <a:ln>
            <a:noFill/>
          </a:ln>
        </p:spPr>
        <p:txBody>
          <a:bodyPr/>
          <a:lstStyle/>
          <a:p>
            <a:endParaRPr lang="en-IN"/>
          </a:p>
        </p:txBody>
      </p:sp>
      <p:sp>
        <p:nvSpPr>
          <p:cNvPr id="8" name="Dot 8"/>
          <p:cNvSpPr/>
          <p:nvPr/>
        </p:nvSpPr>
        <p:spPr>
          <a:xfrm>
            <a:off x="1078992" y="3538728"/>
            <a:ext cx="91440" cy="91440"/>
          </a:xfrm>
          <a:prstGeom prst="ellipse">
            <a:avLst/>
          </a:prstGeom>
          <a:solidFill>
            <a:schemeClr val="accent1"/>
          </a:solidFill>
          <a:ln>
            <a:noFill/>
          </a:ln>
        </p:spPr>
        <p:txBody>
          <a:bodyPr/>
          <a:lstStyle/>
          <a:p>
            <a:endParaRPr lang="en-IN"/>
          </a:p>
        </p:txBody>
      </p:sp>
      <p:sp>
        <p:nvSpPr>
          <p:cNvPr id="9" name="Code Label 9"/>
          <p:cNvSpPr txBox="1"/>
          <p:nvPr/>
        </p:nvSpPr>
        <p:spPr>
          <a:xfrm>
            <a:off x="3566160" y="342900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manual_check.py</a:t>
            </a:r>
            <a:endParaRPr lang="en-US" sz="1000" dirty="0"/>
          </a:p>
        </p:txBody>
      </p:sp>
      <p:sp>
        <p:nvSpPr>
          <p:cNvPr id="10" name="Code 10"/>
          <p:cNvSpPr txBox="1"/>
          <p:nvPr/>
        </p:nvSpPr>
        <p:spPr>
          <a:xfrm>
            <a:off x="731520" y="3849624"/>
            <a:ext cx="5120640" cy="2112264"/>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US" sz="1100" b="1" i="0" dirty="0">
                <a:solidFill>
                  <a:schemeClr val="accent1"/>
                </a:solidFill>
                <a:latin typeface="Courier New"/>
                <a:cs typeface="Courier New"/>
              </a:rPr>
              <a:t>def</a:t>
            </a:r>
            <a:r>
              <a:rPr lang="en-US" sz="1100" b="0" i="0" dirty="0">
                <a:solidFill>
                  <a:schemeClr val="bg2"/>
                </a:solidFill>
                <a:latin typeface="Courier New"/>
                <a:cs typeface="Courier New"/>
              </a:rPr>
              <a:t> </a:t>
            </a:r>
            <a:r>
              <a:rPr lang="en-US" sz="1100" b="0" i="0" dirty="0">
                <a:solidFill>
                  <a:schemeClr val="accent4">
                    <a:lumMod val="75000"/>
                    <a:lumOff val="25000"/>
                  </a:schemeClr>
                </a:solidFill>
                <a:latin typeface="Courier New"/>
                <a:cs typeface="Courier New"/>
              </a:rPr>
              <a:t>manual_check</a:t>
            </a:r>
            <a:r>
              <a:rPr lang="en-US" sz="1100" b="0" i="0" dirty="0">
                <a:solidFill>
                  <a:schemeClr val="bg2"/>
                </a:solidFill>
                <a:latin typeface="Courier New"/>
                <a:cs typeface="Courier New"/>
              </a:rPr>
              <a:t>(email: </a:t>
            </a:r>
            <a:r>
              <a:rPr lang="en-US" sz="1100" b="0" i="0" dirty="0">
                <a:solidFill>
                  <a:schemeClr val="accent1">
                    <a:lumMod val="55000"/>
                    <a:lumOff val="45000"/>
                  </a:schemeClr>
                </a:solidFill>
                <a:latin typeface="Courier New"/>
                <a:cs typeface="Courier New"/>
              </a:rPr>
              <a:t>str</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email = email.strip()</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email.count(</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 </a:t>
            </a:r>
            <a:r>
              <a:rPr lang="en-US" sz="1100" b="0" i="0" dirty="0">
                <a:solidFill>
                  <a:schemeClr val="accent1">
                    <a:lumMod val="55000"/>
                    <a:lumOff val="45000"/>
                  </a:schemeClr>
                </a:solidFill>
                <a:latin typeface="Courier New"/>
                <a:cs typeface="Courier New"/>
              </a:rPr>
              <a:t>1</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"must contain exactly one @"</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local, domain = email.split(</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not</a:t>
            </a:r>
            <a:r>
              <a:rPr lang="en-US" sz="1100" b="0" i="0" dirty="0">
                <a:solidFill>
                  <a:schemeClr val="bg2"/>
                </a:solidFill>
                <a:latin typeface="Courier New"/>
                <a:cs typeface="Courier New"/>
              </a:rPr>
              <a:t> local </a:t>
            </a:r>
            <a:r>
              <a:rPr lang="en-US" sz="1100" b="1" i="0" dirty="0">
                <a:solidFill>
                  <a:schemeClr val="accent1"/>
                </a:solidFill>
                <a:latin typeface="Courier New"/>
                <a:cs typeface="Courier New"/>
              </a:rPr>
              <a:t>or</a:t>
            </a:r>
            <a:r>
              <a:rPr lang="en-US" sz="1100" b="0" i="0" dirty="0">
                <a:solidFill>
                  <a:schemeClr val="bg2"/>
                </a:solidFill>
                <a:latin typeface="Courier New"/>
                <a:cs typeface="Courier New"/>
              </a:rPr>
              <a:t> local.startswith(</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or</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in</a:t>
            </a:r>
            <a:r>
              <a:rPr lang="en-US" sz="1100" b="0" i="0" dirty="0">
                <a:solidFill>
                  <a:schemeClr val="bg2"/>
                </a:solidFill>
                <a:latin typeface="Courier New"/>
                <a:cs typeface="Courier New"/>
              </a:rPr>
              <a:t> local:</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"bad local-part"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if</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not</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in</a:t>
            </a:r>
            <a:r>
              <a:rPr lang="en-US" sz="1100" b="0" i="0" dirty="0">
                <a:solidFill>
                  <a:schemeClr val="bg2"/>
                </a:solidFill>
                <a:latin typeface="Courier New"/>
                <a:cs typeface="Courier New"/>
              </a:rPr>
              <a:t> domain:</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False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"domain needs a dot"</a:t>
            </a:r>
            <a:endParaRPr lang="en-US" sz="1100" dirty="0"/>
          </a:p>
          <a:p>
            <a:pPr algn="l">
              <a:lnSpc>
                <a:spcPct val="100000"/>
              </a:lnSpc>
              <a:spcBef>
                <a:spcPts val="0"/>
              </a:spcBef>
              <a:spcAft>
                <a:spcPts val="0"/>
              </a:spcAft>
              <a:buNone/>
            </a:pP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return</a:t>
            </a:r>
            <a:r>
              <a:rPr lang="en-US" sz="1100" b="0" i="0" dirty="0">
                <a:solidFill>
                  <a:schemeClr val="bg2"/>
                </a:solidFill>
                <a:latin typeface="Courier New"/>
                <a:cs typeface="Courier New"/>
              </a:rPr>
              <a:t> </a:t>
            </a:r>
            <a:r>
              <a:rPr lang="en-US" sz="1100" b="1" i="0" dirty="0">
                <a:solidFill>
                  <a:schemeClr val="accent1"/>
                </a:solidFill>
                <a:latin typeface="Courier New"/>
                <a:cs typeface="Courier New"/>
              </a:rPr>
              <a:t>True</a:t>
            </a:r>
            <a:r>
              <a:rPr lang="en-US" sz="1100" b="0" i="0" dirty="0">
                <a:solidFill>
                  <a:schemeClr val="bg2"/>
                </a:solidFill>
                <a:latin typeface="Courier New"/>
                <a:cs typeface="Courier New"/>
              </a:rPr>
              <a:t>, </a:t>
            </a:r>
            <a:r>
              <a:rPr lang="en-US" sz="1100" b="0" i="0" dirty="0">
                <a:solidFill>
                  <a:schemeClr val="accent3"/>
                </a:solidFill>
                <a:latin typeface="Courier New"/>
                <a:cs typeface="Courier New"/>
              </a:rPr>
              <a:t>"ok"</a:t>
            </a:r>
            <a:endParaRPr lang="en-US" sz="1100" dirty="0"/>
          </a:p>
        </p:txBody>
      </p:sp>
      <p:sp>
        <p:nvSpPr>
          <p:cNvPr id="11" name="Decision Step 11"/>
          <p:cNvSpPr/>
          <p:nvPr/>
        </p:nvSpPr>
        <p:spPr>
          <a:xfrm>
            <a:off x="6217920" y="3429000"/>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1. Exactly one @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"must contain exactly one @"</a:t>
            </a:r>
            <a:endParaRPr lang="en-US" sz="1050" dirty="0"/>
          </a:p>
        </p:txBody>
      </p:sp>
      <p:cxnSp>
        <p:nvCxnSpPr>
          <p:cNvPr id="12" name="Step Arrow 12"/>
          <p:cNvCxnSpPr/>
          <p:nvPr/>
        </p:nvCxnSpPr>
        <p:spPr>
          <a:xfrm>
            <a:off x="7635240" y="4014216"/>
            <a:ext cx="0" cy="164592"/>
          </a:xfrm>
          <a:prstGeom prst="straightConnector1">
            <a:avLst/>
          </a:prstGeom>
          <a:ln w="19050">
            <a:solidFill>
              <a:schemeClr val="tx2"/>
            </a:solidFill>
            <a:tailEnd type="triangle" w="med" len="med"/>
          </a:ln>
        </p:spPr>
      </p:cxnSp>
      <p:sp>
        <p:nvSpPr>
          <p:cNvPr id="13" name="Decision Step 13"/>
          <p:cNvSpPr/>
          <p:nvPr/>
        </p:nvSpPr>
        <p:spPr>
          <a:xfrm>
            <a:off x="6217920" y="4178808"/>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2. Clean local-part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"bad local-part"</a:t>
            </a:r>
            <a:endParaRPr lang="en-US" sz="1050" dirty="0"/>
          </a:p>
        </p:txBody>
      </p:sp>
      <p:cxnSp>
        <p:nvCxnSpPr>
          <p:cNvPr id="14" name="Step Arrow 14"/>
          <p:cNvCxnSpPr/>
          <p:nvPr/>
        </p:nvCxnSpPr>
        <p:spPr>
          <a:xfrm>
            <a:off x="7635240" y="4764024"/>
            <a:ext cx="0" cy="164592"/>
          </a:xfrm>
          <a:prstGeom prst="straightConnector1">
            <a:avLst/>
          </a:prstGeom>
          <a:ln w="19050">
            <a:solidFill>
              <a:schemeClr val="tx2"/>
            </a:solidFill>
            <a:tailEnd type="triangle" w="med" len="med"/>
          </a:ln>
        </p:spPr>
      </p:cxnSp>
      <p:sp>
        <p:nvSpPr>
          <p:cNvPr id="15" name="Decision Step 15"/>
          <p:cNvSpPr/>
          <p:nvPr/>
        </p:nvSpPr>
        <p:spPr>
          <a:xfrm>
            <a:off x="6217920" y="4928616"/>
            <a:ext cx="2834640" cy="585216"/>
          </a:xfrm>
          <a:prstGeom prst="roundRect">
            <a:avLst>
              <a:gd name="adj" fmla="val 14000"/>
            </a:avLst>
          </a:prstGeom>
          <a:solidFill>
            <a:schemeClr val="accent1">
              <a:lumMod val="20000"/>
              <a:lumOff val="80000"/>
            </a:schemeClr>
          </a:solidFill>
          <a:ln w="15875">
            <a:solidFill>
              <a:schemeClr val="accent2"/>
            </a:solidFill>
          </a:ln>
        </p:spPr>
        <p:txBody>
          <a:bodyPr wrap="square" lIns="109728" tIns="18288" rIns="45720" bIns="18288" rtlCol="0" anchor="ctr">
            <a:noAutofit/>
          </a:bodyPr>
          <a:lstStyle/>
          <a:p>
            <a:pPr algn="l">
              <a:spcBef>
                <a:spcPts val="0"/>
              </a:spcBef>
              <a:spcAft>
                <a:spcPts val="0"/>
              </a:spcAft>
              <a:buNone/>
            </a:pPr>
            <a:r>
              <a:rPr lang="en-US" sz="1200" b="1" i="0" dirty="0">
                <a:solidFill>
                  <a:schemeClr val="tx2"/>
                </a:solidFill>
                <a:latin typeface="+mn-lt"/>
                <a:cs typeface="+mn-lt"/>
              </a:rPr>
              <a:t>3. Domain has a dot ?</a:t>
            </a:r>
            <a:endParaRPr lang="en-US" sz="1200" dirty="0"/>
          </a:p>
          <a:p>
            <a:pPr algn="l">
              <a:spcBef>
                <a:spcPts val="100"/>
              </a:spcBef>
              <a:spcAft>
                <a:spcPts val="0"/>
              </a:spcAft>
              <a:buNone/>
            </a:pPr>
            <a:r>
              <a:rPr lang="en-US" sz="1050" b="0" i="0" dirty="0">
                <a:solidFill>
                  <a:schemeClr val="accent5">
                    <a:lumMod val="85000"/>
                  </a:schemeClr>
                </a:solidFill>
                <a:latin typeface="+mn-lt"/>
                <a:cs typeface="+mn-lt"/>
              </a:rPr>
              <a:t>no → "domain needs a dot"</a:t>
            </a:r>
            <a:endParaRPr lang="en-US" sz="1050" dirty="0"/>
          </a:p>
        </p:txBody>
      </p:sp>
      <p:cxnSp>
        <p:nvCxnSpPr>
          <p:cNvPr id="16" name="Step Arrow 16"/>
          <p:cNvCxnSpPr/>
          <p:nvPr/>
        </p:nvCxnSpPr>
        <p:spPr>
          <a:xfrm>
            <a:off x="7635240" y="5513832"/>
            <a:ext cx="0" cy="164592"/>
          </a:xfrm>
          <a:prstGeom prst="straightConnector1">
            <a:avLst/>
          </a:prstGeom>
          <a:ln w="19050">
            <a:solidFill>
              <a:schemeClr val="tx2"/>
            </a:solidFill>
            <a:tailEnd type="triangle" w="med" len="med"/>
          </a:ln>
        </p:spPr>
      </p:cxnSp>
      <p:sp>
        <p:nvSpPr>
          <p:cNvPr id="17" name="Valid Result 17"/>
          <p:cNvSpPr/>
          <p:nvPr/>
        </p:nvSpPr>
        <p:spPr>
          <a:xfrm>
            <a:off x="6217920" y="5678424"/>
            <a:ext cx="2834640" cy="457200"/>
          </a:xfrm>
          <a:prstGeom prst="roundRect">
            <a:avLst>
              <a:gd name="adj" fmla="val 14000"/>
            </a:avLst>
          </a:prstGeom>
          <a:solidFill>
            <a:schemeClr val="accent2"/>
          </a:solidFill>
          <a:ln>
            <a:noFill/>
          </a:ln>
        </p:spPr>
        <p:txBody>
          <a:bodyPr wrap="square" lIns="91440" tIns="45720" rIns="91440" bIns="45720" rtlCol="0" anchor="ctr">
            <a:noAutofit/>
          </a:bodyPr>
          <a:lstStyle/>
          <a:p>
            <a:pPr algn="ctr">
              <a:spcBef>
                <a:spcPts val="0"/>
              </a:spcBef>
              <a:spcAft>
                <a:spcPts val="0"/>
              </a:spcAft>
              <a:buNone/>
            </a:pPr>
            <a:r>
              <a:rPr lang="en-US" sz="1300" b="1" i="0" dirty="0">
                <a:solidFill>
                  <a:schemeClr val="bg1"/>
                </a:solidFill>
                <a:latin typeface="Courier New"/>
                <a:cs typeface="Courier New"/>
              </a:rPr>
              <a:t>True, "ok"</a:t>
            </a:r>
            <a:endParaRPr lang="en-US" sz="1300" dirty="0"/>
          </a:p>
        </p:txBody>
      </p:sp>
      <p:sp>
        <p:nvSpPr>
          <p:cNvPr id="18" name="Footer 1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19" name="Slide Number 1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7</a:t>
            </a:fld>
            <a:endParaRPr lang="en-US" sz="1000" dirty="0">
              <a:solidFill>
                <a:schemeClr val="tx2">
                  <a:lumMod val="65000"/>
                  <a:lumOff val="35000"/>
                </a:schemeClr>
              </a:solidFill>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ystem Design &amp; Flow">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System Design &amp; Flow</a:t>
            </a:r>
            <a:endParaRPr lang="en-US" sz="2600" dirty="0"/>
          </a:p>
        </p:txBody>
      </p:sp>
      <p:sp>
        <p:nvSpPr>
          <p:cNvPr id="3" name="Flow Node 3"/>
          <p:cNvSpPr/>
          <p:nvPr/>
        </p:nvSpPr>
        <p:spPr>
          <a:xfrm>
            <a:off x="548640" y="1714500"/>
            <a:ext cx="777240" cy="685800"/>
          </a:xfrm>
          <a:prstGeom prst="roundRect">
            <a:avLst>
              <a:gd name="adj" fmla="val 15000"/>
            </a:avLst>
          </a:prstGeom>
          <a:solidFill>
            <a:schemeClr val="tx2"/>
          </a:solidFill>
          <a:ln w="19050">
            <a:solidFill>
              <a:schemeClr val="tx2"/>
            </a:solidFill>
          </a:ln>
        </p:spPr>
        <p:txBody>
          <a:bodyPr wrap="square" lIns="0" tIns="0" rIns="0" bIns="0" rtlCol="0" anchor="ctr">
            <a:noAutofit/>
          </a:bodyPr>
          <a:lstStyle/>
          <a:p>
            <a:pPr algn="ctr">
              <a:spcBef>
                <a:spcPts val="0"/>
              </a:spcBef>
              <a:spcAft>
                <a:spcPts val="0"/>
              </a:spcAft>
              <a:buNone/>
            </a:pPr>
            <a:r>
              <a:rPr lang="en-US" sz="1100" b="1" i="0" dirty="0">
                <a:solidFill>
                  <a:schemeClr val="bg1"/>
                </a:solidFill>
                <a:latin typeface="+mn-lt"/>
                <a:cs typeface="+mn-lt"/>
              </a:rPr>
              <a:t>Input</a:t>
            </a:r>
            <a:endParaRPr lang="en-US" sz="1100" dirty="0"/>
          </a:p>
          <a:p>
            <a:pPr algn="ctr">
              <a:spcBef>
                <a:spcPts val="0"/>
              </a:spcBef>
              <a:spcAft>
                <a:spcPts val="0"/>
              </a:spcAft>
              <a:buNone/>
            </a:pPr>
            <a:r>
              <a:rPr lang="en-US" sz="1100" b="1" i="0" dirty="0">
                <a:solidFill>
                  <a:schemeClr val="bg1"/>
                </a:solidFill>
                <a:latin typeface="+mn-lt"/>
                <a:cs typeface="+mn-lt"/>
              </a:rPr>
              <a:t>e-mail</a:t>
            </a:r>
            <a:endParaRPr lang="en-US" sz="1100" dirty="0"/>
          </a:p>
        </p:txBody>
      </p:sp>
      <p:sp>
        <p:nvSpPr>
          <p:cNvPr id="4" name="Flow Node 4"/>
          <p:cNvSpPr/>
          <p:nvPr/>
        </p:nvSpPr>
        <p:spPr>
          <a:xfrm>
            <a:off x="1508760" y="1623060"/>
            <a:ext cx="1143000" cy="868680"/>
          </a:xfrm>
          <a:prstGeom prst="roundRect">
            <a:avLst>
              <a:gd name="adj" fmla="val 15000"/>
            </a:avLst>
          </a:prstGeom>
          <a:solidFill>
            <a:schemeClr val="accent1">
              <a:lumMod val="20000"/>
              <a:lumOff val="80000"/>
            </a:schemeClr>
          </a:solidFill>
          <a:ln w="19050">
            <a:solidFill>
              <a:schemeClr val="accent2"/>
            </a:solid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Normalise (strip, lowercase domain)</a:t>
            </a:r>
            <a:endParaRPr lang="en-US" sz="1100" dirty="0"/>
          </a:p>
        </p:txBody>
      </p:sp>
      <p:sp>
        <p:nvSpPr>
          <p:cNvPr id="5" name="Decision 5"/>
          <p:cNvSpPr/>
          <p:nvPr/>
        </p:nvSpPr>
        <p:spPr>
          <a:xfrm>
            <a:off x="283464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Syntax valid?</a:t>
            </a:r>
            <a:endParaRPr lang="en-US" sz="1100" dirty="0"/>
          </a:p>
          <a:p>
            <a:pPr algn="ctr">
              <a:spcBef>
                <a:spcPts val="0"/>
              </a:spcBef>
              <a:spcAft>
                <a:spcPts val="0"/>
              </a:spcAft>
              <a:buNone/>
            </a:pPr>
            <a:r>
              <a:rPr lang="en-US" sz="1100" b="1" i="0" dirty="0">
                <a:solidFill>
                  <a:schemeClr val="tx2"/>
                </a:solidFill>
                <a:latin typeface="+mn-lt"/>
                <a:cs typeface="+mn-lt"/>
              </a:rPr>
              <a:t>(regex)</a:t>
            </a:r>
            <a:endParaRPr lang="en-US" sz="1100" dirty="0"/>
          </a:p>
        </p:txBody>
      </p:sp>
      <p:sp>
        <p:nvSpPr>
          <p:cNvPr id="6" name="Decision 6"/>
          <p:cNvSpPr/>
          <p:nvPr/>
        </p:nvSpPr>
        <p:spPr>
          <a:xfrm>
            <a:off x="461772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Domain has</a:t>
            </a:r>
            <a:endParaRPr lang="en-US" sz="1100" dirty="0"/>
          </a:p>
          <a:p>
            <a:pPr algn="ctr">
              <a:spcBef>
                <a:spcPts val="0"/>
              </a:spcBef>
              <a:spcAft>
                <a:spcPts val="0"/>
              </a:spcAft>
              <a:buNone/>
            </a:pPr>
            <a:r>
              <a:rPr lang="en-US" sz="1100" b="1" i="0" dirty="0">
                <a:solidFill>
                  <a:schemeClr val="tx2"/>
                </a:solidFill>
                <a:latin typeface="+mn-lt"/>
                <a:cs typeface="+mn-lt"/>
              </a:rPr>
              <a:t>MX record?</a:t>
            </a:r>
            <a:endParaRPr lang="en-US" sz="1100" dirty="0"/>
          </a:p>
        </p:txBody>
      </p:sp>
      <p:sp>
        <p:nvSpPr>
          <p:cNvPr id="7" name="Decision 7"/>
          <p:cNvSpPr/>
          <p:nvPr/>
        </p:nvSpPr>
        <p:spPr>
          <a:xfrm>
            <a:off x="6400800" y="1463040"/>
            <a:ext cx="1600200" cy="1188720"/>
          </a:xfrm>
          <a:prstGeom prst="diamond">
            <a:avLst/>
          </a:prstGeom>
          <a:solidFill>
            <a:schemeClr val="accent3">
              <a:lumMod val="25000"/>
              <a:lumOff val="75000"/>
            </a:schemeClr>
          </a:solidFill>
          <a:ln w="19050">
            <a:solidFill>
              <a:schemeClr val="accent3"/>
            </a:solid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SMTP check</a:t>
            </a:r>
            <a:endParaRPr lang="en-US" sz="1100" dirty="0"/>
          </a:p>
          <a:p>
            <a:pPr algn="ctr">
              <a:spcBef>
                <a:spcPts val="0"/>
              </a:spcBef>
              <a:spcAft>
                <a:spcPts val="0"/>
              </a:spcAft>
              <a:buNone/>
            </a:pPr>
            <a:r>
              <a:rPr lang="en-US" sz="1100" b="1" i="0" dirty="0">
                <a:solidFill>
                  <a:schemeClr val="tx2"/>
                </a:solidFill>
                <a:latin typeface="+mn-lt"/>
                <a:cs typeface="+mn-lt"/>
              </a:rPr>
              <a:t>(optional)</a:t>
            </a:r>
            <a:endParaRPr lang="en-US" sz="1100" dirty="0"/>
          </a:p>
        </p:txBody>
      </p:sp>
      <p:sp>
        <p:nvSpPr>
          <p:cNvPr id="8" name="Flow Node 8"/>
          <p:cNvSpPr/>
          <p:nvPr/>
        </p:nvSpPr>
        <p:spPr>
          <a:xfrm>
            <a:off x="8183880" y="1714500"/>
            <a:ext cx="868680" cy="685800"/>
          </a:xfrm>
          <a:prstGeom prst="roundRect">
            <a:avLst>
              <a:gd name="adj" fmla="val 15000"/>
            </a:avLst>
          </a:prstGeom>
          <a:solidFill>
            <a:schemeClr val="accent2"/>
          </a:solidFill>
          <a:ln w="19050">
            <a:solidFill>
              <a:schemeClr val="accent2"/>
            </a:solid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Accept</a:t>
            </a:r>
            <a:endParaRPr lang="en-US" sz="1200" dirty="0"/>
          </a:p>
        </p:txBody>
      </p:sp>
      <p:cxnSp>
        <p:nvCxnSpPr>
          <p:cNvPr id="9" name="Flow Arrow 9"/>
          <p:cNvCxnSpPr/>
          <p:nvPr/>
        </p:nvCxnSpPr>
        <p:spPr>
          <a:xfrm>
            <a:off x="1325880" y="2057400"/>
            <a:ext cx="182880" cy="0"/>
          </a:xfrm>
          <a:prstGeom prst="straightConnector1">
            <a:avLst/>
          </a:prstGeom>
          <a:ln w="19050">
            <a:solidFill>
              <a:schemeClr val="tx2"/>
            </a:solidFill>
            <a:tailEnd type="triangle" w="med" len="med"/>
          </a:ln>
        </p:spPr>
      </p:cxnSp>
      <p:cxnSp>
        <p:nvCxnSpPr>
          <p:cNvPr id="10" name="Flow Arrow 10"/>
          <p:cNvCxnSpPr/>
          <p:nvPr/>
        </p:nvCxnSpPr>
        <p:spPr>
          <a:xfrm>
            <a:off x="2651760" y="2057400"/>
            <a:ext cx="182880" cy="0"/>
          </a:xfrm>
          <a:prstGeom prst="straightConnector1">
            <a:avLst/>
          </a:prstGeom>
          <a:ln w="19050">
            <a:solidFill>
              <a:schemeClr val="tx2"/>
            </a:solidFill>
            <a:tailEnd type="triangle" w="med" len="med"/>
          </a:ln>
        </p:spPr>
      </p:cxnSp>
      <p:cxnSp>
        <p:nvCxnSpPr>
          <p:cNvPr id="11" name="Flow Arrow 11"/>
          <p:cNvCxnSpPr/>
          <p:nvPr/>
        </p:nvCxnSpPr>
        <p:spPr>
          <a:xfrm>
            <a:off x="4434840" y="2057400"/>
            <a:ext cx="182880" cy="0"/>
          </a:xfrm>
          <a:prstGeom prst="straightConnector1">
            <a:avLst/>
          </a:prstGeom>
          <a:ln w="19050">
            <a:solidFill>
              <a:schemeClr val="tx2"/>
            </a:solidFill>
            <a:tailEnd type="triangle" w="med" len="med"/>
          </a:ln>
        </p:spPr>
      </p:cxnSp>
      <p:cxnSp>
        <p:nvCxnSpPr>
          <p:cNvPr id="12" name="Flow Arrow 12"/>
          <p:cNvCxnSpPr/>
          <p:nvPr/>
        </p:nvCxnSpPr>
        <p:spPr>
          <a:xfrm>
            <a:off x="6217920" y="2057400"/>
            <a:ext cx="182880" cy="0"/>
          </a:xfrm>
          <a:prstGeom prst="straightConnector1">
            <a:avLst/>
          </a:prstGeom>
          <a:ln w="19050">
            <a:solidFill>
              <a:schemeClr val="tx2"/>
            </a:solidFill>
            <a:tailEnd type="triangle" w="med" len="med"/>
          </a:ln>
        </p:spPr>
      </p:cxnSp>
      <p:cxnSp>
        <p:nvCxnSpPr>
          <p:cNvPr id="13" name="Flow Arrow 13"/>
          <p:cNvCxnSpPr/>
          <p:nvPr/>
        </p:nvCxnSpPr>
        <p:spPr>
          <a:xfrm>
            <a:off x="8001000" y="2057400"/>
            <a:ext cx="182880" cy="0"/>
          </a:xfrm>
          <a:prstGeom prst="straightConnector1">
            <a:avLst/>
          </a:prstGeom>
          <a:ln w="19050">
            <a:solidFill>
              <a:schemeClr val="tx2"/>
            </a:solidFill>
            <a:tailEnd type="triangle" w="med" len="med"/>
          </a:ln>
        </p:spPr>
      </p:cxnSp>
      <p:sp>
        <p:nvSpPr>
          <p:cNvPr id="14" name="Yes Label 14"/>
          <p:cNvSpPr txBox="1"/>
          <p:nvPr/>
        </p:nvSpPr>
        <p:spPr>
          <a:xfrm>
            <a:off x="4160520" y="1746504"/>
            <a:ext cx="457200" cy="228600"/>
          </a:xfrm>
          <a:prstGeom prst="rect">
            <a:avLst/>
          </a:prstGeom>
          <a:noFill/>
          <a:ln>
            <a:noFill/>
          </a:ln>
        </p:spPr>
        <p:txBody>
          <a:bodyPr wrap="squar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a:t>
            </a:r>
            <a:endParaRPr lang="en-US" sz="1000" dirty="0"/>
          </a:p>
        </p:txBody>
      </p:sp>
      <p:sp>
        <p:nvSpPr>
          <p:cNvPr id="15" name="Yes Label 15"/>
          <p:cNvSpPr txBox="1"/>
          <p:nvPr/>
        </p:nvSpPr>
        <p:spPr>
          <a:xfrm>
            <a:off x="5943600" y="1746504"/>
            <a:ext cx="457200" cy="228600"/>
          </a:xfrm>
          <a:prstGeom prst="rect">
            <a:avLst/>
          </a:prstGeom>
          <a:noFill/>
          <a:ln>
            <a:noFill/>
          </a:ln>
        </p:spPr>
        <p:txBody>
          <a:bodyPr wrap="squar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a:t>
            </a:r>
            <a:endParaRPr lang="en-US" sz="1000" dirty="0"/>
          </a:p>
        </p:txBody>
      </p:sp>
      <p:sp>
        <p:nvSpPr>
          <p:cNvPr id="16" name="Yes Label 16"/>
          <p:cNvSpPr/>
          <p:nvPr/>
        </p:nvSpPr>
        <p:spPr>
          <a:xfrm>
            <a:off x="7955280" y="1307592"/>
            <a:ext cx="1097280" cy="274320"/>
          </a:xfrm>
          <a:prstGeom prst="rect">
            <a:avLst/>
          </a:prstGeom>
          <a:noFill/>
          <a:ln>
            <a:noFill/>
          </a:ln>
        </p:spPr>
        <p:txBody>
          <a:bodyPr wrap="none" lIns="0" tIns="0" rIns="0" bIns="0" rtlCol="0" anchor="ctr">
            <a:noAutofit/>
          </a:bodyPr>
          <a:lstStyle/>
          <a:p>
            <a:pPr algn="ctr">
              <a:spcBef>
                <a:spcPts val="0"/>
              </a:spcBef>
              <a:spcAft>
                <a:spcPts val="0"/>
              </a:spcAft>
              <a:buNone/>
            </a:pPr>
            <a:r>
              <a:rPr lang="en-US" sz="1000" b="1" i="0" dirty="0">
                <a:solidFill>
                  <a:schemeClr val="accent2">
                    <a:lumMod val="75000"/>
                  </a:schemeClr>
                </a:solidFill>
                <a:latin typeface="+mn-lt"/>
                <a:cs typeface="+mn-lt"/>
              </a:rPr>
              <a:t>Yes / Unknown</a:t>
            </a:r>
            <a:endParaRPr lang="en-US" sz="1000" dirty="0"/>
          </a:p>
        </p:txBody>
      </p:sp>
      <p:sp>
        <p:nvSpPr>
          <p:cNvPr id="17" name="Reject 17"/>
          <p:cNvSpPr/>
          <p:nvPr/>
        </p:nvSpPr>
        <p:spPr>
          <a:xfrm>
            <a:off x="2834640" y="3337560"/>
            <a:ext cx="5166360" cy="502920"/>
          </a:xfrm>
          <a:prstGeom prst="roundRect">
            <a:avLst>
              <a:gd name="adj" fmla="val 15000"/>
            </a:avLst>
          </a:prstGeom>
          <a:solidFill>
            <a:schemeClr val="accent5">
              <a:lumMod val="18000"/>
              <a:lumOff val="82000"/>
            </a:schemeClr>
          </a:solidFill>
          <a:ln w="19050">
            <a:solidFill>
              <a:schemeClr val="accent5"/>
            </a:solidFill>
          </a:ln>
        </p:spPr>
        <p:txBody>
          <a:bodyPr wrap="square" lIns="91440" tIns="45720" rIns="91440" bIns="45720" rtlCol="0" anchor="ctr">
            <a:noAutofit/>
          </a:bodyPr>
          <a:lstStyle/>
          <a:p>
            <a:pPr algn="ctr">
              <a:spcBef>
                <a:spcPts val="0"/>
              </a:spcBef>
              <a:spcAft>
                <a:spcPts val="0"/>
              </a:spcAft>
              <a:buNone/>
            </a:pPr>
            <a:r>
              <a:rPr lang="en-US" sz="1200" b="1" i="0" dirty="0">
                <a:solidFill>
                  <a:schemeClr val="accent5">
                    <a:lumMod val="80000"/>
                  </a:schemeClr>
                </a:solidFill>
                <a:latin typeface="+mn-lt"/>
                <a:cs typeface="+mn-lt"/>
              </a:rPr>
              <a:t>Reject with reason</a:t>
            </a:r>
            <a:endParaRPr lang="en-US" sz="1200" dirty="0"/>
          </a:p>
        </p:txBody>
      </p:sp>
      <p:cxnSp>
        <p:nvCxnSpPr>
          <p:cNvPr id="18" name="No Arrow 18"/>
          <p:cNvCxnSpPr/>
          <p:nvPr/>
        </p:nvCxnSpPr>
        <p:spPr>
          <a:xfrm>
            <a:off x="3634740" y="2651760"/>
            <a:ext cx="0" cy="685800"/>
          </a:xfrm>
          <a:prstGeom prst="straightConnector1">
            <a:avLst/>
          </a:prstGeom>
          <a:ln w="19050">
            <a:solidFill>
              <a:schemeClr val="accent5"/>
            </a:solidFill>
            <a:tailEnd type="triangle" w="med" len="med"/>
          </a:ln>
        </p:spPr>
      </p:cxnSp>
      <p:sp>
        <p:nvSpPr>
          <p:cNvPr id="19" name="No Label 19"/>
          <p:cNvSpPr txBox="1"/>
          <p:nvPr/>
        </p:nvSpPr>
        <p:spPr>
          <a:xfrm>
            <a:off x="370789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cxnSp>
        <p:nvCxnSpPr>
          <p:cNvPr id="20" name="No Arrow 20"/>
          <p:cNvCxnSpPr/>
          <p:nvPr/>
        </p:nvCxnSpPr>
        <p:spPr>
          <a:xfrm>
            <a:off x="5417820" y="2651760"/>
            <a:ext cx="0" cy="685800"/>
          </a:xfrm>
          <a:prstGeom prst="straightConnector1">
            <a:avLst/>
          </a:prstGeom>
          <a:ln w="19050">
            <a:solidFill>
              <a:schemeClr val="accent5"/>
            </a:solidFill>
            <a:tailEnd type="triangle" w="med" len="med"/>
          </a:ln>
        </p:spPr>
      </p:cxnSp>
      <p:sp>
        <p:nvSpPr>
          <p:cNvPr id="21" name="No Label 21"/>
          <p:cNvSpPr txBox="1"/>
          <p:nvPr/>
        </p:nvSpPr>
        <p:spPr>
          <a:xfrm>
            <a:off x="549097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cxnSp>
        <p:nvCxnSpPr>
          <p:cNvPr id="22" name="No Arrow 22"/>
          <p:cNvCxnSpPr/>
          <p:nvPr/>
        </p:nvCxnSpPr>
        <p:spPr>
          <a:xfrm>
            <a:off x="7200900" y="2651760"/>
            <a:ext cx="0" cy="685800"/>
          </a:xfrm>
          <a:prstGeom prst="straightConnector1">
            <a:avLst/>
          </a:prstGeom>
          <a:ln w="19050">
            <a:solidFill>
              <a:schemeClr val="accent5"/>
            </a:solidFill>
            <a:tailEnd type="triangle" w="med" len="med"/>
          </a:ln>
        </p:spPr>
      </p:cxnSp>
      <p:sp>
        <p:nvSpPr>
          <p:cNvPr id="23" name="No Label 23"/>
          <p:cNvSpPr txBox="1"/>
          <p:nvPr/>
        </p:nvSpPr>
        <p:spPr>
          <a:xfrm>
            <a:off x="7274052" y="2697480"/>
            <a:ext cx="365760" cy="228600"/>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1" i="0" dirty="0">
                <a:solidFill>
                  <a:schemeClr val="accent5">
                    <a:lumMod val="80000"/>
                  </a:schemeClr>
                </a:solidFill>
                <a:latin typeface="+mn-lt"/>
                <a:cs typeface="+mn-lt"/>
              </a:rPr>
              <a:t>No</a:t>
            </a:r>
            <a:endParaRPr lang="en-US" sz="1000" dirty="0"/>
          </a:p>
        </p:txBody>
      </p:sp>
      <p:sp>
        <p:nvSpPr>
          <p:cNvPr id="24" name="Result 24"/>
          <p:cNvSpPr/>
          <p:nvPr/>
        </p:nvSpPr>
        <p:spPr>
          <a:xfrm>
            <a:off x="8183880" y="3154680"/>
            <a:ext cx="868680" cy="868680"/>
          </a:xfrm>
          <a:prstGeom prst="roundRect">
            <a:avLst>
              <a:gd name="adj" fmla="val 15000"/>
            </a:avLst>
          </a:prstGeom>
          <a:solidFill>
            <a:schemeClr val="tx2"/>
          </a:solidFill>
          <a:ln w="19050">
            <a:solidFill>
              <a:schemeClr val="tx2"/>
            </a:solidFill>
          </a:ln>
        </p:spPr>
        <p:txBody>
          <a:bodyPr wrap="square" lIns="27432" tIns="0" rIns="27432" bIns="0" rtlCol="0" anchor="ctr">
            <a:noAutofit/>
          </a:bodyPr>
          <a:lstStyle/>
          <a:p>
            <a:pPr algn="ctr">
              <a:spcBef>
                <a:spcPts val="0"/>
              </a:spcBef>
              <a:spcAft>
                <a:spcPts val="0"/>
              </a:spcAft>
              <a:buNone/>
            </a:pPr>
            <a:r>
              <a:rPr lang="en-US" sz="1100" b="1" i="0" dirty="0">
                <a:solidFill>
                  <a:schemeClr val="bg1"/>
                </a:solidFill>
                <a:latin typeface="+mn-lt"/>
                <a:cs typeface="+mn-lt"/>
              </a:rPr>
              <a:t>Return result object</a:t>
            </a:r>
            <a:endParaRPr lang="en-US" sz="1100" dirty="0"/>
          </a:p>
        </p:txBody>
      </p:sp>
      <p:cxnSp>
        <p:nvCxnSpPr>
          <p:cNvPr id="25" name="Flow Arrow 25"/>
          <p:cNvCxnSpPr/>
          <p:nvPr/>
        </p:nvCxnSpPr>
        <p:spPr>
          <a:xfrm>
            <a:off x="8618220" y="2400300"/>
            <a:ext cx="0" cy="754380"/>
          </a:xfrm>
          <a:prstGeom prst="straightConnector1">
            <a:avLst/>
          </a:prstGeom>
          <a:ln w="19050">
            <a:solidFill>
              <a:schemeClr val="tx2"/>
            </a:solidFill>
            <a:tailEnd type="triangle" w="med" len="med"/>
          </a:ln>
        </p:spPr>
      </p:cxnSp>
      <p:sp>
        <p:nvSpPr>
          <p:cNvPr id="26" name="Bullets Left 26"/>
          <p:cNvSpPr txBox="1"/>
          <p:nvPr/>
        </p:nvSpPr>
        <p:spPr>
          <a:xfrm>
            <a:off x="548640" y="4343400"/>
            <a:ext cx="4114800" cy="1920240"/>
          </a:xfrm>
          <a:prstGeom prst="rect">
            <a:avLst/>
          </a:prstGeom>
          <a:noFill/>
          <a:ln>
            <a:noFill/>
          </a:ln>
        </p:spPr>
        <p:txBody>
          <a:bodyPr wrap="square" lIns="0" tIns="0" rIns="0" bIns="0" rtlCol="0" anchor="t">
            <a:noAutofit/>
          </a:bodyPr>
          <a:lstStyle/>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Pipeline: </a:t>
            </a:r>
            <a:r>
              <a:rPr lang="en-US" sz="1400" b="1" i="0" dirty="0">
                <a:solidFill>
                  <a:schemeClr val="tx2"/>
                </a:solidFill>
                <a:latin typeface="+mn-lt"/>
                <a:cs typeface="+mn-lt"/>
              </a:rPr>
              <a:t>input → normalise → syntax check → domain check → deliverability → result</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1" i="0" dirty="0">
                <a:solidFill>
                  <a:schemeClr val="tx2"/>
                </a:solidFill>
                <a:latin typeface="+mn-lt"/>
                <a:cs typeface="+mn-lt"/>
              </a:rPr>
              <a:t>Normalise</a:t>
            </a:r>
            <a:r>
              <a:rPr lang="en-US" sz="1400" b="0" i="0" dirty="0">
                <a:solidFill>
                  <a:schemeClr val="tx2"/>
                </a:solidFill>
                <a:latin typeface="+mn-lt"/>
                <a:cs typeface="+mn-lt"/>
              </a:rPr>
              <a:t> first: strip whitespace, lowercase the domain.</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Reject early on cheap checks; only then do network checks.</a:t>
            </a:r>
            <a:endParaRPr lang="en-US" sz="1400" dirty="0"/>
          </a:p>
        </p:txBody>
      </p:sp>
      <p:sp>
        <p:nvSpPr>
          <p:cNvPr id="27" name="Bullets Right 27"/>
          <p:cNvSpPr txBox="1"/>
          <p:nvPr/>
        </p:nvSpPr>
        <p:spPr>
          <a:xfrm>
            <a:off x="4800600" y="4343400"/>
            <a:ext cx="4114800" cy="1920240"/>
          </a:xfrm>
          <a:prstGeom prst="rect">
            <a:avLst/>
          </a:prstGeom>
          <a:noFill/>
          <a:ln>
            <a:noFill/>
          </a:ln>
        </p:spPr>
        <p:txBody>
          <a:bodyPr wrap="square" lIns="0" tIns="0" rIns="0" bIns="0" rtlCol="0" anchor="t">
            <a:noAutofit/>
          </a:bodyPr>
          <a:lstStyle/>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Wrap risky steps (network, file I/O) in </a:t>
            </a:r>
            <a:r>
              <a:rPr lang="en-US" sz="1400" b="1" i="0" dirty="0">
                <a:solidFill>
                  <a:schemeClr val="tx2"/>
                </a:solidFill>
                <a:latin typeface="+mn-lt"/>
                <a:cs typeface="+mn-lt"/>
              </a:rPr>
              <a:t>try/except</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Return a clear result object: </a:t>
            </a:r>
            <a:r>
              <a:rPr lang="en-US" sz="1302" b="0" i="0" dirty="0">
                <a:solidFill>
                  <a:schemeClr val="accent2">
                    <a:lumMod val="75000"/>
                  </a:schemeClr>
                </a:solidFill>
                <a:latin typeface="Courier New"/>
                <a:cs typeface="Courier New"/>
              </a:rPr>
              <a:t>{valid, reason, suggestion}</a:t>
            </a:r>
            <a:r>
              <a:rPr lang="en-US" sz="1400" b="0" i="0" dirty="0">
                <a:solidFill>
                  <a:schemeClr val="tx2"/>
                </a:solidFill>
                <a:latin typeface="+mn-lt"/>
                <a:cs typeface="+mn-lt"/>
              </a:rPr>
              <a:t>.</a:t>
            </a:r>
            <a:endParaRPr lang="en-US" sz="1400" dirty="0"/>
          </a:p>
          <a:p>
            <a:pPr marL="228600" indent="-228600" algn="l">
              <a:spcBef>
                <a:spcPts val="0"/>
              </a:spcBef>
              <a:spcAft>
                <a:spcPts val="500"/>
              </a:spcAft>
              <a:buClr>
                <a:schemeClr val="accent2"/>
              </a:buClr>
              <a:buFont typeface="Arial"/>
              <a:buChar char="•"/>
            </a:pPr>
            <a:r>
              <a:rPr lang="en-US" sz="1400" b="0" i="0" dirty="0">
                <a:solidFill>
                  <a:schemeClr val="tx2"/>
                </a:solidFill>
                <a:latin typeface="+mn-lt"/>
                <a:cs typeface="+mn-lt"/>
              </a:rPr>
              <a:t>Modular = each check is one small, testable function.</a:t>
            </a:r>
            <a:endParaRPr lang="en-US" sz="1400" dirty="0"/>
          </a:p>
        </p:txBody>
      </p:sp>
      <p:sp>
        <p:nvSpPr>
          <p:cNvPr id="28" name="Footer 28"/>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9" name="Slide Number 29"/>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8</a:t>
            </a:fld>
            <a:endParaRPr lang="en-US" sz="1000" dirty="0">
              <a:solidFill>
                <a:schemeClr val="tx2">
                  <a:lumMod val="65000"/>
                  <a:lumOff val="35000"/>
                </a:schemeClr>
              </a:solidFill>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lass Desig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Code Walkthrough : A Clean Class Design</a:t>
            </a:r>
            <a:endParaRPr lang="en-US" sz="2600" dirty="0"/>
          </a:p>
        </p:txBody>
      </p:sp>
      <p:sp>
        <p:nvSpPr>
          <p:cNvPr id="3" name="Bullets Left 3"/>
          <p:cNvSpPr txBox="1"/>
          <p:nvPr/>
        </p:nvSpPr>
        <p:spPr>
          <a:xfrm>
            <a:off x="548640" y="1325880"/>
            <a:ext cx="4114800" cy="1645920"/>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Encapsulate the rules in a class : cohesive and reusable.</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One method per check: </a:t>
            </a:r>
            <a:r>
              <a:rPr lang="en-US" sz="1302" b="0" i="0" dirty="0">
                <a:solidFill>
                  <a:schemeClr val="accent2">
                    <a:lumMod val="75000"/>
                  </a:schemeClr>
                </a:solidFill>
                <a:latin typeface="Courier New"/>
                <a:cs typeface="Courier New"/>
              </a:rPr>
              <a:t>normalise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check_syntax</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check_domain</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validate</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302" b="0" i="0" dirty="0">
                <a:solidFill>
                  <a:schemeClr val="accent2">
                    <a:lumMod val="75000"/>
                  </a:schemeClr>
                </a:solidFill>
                <a:latin typeface="Courier New"/>
                <a:cs typeface="Courier New"/>
              </a:rPr>
              <a:t>validate()</a:t>
            </a:r>
            <a:r>
              <a:rPr lang="en-US" sz="1400" b="0" i="0" dirty="0">
                <a:solidFill>
                  <a:schemeClr val="tx2"/>
                </a:solidFill>
                <a:latin typeface="+mn-lt"/>
                <a:cs typeface="+mn-lt"/>
              </a:rPr>
              <a:t> returns a </a:t>
            </a:r>
            <a:r>
              <a:rPr lang="en-US" sz="1302" b="0" i="0" dirty="0">
                <a:solidFill>
                  <a:schemeClr val="accent2">
                    <a:lumMod val="75000"/>
                  </a:schemeClr>
                </a:solidFill>
                <a:latin typeface="Courier New"/>
                <a:cs typeface="Courier New"/>
              </a:rPr>
              <a:t>ValidationResult</a:t>
            </a:r>
            <a:r>
              <a:rPr lang="en-US" sz="1400" b="0" i="0" dirty="0">
                <a:solidFill>
                  <a:schemeClr val="tx2"/>
                </a:solidFill>
                <a:latin typeface="+mn-lt"/>
                <a:cs typeface="+mn-lt"/>
              </a:rPr>
              <a:t> (dataclass): valid flag + message.</a:t>
            </a:r>
            <a:endParaRPr lang="en-US" sz="1400" dirty="0"/>
          </a:p>
        </p:txBody>
      </p:sp>
      <p:sp>
        <p:nvSpPr>
          <p:cNvPr id="4" name="Bullets Right 4"/>
          <p:cNvSpPr txBox="1"/>
          <p:nvPr/>
        </p:nvSpPr>
        <p:spPr>
          <a:xfrm>
            <a:off x="4800600" y="1325880"/>
            <a:ext cx="4114800" cy="1399032"/>
          </a:xfrm>
          <a:prstGeom prst="rect">
            <a:avLst/>
          </a:prstGeom>
          <a:noFill/>
          <a:ln>
            <a:noFill/>
          </a:ln>
        </p:spPr>
        <p:txBody>
          <a:bodyPr wrap="square" lIns="0" tIns="0" rIns="0" bIns="0" rtlCol="0" anchor="t">
            <a:noAutofit/>
          </a:bodyPr>
          <a:lstStyle/>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Uses </a:t>
            </a:r>
            <a:r>
              <a:rPr lang="en-US" sz="1400" b="1" i="0" dirty="0">
                <a:solidFill>
                  <a:schemeClr val="tx2"/>
                </a:solidFill>
                <a:latin typeface="+mn-lt"/>
                <a:cs typeface="+mn-lt"/>
              </a:rPr>
              <a:t>modules</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dataclasses</a:t>
            </a:r>
            <a:r>
              <a:rPr lang="en-US" sz="1400" b="0" i="0" dirty="0">
                <a:solidFill>
                  <a:schemeClr val="tx2"/>
                </a:solidFill>
                <a:latin typeface="+mn-lt"/>
                <a:cs typeface="+mn-lt"/>
              </a:rPr>
              <a:t>), </a:t>
            </a:r>
            <a:r>
              <a:rPr lang="en-US" sz="1400" b="1" i="0" dirty="0">
                <a:solidFill>
                  <a:schemeClr val="tx2"/>
                </a:solidFill>
                <a:latin typeface="+mn-lt"/>
                <a:cs typeface="+mn-lt"/>
              </a:rPr>
              <a:t>functions</a:t>
            </a:r>
            <a:r>
              <a:rPr lang="en-US" sz="1400" b="0" i="0" dirty="0">
                <a:solidFill>
                  <a:schemeClr val="tx2"/>
                </a:solidFill>
                <a:latin typeface="+mn-lt"/>
                <a:cs typeface="+mn-lt"/>
              </a:rPr>
              <a:t>, </a:t>
            </a:r>
            <a:r>
              <a:rPr lang="en-US" sz="1400" b="1" i="0" dirty="0">
                <a:solidFill>
                  <a:schemeClr val="tx2"/>
                </a:solidFill>
                <a:latin typeface="+mn-lt"/>
                <a:cs typeface="+mn-lt"/>
              </a:rPr>
              <a:t>classes</a:t>
            </a:r>
            <a:r>
              <a:rPr lang="en-US" sz="1400" b="0" i="0" dirty="0">
                <a:solidFill>
                  <a:schemeClr val="tx2"/>
                </a:solidFill>
                <a:latin typeface="+mn-lt"/>
                <a:cs typeface="+mn-lt"/>
              </a:rPr>
              <a:t> and </a:t>
            </a:r>
            <a:r>
              <a:rPr lang="en-US" sz="1400" b="1" i="0" dirty="0">
                <a:solidFill>
                  <a:schemeClr val="tx2"/>
                </a:solidFill>
                <a:latin typeface="+mn-lt"/>
                <a:cs typeface="+mn-lt"/>
              </a:rPr>
              <a:t>exceptions</a:t>
            </a:r>
            <a:r>
              <a:rPr lang="en-US" sz="1400" b="0" i="0" dirty="0">
                <a:solidFill>
                  <a:schemeClr val="tx2"/>
                </a:solidFill>
                <a:latin typeface="+mn-lt"/>
                <a:cs typeface="+mn-lt"/>
              </a:rPr>
              <a:t>.</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Easy to extend (add a new check without touching the others).</a:t>
            </a:r>
            <a:endParaRPr lang="en-US" sz="1400" dirty="0"/>
          </a:p>
          <a:p>
            <a:pPr marL="228600" indent="-228600" algn="l">
              <a:spcBef>
                <a:spcPts val="0"/>
              </a:spcBef>
              <a:spcAft>
                <a:spcPts val="400"/>
              </a:spcAft>
              <a:buClr>
                <a:schemeClr val="accent2"/>
              </a:buClr>
              <a:buFont typeface="Arial"/>
              <a:buChar char="•"/>
            </a:pPr>
            <a:r>
              <a:rPr lang="en-US" sz="1400" b="0" i="0" dirty="0">
                <a:solidFill>
                  <a:schemeClr val="tx2"/>
                </a:solidFill>
                <a:latin typeface="+mn-lt"/>
                <a:cs typeface="+mn-lt"/>
              </a:rPr>
              <a:t>Demonstrates encapsulation from the OOP module.</a:t>
            </a:r>
            <a:endParaRPr lang="en-US" sz="1400" dirty="0"/>
          </a:p>
        </p:txBody>
      </p:sp>
      <p:sp>
        <p:nvSpPr>
          <p:cNvPr id="5" name="Code Card 5"/>
          <p:cNvSpPr/>
          <p:nvPr/>
        </p:nvSpPr>
        <p:spPr>
          <a:xfrm>
            <a:off x="548640" y="2926080"/>
            <a:ext cx="5074920" cy="3291840"/>
          </a:xfrm>
          <a:prstGeom prst="roundRect">
            <a:avLst>
              <a:gd name="adj" fmla="val 3500"/>
            </a:avLst>
          </a:prstGeom>
          <a:solidFill>
            <a:schemeClr val="tx2"/>
          </a:solidFill>
          <a:ln>
            <a:noFill/>
          </a:ln>
        </p:spPr>
        <p:txBody>
          <a:bodyPr/>
          <a:lstStyle/>
          <a:p>
            <a:endParaRPr lang="en-IN"/>
          </a:p>
        </p:txBody>
      </p:sp>
      <p:sp>
        <p:nvSpPr>
          <p:cNvPr id="6" name="Code Header 6"/>
          <p:cNvSpPr/>
          <p:nvPr/>
        </p:nvSpPr>
        <p:spPr>
          <a:xfrm>
            <a:off x="548640" y="2926080"/>
            <a:ext cx="5074920" cy="310896"/>
          </a:xfrm>
          <a:prstGeom prst="round2SameRect">
            <a:avLst>
              <a:gd name="adj1" fmla="val 22000"/>
              <a:gd name="adj2" fmla="val 0"/>
            </a:avLst>
          </a:prstGeom>
          <a:solidFill>
            <a:schemeClr val="tx2">
              <a:lumMod val="75000"/>
            </a:schemeClr>
          </a:solidFill>
          <a:ln>
            <a:noFill/>
          </a:ln>
        </p:spPr>
        <p:txBody>
          <a:bodyPr/>
          <a:lstStyle/>
          <a:p>
            <a:endParaRPr lang="en-IN"/>
          </a:p>
        </p:txBody>
      </p:sp>
      <p:sp>
        <p:nvSpPr>
          <p:cNvPr id="7" name="Dot 7"/>
          <p:cNvSpPr/>
          <p:nvPr/>
        </p:nvSpPr>
        <p:spPr>
          <a:xfrm>
            <a:off x="713232" y="3035808"/>
            <a:ext cx="91440" cy="91440"/>
          </a:xfrm>
          <a:prstGeom prst="ellipse">
            <a:avLst/>
          </a:prstGeom>
          <a:solidFill>
            <a:schemeClr val="accent5"/>
          </a:solidFill>
          <a:ln>
            <a:noFill/>
          </a:ln>
        </p:spPr>
        <p:txBody>
          <a:bodyPr/>
          <a:lstStyle/>
          <a:p>
            <a:endParaRPr lang="en-IN"/>
          </a:p>
        </p:txBody>
      </p:sp>
      <p:sp>
        <p:nvSpPr>
          <p:cNvPr id="8" name="Dot 8"/>
          <p:cNvSpPr/>
          <p:nvPr/>
        </p:nvSpPr>
        <p:spPr>
          <a:xfrm>
            <a:off x="896112" y="3035808"/>
            <a:ext cx="91440" cy="91440"/>
          </a:xfrm>
          <a:prstGeom prst="ellipse">
            <a:avLst/>
          </a:prstGeom>
          <a:solidFill>
            <a:schemeClr val="accent3"/>
          </a:solidFill>
          <a:ln>
            <a:noFill/>
          </a:ln>
        </p:spPr>
        <p:txBody>
          <a:bodyPr/>
          <a:lstStyle/>
          <a:p>
            <a:endParaRPr lang="en-IN"/>
          </a:p>
        </p:txBody>
      </p:sp>
      <p:sp>
        <p:nvSpPr>
          <p:cNvPr id="9" name="Dot 9"/>
          <p:cNvSpPr/>
          <p:nvPr/>
        </p:nvSpPr>
        <p:spPr>
          <a:xfrm>
            <a:off x="1078992" y="3035808"/>
            <a:ext cx="91440" cy="91440"/>
          </a:xfrm>
          <a:prstGeom prst="ellipse">
            <a:avLst/>
          </a:prstGeom>
          <a:solidFill>
            <a:schemeClr val="accent1"/>
          </a:solidFill>
          <a:ln>
            <a:noFill/>
          </a:ln>
        </p:spPr>
        <p:txBody>
          <a:bodyPr/>
          <a:lstStyle/>
          <a:p>
            <a:endParaRPr lang="en-IN"/>
          </a:p>
        </p:txBody>
      </p:sp>
      <p:sp>
        <p:nvSpPr>
          <p:cNvPr id="10" name="Code Label 10"/>
          <p:cNvSpPr txBox="1"/>
          <p:nvPr/>
        </p:nvSpPr>
        <p:spPr>
          <a:xfrm>
            <a:off x="3246120" y="2926080"/>
            <a:ext cx="2240280" cy="310896"/>
          </a:xfrm>
          <a:prstGeom prst="rect">
            <a:avLst/>
          </a:prstGeom>
          <a:noFill/>
          <a:ln>
            <a:noFill/>
          </a:ln>
        </p:spPr>
        <p:txBody>
          <a:bodyPr wrap="square" lIns="0" tIns="0" rIns="0" bIns="0" rtlCol="0" anchor="ctr">
            <a:noAutofit/>
          </a:bodyPr>
          <a:lstStyle/>
          <a:p>
            <a:pPr algn="r">
              <a:spcBef>
                <a:spcPts val="0"/>
              </a:spcBef>
              <a:spcAft>
                <a:spcPts val="0"/>
              </a:spcAft>
              <a:buNone/>
            </a:pPr>
            <a:r>
              <a:rPr lang="en-US" sz="1000" b="0" i="0" dirty="0">
                <a:solidFill>
                  <a:schemeClr val="bg2">
                    <a:lumMod val="65000"/>
                  </a:schemeClr>
                </a:solidFill>
                <a:latin typeface="Courier New"/>
                <a:cs typeface="Courier New"/>
              </a:rPr>
              <a:t>email_validator.py</a:t>
            </a:r>
            <a:endParaRPr lang="en-US" sz="1000" dirty="0"/>
          </a:p>
        </p:txBody>
      </p:sp>
      <p:sp>
        <p:nvSpPr>
          <p:cNvPr id="11" name="Code 11"/>
          <p:cNvSpPr txBox="1"/>
          <p:nvPr/>
        </p:nvSpPr>
        <p:spPr>
          <a:xfrm>
            <a:off x="731520" y="3346704"/>
            <a:ext cx="4800600" cy="2798064"/>
          </a:xfrm>
          <a:prstGeom prst="rect">
            <a:avLst/>
          </a:prstGeom>
          <a:noFill/>
          <a:ln>
            <a:noFill/>
          </a:ln>
        </p:spPr>
        <p:txBody>
          <a:bodyPr wrap="square" lIns="0" tIns="0" rIns="0" bIns="0" rtlCol="0" anchor="t">
            <a:noAutofit/>
          </a:bodyPr>
          <a:lstStyle/>
          <a:p>
            <a:pPr algn="l">
              <a:lnSpc>
                <a:spcPct val="92000"/>
              </a:lnSpc>
              <a:spcBef>
                <a:spcPts val="0"/>
              </a:spcBef>
              <a:spcAft>
                <a:spcPts val="0"/>
              </a:spcAft>
              <a:buNone/>
            </a:pPr>
            <a:r>
              <a:rPr lang="en-US" sz="1000" b="1" i="0" dirty="0">
                <a:solidFill>
                  <a:schemeClr val="accent1"/>
                </a:solidFill>
                <a:latin typeface="Courier New"/>
                <a:cs typeface="Courier New"/>
              </a:rPr>
              <a:t>from</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dataclasses</a:t>
            </a: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import</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dataclass</a:t>
            </a:r>
            <a:endParaRPr lang="en-US" sz="1000" dirty="0"/>
          </a:p>
          <a:p>
            <a:pPr algn="l">
              <a:lnSpc>
                <a:spcPct val="92000"/>
              </a:lnSpc>
              <a:spcBef>
                <a:spcPts val="0"/>
              </a:spcBef>
              <a:spcAft>
                <a:spcPts val="0"/>
              </a:spcAft>
              <a:buNone/>
            </a:pPr>
            <a:r>
              <a:rPr lang="en-US" sz="1000" b="1" i="0" dirty="0">
                <a:solidFill>
                  <a:schemeClr val="accent1"/>
                </a:solidFill>
                <a:latin typeface="Courier New"/>
                <a:cs typeface="Courier New"/>
              </a:rPr>
              <a:t>import</a:t>
            </a:r>
            <a:r>
              <a:rPr lang="en-US" sz="1000" b="0" i="0" dirty="0">
                <a:solidFill>
                  <a:schemeClr val="bg2"/>
                </a:solidFill>
                <a:latin typeface="Courier New"/>
                <a:cs typeface="Courier New"/>
              </a:rPr>
              <a:t> </a:t>
            </a:r>
            <a:r>
              <a:rPr lang="en-US" sz="1000" b="0" i="0" dirty="0">
                <a:solidFill>
                  <a:schemeClr val="accent1">
                    <a:lumMod val="55000"/>
                    <a:lumOff val="45000"/>
                  </a:schemeClr>
                </a:solidFill>
                <a:latin typeface="Courier New"/>
                <a:cs typeface="Courier New"/>
              </a:rPr>
              <a:t>re</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accent4"/>
                </a:solidFill>
                <a:latin typeface="Courier New"/>
                <a:cs typeface="Courier New"/>
              </a:rPr>
              <a:t>@dataclass</a:t>
            </a:r>
            <a:endParaRPr lang="en-US" sz="1000" dirty="0"/>
          </a:p>
          <a:p>
            <a:pPr algn="l">
              <a:lnSpc>
                <a:spcPct val="92000"/>
              </a:lnSpc>
              <a:spcBef>
                <a:spcPts val="0"/>
              </a:spcBef>
              <a:spcAft>
                <a:spcPts val="0"/>
              </a:spcAft>
              <a:buNone/>
            </a:pPr>
            <a:r>
              <a:rPr lang="en-US" sz="1000" b="1" i="0" dirty="0">
                <a:solidFill>
                  <a:schemeClr val="accent1"/>
                </a:solidFill>
                <a:latin typeface="Courier New"/>
                <a:cs typeface="Courier New"/>
              </a:rPr>
              <a:t>class</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ValidationResult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valid: </a:t>
            </a:r>
            <a:r>
              <a:rPr lang="en-US" sz="1000" b="0" i="0" dirty="0">
                <a:solidFill>
                  <a:schemeClr val="accent1">
                    <a:lumMod val="55000"/>
                    <a:lumOff val="45000"/>
                  </a:schemeClr>
                </a:solidFill>
                <a:latin typeface="Courier New"/>
                <a:cs typeface="Courier New"/>
              </a:rPr>
              <a:t>bool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reason: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 </a:t>
            </a:r>
            <a:r>
              <a:rPr lang="en-US" sz="1000" b="0" i="0" dirty="0">
                <a:solidFill>
                  <a:schemeClr val="accent3"/>
                </a:solidFill>
                <a:latin typeface="Courier New"/>
                <a:cs typeface="Courier New"/>
              </a:rPr>
              <a:t>"ok"</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1" i="0" dirty="0">
                <a:solidFill>
                  <a:schemeClr val="accent1"/>
                </a:solidFill>
                <a:latin typeface="Courier New"/>
                <a:cs typeface="Courier New"/>
              </a:rPr>
              <a:t>class</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EmailValidator</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PATTERN = </a:t>
            </a:r>
            <a:r>
              <a:rPr lang="en-US" sz="1000" b="0" i="0" dirty="0" err="1">
                <a:solidFill>
                  <a:schemeClr val="accent1">
                    <a:lumMod val="55000"/>
                    <a:lumOff val="45000"/>
                  </a:schemeClr>
                </a:solidFill>
                <a:latin typeface="Courier New"/>
                <a:cs typeface="Courier New"/>
              </a:rPr>
              <a:t>re</a:t>
            </a:r>
            <a:r>
              <a:rPr lang="en-US" sz="1000" b="0" i="0" dirty="0" err="1">
                <a:solidFill>
                  <a:schemeClr val="bg2"/>
                </a:solidFill>
                <a:latin typeface="Courier New"/>
                <a:cs typeface="Courier New"/>
              </a:rPr>
              <a:t>.compile</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r"^[A-Za-z0-9._%+-]+@[A-Za-z0-9.-]+\.[A-Za-z]{2,}$"</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def</a:t>
            </a:r>
            <a:r>
              <a:rPr lang="en-US" sz="1000" b="0" i="0" dirty="0">
                <a:solidFill>
                  <a:schemeClr val="bg2"/>
                </a:solidFill>
                <a:latin typeface="Courier New"/>
                <a:cs typeface="Courier New"/>
              </a:rPr>
              <a:t> </a:t>
            </a:r>
            <a:r>
              <a:rPr lang="en-US" sz="1000" b="0" i="0" dirty="0" err="1">
                <a:solidFill>
                  <a:schemeClr val="accent4">
                    <a:lumMod val="75000"/>
                    <a:lumOff val="25000"/>
                  </a:schemeClr>
                </a:solidFill>
                <a:latin typeface="Courier New"/>
                <a:cs typeface="Courier New"/>
              </a:rPr>
              <a:t>normalise</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self</a:t>
            </a:r>
            <a:r>
              <a:rPr lang="en-US" sz="1000" b="0" i="0" dirty="0">
                <a:solidFill>
                  <a:schemeClr val="bg2"/>
                </a:solidFill>
                <a:latin typeface="Courier New"/>
                <a:cs typeface="Courier New"/>
              </a:rPr>
              <a:t>, email: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-&gt;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local, _, domain = </a:t>
            </a:r>
            <a:r>
              <a:rPr lang="en-US" sz="1000" b="0" i="0" dirty="0" err="1">
                <a:solidFill>
                  <a:schemeClr val="bg2"/>
                </a:solidFill>
                <a:latin typeface="Courier New"/>
                <a:cs typeface="Courier New"/>
              </a:rPr>
              <a:t>email.strip</a:t>
            </a:r>
            <a:r>
              <a:rPr lang="en-US" sz="1000" b="0" i="0" dirty="0">
                <a:solidFill>
                  <a:schemeClr val="bg2"/>
                </a:solidFill>
                <a:latin typeface="Courier New"/>
                <a:cs typeface="Courier New"/>
              </a:rPr>
              <a:t>().partition(</a:t>
            </a:r>
            <a:r>
              <a:rPr lang="en-US" sz="1000" b="0" i="0" dirty="0">
                <a:solidFill>
                  <a:schemeClr val="accent3"/>
                </a:solidFill>
                <a:latin typeface="Courier New"/>
                <a:cs typeface="Courier New"/>
              </a:rPr>
              <a: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f"{local}@{domain.lower()}"</a:t>
            </a:r>
            <a:endParaRPr lang="en-US" sz="1000" dirty="0"/>
          </a:p>
          <a:p>
            <a:pPr algn="l">
              <a:lnSpc>
                <a:spcPct val="92000"/>
              </a:lnSpc>
              <a:spcBef>
                <a:spcPts val="0"/>
              </a:spcBef>
              <a:spcAft>
                <a:spcPts val="0"/>
              </a:spcAft>
              <a:buNone/>
            </a:pPr>
            <a:endParaRPr lang="en-US" sz="5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def</a:t>
            </a:r>
            <a:r>
              <a:rPr lang="en-US" sz="1000" b="0" i="0" dirty="0">
                <a:solidFill>
                  <a:schemeClr val="bg2"/>
                </a:solidFill>
                <a:latin typeface="Courier New"/>
                <a:cs typeface="Courier New"/>
              </a:rPr>
              <a:t> </a:t>
            </a:r>
            <a:r>
              <a:rPr lang="en-US" sz="1000" b="0" i="0" dirty="0">
                <a:solidFill>
                  <a:schemeClr val="accent4">
                    <a:lumMod val="75000"/>
                    <a:lumOff val="25000"/>
                  </a:schemeClr>
                </a:solidFill>
                <a:latin typeface="Courier New"/>
                <a:cs typeface="Courier New"/>
              </a:rPr>
              <a:t>validate</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self</a:t>
            </a:r>
            <a:r>
              <a:rPr lang="en-US" sz="1000" b="0" i="0" dirty="0">
                <a:solidFill>
                  <a:schemeClr val="bg2"/>
                </a:solidFill>
                <a:latin typeface="Courier New"/>
                <a:cs typeface="Courier New"/>
              </a:rPr>
              <a:t>, email: </a:t>
            </a:r>
            <a:r>
              <a:rPr lang="en-US" sz="1000" b="0" i="0" dirty="0">
                <a:solidFill>
                  <a:schemeClr val="accent1">
                    <a:lumMod val="55000"/>
                    <a:lumOff val="45000"/>
                  </a:schemeClr>
                </a:solidFill>
                <a:latin typeface="Courier New"/>
                <a:cs typeface="Courier New"/>
              </a:rPr>
              <a:t>str</a:t>
            </a:r>
            <a:r>
              <a:rPr lang="en-US" sz="1000" b="0" i="0" dirty="0">
                <a:solidFill>
                  <a:schemeClr val="bg2"/>
                </a:solidFill>
                <a:latin typeface="Courier New"/>
                <a:cs typeface="Courier New"/>
              </a:rPr>
              <a:t>) -&gt;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email = </a:t>
            </a:r>
            <a:r>
              <a:rPr lang="en-US" sz="1000" b="1" i="0" dirty="0" err="1">
                <a:solidFill>
                  <a:schemeClr val="accent1"/>
                </a:solidFill>
                <a:latin typeface="Courier New"/>
                <a:cs typeface="Courier New"/>
              </a:rPr>
              <a:t>self</a:t>
            </a:r>
            <a:r>
              <a:rPr lang="en-US" sz="1000" b="0" i="0" dirty="0" err="1">
                <a:solidFill>
                  <a:schemeClr val="bg2"/>
                </a:solidFill>
                <a:latin typeface="Courier New"/>
                <a:cs typeface="Courier New"/>
              </a:rPr>
              <a:t>.normalise</a:t>
            </a:r>
            <a:r>
              <a:rPr lang="en-US" sz="1000" b="0" i="0" dirty="0">
                <a:solidFill>
                  <a:schemeClr val="bg2"/>
                </a:solidFill>
                <a:latin typeface="Courier New"/>
                <a:cs typeface="Courier New"/>
              </a:rPr>
              <a:t>(email)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if</a:t>
            </a: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not</a:t>
            </a:r>
            <a:r>
              <a:rPr lang="en-US" sz="1000" b="0" i="0" dirty="0">
                <a:solidFill>
                  <a:schemeClr val="bg2"/>
                </a:solidFill>
                <a:latin typeface="Courier New"/>
                <a:cs typeface="Courier New"/>
              </a:rPr>
              <a:t> </a:t>
            </a:r>
            <a:r>
              <a:rPr lang="en-US" sz="1000" b="1" i="0" dirty="0" err="1">
                <a:solidFill>
                  <a:schemeClr val="accent1"/>
                </a:solidFill>
                <a:latin typeface="Courier New"/>
                <a:cs typeface="Courier New"/>
              </a:rPr>
              <a:t>self</a:t>
            </a:r>
            <a:r>
              <a:rPr lang="en-US" sz="1000" b="0" i="0" dirty="0" err="1">
                <a:solidFill>
                  <a:schemeClr val="bg2"/>
                </a:solidFill>
                <a:latin typeface="Courier New"/>
                <a:cs typeface="Courier New"/>
              </a:rPr>
              <a:t>.PATTERN.fullmatch</a:t>
            </a:r>
            <a:r>
              <a:rPr lang="en-US" sz="1000" b="0" i="0" dirty="0">
                <a:solidFill>
                  <a:schemeClr val="bg2"/>
                </a:solidFill>
                <a:latin typeface="Courier New"/>
                <a:cs typeface="Courier New"/>
              </a:rPr>
              <a:t>(email):</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False</a:t>
            </a:r>
            <a:r>
              <a:rPr lang="en-US" sz="1000" b="0" i="0" dirty="0">
                <a:solidFill>
                  <a:schemeClr val="bg2"/>
                </a:solidFill>
                <a:latin typeface="Courier New"/>
                <a:cs typeface="Courier New"/>
              </a:rPr>
              <a:t>, </a:t>
            </a:r>
            <a:r>
              <a:rPr lang="en-US" sz="1000" b="0" i="0" dirty="0">
                <a:solidFill>
                  <a:schemeClr val="accent3"/>
                </a:solidFill>
                <a:latin typeface="Courier New"/>
                <a:cs typeface="Courier New"/>
              </a:rPr>
              <a:t>"invalid syntax"</a:t>
            </a:r>
            <a:r>
              <a:rPr lang="en-US" sz="1000" b="0" i="0" dirty="0">
                <a:solidFill>
                  <a:schemeClr val="bg2"/>
                </a:solidFill>
                <a:latin typeface="Courier New"/>
                <a:cs typeface="Courier New"/>
              </a:rPr>
              <a:t>)</a:t>
            </a:r>
            <a:endParaRPr lang="en-US" sz="1000" dirty="0"/>
          </a:p>
          <a:p>
            <a:pPr algn="l">
              <a:lnSpc>
                <a:spcPct val="92000"/>
              </a:lnSpc>
              <a:spcBef>
                <a:spcPts val="0"/>
              </a:spcBef>
              <a:spcAft>
                <a:spcPts val="0"/>
              </a:spcAft>
              <a:buNone/>
            </a:pPr>
            <a:r>
              <a:rPr lang="en-US" sz="1000" b="0" i="0" dirty="0">
                <a:solidFill>
                  <a:schemeClr val="bg2"/>
                </a:solidFill>
                <a:latin typeface="Courier New"/>
                <a:cs typeface="Courier New"/>
              </a:rPr>
              <a:t>        </a:t>
            </a:r>
            <a:r>
              <a:rPr lang="en-US" sz="1000" b="1" i="0" dirty="0">
                <a:solidFill>
                  <a:schemeClr val="accent1"/>
                </a:solidFill>
                <a:latin typeface="Courier New"/>
                <a:cs typeface="Courier New"/>
              </a:rPr>
              <a:t>return</a:t>
            </a:r>
            <a:r>
              <a:rPr lang="en-US" sz="1000" b="0" i="0" dirty="0">
                <a:solidFill>
                  <a:schemeClr val="bg2"/>
                </a:solidFill>
                <a:latin typeface="Courier New"/>
                <a:cs typeface="Courier New"/>
              </a:rPr>
              <a:t> </a:t>
            </a:r>
            <a:r>
              <a:rPr lang="en-US" sz="1000" b="0" i="0" dirty="0" err="1">
                <a:solidFill>
                  <a:schemeClr val="bg2"/>
                </a:solidFill>
                <a:latin typeface="Courier New"/>
                <a:cs typeface="Courier New"/>
              </a:rPr>
              <a:t>ValidationResult</a:t>
            </a:r>
            <a:r>
              <a:rPr lang="en-US" sz="1000" b="0" i="0" dirty="0">
                <a:solidFill>
                  <a:schemeClr val="bg2"/>
                </a:solidFill>
                <a:latin typeface="Courier New"/>
                <a:cs typeface="Courier New"/>
              </a:rPr>
              <a:t>(</a:t>
            </a:r>
            <a:r>
              <a:rPr lang="en-US" sz="1000" b="1" i="0" dirty="0">
                <a:solidFill>
                  <a:schemeClr val="accent1"/>
                </a:solidFill>
                <a:latin typeface="Courier New"/>
                <a:cs typeface="Courier New"/>
              </a:rPr>
              <a:t>True</a:t>
            </a:r>
            <a:r>
              <a:rPr lang="en-US" sz="1000" b="0" i="0" dirty="0">
                <a:solidFill>
                  <a:schemeClr val="bg2"/>
                </a:solidFill>
                <a:latin typeface="Courier New"/>
                <a:cs typeface="Courier New"/>
              </a:rPr>
              <a:t>)</a:t>
            </a:r>
            <a:endParaRPr lang="en-US" sz="1000" dirty="0"/>
          </a:p>
        </p:txBody>
      </p:sp>
      <p:sp>
        <p:nvSpPr>
          <p:cNvPr id="12" name="UML Compartment 12"/>
          <p:cNvSpPr/>
          <p:nvPr/>
        </p:nvSpPr>
        <p:spPr>
          <a:xfrm>
            <a:off x="5852160" y="2926080"/>
            <a:ext cx="3200400" cy="502920"/>
          </a:xfrm>
          <a:prstGeom prst="rect">
            <a:avLst/>
          </a:prstGeom>
          <a:solidFill>
            <a:schemeClr val="accent2">
              <a:lumMod val="75000"/>
            </a:schemeClr>
          </a:solidFill>
          <a:ln w="15875">
            <a:solidFill>
              <a:schemeClr val="accent2"/>
            </a:solidFill>
          </a:ln>
        </p:spPr>
        <p:txBody>
          <a:bodyPr wrap="square" lIns="91440" tIns="27432" rIns="73152" bIns="27432" rtlCol="0" anchor="ctr">
            <a:noAutofit/>
          </a:bodyPr>
          <a:lstStyle/>
          <a:p>
            <a:pPr algn="ctr">
              <a:spcBef>
                <a:spcPts val="0"/>
              </a:spcBef>
              <a:spcAft>
                <a:spcPts val="0"/>
              </a:spcAft>
              <a:buNone/>
            </a:pPr>
            <a:r>
              <a:rPr lang="en-US" sz="1000" b="0" i="0" dirty="0">
                <a:solidFill>
                  <a:schemeClr val="bg1"/>
                </a:solidFill>
                <a:latin typeface="+mn-lt"/>
                <a:cs typeface="+mn-lt"/>
              </a:rPr>
              <a:t>«dataclass»</a:t>
            </a:r>
            <a:endParaRPr lang="en-US" sz="1000" dirty="0"/>
          </a:p>
          <a:p>
            <a:pPr algn="ctr">
              <a:spcBef>
                <a:spcPts val="0"/>
              </a:spcBef>
              <a:spcAft>
                <a:spcPts val="0"/>
              </a:spcAft>
              <a:buNone/>
            </a:pPr>
            <a:r>
              <a:rPr lang="en-US" sz="1200" b="1" i="0" dirty="0">
                <a:solidFill>
                  <a:schemeClr val="bg1"/>
                </a:solidFill>
                <a:latin typeface="+mn-lt"/>
                <a:cs typeface="+mn-lt"/>
              </a:rPr>
              <a:t>ValidationResult</a:t>
            </a:r>
            <a:endParaRPr lang="en-US" sz="1200" dirty="0"/>
          </a:p>
        </p:txBody>
      </p:sp>
      <p:sp>
        <p:nvSpPr>
          <p:cNvPr id="13" name="UML Compartment 13"/>
          <p:cNvSpPr/>
          <p:nvPr/>
        </p:nvSpPr>
        <p:spPr>
          <a:xfrm>
            <a:off x="5852160" y="3429000"/>
            <a:ext cx="3200400" cy="566928"/>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valid: bool</a:t>
            </a:r>
            <a:endParaRPr lang="en-US" sz="1100" dirty="0"/>
          </a:p>
          <a:p>
            <a:pPr algn="l">
              <a:spcBef>
                <a:spcPts val="0"/>
              </a:spcBef>
              <a:spcAft>
                <a:spcPts val="0"/>
              </a:spcAft>
              <a:buNone/>
            </a:pPr>
            <a:r>
              <a:rPr lang="en-US" sz="1100" b="0" i="0" dirty="0">
                <a:solidFill>
                  <a:schemeClr val="tx2"/>
                </a:solidFill>
                <a:latin typeface="+mn-lt"/>
                <a:cs typeface="+mn-lt"/>
              </a:rPr>
              <a:t>+ reason: str = "ok"</a:t>
            </a:r>
            <a:endParaRPr lang="en-US" sz="1100" dirty="0"/>
          </a:p>
        </p:txBody>
      </p:sp>
      <p:sp>
        <p:nvSpPr>
          <p:cNvPr id="14" name="UML Compartment 14"/>
          <p:cNvSpPr/>
          <p:nvPr/>
        </p:nvSpPr>
        <p:spPr>
          <a:xfrm>
            <a:off x="5852160" y="4434840"/>
            <a:ext cx="3200400" cy="365760"/>
          </a:xfrm>
          <a:prstGeom prst="rect">
            <a:avLst/>
          </a:prstGeom>
          <a:solidFill>
            <a:schemeClr val="accent2">
              <a:lumMod val="75000"/>
            </a:schemeClr>
          </a:solidFill>
          <a:ln w="15875">
            <a:solidFill>
              <a:schemeClr val="accent2"/>
            </a:solidFill>
          </a:ln>
        </p:spPr>
        <p:txBody>
          <a:bodyPr wrap="square" lIns="91440" tIns="27432" rIns="73152" bIns="27432" rtlCol="0" anchor="ctr">
            <a:noAutofit/>
          </a:bodyPr>
          <a:lstStyle/>
          <a:p>
            <a:pPr algn="ctr">
              <a:spcBef>
                <a:spcPts val="0"/>
              </a:spcBef>
              <a:spcAft>
                <a:spcPts val="0"/>
              </a:spcAft>
              <a:buNone/>
            </a:pPr>
            <a:r>
              <a:rPr lang="en-US" sz="1200" b="1" i="0" dirty="0">
                <a:solidFill>
                  <a:schemeClr val="bg1"/>
                </a:solidFill>
                <a:latin typeface="+mn-lt"/>
                <a:cs typeface="+mn-lt"/>
              </a:rPr>
              <a:t>EmailValidator</a:t>
            </a:r>
            <a:endParaRPr lang="en-US" sz="1200" dirty="0"/>
          </a:p>
        </p:txBody>
      </p:sp>
      <p:sp>
        <p:nvSpPr>
          <p:cNvPr id="15" name="UML Compartment 15"/>
          <p:cNvSpPr/>
          <p:nvPr/>
        </p:nvSpPr>
        <p:spPr>
          <a:xfrm>
            <a:off x="5852160" y="4800600"/>
            <a:ext cx="3200400" cy="320040"/>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PATTERN: re.Pattern</a:t>
            </a:r>
            <a:endParaRPr lang="en-US" sz="1100" dirty="0"/>
          </a:p>
        </p:txBody>
      </p:sp>
      <p:sp>
        <p:nvSpPr>
          <p:cNvPr id="16" name="UML Compartment 16"/>
          <p:cNvSpPr/>
          <p:nvPr/>
        </p:nvSpPr>
        <p:spPr>
          <a:xfrm>
            <a:off x="5852160" y="5120640"/>
            <a:ext cx="3200400" cy="1005840"/>
          </a:xfrm>
          <a:prstGeom prst="rect">
            <a:avLst/>
          </a:prstGeom>
          <a:solidFill>
            <a:schemeClr val="bg2">
              <a:lumMod val="60000"/>
              <a:lumOff val="40000"/>
            </a:schemeClr>
          </a:solidFill>
          <a:ln w="15875">
            <a:solidFill>
              <a:schemeClr val="accent2"/>
            </a:solidFill>
          </a:ln>
        </p:spPr>
        <p:txBody>
          <a:bodyPr wrap="square" lIns="91440" tIns="27432" rIns="73152" bIns="27432" rtlCol="0" anchor="ctr">
            <a:noAutofit/>
          </a:bodyPr>
          <a:lstStyle/>
          <a:p>
            <a:pPr algn="l">
              <a:spcBef>
                <a:spcPts val="0"/>
              </a:spcBef>
              <a:spcAft>
                <a:spcPts val="0"/>
              </a:spcAft>
              <a:buNone/>
            </a:pPr>
            <a:r>
              <a:rPr lang="en-US" sz="1100" b="0" i="0" dirty="0">
                <a:solidFill>
                  <a:schemeClr val="tx2"/>
                </a:solidFill>
                <a:latin typeface="+mn-lt"/>
                <a:cs typeface="+mn-lt"/>
              </a:rPr>
              <a:t>+ normalise(email): str</a:t>
            </a:r>
            <a:endParaRPr lang="en-US" sz="1100" dirty="0"/>
          </a:p>
          <a:p>
            <a:pPr algn="l">
              <a:spcBef>
                <a:spcPts val="0"/>
              </a:spcBef>
              <a:spcAft>
                <a:spcPts val="0"/>
              </a:spcAft>
              <a:buNone/>
            </a:pPr>
            <a:r>
              <a:rPr lang="en-US" sz="1100" b="0" i="0" dirty="0">
                <a:solidFill>
                  <a:schemeClr val="tx2"/>
                </a:solidFill>
                <a:latin typeface="+mn-lt"/>
                <a:cs typeface="+mn-lt"/>
              </a:rPr>
              <a:t>+ check_syntax(email): bool</a:t>
            </a:r>
            <a:endParaRPr lang="en-US" sz="1100" dirty="0"/>
          </a:p>
          <a:p>
            <a:pPr algn="l">
              <a:spcBef>
                <a:spcPts val="0"/>
              </a:spcBef>
              <a:spcAft>
                <a:spcPts val="0"/>
              </a:spcAft>
              <a:buNone/>
            </a:pPr>
            <a:r>
              <a:rPr lang="en-US" sz="1100" b="0" i="0" dirty="0">
                <a:solidFill>
                  <a:schemeClr val="tx2"/>
                </a:solidFill>
                <a:latin typeface="+mn-lt"/>
                <a:cs typeface="+mn-lt"/>
              </a:rPr>
              <a:t>+ check_domain(email): bool</a:t>
            </a:r>
            <a:endParaRPr lang="en-US" sz="1100" dirty="0"/>
          </a:p>
          <a:p>
            <a:pPr algn="l">
              <a:spcBef>
                <a:spcPts val="0"/>
              </a:spcBef>
              <a:spcAft>
                <a:spcPts val="0"/>
              </a:spcAft>
              <a:buNone/>
            </a:pPr>
            <a:r>
              <a:rPr lang="en-US" sz="1100" b="0" i="0" dirty="0">
                <a:solidFill>
                  <a:schemeClr val="tx2"/>
                </a:solidFill>
                <a:latin typeface="+mn-lt"/>
                <a:cs typeface="+mn-lt"/>
              </a:rPr>
              <a:t>+ validate(email): ValidationResult</a:t>
            </a:r>
            <a:endParaRPr lang="en-US" sz="1100" dirty="0"/>
          </a:p>
        </p:txBody>
      </p:sp>
      <p:cxnSp>
        <p:nvCxnSpPr>
          <p:cNvPr id="17" name="Dependency 17"/>
          <p:cNvCxnSpPr/>
          <p:nvPr/>
        </p:nvCxnSpPr>
        <p:spPr>
          <a:xfrm flipV="1">
            <a:off x="7452360" y="3995928"/>
            <a:ext cx="0" cy="438912"/>
          </a:xfrm>
          <a:prstGeom prst="straightConnector1">
            <a:avLst/>
          </a:prstGeom>
          <a:ln w="19050">
            <a:solidFill>
              <a:schemeClr val="tx2"/>
            </a:solidFill>
            <a:prstDash val="dash"/>
            <a:tailEnd type="triangle" w="med" len="med"/>
          </a:ln>
        </p:spPr>
      </p:cxnSp>
      <p:sp>
        <p:nvSpPr>
          <p:cNvPr id="18" name="Relation Label 18"/>
          <p:cNvSpPr txBox="1"/>
          <p:nvPr/>
        </p:nvSpPr>
        <p:spPr>
          <a:xfrm>
            <a:off x="7562088" y="4069080"/>
            <a:ext cx="1097280" cy="274320"/>
          </a:xfrm>
          <a:prstGeom prst="rect">
            <a:avLst/>
          </a:prstGeom>
          <a:noFill/>
          <a:ln>
            <a:noFill/>
          </a:ln>
        </p:spPr>
        <p:txBody>
          <a:bodyPr wrap="square" lIns="0" tIns="0" rIns="0" bIns="0" rtlCol="0" anchor="ctr">
            <a:noAutofit/>
          </a:bodyPr>
          <a:lstStyle/>
          <a:p>
            <a:pPr algn="l">
              <a:spcBef>
                <a:spcPts val="0"/>
              </a:spcBef>
              <a:spcAft>
                <a:spcPts val="0"/>
              </a:spcAft>
              <a:buNone/>
            </a:pPr>
            <a:r>
              <a:rPr lang="en-US" sz="1100" b="1" i="0" dirty="0">
                <a:solidFill>
                  <a:schemeClr val="tx2">
                    <a:lumMod val="65000"/>
                    <a:lumOff val="35000"/>
                  </a:schemeClr>
                </a:solidFill>
                <a:latin typeface="+mn-lt"/>
                <a:cs typeface="+mn-lt"/>
              </a:rPr>
              <a:t>returns</a:t>
            </a:r>
            <a:endParaRPr lang="en-US" sz="1100" dirty="0"/>
          </a:p>
        </p:txBody>
      </p:sp>
      <p:sp>
        <p:nvSpPr>
          <p:cNvPr id="19" name="Footer 19"/>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0" name="Slide Number 20"/>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9</a:t>
            </a:fld>
            <a:endParaRPr lang="en-US" sz="1000" dirty="0">
              <a:solidFill>
                <a:schemeClr val="tx2">
                  <a:lumMod val="65000"/>
                  <a:lumOff val="35000"/>
                </a:schemeClr>
              </a:solidFill>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NS MX SMTP">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Advanced : Is the Mailbox Real?</a:t>
            </a:r>
            <a:endParaRPr lang="en-US" sz="2600" dirty="0"/>
          </a:p>
        </p:txBody>
      </p:sp>
      <p:sp>
        <p:nvSpPr>
          <p:cNvPr id="3" name="Bullets 3"/>
          <p:cNvSpPr txBox="1"/>
          <p:nvPr/>
        </p:nvSpPr>
        <p:spPr>
          <a:xfrm>
            <a:off x="548640" y="1417320"/>
            <a:ext cx="3840480" cy="4754880"/>
          </a:xfrm>
          <a:prstGeom prst="rect">
            <a:avLst/>
          </a:prstGeom>
          <a:noFill/>
          <a:ln>
            <a:noFill/>
          </a:ln>
        </p:spPr>
        <p:txBody>
          <a:bodyPr wrap="square" lIns="0" tIns="0" rIns="0" bIns="0" rtlCol="0" anchor="t">
            <a:noAutofit/>
          </a:bodyPr>
          <a:lstStyle/>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Syntax-valid does not mean the domain exists or accepts mail.</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MX record lookup</a:t>
            </a:r>
            <a:r>
              <a:rPr lang="en-US" sz="1400" b="0" i="0" dirty="0">
                <a:solidFill>
                  <a:schemeClr val="tx2"/>
                </a:solidFill>
                <a:latin typeface="+mn-lt"/>
                <a:cs typeface="+mn-lt"/>
              </a:rPr>
              <a:t> (DNS) checks the domain can receive mail : </a:t>
            </a:r>
            <a:r>
              <a:rPr lang="en-US" sz="1302" b="0" i="0" dirty="0">
                <a:solidFill>
                  <a:schemeClr val="accent2">
                    <a:lumMod val="75000"/>
                  </a:schemeClr>
                </a:solidFill>
                <a:latin typeface="Courier New"/>
                <a:cs typeface="Courier New"/>
              </a:rPr>
              <a:t>dnspython</a:t>
            </a:r>
            <a:r>
              <a:rPr lang="en-US" sz="1400" b="0" i="0" dirty="0">
                <a:solidFill>
                  <a:schemeClr val="tx2"/>
                </a:solidFill>
                <a:latin typeface="+mn-lt"/>
                <a:cs typeface="+mn-lt"/>
              </a:rPr>
              <a:t>.</a:t>
            </a:r>
            <a:endParaRPr lang="en-US" sz="1400" dirty="0"/>
          </a:p>
          <a:p>
            <a:pPr marL="228600" indent="-228600" algn="l">
              <a:spcBef>
                <a:spcPts val="0"/>
              </a:spcBef>
              <a:spcAft>
                <a:spcPts val="700"/>
              </a:spcAft>
              <a:buClr>
                <a:schemeClr val="accent2"/>
              </a:buClr>
              <a:buFont typeface="Arial"/>
              <a:buChar char="•"/>
            </a:pPr>
            <a:r>
              <a:rPr lang="en-US" sz="1400" b="1" i="0" dirty="0">
                <a:solidFill>
                  <a:schemeClr val="tx2"/>
                </a:solidFill>
                <a:latin typeface="+mn-lt"/>
                <a:cs typeface="+mn-lt"/>
              </a:rPr>
              <a:t>SMTP handshake</a:t>
            </a:r>
            <a:r>
              <a:rPr lang="en-US" sz="1400" b="0" i="0" dirty="0">
                <a:solidFill>
                  <a:schemeClr val="tx2"/>
                </a:solidFill>
                <a:latin typeface="+mn-lt"/>
                <a:cs typeface="+mn-lt"/>
              </a:rPr>
              <a:t>: connect to the MX server and issue </a:t>
            </a:r>
            <a:r>
              <a:rPr lang="en-US" sz="1302" b="0" i="0" dirty="0">
                <a:solidFill>
                  <a:schemeClr val="accent2">
                    <a:lumMod val="75000"/>
                  </a:schemeClr>
                </a:solidFill>
                <a:latin typeface="Courier New"/>
                <a:cs typeface="Courier New"/>
              </a:rPr>
              <a:t>RCPT TO</a:t>
            </a:r>
            <a:r>
              <a:rPr lang="en-US" sz="1400" b="0" i="0" dirty="0">
                <a:solidFill>
                  <a:schemeClr val="tx2"/>
                </a:solidFill>
                <a:latin typeface="+mn-lt"/>
                <a:cs typeface="+mn-lt"/>
              </a:rPr>
              <a:t> (often blocked/risky).</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Detect </a:t>
            </a:r>
            <a:r>
              <a:rPr lang="en-US" sz="1400" b="1" i="0" dirty="0">
                <a:solidFill>
                  <a:schemeClr val="tx2"/>
                </a:solidFill>
                <a:latin typeface="+mn-lt"/>
                <a:cs typeface="+mn-lt"/>
              </a:rPr>
              <a:t>disposable</a:t>
            </a:r>
            <a:r>
              <a:rPr lang="en-US" sz="1400" b="0" i="0" dirty="0">
                <a:solidFill>
                  <a:schemeClr val="tx2"/>
                </a:solidFill>
                <a:latin typeface="+mn-lt"/>
                <a:cs typeface="+mn-lt"/>
              </a:rPr>
              <a:t> domains and </a:t>
            </a:r>
            <a:r>
              <a:rPr lang="en-US" sz="1400" b="1" i="0" dirty="0">
                <a:solidFill>
                  <a:schemeClr val="tx2"/>
                </a:solidFill>
                <a:latin typeface="+mn-lt"/>
                <a:cs typeface="+mn-lt"/>
              </a:rPr>
              <a:t>role</a:t>
            </a:r>
            <a:r>
              <a:rPr lang="en-US" sz="1400" b="0" i="0" dirty="0">
                <a:solidFill>
                  <a:schemeClr val="tx2"/>
                </a:solidFill>
                <a:latin typeface="+mn-lt"/>
                <a:cs typeface="+mn-lt"/>
              </a:rPr>
              <a:t> addresses (</a:t>
            </a:r>
            <a:r>
              <a:rPr lang="en-US" sz="1302" b="0" i="0" dirty="0">
                <a:solidFill>
                  <a:schemeClr val="accent2">
                    <a:lumMod val="75000"/>
                  </a:schemeClr>
                </a:solidFill>
                <a:latin typeface="Courier New"/>
                <a:cs typeface="Courier New"/>
              </a:rPr>
              <a:t>info@</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noreply@</a:t>
            </a:r>
            <a:r>
              <a:rPr lang="en-US" sz="1400" b="0" i="0" dirty="0">
                <a:solidFill>
                  <a:schemeClr val="tx2"/>
                </a:solidFill>
                <a:latin typeface="+mn-lt"/>
                <a:cs typeface="+mn-lt"/>
              </a:rPr>
              <a:t>) with a list.</a:t>
            </a:r>
            <a:endParaRPr lang="en-US" sz="1400" dirty="0"/>
          </a:p>
          <a:p>
            <a:pPr marL="228600" indent="-228600" algn="l">
              <a:spcBef>
                <a:spcPts val="0"/>
              </a:spcBef>
              <a:spcAft>
                <a:spcPts val="700"/>
              </a:spcAft>
              <a:buClr>
                <a:schemeClr val="accent2"/>
              </a:buClr>
              <a:buFont typeface="Arial"/>
              <a:buChar char="•"/>
            </a:pPr>
            <a:r>
              <a:rPr lang="en-US" sz="1400" b="0" i="0" dirty="0">
                <a:solidFill>
                  <a:schemeClr val="tx2"/>
                </a:solidFill>
                <a:latin typeface="+mn-lt"/>
                <a:cs typeface="+mn-lt"/>
              </a:rPr>
              <a:t>Always honour timeouts and treat “unknown” as </a:t>
            </a:r>
            <a:r>
              <a:rPr lang="en-US" sz="1400" b="1" i="0" dirty="0">
                <a:solidFill>
                  <a:schemeClr val="tx2"/>
                </a:solidFill>
                <a:latin typeface="+mn-lt"/>
                <a:cs typeface="+mn-lt"/>
              </a:rPr>
              <a:t>not invalid</a:t>
            </a:r>
            <a:r>
              <a:rPr lang="en-US" sz="1400" b="0" i="0" dirty="0">
                <a:solidFill>
                  <a:schemeClr val="tx2"/>
                </a:solidFill>
                <a:latin typeface="+mn-lt"/>
                <a:cs typeface="+mn-lt"/>
              </a:rPr>
              <a:t>.</a:t>
            </a:r>
            <a:endParaRPr lang="en-US" sz="1400" dirty="0"/>
          </a:p>
        </p:txBody>
      </p:sp>
      <p:sp>
        <p:nvSpPr>
          <p:cNvPr id="4" name="Lifeline Head 4"/>
          <p:cNvSpPr/>
          <p:nvPr/>
        </p:nvSpPr>
        <p:spPr>
          <a:xfrm>
            <a:off x="470916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Client</a:t>
            </a:r>
            <a:endParaRPr lang="en-US" sz="1200" dirty="0"/>
          </a:p>
        </p:txBody>
      </p:sp>
      <p:cxnSp>
        <p:nvCxnSpPr>
          <p:cNvPr id="5" name="Lifeline 5"/>
          <p:cNvCxnSpPr/>
          <p:nvPr/>
        </p:nvCxnSpPr>
        <p:spPr>
          <a:xfrm>
            <a:off x="5303520" y="1965960"/>
            <a:ext cx="0" cy="2606040"/>
          </a:xfrm>
          <a:prstGeom prst="straightConnector1">
            <a:avLst/>
          </a:prstGeom>
          <a:ln w="15875">
            <a:solidFill>
              <a:schemeClr val="tx2">
                <a:lumMod val="65000"/>
                <a:lumOff val="35000"/>
              </a:schemeClr>
            </a:solidFill>
            <a:prstDash val="dash"/>
          </a:ln>
        </p:spPr>
      </p:cxnSp>
      <p:sp>
        <p:nvSpPr>
          <p:cNvPr id="6" name="Lifeline Head 6"/>
          <p:cNvSpPr/>
          <p:nvPr/>
        </p:nvSpPr>
        <p:spPr>
          <a:xfrm>
            <a:off x="626364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DNS</a:t>
            </a:r>
            <a:endParaRPr lang="en-US" sz="1200" dirty="0"/>
          </a:p>
        </p:txBody>
      </p:sp>
      <p:cxnSp>
        <p:nvCxnSpPr>
          <p:cNvPr id="7" name="Lifeline 7"/>
          <p:cNvCxnSpPr/>
          <p:nvPr/>
        </p:nvCxnSpPr>
        <p:spPr>
          <a:xfrm>
            <a:off x="6858000" y="1965960"/>
            <a:ext cx="0" cy="2606040"/>
          </a:xfrm>
          <a:prstGeom prst="straightConnector1">
            <a:avLst/>
          </a:prstGeom>
          <a:ln w="15875">
            <a:solidFill>
              <a:schemeClr val="tx2">
                <a:lumMod val="65000"/>
                <a:lumOff val="35000"/>
              </a:schemeClr>
            </a:solidFill>
            <a:prstDash val="dash"/>
          </a:ln>
        </p:spPr>
      </p:cxnSp>
      <p:sp>
        <p:nvSpPr>
          <p:cNvPr id="8" name="Lifeline Head 8"/>
          <p:cNvSpPr/>
          <p:nvPr/>
        </p:nvSpPr>
        <p:spPr>
          <a:xfrm>
            <a:off x="7818120" y="1463040"/>
            <a:ext cx="1188720" cy="502920"/>
          </a:xfrm>
          <a:prstGeom prst="roundRect">
            <a:avLst>
              <a:gd name="adj" fmla="val 15000"/>
            </a:avLst>
          </a:prstGeom>
          <a:solidFill>
            <a:schemeClr val="accent2">
              <a:lumMod val="75000"/>
            </a:schemeClr>
          </a:solidFill>
          <a:ln>
            <a:noFill/>
          </a:ln>
        </p:spPr>
        <p:txBody>
          <a:bodyPr wrap="square" lIns="0" tIns="0" rIns="0" bIns="0" rtlCol="0" anchor="ctr">
            <a:noAutofit/>
          </a:bodyPr>
          <a:lstStyle/>
          <a:p>
            <a:pPr algn="ctr">
              <a:spcBef>
                <a:spcPts val="0"/>
              </a:spcBef>
              <a:spcAft>
                <a:spcPts val="0"/>
              </a:spcAft>
              <a:buNone/>
            </a:pPr>
            <a:r>
              <a:rPr lang="en-US" sz="1200" b="1" i="0" dirty="0">
                <a:solidFill>
                  <a:schemeClr val="bg1"/>
                </a:solidFill>
                <a:latin typeface="+mn-lt"/>
                <a:cs typeface="+mn-lt"/>
              </a:rPr>
              <a:t>MX server</a:t>
            </a:r>
            <a:endParaRPr lang="en-US" sz="1200" dirty="0"/>
          </a:p>
        </p:txBody>
      </p:sp>
      <p:cxnSp>
        <p:nvCxnSpPr>
          <p:cNvPr id="9" name="Lifeline 9"/>
          <p:cNvCxnSpPr/>
          <p:nvPr/>
        </p:nvCxnSpPr>
        <p:spPr>
          <a:xfrm>
            <a:off x="8412480" y="1965960"/>
            <a:ext cx="0" cy="2606040"/>
          </a:xfrm>
          <a:prstGeom prst="straightConnector1">
            <a:avLst/>
          </a:prstGeom>
          <a:ln w="15875">
            <a:solidFill>
              <a:schemeClr val="tx2">
                <a:lumMod val="65000"/>
                <a:lumOff val="35000"/>
              </a:schemeClr>
            </a:solidFill>
            <a:prstDash val="dash"/>
          </a:ln>
        </p:spPr>
      </p:cxnSp>
      <p:cxnSp>
        <p:nvCxnSpPr>
          <p:cNvPr id="10" name="Message 10"/>
          <p:cNvCxnSpPr/>
          <p:nvPr/>
        </p:nvCxnSpPr>
        <p:spPr>
          <a:xfrm>
            <a:off x="5303520" y="2560320"/>
            <a:ext cx="1554480" cy="0"/>
          </a:xfrm>
          <a:prstGeom prst="straightConnector1">
            <a:avLst/>
          </a:prstGeom>
          <a:ln w="22225">
            <a:solidFill>
              <a:schemeClr val="tx2"/>
            </a:solidFill>
            <a:tailEnd type="triangle" w="med" len="med"/>
          </a:ln>
        </p:spPr>
      </p:cxnSp>
      <p:sp>
        <p:nvSpPr>
          <p:cNvPr id="11" name="Message Label 11"/>
          <p:cNvSpPr/>
          <p:nvPr/>
        </p:nvSpPr>
        <p:spPr>
          <a:xfrm>
            <a:off x="5868619" y="2276856"/>
            <a:ext cx="424282"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MX?</a:t>
            </a:r>
            <a:endParaRPr lang="en-US" sz="1100" dirty="0"/>
          </a:p>
        </p:txBody>
      </p:sp>
      <p:cxnSp>
        <p:nvCxnSpPr>
          <p:cNvPr id="12" name="Message 12"/>
          <p:cNvCxnSpPr/>
          <p:nvPr/>
        </p:nvCxnSpPr>
        <p:spPr>
          <a:xfrm flipH="1">
            <a:off x="5303520" y="3108960"/>
            <a:ext cx="1554480" cy="0"/>
          </a:xfrm>
          <a:prstGeom prst="straightConnector1">
            <a:avLst/>
          </a:prstGeom>
          <a:ln w="22225">
            <a:solidFill>
              <a:schemeClr val="accent2">
                <a:lumMod val="75000"/>
              </a:schemeClr>
            </a:solidFill>
            <a:prstDash val="dash"/>
            <a:tailEnd type="triangle" w="med" len="med"/>
          </a:ln>
        </p:spPr>
      </p:cxnSp>
      <p:sp>
        <p:nvSpPr>
          <p:cNvPr id="13" name="Message Label 13"/>
          <p:cNvSpPr/>
          <p:nvPr/>
        </p:nvSpPr>
        <p:spPr>
          <a:xfrm>
            <a:off x="5345582" y="2825496"/>
            <a:ext cx="1470355"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mail.example.com</a:t>
            </a:r>
            <a:endParaRPr lang="en-US" sz="1100" dirty="0"/>
          </a:p>
        </p:txBody>
      </p:sp>
      <p:cxnSp>
        <p:nvCxnSpPr>
          <p:cNvPr id="14" name="Message 14"/>
          <p:cNvCxnSpPr/>
          <p:nvPr/>
        </p:nvCxnSpPr>
        <p:spPr>
          <a:xfrm>
            <a:off x="5303520" y="3703320"/>
            <a:ext cx="3108960" cy="0"/>
          </a:xfrm>
          <a:prstGeom prst="straightConnector1">
            <a:avLst/>
          </a:prstGeom>
          <a:ln w="22225">
            <a:solidFill>
              <a:schemeClr val="tx2"/>
            </a:solidFill>
            <a:tailEnd type="triangle" w="med" len="med"/>
          </a:ln>
        </p:spPr>
      </p:cxnSp>
      <p:sp>
        <p:nvSpPr>
          <p:cNvPr id="15" name="Message Label 15"/>
          <p:cNvSpPr/>
          <p:nvPr/>
        </p:nvSpPr>
        <p:spPr>
          <a:xfrm>
            <a:off x="6002122" y="3419856"/>
            <a:ext cx="1711757"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RCPT TO &lt;alice@...&gt;</a:t>
            </a:r>
            <a:endParaRPr lang="en-US" sz="1100" dirty="0"/>
          </a:p>
        </p:txBody>
      </p:sp>
      <p:cxnSp>
        <p:nvCxnSpPr>
          <p:cNvPr id="16" name="Message 16"/>
          <p:cNvCxnSpPr/>
          <p:nvPr/>
        </p:nvCxnSpPr>
        <p:spPr>
          <a:xfrm flipH="1">
            <a:off x="5303520" y="4251960"/>
            <a:ext cx="3108960" cy="0"/>
          </a:xfrm>
          <a:prstGeom prst="straightConnector1">
            <a:avLst/>
          </a:prstGeom>
          <a:ln w="22225">
            <a:solidFill>
              <a:schemeClr val="accent2">
                <a:lumMod val="75000"/>
              </a:schemeClr>
            </a:solidFill>
            <a:prstDash val="dash"/>
            <a:tailEnd type="triangle" w="med" len="med"/>
          </a:ln>
        </p:spPr>
      </p:cxnSp>
      <p:sp>
        <p:nvSpPr>
          <p:cNvPr id="17" name="Message Label 17"/>
          <p:cNvSpPr/>
          <p:nvPr/>
        </p:nvSpPr>
        <p:spPr>
          <a:xfrm>
            <a:off x="5760720" y="3968496"/>
            <a:ext cx="2194560" cy="237744"/>
          </a:xfrm>
          <a:prstGeom prst="rect">
            <a:avLst/>
          </a:prstGeom>
          <a:solidFill>
            <a:schemeClr val="bg1"/>
          </a:solidFill>
          <a:ln>
            <a:noFill/>
          </a:ln>
        </p:spPr>
        <p:txBody>
          <a:bodyPr wrap="non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250 OK / 550 No such user</a:t>
            </a:r>
            <a:endParaRPr lang="en-US" sz="1100" dirty="0"/>
          </a:p>
        </p:txBody>
      </p:sp>
      <p:sp>
        <p:nvSpPr>
          <p:cNvPr id="18" name="Timeout Branch 18"/>
          <p:cNvSpPr/>
          <p:nvPr/>
        </p:nvSpPr>
        <p:spPr>
          <a:xfrm>
            <a:off x="4709160" y="4800600"/>
            <a:ext cx="4297680" cy="914400"/>
          </a:xfrm>
          <a:prstGeom prst="roundRect">
            <a:avLst>
              <a:gd name="adj" fmla="val 10000"/>
            </a:avLst>
          </a:prstGeom>
          <a:solidFill>
            <a:schemeClr val="accent4">
              <a:lumMod val="15000"/>
              <a:lumOff val="85000"/>
            </a:schemeClr>
          </a:solidFill>
          <a:ln w="19050">
            <a:solidFill>
              <a:schemeClr val="accent4"/>
            </a:solidFill>
            <a:prstDash val="dash"/>
          </a:ln>
        </p:spPr>
        <p:txBody>
          <a:bodyPr wrap="square" lIns="137160" tIns="27432" rIns="91440" bIns="27432" rtlCol="0" anchor="ctr">
            <a:noAutofit/>
          </a:bodyPr>
          <a:lstStyle/>
          <a:p>
            <a:pPr algn="l">
              <a:spcBef>
                <a:spcPts val="0"/>
              </a:spcBef>
              <a:spcAft>
                <a:spcPts val="0"/>
              </a:spcAft>
              <a:buNone/>
            </a:pPr>
            <a:r>
              <a:rPr lang="en-US" sz="1200" b="1" i="0" dirty="0">
                <a:solidFill>
                  <a:schemeClr val="tx2"/>
                </a:solidFill>
                <a:latin typeface="+mn-lt"/>
                <a:cs typeface="+mn-lt"/>
              </a:rPr>
              <a:t>Timeout / no reply → “unknown”</a:t>
            </a:r>
            <a:endParaRPr lang="en-US" sz="1200" dirty="0"/>
          </a:p>
          <a:p>
            <a:pPr algn="l">
              <a:spcBef>
                <a:spcPts val="200"/>
              </a:spcBef>
              <a:spcAft>
                <a:spcPts val="0"/>
              </a:spcAft>
              <a:buNone/>
            </a:pPr>
            <a:r>
              <a:rPr lang="en-US" sz="1100" b="0" i="0" dirty="0">
                <a:solidFill>
                  <a:schemeClr val="tx2"/>
                </a:solidFill>
                <a:latin typeface="+mn-lt"/>
                <a:cs typeface="+mn-lt"/>
              </a:rPr>
              <a:t>Treat as not invalid : never reject on silence.</a:t>
            </a:r>
            <a:endParaRPr lang="en-US" sz="1100" dirty="0"/>
          </a:p>
        </p:txBody>
      </p:sp>
      <p:sp>
        <p:nvSpPr>
          <p:cNvPr id="19" name="Footer 19"/>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0" name="Slide Number 20"/>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10</a:t>
            </a:fld>
            <a:endParaRPr lang="en-US" sz="1000" dirty="0">
              <a:solidFill>
                <a:schemeClr val="tx2">
                  <a:lumMod val="65000"/>
                  <a:lumOff val="35000"/>
                </a:schemeClr>
              </a:solidFill>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esting &amp; Edge Cases">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Testing &amp; Edge Cases</a:t>
            </a:r>
            <a:endParaRPr lang="en-US" sz="2600" dirty="0"/>
          </a:p>
        </p:txBody>
      </p:sp>
      <p:sp>
        <p:nvSpPr>
          <p:cNvPr id="3" name="Bullets 3"/>
          <p:cNvSpPr txBox="1"/>
          <p:nvPr/>
        </p:nvSpPr>
        <p:spPr>
          <a:xfrm>
            <a:off x="548640" y="1417320"/>
            <a:ext cx="3291840" cy="4754880"/>
          </a:xfrm>
          <a:prstGeom prst="rect">
            <a:avLst/>
          </a:prstGeom>
          <a:noFill/>
          <a:ln>
            <a:noFill/>
          </a:ln>
        </p:spPr>
        <p:txBody>
          <a:bodyPr wrap="square" lIns="0" tIns="0" rIns="0" bIns="0" rtlCol="0" anchor="t">
            <a:noAutofit/>
          </a:bodyPr>
          <a:lstStyle/>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Unit-test each rule with valid and invalid samples (</a:t>
            </a:r>
            <a:r>
              <a:rPr lang="en-US" sz="1302" b="0" i="0" dirty="0">
                <a:solidFill>
                  <a:schemeClr val="accent2">
                    <a:lumMod val="75000"/>
                  </a:schemeClr>
                </a:solidFill>
                <a:latin typeface="Courier New"/>
                <a:cs typeface="Courier New"/>
              </a:rPr>
              <a:t>unittest</a:t>
            </a:r>
            <a:r>
              <a:rPr lang="en-US" sz="1400" b="0" i="0" dirty="0">
                <a:solidFill>
                  <a:schemeClr val="tx2"/>
                </a:solidFill>
                <a:latin typeface="+mn-lt"/>
                <a:cs typeface="+mn-lt"/>
              </a:rPr>
              <a:t> / </a:t>
            </a:r>
            <a:r>
              <a:rPr lang="en-US" sz="1302" b="0" i="0" dirty="0">
                <a:solidFill>
                  <a:schemeClr val="accent2">
                    <a:lumMod val="75000"/>
                  </a:schemeClr>
                </a:solidFill>
                <a:latin typeface="Courier New"/>
                <a:cs typeface="Courier New"/>
              </a:rPr>
              <a:t>pytest</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Valid oddities: </a:t>
            </a:r>
            <a:r>
              <a:rPr lang="en-US" sz="1302" b="0" i="0" dirty="0">
                <a:solidFill>
                  <a:schemeClr val="accent2">
                    <a:lumMod val="75000"/>
                  </a:schemeClr>
                </a:solidFill>
                <a:latin typeface="Courier New"/>
                <a:cs typeface="Courier New"/>
              </a:rPr>
              <a:t>user+tag@mail.com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a.b@sub.example.co.uk</a:t>
            </a:r>
            <a:r>
              <a:rPr lang="en-US" sz="1400" b="0" i="0" dirty="0">
                <a:solidFill>
                  <a:schemeClr val="tx2"/>
                </a:solidFill>
                <a:latin typeface="+mn-lt"/>
                <a:cs typeface="+mn-lt"/>
              </a:rPr>
              <a:t>, uppercase domain.</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Invalid cases: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user@mail</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.user@mail.com</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user..name@mail.com</a:t>
            </a:r>
            <a:r>
              <a:rPr lang="en-US" sz="1400" b="0" i="0" dirty="0">
                <a:solidFill>
                  <a:schemeClr val="tx2"/>
                </a:solidFill>
                <a:latin typeface="+mn-lt"/>
                <a:cs typeface="+mn-lt"/>
              </a:rPr>
              <a:t>, spaces.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Also test empty input, very long strings, and unicode domains.</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Assert on </a:t>
            </a:r>
            <a:r>
              <a:rPr lang="en-US" sz="1400" b="1" i="0" dirty="0">
                <a:solidFill>
                  <a:schemeClr val="tx2"/>
                </a:solidFill>
                <a:latin typeface="+mn-lt"/>
                <a:cs typeface="+mn-lt"/>
              </a:rPr>
              <a:t>both</a:t>
            </a:r>
            <a:r>
              <a:rPr lang="en-US" sz="1400" b="0" i="0" dirty="0">
                <a:solidFill>
                  <a:schemeClr val="tx2"/>
                </a:solidFill>
                <a:latin typeface="+mn-lt"/>
                <a:cs typeface="+mn-lt"/>
              </a:rPr>
              <a:t> the boolean result and the </a:t>
            </a:r>
            <a:r>
              <a:rPr lang="en-US" sz="1400" b="1" i="0" dirty="0">
                <a:solidFill>
                  <a:schemeClr val="tx2"/>
                </a:solidFill>
                <a:latin typeface="+mn-lt"/>
                <a:cs typeface="+mn-lt"/>
              </a:rPr>
              <a:t>reason message</a:t>
            </a:r>
            <a:r>
              <a:rPr lang="en-US" sz="1400" b="0" i="0" dirty="0">
                <a:solidFill>
                  <a:schemeClr val="tx2"/>
                </a:solidFill>
                <a:latin typeface="+mn-lt"/>
                <a:cs typeface="+mn-lt"/>
              </a:rPr>
              <a:t>.</a:t>
            </a:r>
            <a:endParaRPr lang="en-US" sz="1400" dirty="0"/>
          </a:p>
          <a:p>
            <a:pPr marL="228600" indent="-228600" algn="l">
              <a:spcBef>
                <a:spcPts val="0"/>
              </a:spcBef>
              <a:spcAft>
                <a:spcPts val="600"/>
              </a:spcAft>
              <a:buClr>
                <a:schemeClr val="accent2"/>
              </a:buClr>
              <a:buFont typeface="Arial"/>
              <a:buChar char="•"/>
            </a:pPr>
            <a:r>
              <a:rPr lang="en-US" sz="1400" b="0" i="0" dirty="0">
                <a:solidFill>
                  <a:schemeClr val="tx2"/>
                </a:solidFill>
                <a:latin typeface="+mn-lt"/>
                <a:cs typeface="+mn-lt"/>
              </a:rPr>
              <a:t>Testing proves the validator is neither too strict nor too loose.</a:t>
            </a:r>
            <a:endParaRPr lang="en-US" sz="1400" dirty="0"/>
          </a:p>
        </p:txBody>
      </p:sp>
      <p:graphicFrame>
        <p:nvGraphicFramePr>
          <p:cNvPr id="4" name="Test Table 4"/>
          <p:cNvGraphicFramePr>
            <a:graphicFrameLocks noGrp="1"/>
          </p:cNvGraphicFramePr>
          <p:nvPr/>
        </p:nvGraphicFramePr>
        <p:xfrm>
          <a:off x="4023360" y="1463040"/>
          <a:ext cx="5029200" cy="3749040"/>
        </p:xfrm>
        <a:graphic>
          <a:graphicData uri="http://schemas.openxmlformats.org/drawingml/2006/table">
            <a:tbl>
              <a:tblPr firstRow="1"/>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algn="l">
                        <a:spcBef>
                          <a:spcPts val="0"/>
                        </a:spcBef>
                        <a:spcAft>
                          <a:spcPts val="0"/>
                        </a:spcAft>
                        <a:buNone/>
                      </a:pPr>
                      <a:r>
                        <a:rPr lang="en-US" sz="1200" b="1" i="0" dirty="0">
                          <a:solidFill>
                            <a:schemeClr val="bg1"/>
                          </a:solidFill>
                          <a:latin typeface="+mn-lt"/>
                          <a:cs typeface="+mn-lt"/>
                        </a:rPr>
                        <a:t>E-mail address</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tc>
                  <a:txBody>
                    <a:bodyPr/>
                    <a:lstStyle/>
                    <a:p>
                      <a:pPr algn="l">
                        <a:spcBef>
                          <a:spcPts val="0"/>
                        </a:spcBef>
                        <a:spcAft>
                          <a:spcPts val="0"/>
                        </a:spcAft>
                        <a:buNone/>
                      </a:pPr>
                      <a:r>
                        <a:rPr lang="en-US" sz="1200" b="1" i="0" dirty="0">
                          <a:solidFill>
                            <a:schemeClr val="bg1"/>
                          </a:solidFill>
                          <a:latin typeface="+mn-lt"/>
                          <a:cs typeface="+mn-lt"/>
                        </a:rPr>
                        <a:t>Result</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tc>
                  <a:txBody>
                    <a:bodyPr/>
                    <a:lstStyle/>
                    <a:p>
                      <a:pPr algn="l">
                        <a:spcBef>
                          <a:spcPts val="0"/>
                        </a:spcBef>
                        <a:spcAft>
                          <a:spcPts val="0"/>
                        </a:spcAft>
                        <a:buNone/>
                      </a:pPr>
                      <a:r>
                        <a:rPr lang="en-US" sz="1200" b="1" i="0" dirty="0">
                          <a:solidFill>
                            <a:schemeClr val="bg1"/>
                          </a:solidFill>
                          <a:latin typeface="+mn-lt"/>
                          <a:cs typeface="+mn-lt"/>
                        </a:rPr>
                        <a:t>Reason</a:t>
                      </a:r>
                      <a:endParaRPr lang="en-US" sz="1200" dirty="0"/>
                    </a:p>
                  </a:txBody>
                  <a:tcPr marR="73152" marT="36576" marB="36576" anchor="ctr">
                    <a:lnL w="0">
                      <a:noFill/>
                    </a:lnL>
                    <a:lnR w="0">
                      <a:noFill/>
                    </a:lnR>
                    <a:lnT w="12700">
                      <a:solidFill>
                        <a:schemeClr val="bg1"/>
                      </a:solidFill>
                    </a:lnT>
                    <a:lnB w="12700">
                      <a:solidFill>
                        <a:schemeClr val="bg1"/>
                      </a:solidFill>
                    </a:lnB>
                    <a:solidFill>
                      <a:schemeClr val="accent2">
                        <a:lumMod val="75000"/>
                      </a:schemeClr>
                    </a:solidFill>
                  </a:tcPr>
                </a:tc>
                <a:extLst>
                  <a:ext uri="{0D108BD9-81ED-4DB2-BD59-A6C34878D82A}">
                    <a16:rowId xmlns:a16="http://schemas.microsoft.com/office/drawing/2014/main" val="10000"/>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alice@mail.com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1"/>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user+tag@mail.com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2"/>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a.b@sub.example.co.uk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3"/>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ALICE@MAIL.COM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1" i="0" dirty="0">
                          <a:solidFill>
                            <a:schemeClr val="accent2">
                              <a:lumMod val="75000"/>
                            </a:schemeClr>
                          </a:solidFill>
                          <a:latin typeface="+mn-lt"/>
                          <a:cs typeface="+mn-lt"/>
                        </a:rPr>
                        <a:t>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tc>
                  <a:txBody>
                    <a:bodyPr/>
                    <a:lstStyle/>
                    <a:p>
                      <a:pPr algn="l">
                        <a:spcBef>
                          <a:spcPts val="0"/>
                        </a:spcBef>
                        <a:spcAft>
                          <a:spcPts val="0"/>
                        </a:spcAft>
                        <a:buNone/>
                      </a:pPr>
                      <a:r>
                        <a:rPr lang="en-US" sz="1100" b="0" i="0" dirty="0">
                          <a:solidFill>
                            <a:schemeClr val="tx2"/>
                          </a:solidFill>
                          <a:latin typeface="+mn-lt"/>
                          <a:cs typeface="+mn-lt"/>
                        </a:rPr>
                        <a:t>ok</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1">
                        <a:lumMod val="20000"/>
                        <a:lumOff val="80000"/>
                      </a:schemeClr>
                    </a:solidFill>
                  </a:tcPr>
                </a:tc>
                <a:extLst>
                  <a:ext uri="{0D108BD9-81ED-4DB2-BD59-A6C34878D82A}">
                    <a16:rowId xmlns:a16="http://schemas.microsoft.com/office/drawing/2014/main" val="10004"/>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must contain exactly one @</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5"/>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domain needs a dot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6"/>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bad local-part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7"/>
                  </a:ext>
                </a:extLst>
              </a:tr>
              <a:tr h="420624">
                <a:tc>
                  <a:txBody>
                    <a:bodyPr/>
                    <a:lstStyle/>
                    <a:p>
                      <a:pPr algn="l">
                        <a:spcBef>
                          <a:spcPts val="0"/>
                        </a:spcBef>
                        <a:spcAft>
                          <a:spcPts val="0"/>
                        </a:spcAft>
                        <a:buNone/>
                      </a:pPr>
                      <a:r>
                        <a:rPr lang="en-US" sz="1100" b="1" i="0" dirty="0">
                          <a:solidFill>
                            <a:schemeClr val="tx2"/>
                          </a:solidFill>
                          <a:latin typeface="Courier New"/>
                          <a:cs typeface="Courier New"/>
                        </a:rPr>
                        <a:t>user..name@mail.com</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1" i="0" dirty="0">
                          <a:solidFill>
                            <a:schemeClr val="accent5">
                              <a:lumMod val="80000"/>
                            </a:schemeClr>
                          </a:solidFill>
                          <a:latin typeface="+mn-lt"/>
                          <a:cs typeface="+mn-lt"/>
                        </a:rPr>
                        <a:t>Invalid</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tc>
                  <a:txBody>
                    <a:bodyPr/>
                    <a:lstStyle/>
                    <a:p>
                      <a:pPr algn="l">
                        <a:spcBef>
                          <a:spcPts val="0"/>
                        </a:spcBef>
                        <a:spcAft>
                          <a:spcPts val="0"/>
                        </a:spcAft>
                        <a:buNone/>
                      </a:pPr>
                      <a:r>
                        <a:rPr lang="en-US" sz="1100" b="0" i="0" dirty="0">
                          <a:solidFill>
                            <a:schemeClr val="tx2"/>
                          </a:solidFill>
                          <a:latin typeface="+mn-lt"/>
                          <a:cs typeface="+mn-lt"/>
                        </a:rPr>
                        <a:t>bad local-part</a:t>
                      </a:r>
                      <a:endParaRPr lang="en-US" sz="1100" dirty="0"/>
                    </a:p>
                  </a:txBody>
                  <a:tcPr marR="73152" marT="36576" marB="36576" anchor="ctr">
                    <a:lnL w="0">
                      <a:noFill/>
                    </a:lnL>
                    <a:lnR w="0">
                      <a:noFill/>
                    </a:lnR>
                    <a:lnT w="12700">
                      <a:solidFill>
                        <a:schemeClr val="bg1"/>
                      </a:solidFill>
                    </a:lnT>
                    <a:lnB w="12700">
                      <a:solidFill>
                        <a:schemeClr val="bg1"/>
                      </a:solidFill>
                    </a:lnB>
                    <a:solidFill>
                      <a:schemeClr val="accent5">
                        <a:lumMod val="15000"/>
                        <a:lumOff val="85000"/>
                      </a:schemeClr>
                    </a:solidFill>
                  </a:tcPr>
                </a:tc>
                <a:extLst>
                  <a:ext uri="{0D108BD9-81ED-4DB2-BD59-A6C34878D82A}">
                    <a16:rowId xmlns:a16="http://schemas.microsoft.com/office/drawing/2014/main" val="10008"/>
                  </a:ext>
                </a:extLst>
              </a:tr>
            </a:tbl>
          </a:graphicData>
        </a:graphic>
      </p:graphicFrame>
      <p:sp>
        <p:nvSpPr>
          <p:cNvPr id="5" name="Table Caption 5"/>
          <p:cNvSpPr txBox="1"/>
          <p:nvPr/>
        </p:nvSpPr>
        <p:spPr>
          <a:xfrm>
            <a:off x="4023360" y="5303520"/>
            <a:ext cx="5029200" cy="457200"/>
          </a:xfrm>
          <a:prstGeom prst="rect">
            <a:avLst/>
          </a:prstGeom>
          <a:noFill/>
          <a:ln>
            <a:noFill/>
          </a:ln>
        </p:spPr>
        <p:txBody>
          <a:bodyPr wrap="square" lIns="0" tIns="0" rIns="0" bIns="0" rtlCol="0" anchor="t">
            <a:noAutofit/>
          </a:bodyPr>
          <a:lstStyle/>
          <a:p>
            <a:pPr algn="l">
              <a:spcBef>
                <a:spcPts val="0"/>
              </a:spcBef>
              <a:spcAft>
                <a:spcPts val="0"/>
              </a:spcAft>
              <a:buNone/>
            </a:pPr>
            <a:r>
              <a:rPr lang="en-US" sz="1100" b="0" i="0" dirty="0">
                <a:solidFill>
                  <a:schemeClr val="tx2">
                    <a:lumMod val="65000"/>
                    <a:lumOff val="35000"/>
                  </a:schemeClr>
                </a:solidFill>
                <a:latin typeface="+mn-lt"/>
                <a:cs typeface="+mn-lt"/>
              </a:rPr>
              <a:t>Results shown are from running manual_check() on each address.</a:t>
            </a:r>
            <a:endParaRPr lang="en-US" sz="1100" dirty="0"/>
          </a:p>
        </p:txBody>
      </p:sp>
      <p:sp>
        <p:nvSpPr>
          <p:cNvPr id="6" name="Footer 6"/>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7" name="Slide Number 7"/>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11</a:t>
            </a:fld>
            <a:endParaRPr lang="en-US" sz="1000" dirty="0">
              <a:solidFill>
                <a:schemeClr val="tx2">
                  <a:lumMod val="65000"/>
                  <a:lumOff val="35000"/>
                </a:schemeClr>
              </a:solidFill>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pplications &amp; Limitations">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Applications &amp; Limitations</a:t>
            </a:r>
            <a:endParaRPr lang="en-US" sz="2600" dirty="0"/>
          </a:p>
        </p:txBody>
      </p:sp>
      <p:sp>
        <p:nvSpPr>
          <p:cNvPr id="3" name="Bullets 3"/>
          <p:cNvSpPr txBox="1"/>
          <p:nvPr/>
        </p:nvSpPr>
        <p:spPr>
          <a:xfrm>
            <a:off x="548640" y="1463040"/>
            <a:ext cx="4114800" cy="4754880"/>
          </a:xfrm>
          <a:prstGeom prst="rect">
            <a:avLst/>
          </a:prstGeom>
          <a:noFill/>
          <a:ln>
            <a:noFill/>
          </a:ln>
        </p:spPr>
        <p:txBody>
          <a:bodyPr wrap="square" lIns="0" tIns="0" rIns="0" bIns="0" rtlCol="0" anchor="t">
            <a:noAutofit/>
          </a:bodyPr>
          <a:lstStyle/>
          <a:p>
            <a:pPr marL="228600" indent="-228600" algn="l">
              <a:spcBef>
                <a:spcPts val="0"/>
              </a:spcBef>
              <a:spcAft>
                <a:spcPts val="800"/>
              </a:spcAft>
              <a:buClr>
                <a:schemeClr val="accent2"/>
              </a:buClr>
              <a:buFont typeface="Arial"/>
              <a:buChar char="•"/>
            </a:pPr>
            <a:r>
              <a:rPr lang="en-US" sz="1400" b="1" i="0" dirty="0">
                <a:solidFill>
                  <a:schemeClr val="tx2"/>
                </a:solidFill>
                <a:latin typeface="+mn-lt"/>
                <a:cs typeface="+mn-lt"/>
              </a:rPr>
              <a:t>Applications:</a:t>
            </a:r>
            <a:r>
              <a:rPr lang="en-US" sz="1400" b="0" i="0" dirty="0">
                <a:solidFill>
                  <a:schemeClr val="tx2"/>
                </a:solidFill>
                <a:latin typeface="+mn-lt"/>
                <a:cs typeface="+mn-lt"/>
              </a:rPr>
              <a:t> signup/login forms, newsletters, CRM data cleaning, bulk import filters.</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Catches typos early and reduces bounced mail.</a:t>
            </a:r>
            <a:endParaRPr lang="en-US" sz="1400" dirty="0"/>
          </a:p>
          <a:p>
            <a:pPr marL="228600" indent="-228600" algn="l">
              <a:spcBef>
                <a:spcPts val="0"/>
              </a:spcBef>
              <a:spcAft>
                <a:spcPts val="800"/>
              </a:spcAft>
              <a:buClr>
                <a:schemeClr val="accent2"/>
              </a:buClr>
              <a:buFont typeface="Arial"/>
              <a:buChar char="•"/>
            </a:pPr>
            <a:r>
              <a:rPr lang="en-US" sz="1400" b="1" i="0" dirty="0">
                <a:solidFill>
                  <a:schemeClr val="tx2"/>
                </a:solidFill>
                <a:latin typeface="+mn-lt"/>
                <a:cs typeface="+mn-lt"/>
              </a:rPr>
              <a:t>Limitations:</a:t>
            </a:r>
            <a:r>
              <a:rPr lang="en-US" sz="1400" b="0" i="0" dirty="0">
                <a:solidFill>
                  <a:schemeClr val="tx2"/>
                </a:solidFill>
                <a:latin typeface="+mn-lt"/>
                <a:cs typeface="+mn-lt"/>
              </a:rPr>
              <a:t> regex alone cannot confirm a mailbox exists.</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Over-strict rules reject legitimate addresses : keep the pattern reasonable.</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SMTP checks can be slow, blocked, or flagged as probing.</a:t>
            </a:r>
            <a:endParaRPr lang="en-US" sz="1400" dirty="0"/>
          </a:p>
          <a:p>
            <a:pPr marL="228600" indent="-228600" algn="l">
              <a:spcBef>
                <a:spcPts val="0"/>
              </a:spcBef>
              <a:spcAft>
                <a:spcPts val="800"/>
              </a:spcAft>
              <a:buClr>
                <a:schemeClr val="accent2"/>
              </a:buClr>
              <a:buFont typeface="Arial"/>
              <a:buChar char="•"/>
            </a:pPr>
            <a:r>
              <a:rPr lang="en-US" sz="1400" b="0" i="0" dirty="0">
                <a:solidFill>
                  <a:schemeClr val="tx2"/>
                </a:solidFill>
                <a:latin typeface="+mn-lt"/>
                <a:cs typeface="+mn-lt"/>
              </a:rPr>
              <a:t>Privacy: an address is personal data : handle and store it responsibly.</a:t>
            </a:r>
            <a:endParaRPr lang="en-US" sz="1400" dirty="0"/>
          </a:p>
        </p:txBody>
      </p:sp>
      <p:sp>
        <p:nvSpPr>
          <p:cNvPr id="4" name="App Tile 4"/>
          <p:cNvSpPr/>
          <p:nvPr/>
        </p:nvSpPr>
        <p:spPr>
          <a:xfrm>
            <a:off x="4937760" y="146304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5" name="Icon Circle 5"/>
          <p:cNvSpPr/>
          <p:nvPr/>
        </p:nvSpPr>
        <p:spPr>
          <a:xfrm>
            <a:off x="5577840" y="1645920"/>
            <a:ext cx="640080" cy="640080"/>
          </a:xfrm>
          <a:prstGeom prst="ellipse">
            <a:avLst/>
          </a:prstGeom>
          <a:solidFill>
            <a:schemeClr val="accent2"/>
          </a:solidFill>
          <a:ln>
            <a:noFill/>
          </a:ln>
        </p:spPr>
        <p:txBody>
          <a:bodyPr/>
          <a:lstStyle/>
          <a:p>
            <a:endParaRPr lang="en-IN"/>
          </a:p>
        </p:txBody>
      </p:sp>
      <p:pic>
        <p:nvPicPr>
          <p:cNvPr id="6" name="Icon 6" descr="form"/>
          <p:cNvPicPr>
            <a:picLocks noChangeAspect="1"/>
          </p:cNvPicPr>
          <p:nvPr/>
        </p:nvPicPr>
        <p:blipFill>
          <a:blip r:embed="rId3"/>
          <a:stretch>
            <a:fillRect/>
          </a:stretch>
        </p:blipFill>
        <p:spPr>
          <a:xfrm>
            <a:off x="5737860" y="1805940"/>
            <a:ext cx="320040" cy="320040"/>
          </a:xfrm>
          <a:prstGeom prst="rect">
            <a:avLst/>
          </a:prstGeom>
        </p:spPr>
      </p:pic>
      <p:sp>
        <p:nvSpPr>
          <p:cNvPr id="7" name="Tile Label 7"/>
          <p:cNvSpPr txBox="1"/>
          <p:nvPr/>
        </p:nvSpPr>
        <p:spPr>
          <a:xfrm>
            <a:off x="4937760" y="235915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Web forms</a:t>
            </a:r>
            <a:endParaRPr lang="en-US" sz="1300" dirty="0"/>
          </a:p>
        </p:txBody>
      </p:sp>
      <p:sp>
        <p:nvSpPr>
          <p:cNvPr id="8" name="App Tile 8"/>
          <p:cNvSpPr/>
          <p:nvPr/>
        </p:nvSpPr>
        <p:spPr>
          <a:xfrm>
            <a:off x="7040880" y="146304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9" name="Icon Circle 9"/>
          <p:cNvSpPr/>
          <p:nvPr/>
        </p:nvSpPr>
        <p:spPr>
          <a:xfrm>
            <a:off x="7680960" y="1645920"/>
            <a:ext cx="640080" cy="640080"/>
          </a:xfrm>
          <a:prstGeom prst="ellipse">
            <a:avLst/>
          </a:prstGeom>
          <a:solidFill>
            <a:schemeClr val="accent2"/>
          </a:solidFill>
          <a:ln>
            <a:noFill/>
          </a:ln>
        </p:spPr>
        <p:txBody>
          <a:bodyPr/>
          <a:lstStyle/>
          <a:p>
            <a:endParaRPr lang="en-IN"/>
          </a:p>
        </p:txBody>
      </p:sp>
      <p:pic>
        <p:nvPicPr>
          <p:cNvPr id="10" name="Icon 10" descr="mail"/>
          <p:cNvPicPr>
            <a:picLocks noChangeAspect="1"/>
          </p:cNvPicPr>
          <p:nvPr/>
        </p:nvPicPr>
        <p:blipFill>
          <a:blip r:embed="rId4"/>
          <a:stretch>
            <a:fillRect/>
          </a:stretch>
        </p:blipFill>
        <p:spPr>
          <a:xfrm>
            <a:off x="7840980" y="1805940"/>
            <a:ext cx="320040" cy="320040"/>
          </a:xfrm>
          <a:prstGeom prst="rect">
            <a:avLst/>
          </a:prstGeom>
        </p:spPr>
      </p:pic>
      <p:sp>
        <p:nvSpPr>
          <p:cNvPr id="11" name="Tile Label 11"/>
          <p:cNvSpPr txBox="1"/>
          <p:nvPr/>
        </p:nvSpPr>
        <p:spPr>
          <a:xfrm>
            <a:off x="7040880" y="235915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Newsletters</a:t>
            </a:r>
            <a:endParaRPr lang="en-US" sz="1300" dirty="0"/>
          </a:p>
        </p:txBody>
      </p:sp>
      <p:sp>
        <p:nvSpPr>
          <p:cNvPr id="12" name="App Tile 12"/>
          <p:cNvSpPr/>
          <p:nvPr/>
        </p:nvSpPr>
        <p:spPr>
          <a:xfrm>
            <a:off x="4937760" y="301752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13" name="Icon Circle 13"/>
          <p:cNvSpPr/>
          <p:nvPr/>
        </p:nvSpPr>
        <p:spPr>
          <a:xfrm>
            <a:off x="5577840" y="3200400"/>
            <a:ext cx="640080" cy="640080"/>
          </a:xfrm>
          <a:prstGeom prst="ellipse">
            <a:avLst/>
          </a:prstGeom>
          <a:solidFill>
            <a:schemeClr val="accent2"/>
          </a:solidFill>
          <a:ln>
            <a:noFill/>
          </a:ln>
        </p:spPr>
        <p:txBody>
          <a:bodyPr/>
          <a:lstStyle/>
          <a:p>
            <a:endParaRPr lang="en-IN"/>
          </a:p>
        </p:txBody>
      </p:sp>
      <p:pic>
        <p:nvPicPr>
          <p:cNvPr id="14" name="Icon 14" descr="crm"/>
          <p:cNvPicPr>
            <a:picLocks noChangeAspect="1"/>
          </p:cNvPicPr>
          <p:nvPr/>
        </p:nvPicPr>
        <p:blipFill>
          <a:blip r:embed="rId5"/>
          <a:stretch>
            <a:fillRect/>
          </a:stretch>
        </p:blipFill>
        <p:spPr>
          <a:xfrm>
            <a:off x="5737860" y="3360420"/>
            <a:ext cx="320040" cy="320040"/>
          </a:xfrm>
          <a:prstGeom prst="rect">
            <a:avLst/>
          </a:prstGeom>
        </p:spPr>
      </p:pic>
      <p:sp>
        <p:nvSpPr>
          <p:cNvPr id="15" name="Tile Label 15"/>
          <p:cNvSpPr txBox="1"/>
          <p:nvPr/>
        </p:nvSpPr>
        <p:spPr>
          <a:xfrm>
            <a:off x="4937760" y="391363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CRM cleaning</a:t>
            </a:r>
            <a:endParaRPr lang="en-US" sz="1300" dirty="0"/>
          </a:p>
        </p:txBody>
      </p:sp>
      <p:sp>
        <p:nvSpPr>
          <p:cNvPr id="16" name="App Tile 16"/>
          <p:cNvSpPr/>
          <p:nvPr/>
        </p:nvSpPr>
        <p:spPr>
          <a:xfrm>
            <a:off x="7040880" y="3017520"/>
            <a:ext cx="1920240" cy="1371600"/>
          </a:xfrm>
          <a:prstGeom prst="roundRect">
            <a:avLst>
              <a:gd name="adj" fmla="val 8000"/>
            </a:avLst>
          </a:prstGeom>
          <a:solidFill>
            <a:schemeClr val="accent1">
              <a:lumMod val="20000"/>
              <a:lumOff val="80000"/>
            </a:schemeClr>
          </a:solidFill>
          <a:ln>
            <a:noFill/>
          </a:ln>
        </p:spPr>
        <p:txBody>
          <a:bodyPr/>
          <a:lstStyle/>
          <a:p>
            <a:endParaRPr lang="en-IN"/>
          </a:p>
        </p:txBody>
      </p:sp>
      <p:sp>
        <p:nvSpPr>
          <p:cNvPr id="17" name="Icon Circle 17"/>
          <p:cNvSpPr/>
          <p:nvPr/>
        </p:nvSpPr>
        <p:spPr>
          <a:xfrm>
            <a:off x="7680960" y="3200400"/>
            <a:ext cx="640080" cy="640080"/>
          </a:xfrm>
          <a:prstGeom prst="ellipse">
            <a:avLst/>
          </a:prstGeom>
          <a:solidFill>
            <a:schemeClr val="accent2"/>
          </a:solidFill>
          <a:ln>
            <a:noFill/>
          </a:ln>
        </p:spPr>
        <p:txBody>
          <a:bodyPr/>
          <a:lstStyle/>
          <a:p>
            <a:endParaRPr lang="en-IN"/>
          </a:p>
        </p:txBody>
      </p:sp>
      <p:pic>
        <p:nvPicPr>
          <p:cNvPr id="18" name="Icon 18" descr="imp"/>
          <p:cNvPicPr>
            <a:picLocks noChangeAspect="1"/>
          </p:cNvPicPr>
          <p:nvPr/>
        </p:nvPicPr>
        <p:blipFill>
          <a:blip r:embed="rId6"/>
          <a:stretch>
            <a:fillRect/>
          </a:stretch>
        </p:blipFill>
        <p:spPr>
          <a:xfrm>
            <a:off x="7840980" y="3360420"/>
            <a:ext cx="320040" cy="320040"/>
          </a:xfrm>
          <a:prstGeom prst="rect">
            <a:avLst/>
          </a:prstGeom>
        </p:spPr>
      </p:pic>
      <p:sp>
        <p:nvSpPr>
          <p:cNvPr id="19" name="Tile Label 19"/>
          <p:cNvSpPr txBox="1"/>
          <p:nvPr/>
        </p:nvSpPr>
        <p:spPr>
          <a:xfrm>
            <a:off x="7040880" y="3913632"/>
            <a:ext cx="1920240" cy="365760"/>
          </a:xfrm>
          <a:prstGeom prst="rect">
            <a:avLst/>
          </a:prstGeom>
          <a:noFill/>
          <a:ln>
            <a:noFill/>
          </a:ln>
        </p:spPr>
        <p:txBody>
          <a:bodyPr wrap="square" lIns="0" tIns="0" rIns="0" bIns="0" rtlCol="0" anchor="ctr">
            <a:noAutofit/>
          </a:bodyPr>
          <a:lstStyle/>
          <a:p>
            <a:pPr algn="ctr">
              <a:spcBef>
                <a:spcPts val="0"/>
              </a:spcBef>
              <a:spcAft>
                <a:spcPts val="0"/>
              </a:spcAft>
              <a:buNone/>
            </a:pPr>
            <a:r>
              <a:rPr lang="en-US" sz="1300" b="1" i="0" dirty="0">
                <a:solidFill>
                  <a:schemeClr val="tx2"/>
                </a:solidFill>
                <a:latin typeface="+mn-lt"/>
                <a:cs typeface="+mn-lt"/>
              </a:rPr>
              <a:t>Bulk import</a:t>
            </a:r>
            <a:endParaRPr lang="en-US" sz="1300" dirty="0"/>
          </a:p>
        </p:txBody>
      </p:sp>
      <p:sp>
        <p:nvSpPr>
          <p:cNvPr id="20" name="Watch-outs 20"/>
          <p:cNvSpPr/>
          <p:nvPr/>
        </p:nvSpPr>
        <p:spPr>
          <a:xfrm>
            <a:off x="4937760" y="4663440"/>
            <a:ext cx="4023360" cy="1325880"/>
          </a:xfrm>
          <a:prstGeom prst="roundRect">
            <a:avLst>
              <a:gd name="adj" fmla="val 7000"/>
            </a:avLst>
          </a:prstGeom>
          <a:solidFill>
            <a:schemeClr val="accent4">
              <a:lumMod val="15000"/>
              <a:lumOff val="85000"/>
            </a:schemeClr>
          </a:solidFill>
          <a:ln w="15875">
            <a:solidFill>
              <a:schemeClr val="accent4"/>
            </a:solidFill>
          </a:ln>
        </p:spPr>
        <p:txBody>
          <a:bodyPr wrap="square" lIns="182880" tIns="45720" rIns="91440" bIns="45720" rtlCol="0" anchor="ctr">
            <a:noAutofit/>
          </a:bodyPr>
          <a:lstStyle/>
          <a:p>
            <a:pPr algn="l">
              <a:spcBef>
                <a:spcPts val="0"/>
              </a:spcBef>
              <a:spcAft>
                <a:spcPts val="300"/>
              </a:spcAft>
              <a:buNone/>
            </a:pPr>
            <a:r>
              <a:rPr lang="en-US" sz="1300" b="1" i="0" dirty="0">
                <a:solidFill>
                  <a:schemeClr val="tx2"/>
                </a:solidFill>
                <a:latin typeface="+mn-lt"/>
                <a:cs typeface="+mn-lt"/>
              </a:rPr>
              <a:t>Watch-outs</a:t>
            </a:r>
            <a:endParaRPr lang="en-US" sz="1300" dirty="0"/>
          </a:p>
          <a:p>
            <a:pPr algn="l">
              <a:spcBef>
                <a:spcPts val="0"/>
              </a:spcBef>
              <a:spcAft>
                <a:spcPts val="200"/>
              </a:spcAft>
              <a:buNone/>
            </a:pPr>
            <a:r>
              <a:rPr lang="en-US" sz="1200" b="0" i="0" dirty="0">
                <a:solidFill>
                  <a:schemeClr val="tx2"/>
                </a:solidFill>
                <a:latin typeface="+mn-lt"/>
                <a:cs typeface="+mn-lt"/>
              </a:rPr>
              <a:t>Too strict → false rejections</a:t>
            </a:r>
            <a:endParaRPr lang="en-US" sz="1200" dirty="0"/>
          </a:p>
          <a:p>
            <a:pPr algn="l">
              <a:spcBef>
                <a:spcPts val="0"/>
              </a:spcBef>
              <a:spcAft>
                <a:spcPts val="200"/>
              </a:spcAft>
              <a:buNone/>
            </a:pPr>
            <a:r>
              <a:rPr lang="en-US" sz="1200" b="0" i="0" dirty="0">
                <a:solidFill>
                  <a:schemeClr val="tx2"/>
                </a:solidFill>
                <a:latin typeface="+mn-lt"/>
                <a:cs typeface="+mn-lt"/>
              </a:rPr>
              <a:t>SMTP probing → slow or blocked</a:t>
            </a:r>
            <a:endParaRPr lang="en-US" sz="1200" dirty="0"/>
          </a:p>
          <a:p>
            <a:pPr algn="l">
              <a:spcBef>
                <a:spcPts val="0"/>
              </a:spcBef>
              <a:spcAft>
                <a:spcPts val="0"/>
              </a:spcAft>
              <a:buNone/>
            </a:pPr>
            <a:r>
              <a:rPr lang="en-US" sz="1200" b="0" i="0" dirty="0">
                <a:solidFill>
                  <a:schemeClr val="tx2"/>
                </a:solidFill>
                <a:latin typeface="+mn-lt"/>
                <a:cs typeface="+mn-lt"/>
              </a:rPr>
              <a:t>Privacy → personal data</a:t>
            </a:r>
            <a:endParaRPr lang="en-US" sz="1200" dirty="0"/>
          </a:p>
        </p:txBody>
      </p:sp>
      <p:sp>
        <p:nvSpPr>
          <p:cNvPr id="21" name="Footer 21"/>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22" name="Slide Number 22"/>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12</a:t>
            </a:fld>
            <a:endParaRPr lang="en-US" sz="1000" dirty="0">
              <a:solidFill>
                <a:schemeClr val="tx2">
                  <a:lumMod val="65000"/>
                  <a:lumOff val="35000"/>
                </a:schemeClr>
              </a:solidFill>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Best Practices &amp; Conclusion">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Best Practices &amp; Conclusion</a:t>
            </a:r>
            <a:endParaRPr lang="en-US" sz="2600" dirty="0"/>
          </a:p>
        </p:txBody>
      </p:sp>
      <p:sp>
        <p:nvSpPr>
          <p:cNvPr id="3" name="Checklist Row 3"/>
          <p:cNvSpPr/>
          <p:nvPr/>
        </p:nvSpPr>
        <p:spPr>
          <a:xfrm>
            <a:off x="548640" y="1417320"/>
            <a:ext cx="8321040" cy="566928"/>
          </a:xfrm>
          <a:prstGeom prst="roundRect">
            <a:avLst>
              <a:gd name="adj" fmla="val 14000"/>
            </a:avLst>
          </a:prstGeom>
          <a:solidFill>
            <a:schemeClr val="accent1">
              <a:lumMod val="20000"/>
              <a:lumOff val="80000"/>
            </a:schemeClr>
          </a:solidFill>
          <a:ln>
            <a:noFill/>
          </a:ln>
        </p:spPr>
        <p:txBody>
          <a:bodyPr/>
          <a:lstStyle/>
          <a:p>
            <a:endParaRPr lang="en-IN"/>
          </a:p>
        </p:txBody>
      </p:sp>
      <p:sp>
        <p:nvSpPr>
          <p:cNvPr id="4" name="Icon Circle 4"/>
          <p:cNvSpPr/>
          <p:nvPr/>
        </p:nvSpPr>
        <p:spPr>
          <a:xfrm>
            <a:off x="676656" y="1508760"/>
            <a:ext cx="384048" cy="384048"/>
          </a:xfrm>
          <a:prstGeom prst="ellipse">
            <a:avLst/>
          </a:prstGeom>
          <a:solidFill>
            <a:schemeClr val="accent2"/>
          </a:solidFill>
          <a:ln>
            <a:noFill/>
          </a:ln>
        </p:spPr>
        <p:txBody>
          <a:bodyPr/>
          <a:lstStyle/>
          <a:p>
            <a:endParaRPr lang="en-IN"/>
          </a:p>
        </p:txBody>
      </p:sp>
      <p:pic>
        <p:nvPicPr>
          <p:cNvPr id="5" name="Icon 5" descr="check"/>
          <p:cNvPicPr>
            <a:picLocks noChangeAspect="1"/>
          </p:cNvPicPr>
          <p:nvPr/>
        </p:nvPicPr>
        <p:blipFill>
          <a:blip r:embed="rId3"/>
          <a:stretch>
            <a:fillRect/>
          </a:stretch>
        </p:blipFill>
        <p:spPr>
          <a:xfrm>
            <a:off x="772668" y="1604772"/>
            <a:ext cx="192024" cy="192024"/>
          </a:xfrm>
          <a:prstGeom prst="rect">
            <a:avLst/>
          </a:prstGeom>
        </p:spPr>
      </p:pic>
      <p:sp>
        <p:nvSpPr>
          <p:cNvPr id="6" name="Checklist Text 6"/>
          <p:cNvSpPr txBox="1"/>
          <p:nvPr/>
        </p:nvSpPr>
        <p:spPr>
          <a:xfrm>
            <a:off x="1234440" y="1417320"/>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1" i="0" dirty="0">
                <a:solidFill>
                  <a:schemeClr val="tx2"/>
                </a:solidFill>
                <a:latin typeface="+mn-lt"/>
                <a:cs typeface="+mn-lt"/>
              </a:rPr>
              <a:t>Layer the checks</a:t>
            </a:r>
            <a:r>
              <a:rPr lang="en-US" sz="1400" b="0" i="0" dirty="0">
                <a:solidFill>
                  <a:schemeClr val="tx2"/>
                </a:solidFill>
                <a:latin typeface="+mn-lt"/>
                <a:cs typeface="+mn-lt"/>
              </a:rPr>
              <a:t> : cheap first, network last; fail fast.</a:t>
            </a:r>
            <a:endParaRPr lang="en-US" sz="1400" dirty="0"/>
          </a:p>
        </p:txBody>
      </p:sp>
      <p:sp>
        <p:nvSpPr>
          <p:cNvPr id="7" name="Checklist Row 7"/>
          <p:cNvSpPr/>
          <p:nvPr/>
        </p:nvSpPr>
        <p:spPr>
          <a:xfrm>
            <a:off x="548640" y="2093976"/>
            <a:ext cx="8321040" cy="566928"/>
          </a:xfrm>
          <a:prstGeom prst="roundRect">
            <a:avLst>
              <a:gd name="adj" fmla="val 14000"/>
            </a:avLst>
          </a:prstGeom>
          <a:solidFill>
            <a:schemeClr val="accent1">
              <a:lumMod val="20000"/>
              <a:lumOff val="80000"/>
            </a:schemeClr>
          </a:solidFill>
          <a:ln>
            <a:noFill/>
          </a:ln>
        </p:spPr>
        <p:txBody>
          <a:bodyPr/>
          <a:lstStyle/>
          <a:p>
            <a:endParaRPr lang="en-IN"/>
          </a:p>
        </p:txBody>
      </p:sp>
      <p:sp>
        <p:nvSpPr>
          <p:cNvPr id="8" name="Icon Circle 8"/>
          <p:cNvSpPr/>
          <p:nvPr/>
        </p:nvSpPr>
        <p:spPr>
          <a:xfrm>
            <a:off x="676656" y="2185416"/>
            <a:ext cx="384048" cy="384048"/>
          </a:xfrm>
          <a:prstGeom prst="ellipse">
            <a:avLst/>
          </a:prstGeom>
          <a:solidFill>
            <a:schemeClr val="accent2"/>
          </a:solidFill>
          <a:ln>
            <a:noFill/>
          </a:ln>
        </p:spPr>
        <p:txBody>
          <a:bodyPr/>
          <a:lstStyle/>
          <a:p>
            <a:endParaRPr lang="en-IN"/>
          </a:p>
        </p:txBody>
      </p:sp>
      <p:pic>
        <p:nvPicPr>
          <p:cNvPr id="9" name="Icon 9" descr="check"/>
          <p:cNvPicPr>
            <a:picLocks noChangeAspect="1"/>
          </p:cNvPicPr>
          <p:nvPr/>
        </p:nvPicPr>
        <p:blipFill>
          <a:blip r:embed="rId3"/>
          <a:stretch>
            <a:fillRect/>
          </a:stretch>
        </p:blipFill>
        <p:spPr>
          <a:xfrm>
            <a:off x="772668" y="2281428"/>
            <a:ext cx="192024" cy="192024"/>
          </a:xfrm>
          <a:prstGeom prst="rect">
            <a:avLst/>
          </a:prstGeom>
        </p:spPr>
      </p:pic>
      <p:sp>
        <p:nvSpPr>
          <p:cNvPr id="10" name="Checklist Text 10"/>
          <p:cNvSpPr txBox="1"/>
          <p:nvPr/>
        </p:nvSpPr>
        <p:spPr>
          <a:xfrm>
            <a:off x="1234440" y="2093976"/>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Prefer </a:t>
            </a:r>
            <a:r>
              <a:rPr lang="en-US" sz="1400" b="1" i="0" dirty="0">
                <a:solidFill>
                  <a:schemeClr val="accent2">
                    <a:lumMod val="75000"/>
                  </a:schemeClr>
                </a:solidFill>
                <a:latin typeface="Courier New"/>
                <a:cs typeface="Courier New"/>
              </a:rPr>
              <a:t>re.fullmatch</a:t>
            </a:r>
            <a:r>
              <a:rPr lang="en-US" sz="1400" b="0" i="0" dirty="0">
                <a:solidFill>
                  <a:schemeClr val="tx2"/>
                </a:solidFill>
                <a:latin typeface="+mn-lt"/>
                <a:cs typeface="+mn-lt"/>
              </a:rPr>
              <a:t> and precompiled patterns for performance.</a:t>
            </a:r>
            <a:endParaRPr lang="en-US" sz="1400" dirty="0"/>
          </a:p>
        </p:txBody>
      </p:sp>
      <p:sp>
        <p:nvSpPr>
          <p:cNvPr id="11" name="Checklist Row 11"/>
          <p:cNvSpPr/>
          <p:nvPr/>
        </p:nvSpPr>
        <p:spPr>
          <a:xfrm>
            <a:off x="548640" y="2770632"/>
            <a:ext cx="8321040" cy="566928"/>
          </a:xfrm>
          <a:prstGeom prst="roundRect">
            <a:avLst>
              <a:gd name="adj" fmla="val 14000"/>
            </a:avLst>
          </a:prstGeom>
          <a:solidFill>
            <a:schemeClr val="accent1">
              <a:lumMod val="20000"/>
              <a:lumOff val="80000"/>
            </a:schemeClr>
          </a:solidFill>
          <a:ln>
            <a:noFill/>
          </a:ln>
        </p:spPr>
        <p:txBody>
          <a:bodyPr/>
          <a:lstStyle/>
          <a:p>
            <a:endParaRPr lang="en-IN"/>
          </a:p>
        </p:txBody>
      </p:sp>
      <p:sp>
        <p:nvSpPr>
          <p:cNvPr id="12" name="Icon Circle 12"/>
          <p:cNvSpPr/>
          <p:nvPr/>
        </p:nvSpPr>
        <p:spPr>
          <a:xfrm>
            <a:off x="676656" y="2862072"/>
            <a:ext cx="384048" cy="384048"/>
          </a:xfrm>
          <a:prstGeom prst="ellipse">
            <a:avLst/>
          </a:prstGeom>
          <a:solidFill>
            <a:schemeClr val="accent2"/>
          </a:solidFill>
          <a:ln>
            <a:noFill/>
          </a:ln>
        </p:spPr>
        <p:txBody>
          <a:bodyPr/>
          <a:lstStyle/>
          <a:p>
            <a:endParaRPr lang="en-IN"/>
          </a:p>
        </p:txBody>
      </p:sp>
      <p:pic>
        <p:nvPicPr>
          <p:cNvPr id="13" name="Icon 13" descr="check"/>
          <p:cNvPicPr>
            <a:picLocks noChangeAspect="1"/>
          </p:cNvPicPr>
          <p:nvPr/>
        </p:nvPicPr>
        <p:blipFill>
          <a:blip r:embed="rId3"/>
          <a:stretch>
            <a:fillRect/>
          </a:stretch>
        </p:blipFill>
        <p:spPr>
          <a:xfrm>
            <a:off x="772668" y="2958084"/>
            <a:ext cx="192024" cy="192024"/>
          </a:xfrm>
          <a:prstGeom prst="rect">
            <a:avLst/>
          </a:prstGeom>
        </p:spPr>
      </p:pic>
      <p:sp>
        <p:nvSpPr>
          <p:cNvPr id="14" name="Checklist Text 14"/>
          <p:cNvSpPr txBox="1"/>
          <p:nvPr/>
        </p:nvSpPr>
        <p:spPr>
          <a:xfrm>
            <a:off x="1234440" y="2770632"/>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Give </a:t>
            </a:r>
            <a:r>
              <a:rPr lang="en-US" sz="1400" b="1" i="0" dirty="0">
                <a:solidFill>
                  <a:schemeClr val="tx2"/>
                </a:solidFill>
                <a:latin typeface="+mn-lt"/>
                <a:cs typeface="+mn-lt"/>
              </a:rPr>
              <a:t>clear error messages</a:t>
            </a:r>
            <a:r>
              <a:rPr lang="en-US" sz="1400" b="0" i="0" dirty="0">
                <a:solidFill>
                  <a:schemeClr val="tx2"/>
                </a:solidFill>
                <a:latin typeface="+mn-lt"/>
                <a:cs typeface="+mn-lt"/>
              </a:rPr>
              <a:t>; guide the user to a fix.</a:t>
            </a:r>
            <a:endParaRPr lang="en-US" sz="1400" dirty="0"/>
          </a:p>
        </p:txBody>
      </p:sp>
      <p:sp>
        <p:nvSpPr>
          <p:cNvPr id="15" name="Checklist Row 15"/>
          <p:cNvSpPr/>
          <p:nvPr/>
        </p:nvSpPr>
        <p:spPr>
          <a:xfrm>
            <a:off x="548640" y="3447288"/>
            <a:ext cx="8321040" cy="566928"/>
          </a:xfrm>
          <a:prstGeom prst="roundRect">
            <a:avLst>
              <a:gd name="adj" fmla="val 14000"/>
            </a:avLst>
          </a:prstGeom>
          <a:solidFill>
            <a:schemeClr val="accent1">
              <a:lumMod val="20000"/>
              <a:lumOff val="80000"/>
            </a:schemeClr>
          </a:solidFill>
          <a:ln>
            <a:noFill/>
          </a:ln>
        </p:spPr>
        <p:txBody>
          <a:bodyPr/>
          <a:lstStyle/>
          <a:p>
            <a:endParaRPr lang="en-IN"/>
          </a:p>
        </p:txBody>
      </p:sp>
      <p:sp>
        <p:nvSpPr>
          <p:cNvPr id="16" name="Icon Circle 16"/>
          <p:cNvSpPr/>
          <p:nvPr/>
        </p:nvSpPr>
        <p:spPr>
          <a:xfrm>
            <a:off x="676656" y="3538728"/>
            <a:ext cx="384048" cy="384048"/>
          </a:xfrm>
          <a:prstGeom prst="ellipse">
            <a:avLst/>
          </a:prstGeom>
          <a:solidFill>
            <a:schemeClr val="accent2"/>
          </a:solidFill>
          <a:ln>
            <a:noFill/>
          </a:ln>
        </p:spPr>
        <p:txBody>
          <a:bodyPr/>
          <a:lstStyle/>
          <a:p>
            <a:endParaRPr lang="en-IN"/>
          </a:p>
        </p:txBody>
      </p:sp>
      <p:pic>
        <p:nvPicPr>
          <p:cNvPr id="17" name="Icon 17" descr="check"/>
          <p:cNvPicPr>
            <a:picLocks noChangeAspect="1"/>
          </p:cNvPicPr>
          <p:nvPr/>
        </p:nvPicPr>
        <p:blipFill>
          <a:blip r:embed="rId3"/>
          <a:stretch>
            <a:fillRect/>
          </a:stretch>
        </p:blipFill>
        <p:spPr>
          <a:xfrm>
            <a:off x="772668" y="3634740"/>
            <a:ext cx="192024" cy="192024"/>
          </a:xfrm>
          <a:prstGeom prst="rect">
            <a:avLst/>
          </a:prstGeom>
        </p:spPr>
      </p:pic>
      <p:sp>
        <p:nvSpPr>
          <p:cNvPr id="18" name="Checklist Text 18"/>
          <p:cNvSpPr txBox="1"/>
          <p:nvPr/>
        </p:nvSpPr>
        <p:spPr>
          <a:xfrm>
            <a:off x="1234440" y="3447288"/>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1" i="0" dirty="0">
                <a:solidFill>
                  <a:schemeClr val="tx2"/>
                </a:solidFill>
                <a:latin typeface="+mn-lt"/>
                <a:cs typeface="+mn-lt"/>
              </a:rPr>
              <a:t>Normalise</a:t>
            </a:r>
            <a:r>
              <a:rPr lang="en-US" sz="1400" b="0" i="0" dirty="0">
                <a:solidFill>
                  <a:schemeClr val="tx2"/>
                </a:solidFill>
                <a:latin typeface="+mn-lt"/>
                <a:cs typeface="+mn-lt"/>
              </a:rPr>
              <a:t> before comparing; cache and timeout all network calls.</a:t>
            </a:r>
            <a:endParaRPr lang="en-US" sz="1400" dirty="0"/>
          </a:p>
        </p:txBody>
      </p:sp>
      <p:sp>
        <p:nvSpPr>
          <p:cNvPr id="19" name="Checklist Row 19"/>
          <p:cNvSpPr/>
          <p:nvPr/>
        </p:nvSpPr>
        <p:spPr>
          <a:xfrm>
            <a:off x="548640" y="4123944"/>
            <a:ext cx="8321040" cy="566928"/>
          </a:xfrm>
          <a:prstGeom prst="roundRect">
            <a:avLst>
              <a:gd name="adj" fmla="val 14000"/>
            </a:avLst>
          </a:prstGeom>
          <a:solidFill>
            <a:schemeClr val="accent1">
              <a:lumMod val="20000"/>
              <a:lumOff val="80000"/>
            </a:schemeClr>
          </a:solidFill>
          <a:ln>
            <a:noFill/>
          </a:ln>
        </p:spPr>
        <p:txBody>
          <a:bodyPr/>
          <a:lstStyle/>
          <a:p>
            <a:endParaRPr lang="en-IN"/>
          </a:p>
        </p:txBody>
      </p:sp>
      <p:sp>
        <p:nvSpPr>
          <p:cNvPr id="20" name="Icon Circle 20"/>
          <p:cNvSpPr/>
          <p:nvPr/>
        </p:nvSpPr>
        <p:spPr>
          <a:xfrm>
            <a:off x="676656" y="4215384"/>
            <a:ext cx="384048" cy="384048"/>
          </a:xfrm>
          <a:prstGeom prst="ellipse">
            <a:avLst/>
          </a:prstGeom>
          <a:solidFill>
            <a:schemeClr val="accent2"/>
          </a:solidFill>
          <a:ln>
            <a:noFill/>
          </a:ln>
        </p:spPr>
        <p:txBody>
          <a:bodyPr/>
          <a:lstStyle/>
          <a:p>
            <a:endParaRPr lang="en-IN"/>
          </a:p>
        </p:txBody>
      </p:sp>
      <p:pic>
        <p:nvPicPr>
          <p:cNvPr id="21" name="Icon 21" descr="check"/>
          <p:cNvPicPr>
            <a:picLocks noChangeAspect="1"/>
          </p:cNvPicPr>
          <p:nvPr/>
        </p:nvPicPr>
        <p:blipFill>
          <a:blip r:embed="rId3"/>
          <a:stretch>
            <a:fillRect/>
          </a:stretch>
        </p:blipFill>
        <p:spPr>
          <a:xfrm>
            <a:off x="772668" y="4311396"/>
            <a:ext cx="192024" cy="192024"/>
          </a:xfrm>
          <a:prstGeom prst="rect">
            <a:avLst/>
          </a:prstGeom>
        </p:spPr>
      </p:pic>
      <p:sp>
        <p:nvSpPr>
          <p:cNvPr id="22" name="Checklist Text 22"/>
          <p:cNvSpPr txBox="1"/>
          <p:nvPr/>
        </p:nvSpPr>
        <p:spPr>
          <a:xfrm>
            <a:off x="1234440" y="4123944"/>
            <a:ext cx="7498080" cy="566928"/>
          </a:xfrm>
          <a:prstGeom prst="rect">
            <a:avLst/>
          </a:prstGeom>
          <a:noFill/>
          <a:ln>
            <a:noFill/>
          </a:ln>
        </p:spPr>
        <p:txBody>
          <a:bodyPr wrap="square" lIns="0" tIns="0" rIns="0" bIns="0" rtlCol="0" anchor="ctr">
            <a:noAutofit/>
          </a:bodyPr>
          <a:lstStyle/>
          <a:p>
            <a:pPr algn="l">
              <a:spcBef>
                <a:spcPts val="0"/>
              </a:spcBef>
              <a:spcAft>
                <a:spcPts val="0"/>
              </a:spcAft>
              <a:buNone/>
            </a:pPr>
            <a:r>
              <a:rPr lang="en-US" sz="1400" b="0" i="0" dirty="0">
                <a:solidFill>
                  <a:schemeClr val="tx2"/>
                </a:solidFill>
                <a:latin typeface="+mn-lt"/>
                <a:cs typeface="+mn-lt"/>
              </a:rPr>
              <a:t>Confirm by sending a </a:t>
            </a:r>
            <a:r>
              <a:rPr lang="en-US" sz="1400" b="1" i="0" dirty="0">
                <a:solidFill>
                  <a:schemeClr val="tx2"/>
                </a:solidFill>
                <a:latin typeface="+mn-lt"/>
                <a:cs typeface="+mn-lt"/>
              </a:rPr>
              <a:t>verification e-mail</a:t>
            </a:r>
            <a:r>
              <a:rPr lang="en-US" sz="1400" b="0" i="0" dirty="0">
                <a:solidFill>
                  <a:schemeClr val="tx2"/>
                </a:solidFill>
                <a:latin typeface="+mn-lt"/>
                <a:cs typeface="+mn-lt"/>
              </a:rPr>
              <a:t> : the only true test of deliverability.</a:t>
            </a:r>
            <a:endParaRPr lang="en-US" sz="1400" dirty="0"/>
          </a:p>
        </p:txBody>
      </p:sp>
      <p:sp>
        <p:nvSpPr>
          <p:cNvPr id="23" name="Conclusion Band 23"/>
          <p:cNvSpPr/>
          <p:nvPr/>
        </p:nvSpPr>
        <p:spPr>
          <a:xfrm>
            <a:off x="548640" y="4892040"/>
            <a:ext cx="8321040" cy="1234440"/>
          </a:xfrm>
          <a:prstGeom prst="roundRect">
            <a:avLst>
              <a:gd name="adj" fmla="val 8000"/>
            </a:avLst>
          </a:prstGeom>
          <a:solidFill>
            <a:schemeClr val="accent2">
              <a:lumMod val="75000"/>
            </a:schemeClr>
          </a:solidFill>
          <a:ln>
            <a:noFill/>
          </a:ln>
        </p:spPr>
        <p:txBody>
          <a:bodyPr/>
          <a:lstStyle/>
          <a:p>
            <a:endParaRPr lang="en-IN"/>
          </a:p>
        </p:txBody>
      </p:sp>
      <p:sp>
        <p:nvSpPr>
          <p:cNvPr id="24" name="Conclusion Text 24"/>
          <p:cNvSpPr txBox="1"/>
          <p:nvPr/>
        </p:nvSpPr>
        <p:spPr>
          <a:xfrm>
            <a:off x="777240" y="4892040"/>
            <a:ext cx="4663440" cy="1234440"/>
          </a:xfrm>
          <a:prstGeom prst="rect">
            <a:avLst/>
          </a:prstGeom>
          <a:noFill/>
          <a:ln>
            <a:noFill/>
          </a:ln>
        </p:spPr>
        <p:txBody>
          <a:bodyPr wrap="square" lIns="0" tIns="0" rIns="0" bIns="0" rtlCol="0" anchor="ctr">
            <a:noAutofit/>
          </a:bodyPr>
          <a:lstStyle/>
          <a:p>
            <a:pPr algn="l">
              <a:spcBef>
                <a:spcPts val="0"/>
              </a:spcBef>
              <a:spcAft>
                <a:spcPts val="0"/>
              </a:spcAft>
              <a:buNone/>
            </a:pPr>
            <a:r>
              <a:rPr lang="en-US" sz="1500" b="1" i="0" dirty="0">
                <a:solidFill>
                  <a:schemeClr val="accent1"/>
                </a:solidFill>
                <a:latin typeface="+mn-lt"/>
                <a:cs typeface="+mn-lt"/>
              </a:rPr>
              <a:t>Conclusion: </a:t>
            </a:r>
            <a:r>
              <a:rPr lang="en-US" sz="1500" b="0" i="0" dirty="0">
                <a:solidFill>
                  <a:schemeClr val="bg1"/>
                </a:solidFill>
                <a:latin typeface="+mn-lt"/>
                <a:cs typeface="+mn-lt"/>
              </a:rPr>
              <a:t>a small, elegant program that unites regex, strings, functions, modules, exceptions and OOP.</a:t>
            </a:r>
            <a:endParaRPr lang="en-US" sz="1500" dirty="0"/>
          </a:p>
        </p:txBody>
      </p:sp>
      <p:sp>
        <p:nvSpPr>
          <p:cNvPr id="25" name="Flow Chip 25"/>
          <p:cNvSpPr/>
          <p:nvPr/>
        </p:nvSpPr>
        <p:spPr>
          <a:xfrm>
            <a:off x="5669280" y="5285232"/>
            <a:ext cx="868680" cy="457200"/>
          </a:xfrm>
          <a:prstGeom prst="roundRect">
            <a:avLst>
              <a:gd name="adj" fmla="val 20000"/>
            </a:avLst>
          </a:prstGeom>
          <a:solidFill>
            <a:schemeClr val="bg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Input</a:t>
            </a:r>
            <a:endParaRPr lang="en-US" sz="1100" dirty="0"/>
          </a:p>
        </p:txBody>
      </p:sp>
      <p:cxnSp>
        <p:nvCxnSpPr>
          <p:cNvPr id="26" name="Flow Arrow 26"/>
          <p:cNvCxnSpPr/>
          <p:nvPr/>
        </p:nvCxnSpPr>
        <p:spPr>
          <a:xfrm>
            <a:off x="6537960" y="5513832"/>
            <a:ext cx="182880" cy="0"/>
          </a:xfrm>
          <a:prstGeom prst="straightConnector1">
            <a:avLst/>
          </a:prstGeom>
          <a:ln w="22225">
            <a:solidFill>
              <a:schemeClr val="bg1"/>
            </a:solidFill>
            <a:tailEnd type="triangle" w="med" len="med"/>
          </a:ln>
        </p:spPr>
      </p:cxnSp>
      <p:sp>
        <p:nvSpPr>
          <p:cNvPr id="27" name="Flow Chip 27"/>
          <p:cNvSpPr/>
          <p:nvPr/>
        </p:nvSpPr>
        <p:spPr>
          <a:xfrm>
            <a:off x="6720840" y="5285232"/>
            <a:ext cx="868680" cy="457200"/>
          </a:xfrm>
          <a:prstGeom prst="roundRect">
            <a:avLst>
              <a:gd name="adj" fmla="val 20000"/>
            </a:avLst>
          </a:prstGeom>
          <a:solidFill>
            <a:schemeClr val="accent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tx2"/>
                </a:solidFill>
                <a:latin typeface="+mn-lt"/>
                <a:cs typeface="+mn-lt"/>
              </a:rPr>
              <a:t>Checks</a:t>
            </a:r>
            <a:endParaRPr lang="en-US" sz="1100" dirty="0"/>
          </a:p>
        </p:txBody>
      </p:sp>
      <p:cxnSp>
        <p:nvCxnSpPr>
          <p:cNvPr id="28" name="Flow Arrow 28"/>
          <p:cNvCxnSpPr/>
          <p:nvPr/>
        </p:nvCxnSpPr>
        <p:spPr>
          <a:xfrm>
            <a:off x="7589520" y="5513832"/>
            <a:ext cx="182880" cy="0"/>
          </a:xfrm>
          <a:prstGeom prst="straightConnector1">
            <a:avLst/>
          </a:prstGeom>
          <a:ln w="22225">
            <a:solidFill>
              <a:schemeClr val="bg1"/>
            </a:solidFill>
            <a:tailEnd type="triangle" w="med" len="med"/>
          </a:ln>
        </p:spPr>
      </p:cxnSp>
      <p:sp>
        <p:nvSpPr>
          <p:cNvPr id="29" name="Flow Chip 29"/>
          <p:cNvSpPr/>
          <p:nvPr/>
        </p:nvSpPr>
        <p:spPr>
          <a:xfrm>
            <a:off x="7772400" y="5285232"/>
            <a:ext cx="868680" cy="457200"/>
          </a:xfrm>
          <a:prstGeom prst="roundRect">
            <a:avLst>
              <a:gd name="adj" fmla="val 20000"/>
            </a:avLst>
          </a:prstGeom>
          <a:solidFill>
            <a:schemeClr val="bg1"/>
          </a:solidFill>
          <a:ln>
            <a:noFill/>
          </a:ln>
        </p:spPr>
        <p:txBody>
          <a:bodyPr wrap="square" lIns="0" tIns="0" rIns="0" bIns="0" rtlCol="0" anchor="ctr">
            <a:noAutofit/>
          </a:bodyPr>
          <a:lstStyle/>
          <a:p>
            <a:pPr algn="ctr">
              <a:spcBef>
                <a:spcPts val="0"/>
              </a:spcBef>
              <a:spcAft>
                <a:spcPts val="0"/>
              </a:spcAft>
              <a:buNone/>
            </a:pPr>
            <a:r>
              <a:rPr lang="en-US" sz="1100" b="1" i="0" dirty="0">
                <a:solidFill>
                  <a:schemeClr val="accent2">
                    <a:lumMod val="75000"/>
                  </a:schemeClr>
                </a:solidFill>
                <a:latin typeface="+mn-lt"/>
                <a:cs typeface="+mn-lt"/>
              </a:rPr>
              <a:t>Verified</a:t>
            </a:r>
            <a:endParaRPr lang="en-US" sz="1100" dirty="0"/>
          </a:p>
        </p:txBody>
      </p:sp>
      <p:sp>
        <p:nvSpPr>
          <p:cNvPr id="30" name="Footer 3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31" name="Slide Number 3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13</a:t>
            </a:fld>
            <a:endParaRPr lang="en-US" sz="1000" dirty="0">
              <a:solidFill>
                <a:schemeClr val="tx2">
                  <a:lumMod val="65000"/>
                  <a:lumOff val="35000"/>
                </a:schemeClr>
              </a:solidFill>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References &amp; Thank You">
    <p:spTree>
      <p:nvGrpSpPr>
        <p:cNvPr id="1" name=""/>
        <p:cNvGrpSpPr/>
        <p:nvPr/>
      </p:nvGrpSpPr>
      <p:grpSpPr>
        <a:xfrm>
          <a:off x="0" y="0"/>
          <a:ext cx="0" cy="0"/>
          <a:chOff x="0" y="0"/>
          <a:chExt cx="0" cy="0"/>
        </a:xfrm>
      </p:grpSpPr>
      <p:sp>
        <p:nvSpPr>
          <p:cNvPr id="2" name="Title 2"/>
          <p:cNvSpPr txBox="1"/>
          <p:nvPr/>
        </p:nvSpPr>
        <p:spPr>
          <a:xfrm>
            <a:off x="548640" y="384048"/>
            <a:ext cx="8503920" cy="868680"/>
          </a:xfrm>
          <a:prstGeom prst="rect">
            <a:avLst/>
          </a:prstGeom>
          <a:noFill/>
          <a:ln>
            <a:noFill/>
          </a:ln>
        </p:spPr>
        <p:txBody>
          <a:bodyPr wrap="square" lIns="0" tIns="0" rIns="0" bIns="0" rtlCol="0" anchor="ctr">
            <a:noAutofit/>
          </a:bodyPr>
          <a:lstStyle/>
          <a:p>
            <a:pPr algn="l">
              <a:spcBef>
                <a:spcPts val="0"/>
              </a:spcBef>
              <a:spcAft>
                <a:spcPts val="0"/>
              </a:spcAft>
              <a:buNone/>
            </a:pPr>
            <a:r>
              <a:rPr lang="en-US" sz="2600" b="1" i="0" dirty="0">
                <a:solidFill>
                  <a:schemeClr val="tx2"/>
                </a:solidFill>
                <a:latin typeface="+mj-lt"/>
                <a:cs typeface="+mj-lt"/>
              </a:rPr>
              <a:t>References &amp; Thank You</a:t>
            </a:r>
            <a:endParaRPr lang="en-US" sz="2600" dirty="0"/>
          </a:p>
        </p:txBody>
      </p:sp>
      <p:sp>
        <p:nvSpPr>
          <p:cNvPr id="3" name="Bullets 3"/>
          <p:cNvSpPr txBox="1"/>
          <p:nvPr/>
        </p:nvSpPr>
        <p:spPr>
          <a:xfrm>
            <a:off x="548640" y="1371600"/>
            <a:ext cx="8321040" cy="2743200"/>
          </a:xfrm>
          <a:prstGeom prst="rect">
            <a:avLst/>
          </a:prstGeom>
          <a:noFill/>
          <a:ln>
            <a:noFill/>
          </a:ln>
        </p:spPr>
        <p:txBody>
          <a:bodyPr wrap="square" lIns="0" tIns="0" rIns="0" bIns="0" rtlCol="0" anchor="t">
            <a:noAutofit/>
          </a:bodyPr>
          <a:lstStyle/>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R. Nageswara Rao : </a:t>
            </a:r>
            <a:r>
              <a:rPr lang="en-US" sz="1400" b="0" i="1" dirty="0">
                <a:solidFill>
                  <a:schemeClr val="tx2"/>
                </a:solidFill>
                <a:latin typeface="+mn-lt"/>
                <a:cs typeface="+mn-lt"/>
              </a:rPr>
              <a:t>Core Python Programming</a:t>
            </a:r>
            <a:r>
              <a:rPr lang="en-US" sz="1400" b="0" i="0" dirty="0">
                <a:solidFill>
                  <a:schemeClr val="tx2"/>
                </a:solidFill>
                <a:latin typeface="+mn-lt"/>
                <a:cs typeface="+mn-lt"/>
              </a:rPr>
              <a:t>, Dreamtech Press.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Gowrishankar S. &amp; Veena A. : </a:t>
            </a:r>
            <a:r>
              <a:rPr lang="en-US" sz="1400" b="0" i="1" dirty="0">
                <a:solidFill>
                  <a:schemeClr val="tx2"/>
                </a:solidFill>
                <a:latin typeface="+mn-lt"/>
                <a:cs typeface="+mn-lt"/>
              </a:rPr>
              <a:t>Introduction to Python Programming</a:t>
            </a:r>
            <a:r>
              <a:rPr lang="en-US" sz="1400" b="0" i="0" dirty="0">
                <a:solidFill>
                  <a:schemeClr val="tx2"/>
                </a:solidFill>
                <a:latin typeface="+mn-lt"/>
                <a:cs typeface="+mn-lt"/>
              </a:rPr>
              <a:t>, CRC Press.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Python Standard Library docs : </a:t>
            </a:r>
            <a:r>
              <a:rPr lang="en-US" sz="1302" b="0" i="0" dirty="0">
                <a:solidFill>
                  <a:schemeClr val="accent2">
                    <a:lumMod val="75000"/>
                  </a:schemeClr>
                </a:solidFill>
                <a:latin typeface="Courier New"/>
                <a:cs typeface="Courier New"/>
              </a:rPr>
              <a:t>re</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smtplib</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dataclasses</a:t>
            </a:r>
            <a:r>
              <a:rPr lang="en-US" sz="1400" b="0" i="0" dirty="0">
                <a:solidFill>
                  <a:schemeClr val="tx2"/>
                </a:solidFill>
                <a:latin typeface="+mn-lt"/>
                <a:cs typeface="+mn-lt"/>
              </a:rPr>
              <a:t> (</a:t>
            </a:r>
            <a:r>
              <a:rPr lang="en-US" sz="1302" b="0" i="0" dirty="0">
                <a:solidFill>
                  <a:schemeClr val="accent2">
                    <a:lumMod val="75000"/>
                  </a:schemeClr>
                </a:solidFill>
                <a:latin typeface="Courier New"/>
                <a:cs typeface="Courier New"/>
              </a:rPr>
              <a:t>https://docs.python.org/3/library/</a:t>
            </a:r>
            <a:r>
              <a:rPr lang="en-US" sz="1400" b="0" i="0" dirty="0">
                <a:solidFill>
                  <a:schemeClr val="tx2"/>
                </a:solidFill>
                <a:latin typeface="+mn-lt"/>
                <a:cs typeface="+mn-lt"/>
              </a:rPr>
              <a:t>).</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RFC 5321 / RFC 5322 : Internet Message Format and SMTP standards.</a:t>
            </a:r>
            <a:endParaRPr lang="en-US" sz="1400" dirty="0"/>
          </a:p>
          <a:p>
            <a:pPr marL="228600" indent="-228600" algn="l">
              <a:spcBef>
                <a:spcPts val="0"/>
              </a:spcBef>
              <a:spcAft>
                <a:spcPts val="1000"/>
              </a:spcAft>
              <a:buClr>
                <a:schemeClr val="accent2"/>
              </a:buClr>
              <a:buFont typeface="Arial"/>
              <a:buChar char="•"/>
            </a:pPr>
            <a:r>
              <a:rPr lang="en-US" sz="1400" b="0" i="0" dirty="0">
                <a:solidFill>
                  <a:schemeClr val="tx2"/>
                </a:solidFill>
                <a:latin typeface="+mn-lt"/>
                <a:cs typeface="+mn-lt"/>
              </a:rPr>
              <a:t>Course lecture notes : Python modules 2, 4 &amp; 5 (Strings, Functions/Modules, Exceptions &amp; OOP).</a:t>
            </a:r>
            <a:endParaRPr lang="en-US" sz="1400" dirty="0"/>
          </a:p>
        </p:txBody>
      </p:sp>
      <p:sp>
        <p:nvSpPr>
          <p:cNvPr id="4" name="Thank You Band 4"/>
          <p:cNvSpPr/>
          <p:nvPr/>
        </p:nvSpPr>
        <p:spPr>
          <a:xfrm>
            <a:off x="548640" y="4160520"/>
            <a:ext cx="8321040" cy="2011680"/>
          </a:xfrm>
          <a:prstGeom prst="roundRect">
            <a:avLst>
              <a:gd name="adj" fmla="val 8000"/>
            </a:avLst>
          </a:prstGeom>
          <a:solidFill>
            <a:schemeClr val="accent2">
              <a:lumMod val="75000"/>
            </a:schemeClr>
          </a:solidFill>
          <a:ln>
            <a:noFill/>
          </a:ln>
        </p:spPr>
        <p:txBody>
          <a:bodyPr/>
          <a:lstStyle/>
          <a:p>
            <a:endParaRPr lang="en-IN"/>
          </a:p>
        </p:txBody>
      </p:sp>
      <p:sp>
        <p:nvSpPr>
          <p:cNvPr id="5" name="Icon Circle 5"/>
          <p:cNvSpPr/>
          <p:nvPr/>
        </p:nvSpPr>
        <p:spPr>
          <a:xfrm>
            <a:off x="868680" y="4663440"/>
            <a:ext cx="1005840" cy="1005840"/>
          </a:xfrm>
          <a:prstGeom prst="ellipse">
            <a:avLst/>
          </a:prstGeom>
          <a:solidFill>
            <a:schemeClr val="accent1"/>
          </a:solidFill>
          <a:ln>
            <a:noFill/>
          </a:ln>
        </p:spPr>
        <p:txBody>
          <a:bodyPr/>
          <a:lstStyle/>
          <a:p>
            <a:endParaRPr lang="en-IN"/>
          </a:p>
        </p:txBody>
      </p:sp>
      <p:pic>
        <p:nvPicPr>
          <p:cNvPr id="6" name="Icon 6" descr="qa"/>
          <p:cNvPicPr>
            <a:picLocks noChangeAspect="1"/>
          </p:cNvPicPr>
          <p:nvPr/>
        </p:nvPicPr>
        <p:blipFill>
          <a:blip r:embed="rId3"/>
          <a:stretch>
            <a:fillRect/>
          </a:stretch>
        </p:blipFill>
        <p:spPr>
          <a:xfrm>
            <a:off x="1120140" y="4914900"/>
            <a:ext cx="502920" cy="502920"/>
          </a:xfrm>
          <a:prstGeom prst="rect">
            <a:avLst/>
          </a:prstGeom>
        </p:spPr>
      </p:pic>
      <p:sp>
        <p:nvSpPr>
          <p:cNvPr id="7" name="Thank You Text 7"/>
          <p:cNvSpPr txBox="1"/>
          <p:nvPr/>
        </p:nvSpPr>
        <p:spPr>
          <a:xfrm>
            <a:off x="2148840" y="4343400"/>
            <a:ext cx="5120640" cy="1645920"/>
          </a:xfrm>
          <a:prstGeom prst="rect">
            <a:avLst/>
          </a:prstGeom>
          <a:noFill/>
          <a:ln>
            <a:noFill/>
          </a:ln>
        </p:spPr>
        <p:txBody>
          <a:bodyPr wrap="square" lIns="0" tIns="0" rIns="0" bIns="0" rtlCol="0" anchor="ctr">
            <a:noAutofit/>
          </a:bodyPr>
          <a:lstStyle/>
          <a:p>
            <a:pPr algn="l">
              <a:spcBef>
                <a:spcPts val="0"/>
              </a:spcBef>
              <a:spcAft>
                <a:spcPts val="800"/>
              </a:spcAft>
              <a:buNone/>
            </a:pPr>
            <a:r>
              <a:rPr lang="en-US" sz="2200" b="1" i="0" dirty="0">
                <a:solidFill>
                  <a:schemeClr val="bg1"/>
                </a:solidFill>
                <a:latin typeface="+mj-lt"/>
                <a:cs typeface="+mj-lt"/>
              </a:rPr>
              <a:t>Thank you for your attention : Questions are welcome.</a:t>
            </a:r>
            <a:endParaRPr lang="en-US" sz="2200" dirty="0"/>
          </a:p>
          <a:p>
            <a:pPr algn="l">
              <a:spcBef>
                <a:spcPts val="0"/>
              </a:spcBef>
              <a:spcAft>
                <a:spcPts val="0"/>
              </a:spcAft>
              <a:buNone/>
            </a:pPr>
            <a:r>
              <a:rPr lang="en-US" sz="1400" b="0" i="0" dirty="0">
                <a:solidFill>
                  <a:schemeClr val="bg2"/>
                </a:solidFill>
                <a:latin typeface="+mn-lt"/>
                <a:cs typeface="+mn-lt"/>
              </a:rPr>
              <a:t>Sayantan Bharati | BWU/BTS/25/503 | Section B</a:t>
            </a:r>
            <a:endParaRPr lang="en-US" sz="1400" dirty="0"/>
          </a:p>
        </p:txBody>
      </p:sp>
      <p:sp>
        <p:nvSpPr>
          <p:cNvPr id="8" name="Icon Circle 8"/>
          <p:cNvSpPr/>
          <p:nvPr/>
        </p:nvSpPr>
        <p:spPr>
          <a:xfrm>
            <a:off x="7498080" y="4663440"/>
            <a:ext cx="1005840" cy="1005840"/>
          </a:xfrm>
          <a:prstGeom prst="ellipse">
            <a:avLst/>
          </a:prstGeom>
          <a:solidFill>
            <a:schemeClr val="accent1"/>
          </a:solidFill>
          <a:ln>
            <a:noFill/>
          </a:ln>
        </p:spPr>
        <p:txBody>
          <a:bodyPr/>
          <a:lstStyle/>
          <a:p>
            <a:endParaRPr lang="en-IN"/>
          </a:p>
        </p:txBody>
      </p:sp>
      <p:pic>
        <p:nvPicPr>
          <p:cNvPr id="9" name="Icon 9" descr="python"/>
          <p:cNvPicPr>
            <a:picLocks noChangeAspect="1"/>
          </p:cNvPicPr>
          <p:nvPr/>
        </p:nvPicPr>
        <p:blipFill>
          <a:blip r:embed="rId4"/>
          <a:stretch>
            <a:fillRect/>
          </a:stretch>
        </p:blipFill>
        <p:spPr>
          <a:xfrm>
            <a:off x="7749540" y="4914900"/>
            <a:ext cx="502920" cy="502920"/>
          </a:xfrm>
          <a:prstGeom prst="rect">
            <a:avLst/>
          </a:prstGeom>
        </p:spPr>
      </p:pic>
      <p:sp>
        <p:nvSpPr>
          <p:cNvPr id="10" name="Footer 10"/>
          <p:cNvSpPr txBox="1"/>
          <p:nvPr/>
        </p:nvSpPr>
        <p:spPr>
          <a:xfrm>
            <a:off x="548640" y="6419088"/>
            <a:ext cx="7680960" cy="256032"/>
          </a:xfrm>
          <a:prstGeom prst="rect">
            <a:avLst/>
          </a:prstGeom>
          <a:noFill/>
          <a:ln>
            <a:noFill/>
          </a:ln>
        </p:spPr>
        <p:txBody>
          <a:bodyPr wrap="square" lIns="0" tIns="0" rIns="0" bIns="0" rtlCol="0" anchor="ctr">
            <a:noAutofit/>
          </a:bodyPr>
          <a:lstStyle/>
          <a:p>
            <a:pPr algn="l">
              <a:spcBef>
                <a:spcPts val="0"/>
              </a:spcBef>
              <a:spcAft>
                <a:spcPts val="0"/>
              </a:spcAft>
              <a:buNone/>
            </a:pPr>
            <a:r>
              <a:rPr lang="en-US" sz="1000" b="0" i="0" dirty="0">
                <a:solidFill>
                  <a:schemeClr val="tx2">
                    <a:lumMod val="65000"/>
                    <a:lumOff val="35000"/>
                  </a:schemeClr>
                </a:solidFill>
                <a:latin typeface="+mn-lt"/>
                <a:cs typeface="+mn-lt"/>
              </a:rPr>
              <a:t>Email Validation System  |  Python Programming (BES00007)  |  Sayantan Bharati  |  BWU/BTS/25/503  |  Section B</a:t>
            </a:r>
            <a:endParaRPr lang="en-US" sz="1000" dirty="0"/>
          </a:p>
        </p:txBody>
      </p:sp>
      <p:sp>
        <p:nvSpPr>
          <p:cNvPr id="11" name="Slide Number 11"/>
          <p:cNvSpPr txBox="1"/>
          <p:nvPr/>
        </p:nvSpPr>
        <p:spPr>
          <a:xfrm>
            <a:off x="8412480" y="6419088"/>
            <a:ext cx="640080" cy="256032"/>
          </a:xfrm>
          <a:prstGeom prst="rect">
            <a:avLst/>
          </a:prstGeom>
          <a:noFill/>
          <a:ln>
            <a:noFill/>
          </a:ln>
        </p:spPr>
        <p:txBody>
          <a:bodyPr wrap="square" lIns="0" tIns="0" rIns="0" bIns="0" rtlCol="0" anchor="ctr">
            <a:noAutofit/>
          </a:bodyPr>
          <a:lstStyle/>
          <a:p>
            <a:pPr algn="r">
              <a:buNone/>
            </a:pPr>
            <a:fld id="{B6F15528-21DE-4FAA-801E-634DDDAF4B2B}" type="slidenum">
              <a:rPr lang="en-US" sz="1000" dirty="0">
                <a:solidFill>
                  <a:schemeClr val="tx2">
                    <a:lumMod val="65000"/>
                    <a:lumOff val="35000"/>
                  </a:schemeClr>
                </a:solidFill>
                <a:latin typeface="+mn-lt"/>
              </a:rPr>
              <a:t>14</a:t>
            </a:fld>
            <a:endParaRPr lang="en-US" sz="1000" dirty="0">
              <a:solidFill>
                <a:schemeClr val="tx2">
                  <a:lumMod val="65000"/>
                  <a:lumOff val="35000"/>
                </a:schemeClr>
              </a:solidFill>
              <a:latin typeface="+mn-lt"/>
            </a:endParaRPr>
          </a:p>
        </p:txBody>
      </p:sp>
    </p:spTree>
  </p:cSld>
  <p:clrMapOvr>
    <a:masterClrMapping/>
  </p:clrMapOvr>
</p:sld>
</file>

<file path=ppt/theme/theme1.xml><?xml version="1.0" encoding="utf-8"?>
<a:theme xmlns:a="http://schemas.openxmlformats.org/drawingml/2006/main" name="Green Facet">
  <a:themeElements>
    <a:clrScheme name="Green 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6B9F25"/>
      </a:hlink>
      <a:folHlink>
        <a:srgbClr val="BA6906"/>
      </a:folHlink>
    </a:clrScheme>
    <a:fontScheme name="Green Facet">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2928</Words>
  <Application>Microsoft Office PowerPoint</Application>
  <PresentationFormat>Widescreen</PresentationFormat>
  <Paragraphs>329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Courier New</vt:lpstr>
      <vt:lpstr>Trebuchet MS</vt:lpstr>
      <vt:lpstr>Green 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sayantan bharati</cp:lastModifiedBy>
  <cp:revision>2</cp:revision>
  <dcterms:created xsi:type="dcterms:W3CDTF">2026-10-04T04:28:14Z</dcterms:created>
  <dcterms:modified xsi:type="dcterms:W3CDTF">2026-10-04T17:30:44Z</dcterms:modified>
</cp:coreProperties>
</file>