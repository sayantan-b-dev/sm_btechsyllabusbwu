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7"/>
    <p:sldId id="267" r:id="rId18"/>
    <p:sldId id="268" r:id="rId19"/>
    <p:sldId id="269" r:id="rId20"/>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7"/>
            <c:spPr>
              <a:solidFill>
                <a:schemeClr val="accent2"/>
              </a:solidFill>
              <a:ln w="9525">
                <a:solidFill>
                  <a:schemeClr val="bg1"/>
                </a:solidFill>
              </a:ln>
            </c:spPr>
          </c:marker>
          <c:xVal>
            <c:numRef>
              <c:f>Sheet1!$A$2:$A$17</c:f>
              <c:numCache>
                <c:formatCode>General</c:formatCode>
                <c:ptCount val="16"/>
                <c:pt idx="0">
                  <c:v>1.71</c:v>
                </c:pt>
                <c:pt idx="1">
                  <c:v>5.1</c:v>
                </c:pt>
                <c:pt idx="2">
                  <c:v>6.03</c:v>
                </c:pt>
                <c:pt idx="3">
                  <c:v>0.8</c:v>
                </c:pt>
                <c:pt idx="4">
                  <c:v>1.89</c:v>
                </c:pt>
                <c:pt idx="5">
                  <c:v>9.02</c:v>
                </c:pt>
                <c:pt idx="6">
                  <c:v>1.18</c:v>
                </c:pt>
                <c:pt idx="7">
                  <c:v>1.72</c:v>
                </c:pt>
                <c:pt idx="8">
                  <c:v>9.2</c:v>
                </c:pt>
                <c:pt idx="9">
                  <c:v>6.22</c:v>
                </c:pt>
                <c:pt idx="10">
                  <c:v>3.91</c:v>
                </c:pt>
                <c:pt idx="11">
                  <c:v>5.21</c:v>
                </c:pt>
                <c:pt idx="12">
                  <c:v>6.59</c:v>
                </c:pt>
                <c:pt idx="13">
                  <c:v>3.05</c:v>
                </c:pt>
                <c:pt idx="14">
                  <c:v>1.8</c:v>
                </c:pt>
                <c:pt idx="15">
                  <c:v>7.74</c:v>
                </c:pt>
              </c:numCache>
            </c:numRef>
          </c:xVal>
          <c:yVal>
            <c:numRef>
              <c:f>Sheet1!$B$2:$B$17</c:f>
              <c:numCache>
                <c:formatCode>General</c:formatCode>
                <c:ptCount val="16"/>
                <c:pt idx="0">
                  <c:v>3.79</c:v>
                </c:pt>
                <c:pt idx="1">
                  <c:v>6.01</c:v>
                </c:pt>
                <c:pt idx="2">
                  <c:v>7.26</c:v>
                </c:pt>
                <c:pt idx="3">
                  <c:v>2.4</c:v>
                </c:pt>
                <c:pt idx="4">
                  <c:v>0.8</c:v>
                </c:pt>
                <c:pt idx="5">
                  <c:v>8.35</c:v>
                </c:pt>
                <c:pt idx="6">
                  <c:v>2.32</c:v>
                </c:pt>
                <c:pt idx="7">
                  <c:v>0.97</c:v>
                </c:pt>
                <c:pt idx="8">
                  <c:v>7.81</c:v>
                </c:pt>
                <c:pt idx="9">
                  <c:v>6.23</c:v>
                </c:pt>
                <c:pt idx="10">
                  <c:v>4.05</c:v>
                </c:pt>
                <c:pt idx="11">
                  <c:v>4.27</c:v>
                </c:pt>
                <c:pt idx="12">
                  <c:v>5.41</c:v>
                </c:pt>
                <c:pt idx="13">
                  <c:v>3.95</c:v>
                </c:pt>
                <c:pt idx="14">
                  <c:v>4.03</c:v>
                </c:pt>
                <c:pt idx="15">
                  <c:v>9.2</c:v>
                </c:pt>
              </c:numCache>
            </c:numRef>
          </c:yVal>
          <c:smooth val="0"/>
        </c:ser>
        <c:ser>
          <c:idx val="1"/>
          <c:order val="1"/>
          <c:tx>
            <c:strRef>
              <c:f>Sheet1!$B$19</c:f>
              <c:strCache>
                <c:ptCount val="1"/>
                <c:pt idx="0">
                  <c:v>Trend</c:v>
                </c:pt>
              </c:strCache>
            </c:strRef>
          </c:tx>
          <c:spPr>
            <a:ln w="25400">
              <a:solidFill>
                <a:schemeClr val="accent4"/>
              </a:solidFill>
            </a:ln>
          </c:spPr>
          <c:marker>
            <c:symbol val="none"/>
          </c:marker>
          <c:xVal>
            <c:numRef>
              <c:f>Sheet1!$A$20:$A$21</c:f>
              <c:numCache>
                <c:formatCode>General</c:formatCode>
                <c:ptCount val="2"/>
                <c:pt idx="0">
                  <c:v>0.5</c:v>
                </c:pt>
                <c:pt idx="1">
                  <c:v>9.5</c:v>
                </c:pt>
              </c:numCache>
            </c:numRef>
          </c:xVal>
          <c:yVal>
            <c:numRef>
              <c:f>Sheet1!$B$20:$B$21</c:f>
              <c:numCache>
                <c:formatCode>General</c:formatCode>
                <c:ptCount val="2"/>
                <c:pt idx="0">
                  <c:v>1.6168807780874102</c:v>
                </c:pt>
                <c:pt idx="1">
                  <c:v>8.880125482146505</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Students</c:v>
                </c:pt>
              </c:strCache>
            </c:strRef>
          </c:tx>
          <c:spPr>
            <a:ln w="47625">
              <a:noFill/>
            </a:ln>
          </c:spPr>
          <c:marker>
            <c:symbol val="circle"/>
            <c:size val="10"/>
            <c:spPr>
              <a:solidFill>
                <a:schemeClr val="accent2"/>
              </a:solidFill>
              <a:ln w="9525">
                <a:solidFill>
                  <a:schemeClr val="bg1"/>
                </a:solidFill>
              </a:ln>
            </c:spPr>
          </c:marker>
          <c:dLbls>
            <c:dLbl>
              <c:idx val="0"/>
              <c:tx>
                <c:rich>
                  <a:bodyPr/>
                  <a:lstStyle/>
                  <a:p>
                    <a:r>
                      <a:rPr sz="1200" b="1">
                        <a:solidFill>
                          <a:schemeClr val="tx2"/>
                        </a:solidFill>
                      </a:rPr>
                      <a:t>A</a:t>
                    </a:r>
                  </a:p>
                </c:rich>
              </c:tx>
              <c:dLblPos val="b"/>
              <c:showLegendKey val="0"/>
              <c:showVal val="1"/>
              <c:showCatName val="0"/>
              <c:showSerName val="0"/>
              <c:showPercent val="0"/>
              <c:showBubbleSize val="0"/>
            </c:dLbl>
            <c:dLbl>
              <c:idx val="1"/>
              <c:tx>
                <c:rich>
                  <a:bodyPr/>
                  <a:lstStyle/>
                  <a:p>
                    <a:r>
                      <a:rPr sz="1200" b="1">
                        <a:solidFill>
                          <a:schemeClr val="tx2"/>
                        </a:solidFill>
                      </a:rPr>
                      <a:t>B</a:t>
                    </a:r>
                  </a:p>
                </c:rich>
              </c:tx>
              <c:dLblPos val="b"/>
              <c:showLegendKey val="0"/>
              <c:showVal val="1"/>
              <c:showCatName val="0"/>
              <c:showSerName val="0"/>
              <c:showPercent val="0"/>
              <c:showBubbleSize val="0"/>
            </c:dLbl>
            <c:dLbl>
              <c:idx val="2"/>
              <c:tx>
                <c:rich>
                  <a:bodyPr/>
                  <a:lstStyle/>
                  <a:p>
                    <a:r>
                      <a:rPr sz="1200" b="1">
                        <a:solidFill>
                          <a:schemeClr val="tx2"/>
                        </a:solidFill>
                      </a:rPr>
                      <a:t>C</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Sheet1!$A$2:$A$4</c:f>
              <c:numCache>
                <c:formatCode>General</c:formatCode>
                <c:ptCount val="3"/>
                <c:pt idx="0">
                  <c:v>2.0</c:v>
                </c:pt>
                <c:pt idx="1">
                  <c:v>5.0</c:v>
                </c:pt>
                <c:pt idx="2">
                  <c:v>8.0</c:v>
                </c:pt>
              </c:numCache>
            </c:numRef>
          </c:xVal>
          <c:yVal>
            <c:numRef>
              <c:f>Sheet1!$B$2:$B$4</c:f>
              <c:numCache>
                <c:formatCode>General</c:formatCode>
                <c:ptCount val="3"/>
                <c:pt idx="0">
                  <c:v>40.0</c:v>
                </c:pt>
                <c:pt idx="1">
                  <c:v>65.0</c:v>
                </c:pt>
                <c:pt idx="2">
                  <c:v>85.0</c:v>
                </c:pt>
              </c:numCache>
            </c:numRef>
          </c:yVal>
          <c:smooth val="0"/>
        </c:ser>
        <c:ser>
          <c:idx val="1"/>
          <c:order val="1"/>
          <c:tx>
            <c:strRef>
              <c:f>Sheet1!$B$6</c:f>
              <c:strCache>
                <c:ptCount val="1"/>
                <c:pt idx="0">
                  <c:v>Trend</c:v>
                </c:pt>
              </c:strCache>
            </c:strRef>
          </c:tx>
          <c:spPr>
            <a:ln w="25400">
              <a:solidFill>
                <a:schemeClr val="accent4"/>
              </a:solidFill>
              <a:prstDash val="dash"/>
            </a:ln>
          </c:spPr>
          <c:marker>
            <c:symbol val="none"/>
          </c:marker>
          <c:xVal>
            <c:numRef>
              <c:f>Sheet1!$A$7:$A$8</c:f>
              <c:numCache>
                <c:formatCode>General</c:formatCode>
                <c:ptCount val="2"/>
                <c:pt idx="0">
                  <c:v>0.5</c:v>
                </c:pt>
                <c:pt idx="1">
                  <c:v>9.5</c:v>
                </c:pt>
              </c:numCache>
            </c:numRef>
          </c:xVal>
          <c:yVal>
            <c:numRef>
              <c:f>Sheet1!$B$7:$B$8</c:f>
              <c:numCache>
                <c:formatCode>General</c:formatCode>
                <c:ptCount val="2"/>
                <c:pt idx="0">
                  <c:v>31.5</c:v>
                </c:pt>
                <c:pt idx="1">
                  <c:v>93.0</c:v>
                </c:pt>
              </c:numCache>
            </c:numRef>
          </c:yVal>
          <c:smooth val="0"/>
        </c:ser>
        <c:axId val="-2128940872"/>
        <c:axId val="-2129643912"/>
      </c:scatterChart>
      <c:valAx>
        <c:axId val="-2128940872"/>
        <c:scaling>
          <c:orientation val="minMax"/>
          <c:max val="10.0"/>
          <c:min val="0.0"/>
        </c:scaling>
        <c:delete val="0"/>
        <c:axPos val="b"/>
        <c:title>
          <c:tx>
            <c:rich>
              <a:bodyPr/>
              <a:lstStyle/>
              <a:p>
                <a:r>
                  <a:rPr sz="1100" b="0">
                    <a:solidFill>
                      <a:schemeClr val="tx2"/>
                    </a:solidFill>
                  </a:rPr>
                  <a:t>Hours studied (x)</a:t>
                </a:r>
              </a:p>
            </c:rich>
          </c:tx>
          <c:layout/>
          <c:overlay val="0"/>
        </c:title>
        <c:numFmt formatCode="General" sourceLinked="0"/>
        <c:majorTickMark val="none"/>
        <c:minorTickMark val="none"/>
        <c:tickLblPos val="low"/>
        <c:spPr>
          <a:ln w="12700">
            <a:solidFill>
              <a:schemeClr val="tx2">
                <a:lumMod val="45000"/>
                <a:lumOff val="55000"/>
              </a:schemeClr>
            </a:solidFill>
          </a:ln>
        </c:spPr>
        <c:txPr>
          <a:bodyPr/>
          <a:lstStyle/>
          <a:p>
            <a:pPr>
              <a:defRPr sz="1100">
                <a:solidFill>
                  <a:schemeClr val="tx2"/>
                </a:solidFill>
              </a:defRPr>
            </a:pPr>
          </a:p>
        </c:txPr>
        <c:crossAx val="-2129643912"/>
        <c:crosses val="autoZero"/>
        <c:crossBetween val="midCat"/>
        <c:majorUnit val="2.0"/>
      </c:valAx>
      <c:valAx>
        <c:axId val="-2129643912"/>
        <c:scaling>
          <c:orientation val="minMax"/>
          <c:max val="100.0"/>
          <c:min val="0.0"/>
        </c:scaling>
        <c:delete val="0"/>
        <c:axPos val="l"/>
        <c:majorGridlines>
          <c:spPr>
            <a:ln w="9525">
              <a:solidFill>
                <a:schemeClr val="bg2"/>
              </a:solidFill>
            </a:ln>
          </c:spPr>
        </c:majorGridlines>
        <c:title>
          <c:tx>
            <c:rich>
              <a:bodyPr/>
              <a:lstStyle/>
              <a:p>
                <a:r>
                  <a:rPr sz="1100" b="0">
                    <a:solidFill>
                      <a:schemeClr val="tx2"/>
                    </a:solidFill>
                  </a:rPr>
                  <a:t>Marks (y)</a:t>
                </a:r>
              </a:p>
            </c:rich>
          </c:tx>
          <c:layout/>
          <c:overlay val="0"/>
        </c:title>
        <c:numFmt formatCode="General" sourceLinked="0"/>
        <c:majorTickMark val="none"/>
        <c:minorTickMark val="none"/>
        <c:tickLblPos val="low"/>
        <c:spPr>
          <a:ln w="12700">
            <a:solidFill>
              <a:schemeClr val="tx2">
                <a:lumMod val="45000"/>
                <a:lumOff val="55000"/>
              </a:schemeClr>
            </a:solidFill>
          </a:ln>
        </c:spPr>
        <c:txPr>
          <a:bodyPr/>
          <a:lstStyle/>
          <a:p>
            <a:pPr>
              <a:defRPr sz="1100">
                <a:solidFill>
                  <a:schemeClr val="tx2"/>
                </a:solidFill>
              </a:defRPr>
            </a:pPr>
          </a:p>
        </c:txPr>
        <c:crossAx val="-2128940872"/>
        <c:crosses val="autoZero"/>
        <c:crossBetween val="midCat"/>
        <c:majorUnit val="20.0"/>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6"/>
            <c:spPr>
              <a:solidFill>
                <a:schemeClr val="accent2"/>
              </a:solidFill>
              <a:ln w="9525">
                <a:solidFill>
                  <a:schemeClr val="bg1"/>
                </a:solidFill>
              </a:ln>
            </c:spPr>
          </c:marker>
          <c:xVal>
            <c:numRef>
              <c:f>Sheet1!$A$2:$A$17</c:f>
              <c:numCache>
                <c:formatCode>General</c:formatCode>
                <c:ptCount val="16"/>
                <c:pt idx="0">
                  <c:v>7.34</c:v>
                </c:pt>
                <c:pt idx="1">
                  <c:v>5.63</c:v>
                </c:pt>
                <c:pt idx="2">
                  <c:v>6.64</c:v>
                </c:pt>
                <c:pt idx="3">
                  <c:v>0.6</c:v>
                </c:pt>
                <c:pt idx="4">
                  <c:v>5.87</c:v>
                </c:pt>
                <c:pt idx="5">
                  <c:v>9.28</c:v>
                </c:pt>
                <c:pt idx="6">
                  <c:v>3.86</c:v>
                </c:pt>
                <c:pt idx="7">
                  <c:v>0.83</c:v>
                </c:pt>
                <c:pt idx="8">
                  <c:v>9.06</c:v>
                </c:pt>
                <c:pt idx="9">
                  <c:v>6.32</c:v>
                </c:pt>
                <c:pt idx="10">
                  <c:v>1.65</c:v>
                </c:pt>
                <c:pt idx="11">
                  <c:v>6.28</c:v>
                </c:pt>
                <c:pt idx="12">
                  <c:v>9.4</c:v>
                </c:pt>
                <c:pt idx="13">
                  <c:v>1.77</c:v>
                </c:pt>
                <c:pt idx="14">
                  <c:v>8.05</c:v>
                </c:pt>
                <c:pt idx="15">
                  <c:v>6.54</c:v>
                </c:pt>
              </c:numCache>
            </c:numRef>
          </c:xVal>
          <c:yVal>
            <c:numRef>
              <c:f>Sheet1!$B$2:$B$17</c:f>
              <c:numCache>
                <c:formatCode>General</c:formatCode>
                <c:ptCount val="16"/>
                <c:pt idx="0">
                  <c:v>9.4</c:v>
                </c:pt>
                <c:pt idx="1">
                  <c:v>6.68</c:v>
                </c:pt>
                <c:pt idx="2">
                  <c:v>5.43</c:v>
                </c:pt>
                <c:pt idx="3">
                  <c:v>1.68</c:v>
                </c:pt>
                <c:pt idx="4">
                  <c:v>6.34</c:v>
                </c:pt>
                <c:pt idx="5">
                  <c:v>9.36</c:v>
                </c:pt>
                <c:pt idx="6">
                  <c:v>2.82</c:v>
                </c:pt>
                <c:pt idx="7">
                  <c:v>0.6</c:v>
                </c:pt>
                <c:pt idx="8">
                  <c:v>8.77</c:v>
                </c:pt>
                <c:pt idx="9">
                  <c:v>7.05</c:v>
                </c:pt>
                <c:pt idx="10">
                  <c:v>1.56</c:v>
                </c:pt>
                <c:pt idx="11">
                  <c:v>7.72</c:v>
                </c:pt>
                <c:pt idx="12">
                  <c:v>8.47</c:v>
                </c:pt>
                <c:pt idx="13">
                  <c:v>2.03</c:v>
                </c:pt>
                <c:pt idx="14">
                  <c:v>8.4</c:v>
                </c:pt>
                <c:pt idx="15">
                  <c:v>5.49</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6"/>
            <c:spPr>
              <a:solidFill>
                <a:schemeClr val="accent2"/>
              </a:solidFill>
              <a:ln w="9525">
                <a:solidFill>
                  <a:schemeClr val="bg1"/>
                </a:solidFill>
              </a:ln>
            </c:spPr>
          </c:marker>
          <c:xVal>
            <c:numRef>
              <c:f>Sheet1!$A$2:$A$17</c:f>
              <c:numCache>
                <c:formatCode>General</c:formatCode>
                <c:ptCount val="16"/>
                <c:pt idx="0">
                  <c:v>3.57</c:v>
                </c:pt>
                <c:pt idx="1">
                  <c:v>2.0</c:v>
                </c:pt>
                <c:pt idx="2">
                  <c:v>0.96</c:v>
                </c:pt>
                <c:pt idx="3">
                  <c:v>6.26</c:v>
                </c:pt>
                <c:pt idx="4">
                  <c:v>4.44</c:v>
                </c:pt>
                <c:pt idx="5">
                  <c:v>9.4</c:v>
                </c:pt>
                <c:pt idx="6">
                  <c:v>8.12</c:v>
                </c:pt>
                <c:pt idx="7">
                  <c:v>7.99</c:v>
                </c:pt>
                <c:pt idx="8">
                  <c:v>0.61</c:v>
                </c:pt>
                <c:pt idx="9">
                  <c:v>5.34</c:v>
                </c:pt>
                <c:pt idx="10">
                  <c:v>5.83</c:v>
                </c:pt>
                <c:pt idx="11">
                  <c:v>0.6</c:v>
                </c:pt>
                <c:pt idx="12">
                  <c:v>4.61</c:v>
                </c:pt>
                <c:pt idx="13">
                  <c:v>3.22</c:v>
                </c:pt>
                <c:pt idx="14">
                  <c:v>2.16</c:v>
                </c:pt>
                <c:pt idx="15">
                  <c:v>7.61</c:v>
                </c:pt>
              </c:numCache>
            </c:numRef>
          </c:xVal>
          <c:yVal>
            <c:numRef>
              <c:f>Sheet1!$B$2:$B$17</c:f>
              <c:numCache>
                <c:formatCode>General</c:formatCode>
                <c:ptCount val="16"/>
                <c:pt idx="0">
                  <c:v>2.78</c:v>
                </c:pt>
                <c:pt idx="1">
                  <c:v>0.6</c:v>
                </c:pt>
                <c:pt idx="2">
                  <c:v>1.49</c:v>
                </c:pt>
                <c:pt idx="3">
                  <c:v>4.57</c:v>
                </c:pt>
                <c:pt idx="4">
                  <c:v>5.23</c:v>
                </c:pt>
                <c:pt idx="5">
                  <c:v>3.46</c:v>
                </c:pt>
                <c:pt idx="6">
                  <c:v>7.53</c:v>
                </c:pt>
                <c:pt idx="7">
                  <c:v>5.58</c:v>
                </c:pt>
                <c:pt idx="8">
                  <c:v>2.46</c:v>
                </c:pt>
                <c:pt idx="9">
                  <c:v>3.49</c:v>
                </c:pt>
                <c:pt idx="10">
                  <c:v>9.4</c:v>
                </c:pt>
                <c:pt idx="11">
                  <c:v>4.14</c:v>
                </c:pt>
                <c:pt idx="12">
                  <c:v>3.01</c:v>
                </c:pt>
                <c:pt idx="13">
                  <c:v>2.52</c:v>
                </c:pt>
                <c:pt idx="14">
                  <c:v>8.02</c:v>
                </c:pt>
                <c:pt idx="15">
                  <c:v>4.49</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6"/>
            <c:spPr>
              <a:solidFill>
                <a:schemeClr val="accent4"/>
              </a:solidFill>
              <a:ln w="9525">
                <a:solidFill>
                  <a:schemeClr val="bg1"/>
                </a:solidFill>
              </a:ln>
            </c:spPr>
          </c:marker>
          <c:xVal>
            <c:numRef>
              <c:f>Sheet1!$A$2:$A$17</c:f>
              <c:numCache>
                <c:formatCode>General</c:formatCode>
                <c:ptCount val="16"/>
                <c:pt idx="0">
                  <c:v>7.62</c:v>
                </c:pt>
                <c:pt idx="1">
                  <c:v>7.04</c:v>
                </c:pt>
                <c:pt idx="2">
                  <c:v>1.32</c:v>
                </c:pt>
                <c:pt idx="3">
                  <c:v>1.16</c:v>
                </c:pt>
                <c:pt idx="4">
                  <c:v>7.17</c:v>
                </c:pt>
                <c:pt idx="5">
                  <c:v>9.4</c:v>
                </c:pt>
                <c:pt idx="6">
                  <c:v>2.14</c:v>
                </c:pt>
                <c:pt idx="7">
                  <c:v>2.32</c:v>
                </c:pt>
                <c:pt idx="8">
                  <c:v>7.87</c:v>
                </c:pt>
                <c:pt idx="9">
                  <c:v>5.13</c:v>
                </c:pt>
                <c:pt idx="10">
                  <c:v>4.52</c:v>
                </c:pt>
                <c:pt idx="11">
                  <c:v>3.78</c:v>
                </c:pt>
                <c:pt idx="12">
                  <c:v>0.6</c:v>
                </c:pt>
                <c:pt idx="13">
                  <c:v>4.96</c:v>
                </c:pt>
                <c:pt idx="14">
                  <c:v>3.25</c:v>
                </c:pt>
                <c:pt idx="15">
                  <c:v>4.22</c:v>
                </c:pt>
              </c:numCache>
            </c:numRef>
          </c:xVal>
          <c:yVal>
            <c:numRef>
              <c:f>Sheet1!$B$2:$B$17</c:f>
              <c:numCache>
                <c:formatCode>General</c:formatCode>
                <c:ptCount val="16"/>
                <c:pt idx="0">
                  <c:v>1.75</c:v>
                </c:pt>
                <c:pt idx="1">
                  <c:v>2.57</c:v>
                </c:pt>
                <c:pt idx="2">
                  <c:v>7.86</c:v>
                </c:pt>
                <c:pt idx="3">
                  <c:v>8.85</c:v>
                </c:pt>
                <c:pt idx="4">
                  <c:v>2.79</c:v>
                </c:pt>
                <c:pt idx="5">
                  <c:v>0.76</c:v>
                </c:pt>
                <c:pt idx="6">
                  <c:v>6.68</c:v>
                </c:pt>
                <c:pt idx="7">
                  <c:v>7.59</c:v>
                </c:pt>
                <c:pt idx="8">
                  <c:v>0.6</c:v>
                </c:pt>
                <c:pt idx="9">
                  <c:v>5.08</c:v>
                </c:pt>
                <c:pt idx="10">
                  <c:v>7.51</c:v>
                </c:pt>
                <c:pt idx="11">
                  <c:v>5.03</c:v>
                </c:pt>
                <c:pt idx="12">
                  <c:v>8.88</c:v>
                </c:pt>
                <c:pt idx="13">
                  <c:v>9.4</c:v>
                </c:pt>
                <c:pt idx="14">
                  <c:v>5.15</c:v>
                </c:pt>
                <c:pt idx="15">
                  <c:v>3.35</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6"/>
            <c:spPr>
              <a:solidFill>
                <a:schemeClr val="tx2">
                  <a:lumMod val="45000"/>
                  <a:lumOff val="55000"/>
                </a:schemeClr>
              </a:solidFill>
              <a:ln w="9525">
                <a:solidFill>
                  <a:schemeClr val="bg1"/>
                </a:solidFill>
              </a:ln>
            </c:spPr>
          </c:marker>
          <c:xVal>
            <c:numRef>
              <c:f>Sheet1!$A$2:$A$17</c:f>
              <c:numCache>
                <c:formatCode>General</c:formatCode>
                <c:ptCount val="16"/>
                <c:pt idx="0">
                  <c:v>3.49</c:v>
                </c:pt>
                <c:pt idx="1">
                  <c:v>4.21</c:v>
                </c:pt>
                <c:pt idx="2">
                  <c:v>5.85</c:v>
                </c:pt>
                <c:pt idx="3">
                  <c:v>5.19</c:v>
                </c:pt>
                <c:pt idx="4">
                  <c:v>5.75</c:v>
                </c:pt>
                <c:pt idx="5">
                  <c:v>5.8</c:v>
                </c:pt>
                <c:pt idx="6">
                  <c:v>8.74</c:v>
                </c:pt>
                <c:pt idx="7">
                  <c:v>1.14</c:v>
                </c:pt>
                <c:pt idx="8">
                  <c:v>7.47</c:v>
                </c:pt>
                <c:pt idx="9">
                  <c:v>8.22</c:v>
                </c:pt>
                <c:pt idx="10">
                  <c:v>7.17</c:v>
                </c:pt>
                <c:pt idx="11">
                  <c:v>4.26</c:v>
                </c:pt>
                <c:pt idx="12">
                  <c:v>9.4</c:v>
                </c:pt>
                <c:pt idx="13">
                  <c:v>0.6</c:v>
                </c:pt>
                <c:pt idx="14">
                  <c:v>8.05</c:v>
                </c:pt>
                <c:pt idx="15">
                  <c:v>6.11</c:v>
                </c:pt>
              </c:numCache>
            </c:numRef>
          </c:xVal>
          <c:yVal>
            <c:numRef>
              <c:f>Sheet1!$B$2:$B$17</c:f>
              <c:numCache>
                <c:formatCode>General</c:formatCode>
                <c:ptCount val="16"/>
                <c:pt idx="0">
                  <c:v>7.15</c:v>
                </c:pt>
                <c:pt idx="1">
                  <c:v>4.4</c:v>
                </c:pt>
                <c:pt idx="2">
                  <c:v>5.8</c:v>
                </c:pt>
                <c:pt idx="3">
                  <c:v>4.33</c:v>
                </c:pt>
                <c:pt idx="4">
                  <c:v>6.58</c:v>
                </c:pt>
                <c:pt idx="5">
                  <c:v>3.16</c:v>
                </c:pt>
                <c:pt idx="6">
                  <c:v>5.74</c:v>
                </c:pt>
                <c:pt idx="7">
                  <c:v>3.79</c:v>
                </c:pt>
                <c:pt idx="8">
                  <c:v>7.32</c:v>
                </c:pt>
                <c:pt idx="9">
                  <c:v>5.5</c:v>
                </c:pt>
                <c:pt idx="10">
                  <c:v>7.91</c:v>
                </c:pt>
                <c:pt idx="11">
                  <c:v>4.85</c:v>
                </c:pt>
                <c:pt idx="12">
                  <c:v>0.6</c:v>
                </c:pt>
                <c:pt idx="13">
                  <c:v>4.72</c:v>
                </c:pt>
                <c:pt idx="14">
                  <c:v>4.57</c:v>
                </c:pt>
                <c:pt idx="15">
                  <c:v>9.4</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5"/>
            <c:spPr>
              <a:solidFill>
                <a:schemeClr val="accent2"/>
              </a:solidFill>
              <a:ln w="9525">
                <a:solidFill>
                  <a:schemeClr val="bg1"/>
                </a:solidFill>
              </a:ln>
            </c:spPr>
          </c:marker>
          <c:xVal>
            <c:numRef>
              <c:f>Sheet1!$A$2:$A$16</c:f>
              <c:numCache>
                <c:formatCode>General</c:formatCode>
                <c:ptCount val="15"/>
                <c:pt idx="0">
                  <c:v>8.65</c:v>
                </c:pt>
                <c:pt idx="1">
                  <c:v>0.86</c:v>
                </c:pt>
                <c:pt idx="2">
                  <c:v>6.5</c:v>
                </c:pt>
                <c:pt idx="3">
                  <c:v>4.63</c:v>
                </c:pt>
                <c:pt idx="4">
                  <c:v>6.54</c:v>
                </c:pt>
                <c:pt idx="5">
                  <c:v>0.6</c:v>
                </c:pt>
                <c:pt idx="6">
                  <c:v>0.71</c:v>
                </c:pt>
                <c:pt idx="7">
                  <c:v>1.88</c:v>
                </c:pt>
                <c:pt idx="8">
                  <c:v>9.35</c:v>
                </c:pt>
                <c:pt idx="9">
                  <c:v>3.05</c:v>
                </c:pt>
                <c:pt idx="10">
                  <c:v>5.73</c:v>
                </c:pt>
                <c:pt idx="11">
                  <c:v>9.4</c:v>
                </c:pt>
                <c:pt idx="12">
                  <c:v>6.8</c:v>
                </c:pt>
                <c:pt idx="13">
                  <c:v>2.19</c:v>
                </c:pt>
                <c:pt idx="14">
                  <c:v>4.19</c:v>
                </c:pt>
              </c:numCache>
            </c:numRef>
          </c:xVal>
          <c:yVal>
            <c:numRef>
              <c:f>Sheet1!$B$2:$B$16</c:f>
              <c:numCache>
                <c:formatCode>General</c:formatCode>
                <c:ptCount val="15"/>
                <c:pt idx="0">
                  <c:v>7.4</c:v>
                </c:pt>
                <c:pt idx="1">
                  <c:v>3.25</c:v>
                </c:pt>
                <c:pt idx="2">
                  <c:v>7.43</c:v>
                </c:pt>
                <c:pt idx="3">
                  <c:v>5.92</c:v>
                </c:pt>
                <c:pt idx="4">
                  <c:v>7.45</c:v>
                </c:pt>
                <c:pt idx="5">
                  <c:v>0.6</c:v>
                </c:pt>
                <c:pt idx="6">
                  <c:v>1.87</c:v>
                </c:pt>
                <c:pt idx="7">
                  <c:v>3.35</c:v>
                </c:pt>
                <c:pt idx="8">
                  <c:v>8.68</c:v>
                </c:pt>
                <c:pt idx="9">
                  <c:v>3.94</c:v>
                </c:pt>
                <c:pt idx="10">
                  <c:v>4.76</c:v>
                </c:pt>
                <c:pt idx="11">
                  <c:v>9.4</c:v>
                </c:pt>
                <c:pt idx="12">
                  <c:v>8.34</c:v>
                </c:pt>
                <c:pt idx="13">
                  <c:v>5.46</c:v>
                </c:pt>
                <c:pt idx="14">
                  <c:v>7.38</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5"/>
            <c:spPr>
              <a:solidFill>
                <a:schemeClr val="accent4"/>
              </a:solidFill>
              <a:ln w="9525">
                <a:solidFill>
                  <a:schemeClr val="bg1"/>
                </a:solidFill>
              </a:ln>
            </c:spPr>
          </c:marker>
          <c:xVal>
            <c:numRef>
              <c:f>Sheet1!$A$2:$A$16</c:f>
              <c:numCache>
                <c:formatCode>General</c:formatCode>
                <c:ptCount val="15"/>
                <c:pt idx="0">
                  <c:v>0.6</c:v>
                </c:pt>
                <c:pt idx="1">
                  <c:v>5.06</c:v>
                </c:pt>
                <c:pt idx="2">
                  <c:v>2.95</c:v>
                </c:pt>
                <c:pt idx="3">
                  <c:v>2.36</c:v>
                </c:pt>
                <c:pt idx="4">
                  <c:v>6.3</c:v>
                </c:pt>
                <c:pt idx="5">
                  <c:v>9.4</c:v>
                </c:pt>
                <c:pt idx="6">
                  <c:v>9.34</c:v>
                </c:pt>
                <c:pt idx="7">
                  <c:v>6.14</c:v>
                </c:pt>
                <c:pt idx="8">
                  <c:v>7.86</c:v>
                </c:pt>
                <c:pt idx="9">
                  <c:v>3.85</c:v>
                </c:pt>
                <c:pt idx="10">
                  <c:v>2.3</c:v>
                </c:pt>
                <c:pt idx="11">
                  <c:v>4.74</c:v>
                </c:pt>
                <c:pt idx="12">
                  <c:v>5.38</c:v>
                </c:pt>
                <c:pt idx="13">
                  <c:v>8.76</c:v>
                </c:pt>
                <c:pt idx="14">
                  <c:v>3.29</c:v>
                </c:pt>
              </c:numCache>
            </c:numRef>
          </c:xVal>
          <c:yVal>
            <c:numRef>
              <c:f>Sheet1!$B$2:$B$16</c:f>
              <c:numCache>
                <c:formatCode>General</c:formatCode>
                <c:ptCount val="15"/>
                <c:pt idx="0">
                  <c:v>9.4</c:v>
                </c:pt>
                <c:pt idx="1">
                  <c:v>4.39</c:v>
                </c:pt>
                <c:pt idx="2">
                  <c:v>6.9</c:v>
                </c:pt>
                <c:pt idx="3">
                  <c:v>5.86</c:v>
                </c:pt>
                <c:pt idx="4">
                  <c:v>1.56</c:v>
                </c:pt>
                <c:pt idx="5">
                  <c:v>3.45</c:v>
                </c:pt>
                <c:pt idx="6">
                  <c:v>0.6</c:v>
                </c:pt>
                <c:pt idx="7">
                  <c:v>4.1</c:v>
                </c:pt>
                <c:pt idx="8">
                  <c:v>1.34</c:v>
                </c:pt>
                <c:pt idx="9">
                  <c:v>4.83</c:v>
                </c:pt>
                <c:pt idx="10">
                  <c:v>6.48</c:v>
                </c:pt>
                <c:pt idx="11">
                  <c:v>6.25</c:v>
                </c:pt>
                <c:pt idx="12">
                  <c:v>6.72</c:v>
                </c:pt>
                <c:pt idx="13">
                  <c:v>2.65</c:v>
                </c:pt>
                <c:pt idx="14">
                  <c:v>5.28</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5"/>
            <c:spPr>
              <a:solidFill>
                <a:schemeClr val="tx2">
                  <a:lumMod val="45000"/>
                  <a:lumOff val="55000"/>
                </a:schemeClr>
              </a:solidFill>
              <a:ln w="9525">
                <a:solidFill>
                  <a:schemeClr val="bg1"/>
                </a:solidFill>
              </a:ln>
            </c:spPr>
          </c:marker>
          <c:xVal>
            <c:numRef>
              <c:f>Sheet1!$A$2:$A$16</c:f>
              <c:numCache>
                <c:formatCode>General</c:formatCode>
                <c:ptCount val="15"/>
                <c:pt idx="0">
                  <c:v>4.82</c:v>
                </c:pt>
                <c:pt idx="1">
                  <c:v>6.05</c:v>
                </c:pt>
                <c:pt idx="2">
                  <c:v>9.4</c:v>
                </c:pt>
                <c:pt idx="3">
                  <c:v>2.95</c:v>
                </c:pt>
                <c:pt idx="4">
                  <c:v>6.25</c:v>
                </c:pt>
                <c:pt idx="5">
                  <c:v>3.99</c:v>
                </c:pt>
                <c:pt idx="6">
                  <c:v>7.9</c:v>
                </c:pt>
                <c:pt idx="7">
                  <c:v>5.8</c:v>
                </c:pt>
                <c:pt idx="8">
                  <c:v>2.44</c:v>
                </c:pt>
                <c:pt idx="9">
                  <c:v>5.54</c:v>
                </c:pt>
                <c:pt idx="10">
                  <c:v>2.83</c:v>
                </c:pt>
                <c:pt idx="11">
                  <c:v>0.94</c:v>
                </c:pt>
                <c:pt idx="12">
                  <c:v>1.56</c:v>
                </c:pt>
                <c:pt idx="13">
                  <c:v>3.83</c:v>
                </c:pt>
                <c:pt idx="14">
                  <c:v>0.6</c:v>
                </c:pt>
              </c:numCache>
            </c:numRef>
          </c:xVal>
          <c:yVal>
            <c:numRef>
              <c:f>Sheet1!$B$2:$B$16</c:f>
              <c:numCache>
                <c:formatCode>General</c:formatCode>
                <c:ptCount val="15"/>
                <c:pt idx="0">
                  <c:v>5.14</c:v>
                </c:pt>
                <c:pt idx="1">
                  <c:v>0.92</c:v>
                </c:pt>
                <c:pt idx="2">
                  <c:v>3.42</c:v>
                </c:pt>
                <c:pt idx="3">
                  <c:v>6.08</c:v>
                </c:pt>
                <c:pt idx="4">
                  <c:v>1.83</c:v>
                </c:pt>
                <c:pt idx="5">
                  <c:v>3.16</c:v>
                </c:pt>
                <c:pt idx="6">
                  <c:v>4.77</c:v>
                </c:pt>
                <c:pt idx="7">
                  <c:v>0.6</c:v>
                </c:pt>
                <c:pt idx="8">
                  <c:v>2.54</c:v>
                </c:pt>
                <c:pt idx="9">
                  <c:v>6.43</c:v>
                </c:pt>
                <c:pt idx="10">
                  <c:v>4.91</c:v>
                </c:pt>
                <c:pt idx="11">
                  <c:v>1.56</c:v>
                </c:pt>
                <c:pt idx="12">
                  <c:v>5.05</c:v>
                </c:pt>
                <c:pt idx="13">
                  <c:v>9.4</c:v>
                </c:pt>
                <c:pt idx="14">
                  <c:v>1.4</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5"/>
            <c:spPr>
              <a:solidFill>
                <a:schemeClr val="accent2">
                  <a:lumMod val="75000"/>
                </a:schemeClr>
              </a:solidFill>
              <a:ln w="9525">
                <a:solidFill>
                  <a:schemeClr val="bg1"/>
                </a:solidFill>
              </a:ln>
            </c:spPr>
          </c:marker>
          <c:xVal>
            <c:numRef>
              <c:f>Sheet1!$A$2:$A$16</c:f>
              <c:numCache>
                <c:formatCode>General</c:formatCode>
                <c:ptCount val="15"/>
                <c:pt idx="0">
                  <c:v>0.7</c:v>
                </c:pt>
                <c:pt idx="1">
                  <c:v>1.31</c:v>
                </c:pt>
                <c:pt idx="2">
                  <c:v>1.93</c:v>
                </c:pt>
                <c:pt idx="3">
                  <c:v>2.54</c:v>
                </c:pt>
                <c:pt idx="4">
                  <c:v>3.16</c:v>
                </c:pt>
                <c:pt idx="5">
                  <c:v>3.77</c:v>
                </c:pt>
                <c:pt idx="6">
                  <c:v>4.39</c:v>
                </c:pt>
                <c:pt idx="7">
                  <c:v>5.0</c:v>
                </c:pt>
                <c:pt idx="8">
                  <c:v>5.61</c:v>
                </c:pt>
                <c:pt idx="9">
                  <c:v>6.23</c:v>
                </c:pt>
                <c:pt idx="10">
                  <c:v>6.84</c:v>
                </c:pt>
                <c:pt idx="11">
                  <c:v>7.46</c:v>
                </c:pt>
                <c:pt idx="12">
                  <c:v>8.07</c:v>
                </c:pt>
                <c:pt idx="13">
                  <c:v>8.69</c:v>
                </c:pt>
                <c:pt idx="14">
                  <c:v>9.3</c:v>
                </c:pt>
              </c:numCache>
            </c:numRef>
          </c:xVal>
          <c:yVal>
            <c:numRef>
              <c:f>Sheet1!$B$2:$B$16</c:f>
              <c:numCache>
                <c:formatCode>General</c:formatCode>
                <c:ptCount val="15"/>
                <c:pt idx="0">
                  <c:v>6.38</c:v>
                </c:pt>
                <c:pt idx="1">
                  <c:v>4.56</c:v>
                </c:pt>
                <c:pt idx="2">
                  <c:v>3.56</c:v>
                </c:pt>
                <c:pt idx="3">
                  <c:v>2.66</c:v>
                </c:pt>
                <c:pt idx="4">
                  <c:v>2.03</c:v>
                </c:pt>
                <c:pt idx="5">
                  <c:v>1.04</c:v>
                </c:pt>
                <c:pt idx="6">
                  <c:v>0.43</c:v>
                </c:pt>
                <c:pt idx="7">
                  <c:v>0.3</c:v>
                </c:pt>
                <c:pt idx="8">
                  <c:v>0.89</c:v>
                </c:pt>
                <c:pt idx="9">
                  <c:v>1.58</c:v>
                </c:pt>
                <c:pt idx="10">
                  <c:v>1.73</c:v>
                </c:pt>
                <c:pt idx="11">
                  <c:v>2.08</c:v>
                </c:pt>
                <c:pt idx="12">
                  <c:v>3.31</c:v>
                </c:pt>
                <c:pt idx="13">
                  <c:v>5.59</c:v>
                </c:pt>
                <c:pt idx="14">
                  <c:v>6.73</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(x−x̄)(y−ȳ) &gt; 0</c:v>
                </c:pt>
              </c:strCache>
            </c:strRef>
          </c:tx>
          <c:spPr>
            <a:ln w="47625">
              <a:noFill/>
            </a:ln>
          </c:spPr>
          <c:marker>
            <c:symbol val="circle"/>
            <c:size val="7"/>
            <c:spPr>
              <a:solidFill>
                <a:schemeClr val="accent2"/>
              </a:solidFill>
              <a:ln w="9525">
                <a:solidFill>
                  <a:schemeClr val="bg1"/>
                </a:solidFill>
              </a:ln>
            </c:spPr>
          </c:marker>
          <c:xVal>
            <c:numRef>
              <c:f>Sheet1!$A$2:$A$9</c:f>
              <c:numCache>
                <c:formatCode>General</c:formatCode>
                <c:ptCount val="8"/>
                <c:pt idx="0">
                  <c:v>1.0</c:v>
                </c:pt>
                <c:pt idx="1">
                  <c:v>2.0</c:v>
                </c:pt>
                <c:pt idx="2">
                  <c:v>4.0</c:v>
                </c:pt>
                <c:pt idx="3">
                  <c:v>5.0</c:v>
                </c:pt>
                <c:pt idx="4">
                  <c:v>6.0</c:v>
                </c:pt>
                <c:pt idx="5">
                  <c:v>8.0</c:v>
                </c:pt>
                <c:pt idx="6">
                  <c:v>9.0</c:v>
                </c:pt>
                <c:pt idx="7">
                  <c:v>10.0</c:v>
                </c:pt>
              </c:numCache>
            </c:numRef>
          </c:xVal>
          <c:yVal>
            <c:numRef>
              <c:f>Sheet1!$B$2:$B$9</c:f>
              <c:numCache>
                <c:formatCode>General</c:formatCode>
                <c:ptCount val="8"/>
                <c:pt idx="0">
                  <c:v>3.0</c:v>
                </c:pt>
                <c:pt idx="1">
                  <c:v>2.0</c:v>
                </c:pt>
                <c:pt idx="2">
                  <c:v>3.8</c:v>
                </c:pt>
                <c:pt idx="3">
                  <c:v>5.0</c:v>
                </c:pt>
                <c:pt idx="4">
                  <c:v>7.5</c:v>
                </c:pt>
                <c:pt idx="5">
                  <c:v>8.0</c:v>
                </c:pt>
                <c:pt idx="6">
                  <c:v>6.0</c:v>
                </c:pt>
                <c:pt idx="7">
                  <c:v>8.8</c:v>
                </c:pt>
              </c:numCache>
            </c:numRef>
          </c:yVal>
          <c:smooth val="0"/>
        </c:ser>
        <c:ser>
          <c:idx val="1"/>
          <c:order val="1"/>
          <c:tx>
            <c:strRef>
              <c:f>Sheet1!$B$11</c:f>
              <c:strCache>
                <c:ptCount val="1"/>
                <c:pt idx="0">
                  <c:v>(x−x̄)(y−ȳ) &lt; 0</c:v>
                </c:pt>
              </c:strCache>
            </c:strRef>
          </c:tx>
          <c:spPr>
            <a:ln w="47625">
              <a:noFill/>
            </a:ln>
          </c:spPr>
          <c:marker>
            <c:symbol val="circle"/>
            <c:size val="7"/>
            <c:spPr>
              <a:solidFill>
                <a:schemeClr val="accent4"/>
              </a:solidFill>
              <a:ln w="9525">
                <a:solidFill>
                  <a:schemeClr val="bg1"/>
                </a:solidFill>
              </a:ln>
            </c:spPr>
          </c:marker>
          <c:xVal>
            <c:numRef>
              <c:f>Sheet1!$A$12:$A$13</c:f>
              <c:numCache>
                <c:formatCode>General</c:formatCode>
                <c:ptCount val="2"/>
                <c:pt idx="0">
                  <c:v>3.0</c:v>
                </c:pt>
                <c:pt idx="1">
                  <c:v>7.0</c:v>
                </c:pt>
              </c:numCache>
            </c:numRef>
          </c:xVal>
          <c:yVal>
            <c:numRef>
              <c:f>Sheet1!$B$12:$B$13</c:f>
              <c:numCache>
                <c:formatCode>General</c:formatCode>
                <c:ptCount val="2"/>
                <c:pt idx="0">
                  <c:v>5.5</c:v>
                </c:pt>
                <c:pt idx="1">
                  <c:v>5.2</c:v>
                </c:pt>
              </c:numCache>
            </c:numRef>
          </c:yVal>
          <c:smooth val="0"/>
        </c:ser>
        <c:ser>
          <c:idx val="2"/>
          <c:order val="2"/>
          <c:tx>
            <c:strRef>
              <c:f>Sheet1!$B$15</c:f>
              <c:strCache>
                <c:ptCount val="1"/>
                <c:pt idx="0">
                  <c:v>x̄</c:v>
                </c:pt>
              </c:strCache>
            </c:strRef>
          </c:tx>
          <c:spPr>
            <a:ln w="15875">
              <a:solidFill>
                <a:schemeClr val="tx2">
                  <a:lumMod val="45000"/>
                  <a:lumOff val="55000"/>
                </a:schemeClr>
              </a:solidFill>
              <a:prstDash val="dash"/>
            </a:ln>
          </c:spPr>
          <c:marker>
            <c:symbol val="none"/>
          </c:marker>
          <c:xVal>
            <c:numRef>
              <c:f>Sheet1!$A$16:$A$17</c:f>
              <c:numCache>
                <c:formatCode>General</c:formatCode>
                <c:ptCount val="2"/>
                <c:pt idx="0">
                  <c:v>5.5</c:v>
                </c:pt>
                <c:pt idx="1">
                  <c:v>5.5</c:v>
                </c:pt>
              </c:numCache>
            </c:numRef>
          </c:xVal>
          <c:yVal>
            <c:numRef>
              <c:f>Sheet1!$B$16:$B$17</c:f>
              <c:numCache>
                <c:formatCode>General</c:formatCode>
                <c:ptCount val="2"/>
                <c:pt idx="0">
                  <c:v>0.0</c:v>
                </c:pt>
                <c:pt idx="1">
                  <c:v>10.0</c:v>
                </c:pt>
              </c:numCache>
            </c:numRef>
          </c:yVal>
          <c:smooth val="0"/>
        </c:ser>
        <c:ser>
          <c:idx val="3"/>
          <c:order val="3"/>
          <c:tx>
            <c:strRef>
              <c:f>Sheet1!$B$19</c:f>
              <c:strCache>
                <c:ptCount val="1"/>
                <c:pt idx="0">
                  <c:v>ȳ</c:v>
                </c:pt>
              </c:strCache>
            </c:strRef>
          </c:tx>
          <c:spPr>
            <a:ln w="15875">
              <a:solidFill>
                <a:schemeClr val="tx2">
                  <a:lumMod val="45000"/>
                  <a:lumOff val="55000"/>
                </a:schemeClr>
              </a:solidFill>
              <a:prstDash val="dash"/>
            </a:ln>
          </c:spPr>
          <c:marker>
            <c:symbol val="none"/>
          </c:marker>
          <c:xVal>
            <c:numRef>
              <c:f>Sheet1!$A$20:$A$21</c:f>
              <c:numCache>
                <c:formatCode>General</c:formatCode>
                <c:ptCount val="2"/>
                <c:pt idx="0">
                  <c:v>0.0</c:v>
                </c:pt>
                <c:pt idx="1">
                  <c:v>11.0</c:v>
                </c:pt>
              </c:numCache>
            </c:numRef>
          </c:xVal>
          <c:yVal>
            <c:numRef>
              <c:f>Sheet1!$B$20:$B$21</c:f>
              <c:numCache>
                <c:formatCode>General</c:formatCode>
                <c:ptCount val="2"/>
                <c:pt idx="0">
                  <c:v>5.4799999999999995</c:v>
                </c:pt>
                <c:pt idx="1">
                  <c:v>5.4799999999999995</c:v>
                </c:pt>
              </c:numCache>
            </c:numRef>
          </c:yVal>
          <c:smooth val="0"/>
        </c:ser>
        <c:axId val="-2128940872"/>
        <c:axId val="-2129643912"/>
      </c:scatterChart>
      <c:valAx>
        <c:axId val="-2128940872"/>
        <c:scaling>
          <c:orientation val="minMax"/>
          <c:max val="11.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4"/>
            <c:spPr>
              <a:solidFill>
                <a:schemeClr val="accent4"/>
              </a:solidFill>
              <a:ln w="9525">
                <a:solidFill>
                  <a:schemeClr val="bg1"/>
                </a:solidFill>
              </a:ln>
            </c:spPr>
          </c:marker>
          <c:xVal>
            <c:numRef>
              <c:f>Sheet1!$A$2:$A$15</c:f>
              <c:numCache>
                <c:formatCode>General</c:formatCode>
                <c:ptCount val="14"/>
                <c:pt idx="0">
                  <c:v>9.4</c:v>
                </c:pt>
                <c:pt idx="1">
                  <c:v>7.42</c:v>
                </c:pt>
                <c:pt idx="2">
                  <c:v>0.6</c:v>
                </c:pt>
                <c:pt idx="3">
                  <c:v>8.05</c:v>
                </c:pt>
                <c:pt idx="4">
                  <c:v>8.28</c:v>
                </c:pt>
                <c:pt idx="5">
                  <c:v>2.98</c:v>
                </c:pt>
                <c:pt idx="6">
                  <c:v>4.7</c:v>
                </c:pt>
                <c:pt idx="7">
                  <c:v>5.66</c:v>
                </c:pt>
                <c:pt idx="8">
                  <c:v>2.86</c:v>
                </c:pt>
                <c:pt idx="9">
                  <c:v>5.87</c:v>
                </c:pt>
                <c:pt idx="10">
                  <c:v>7.04</c:v>
                </c:pt>
                <c:pt idx="11">
                  <c:v>8.41</c:v>
                </c:pt>
                <c:pt idx="12">
                  <c:v>2.85</c:v>
                </c:pt>
                <c:pt idx="13">
                  <c:v>3.82</c:v>
                </c:pt>
              </c:numCache>
            </c:numRef>
          </c:xVal>
          <c:yVal>
            <c:numRef>
              <c:f>Sheet1!$B$2:$B$15</c:f>
              <c:numCache>
                <c:formatCode>General</c:formatCode>
                <c:ptCount val="14"/>
                <c:pt idx="0">
                  <c:v>0.6</c:v>
                </c:pt>
                <c:pt idx="1">
                  <c:v>5.35</c:v>
                </c:pt>
                <c:pt idx="2">
                  <c:v>9.4</c:v>
                </c:pt>
                <c:pt idx="3">
                  <c:v>1.33</c:v>
                </c:pt>
                <c:pt idx="4">
                  <c:v>1.99</c:v>
                </c:pt>
                <c:pt idx="5">
                  <c:v>5.81</c:v>
                </c:pt>
                <c:pt idx="6">
                  <c:v>5.21</c:v>
                </c:pt>
                <c:pt idx="7">
                  <c:v>5.38</c:v>
                </c:pt>
                <c:pt idx="8">
                  <c:v>6.1</c:v>
                </c:pt>
                <c:pt idx="9">
                  <c:v>4.56</c:v>
                </c:pt>
                <c:pt idx="10">
                  <c:v>3.89</c:v>
                </c:pt>
                <c:pt idx="11">
                  <c:v>3.09</c:v>
                </c:pt>
                <c:pt idx="12">
                  <c:v>5.65</c:v>
                </c:pt>
                <c:pt idx="13">
                  <c:v>5.41</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4"/>
            <c:spPr>
              <a:solidFill>
                <a:schemeClr val="tx2">
                  <a:lumMod val="45000"/>
                  <a:lumOff val="55000"/>
                </a:schemeClr>
              </a:solidFill>
              <a:ln w="9525">
                <a:solidFill>
                  <a:schemeClr val="bg1"/>
                </a:solidFill>
              </a:ln>
            </c:spPr>
          </c:marker>
          <c:xVal>
            <c:numRef>
              <c:f>Sheet1!$A$2:$A$15</c:f>
              <c:numCache>
                <c:formatCode>General</c:formatCode>
                <c:ptCount val="14"/>
                <c:pt idx="0">
                  <c:v>7.39</c:v>
                </c:pt>
                <c:pt idx="1">
                  <c:v>4.04</c:v>
                </c:pt>
                <c:pt idx="2">
                  <c:v>8.23</c:v>
                </c:pt>
                <c:pt idx="3">
                  <c:v>6.62</c:v>
                </c:pt>
                <c:pt idx="4">
                  <c:v>0.6</c:v>
                </c:pt>
                <c:pt idx="5">
                  <c:v>9.4</c:v>
                </c:pt>
                <c:pt idx="6">
                  <c:v>7.26</c:v>
                </c:pt>
                <c:pt idx="7">
                  <c:v>7.51</c:v>
                </c:pt>
                <c:pt idx="8">
                  <c:v>0.94</c:v>
                </c:pt>
                <c:pt idx="9">
                  <c:v>4.16</c:v>
                </c:pt>
                <c:pt idx="10">
                  <c:v>3.36</c:v>
                </c:pt>
                <c:pt idx="11">
                  <c:v>8.91</c:v>
                </c:pt>
                <c:pt idx="12">
                  <c:v>6.09</c:v>
                </c:pt>
                <c:pt idx="13">
                  <c:v>7.87</c:v>
                </c:pt>
              </c:numCache>
            </c:numRef>
          </c:xVal>
          <c:yVal>
            <c:numRef>
              <c:f>Sheet1!$B$2:$B$15</c:f>
              <c:numCache>
                <c:formatCode>General</c:formatCode>
                <c:ptCount val="14"/>
                <c:pt idx="0">
                  <c:v>8.36</c:v>
                </c:pt>
                <c:pt idx="1">
                  <c:v>0.6</c:v>
                </c:pt>
                <c:pt idx="2">
                  <c:v>8.22</c:v>
                </c:pt>
                <c:pt idx="3">
                  <c:v>1.16</c:v>
                </c:pt>
                <c:pt idx="4">
                  <c:v>7.6</c:v>
                </c:pt>
                <c:pt idx="5">
                  <c:v>6.67</c:v>
                </c:pt>
                <c:pt idx="6">
                  <c:v>5.16</c:v>
                </c:pt>
                <c:pt idx="7">
                  <c:v>2.86</c:v>
                </c:pt>
                <c:pt idx="8">
                  <c:v>9.4</c:v>
                </c:pt>
                <c:pt idx="9">
                  <c:v>4.05</c:v>
                </c:pt>
                <c:pt idx="10">
                  <c:v>2.41</c:v>
                </c:pt>
                <c:pt idx="11">
                  <c:v>5.02</c:v>
                </c:pt>
                <c:pt idx="12">
                  <c:v>8.15</c:v>
                </c:pt>
                <c:pt idx="13">
                  <c:v>8.06</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4"/>
            <c:spPr>
              <a:solidFill>
                <a:schemeClr val="accent2"/>
              </a:solidFill>
              <a:ln w="9525">
                <a:solidFill>
                  <a:schemeClr val="bg1"/>
                </a:solidFill>
              </a:ln>
            </c:spPr>
          </c:marker>
          <c:xVal>
            <c:numRef>
              <c:f>Sheet1!$A$2:$A$15</c:f>
              <c:numCache>
                <c:formatCode>General</c:formatCode>
                <c:ptCount val="14"/>
                <c:pt idx="0">
                  <c:v>6.55</c:v>
                </c:pt>
                <c:pt idx="1">
                  <c:v>0.82</c:v>
                </c:pt>
                <c:pt idx="2">
                  <c:v>0.6</c:v>
                </c:pt>
                <c:pt idx="3">
                  <c:v>8.31</c:v>
                </c:pt>
                <c:pt idx="4">
                  <c:v>5.94</c:v>
                </c:pt>
                <c:pt idx="5">
                  <c:v>2.53</c:v>
                </c:pt>
                <c:pt idx="6">
                  <c:v>7.49</c:v>
                </c:pt>
                <c:pt idx="7">
                  <c:v>2.89</c:v>
                </c:pt>
                <c:pt idx="8">
                  <c:v>4.36</c:v>
                </c:pt>
                <c:pt idx="9">
                  <c:v>4.66</c:v>
                </c:pt>
                <c:pt idx="10">
                  <c:v>9.4</c:v>
                </c:pt>
                <c:pt idx="11">
                  <c:v>8.8</c:v>
                </c:pt>
                <c:pt idx="12">
                  <c:v>3.03</c:v>
                </c:pt>
                <c:pt idx="13">
                  <c:v>3.03</c:v>
                </c:pt>
              </c:numCache>
            </c:numRef>
          </c:xVal>
          <c:yVal>
            <c:numRef>
              <c:f>Sheet1!$B$2:$B$15</c:f>
              <c:numCache>
                <c:formatCode>General</c:formatCode>
                <c:ptCount val="14"/>
                <c:pt idx="0">
                  <c:v>5.59</c:v>
                </c:pt>
                <c:pt idx="1">
                  <c:v>1.62</c:v>
                </c:pt>
                <c:pt idx="2">
                  <c:v>0.6</c:v>
                </c:pt>
                <c:pt idx="3">
                  <c:v>8.9</c:v>
                </c:pt>
                <c:pt idx="4">
                  <c:v>5.61</c:v>
                </c:pt>
                <c:pt idx="5">
                  <c:v>2.63</c:v>
                </c:pt>
                <c:pt idx="6">
                  <c:v>9.4</c:v>
                </c:pt>
                <c:pt idx="7">
                  <c:v>2.47</c:v>
                </c:pt>
                <c:pt idx="8">
                  <c:v>2.68</c:v>
                </c:pt>
                <c:pt idx="9">
                  <c:v>5.42</c:v>
                </c:pt>
                <c:pt idx="10">
                  <c:v>6.45</c:v>
                </c:pt>
                <c:pt idx="11">
                  <c:v>8.93</c:v>
                </c:pt>
                <c:pt idx="12">
                  <c:v>4.78</c:v>
                </c:pt>
                <c:pt idx="13">
                  <c:v>3.61</c:v>
                </c:pt>
              </c:numCache>
            </c:numRef>
          </c:yVal>
          <c:smooth val="0"/>
        </c:ser>
        <c:axId val="-2128940872"/>
        <c:axId val="-2129643912"/>
      </c:scatterChart>
      <c:valAx>
        <c:axId val="-2128940872"/>
        <c:scaling>
          <c:orientation val="minMax"/>
          <c:max val="10.0"/>
          <c:min val="0.0"/>
        </c:scaling>
        <c:delete val="0"/>
        <c:axPos val="b"/>
        <c:numFmt formatCode="General" sourceLinked="1"/>
        <c:majorTickMark val="none"/>
        <c:minorTickMark val="none"/>
        <c:tickLblPos val="none"/>
        <c:spPr>
          <a:ln w="12700">
            <a:solidFill>
              <a:schemeClr val="tx2">
                <a:lumMod val="45000"/>
                <a:lumOff val="55000"/>
              </a:schemeClr>
            </a:solidFill>
          </a:ln>
        </c:spPr>
        <c:crossAx val="-2129643912"/>
        <c:crosses val="autoZero"/>
        <c:crossBetween val="midCat"/>
      </c:valAx>
      <c:valAx>
        <c:axId val="-2129643912"/>
        <c:scaling>
          <c:orientation val="minMax"/>
          <c:max val="10.0"/>
          <c:min val="0.0"/>
        </c:scaling>
        <c:delete val="0"/>
        <c:axPos val="l"/>
        <c:numFmt formatCode="General" sourceLinked="1"/>
        <c:majorTickMark val="none"/>
        <c:minorTickMark val="none"/>
        <c:tickLblPos val="none"/>
        <c:spPr>
          <a:ln w="12700">
            <a:solidFill>
              <a:schemeClr val="tx2">
                <a:lumMod val="45000"/>
                <a:lumOff val="55000"/>
              </a:schemeClr>
            </a:solidFill>
          </a:ln>
        </c:sp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8"/>
            <c:spPr>
              <a:solidFill>
                <a:schemeClr val="accent2"/>
              </a:solidFill>
              <a:ln w="9525">
                <a:solidFill>
                  <a:schemeClr val="bg1"/>
                </a:solidFill>
              </a:ln>
            </c:spPr>
          </c:marker>
          <c:xVal>
            <c:numRef>
              <c:f>Sheet1!$A$2:$A$11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Sheet1!$B$2:$B$11</c:f>
              <c:numCache>
                <c:formatCode>General</c:formatCode>
                <c:ptCount val="10"/>
                <c:pt idx="0">
                  <c:v>3.0</c:v>
                </c:pt>
                <c:pt idx="1">
                  <c:v>2.0</c:v>
                </c:pt>
                <c:pt idx="2">
                  <c:v>5.5</c:v>
                </c:pt>
                <c:pt idx="3">
                  <c:v>3.8</c:v>
                </c:pt>
                <c:pt idx="4">
                  <c:v>5.0</c:v>
                </c:pt>
                <c:pt idx="5">
                  <c:v>7.5</c:v>
                </c:pt>
                <c:pt idx="6">
                  <c:v>5.2</c:v>
                </c:pt>
                <c:pt idx="7">
                  <c:v>8.0</c:v>
                </c:pt>
                <c:pt idx="8">
                  <c:v>6.0</c:v>
                </c:pt>
                <c:pt idx="9">
                  <c:v>8.8</c:v>
                </c:pt>
              </c:numCache>
            </c:numRef>
          </c:yVal>
          <c:smooth val="0"/>
        </c:ser>
        <c:ser>
          <c:idx val="1"/>
          <c:order val="1"/>
          <c:tx>
            <c:strRef>
              <c:f>Sheet1!$B$13</c:f>
              <c:strCache>
                <c:ptCount val="1"/>
                <c:pt idx="0">
                  <c:v>y on x</c:v>
                </c:pt>
              </c:strCache>
            </c:strRef>
          </c:tx>
          <c:spPr>
            <a:ln w="31750">
              <a:solidFill>
                <a:schemeClr val="accent4"/>
              </a:solidFill>
            </a:ln>
          </c:spPr>
          <c:marker>
            <c:symbol val="none"/>
          </c:marker>
          <c:xVal>
            <c:numRef>
              <c:f>Sheet1!$A$14:$A$15</c:f>
              <c:numCache>
                <c:formatCode>General</c:formatCode>
                <c:ptCount val="2"/>
                <c:pt idx="0">
                  <c:v>0.5</c:v>
                </c:pt>
                <c:pt idx="1">
                  <c:v>10.5</c:v>
                </c:pt>
              </c:numCache>
            </c:numRef>
          </c:xVal>
          <c:yVal>
            <c:numRef>
              <c:f>Sheet1!$B$14:$B$15</c:f>
              <c:numCache>
                <c:formatCode>General</c:formatCode>
                <c:ptCount val="2"/>
                <c:pt idx="0">
                  <c:v>2.4678787878787873</c:v>
                </c:pt>
                <c:pt idx="1">
                  <c:v>8.492121212121212</c:v>
                </c:pt>
              </c:numCache>
            </c:numRef>
          </c:yVal>
          <c:smooth val="0"/>
        </c:ser>
        <c:ser>
          <c:idx val="2"/>
          <c:order val="2"/>
          <c:tx>
            <c:strRef>
              <c:f>Sheet1!$B$17</c:f>
              <c:strCache>
                <c:ptCount val="1"/>
                <c:pt idx="0">
                  <c:v>x on y</c:v>
                </c:pt>
              </c:strCache>
            </c:strRef>
          </c:tx>
          <c:spPr>
            <a:ln w="31750">
              <a:solidFill>
                <a:schemeClr val="tx2"/>
              </a:solidFill>
            </a:ln>
          </c:spPr>
          <c:marker>
            <c:symbol val="none"/>
          </c:marker>
          <c:xVal>
            <c:numRef>
              <c:f>Sheet1!$A$18:$A$19</c:f>
              <c:numCache>
                <c:formatCode>General</c:formatCode>
                <c:ptCount val="2"/>
                <c:pt idx="0">
                  <c:v>-0.24046757584191258</c:v>
                </c:pt>
                <c:pt idx="1">
                  <c:v>11.28657574914185</c:v>
                </c:pt>
              </c:numCache>
            </c:numRef>
          </c:xVal>
          <c:yVal>
            <c:numRef>
              <c:f>Sheet1!$B$18:$B$19</c:f>
              <c:numCache>
                <c:formatCode>General</c:formatCode>
                <c:ptCount val="2"/>
                <c:pt idx="0">
                  <c:v>0.5</c:v>
                </c:pt>
                <c:pt idx="1">
                  <c:v>10.5</c:v>
                </c:pt>
              </c:numCache>
            </c:numRef>
          </c:yVal>
          <c:smooth val="0"/>
        </c:ser>
        <c:ser>
          <c:idx val="3"/>
          <c:order val="3"/>
          <c:tx>
            <c:strRef>
              <c:f>Sheet1!$B$21</c:f>
              <c:strCache>
                <c:ptCount val="1"/>
                <c:pt idx="0">
                  <c:v>Means (x̄, ȳ)</c:v>
                </c:pt>
              </c:strCache>
            </c:strRef>
          </c:tx>
          <c:spPr>
            <a:ln w="47625">
              <a:noFill/>
            </a:ln>
          </c:spPr>
          <c:marker>
            <c:symbol val="diamond"/>
            <c:size val="12"/>
            <c:spPr>
              <a:solidFill>
                <a:schemeClr val="accent5"/>
              </a:solidFill>
              <a:ln w="9525">
                <a:solidFill>
                  <a:schemeClr val="bg1"/>
                </a:solidFill>
              </a:ln>
            </c:spPr>
          </c:marker>
          <c:xVal>
            <c:numRef>
              <c:f>Sheet1!$A$22:$A$22</c:f>
              <c:numCache>
                <c:formatCode>General</c:formatCode>
                <c:ptCount val="1"/>
                <c:pt idx="0">
                  <c:v>5.5</c:v>
                </c:pt>
              </c:numCache>
            </c:numRef>
          </c:xVal>
          <c:yVal>
            <c:numRef>
              <c:f>Sheet1!$B$22:$B$22</c:f>
              <c:numCache>
                <c:formatCode>General</c:formatCode>
                <c:ptCount val="1"/>
                <c:pt idx="0">
                  <c:v>5.4799999999999995</c:v>
                </c:pt>
              </c:numCache>
            </c:numRef>
          </c:yVal>
          <c:smooth val="0"/>
        </c:ser>
        <c:axId val="-2128940872"/>
        <c:axId val="-2129643912"/>
      </c:scatterChart>
      <c:valAx>
        <c:axId val="-2128940872"/>
        <c:scaling>
          <c:orientation val="minMax"/>
          <c:max val="11.0"/>
          <c:min val="0.0"/>
        </c:scaling>
        <c:delete val="0"/>
        <c:axPos val="b"/>
        <c:title>
          <c:tx>
            <c:rich>
              <a:bodyPr/>
              <a:lstStyle/>
              <a:p>
                <a:r>
                  <a:rPr sz="1100" b="0">
                    <a:solidFill>
                      <a:schemeClr val="tx2"/>
                    </a:solidFill>
                  </a:rPr>
                  <a:t>x</a:t>
                </a:r>
              </a:p>
            </c:rich>
          </c:tx>
          <c:layout/>
          <c:overlay val="0"/>
        </c:title>
        <c:numFmt formatCode="General" sourceLinked="0"/>
        <c:majorTickMark val="none"/>
        <c:minorTickMark val="none"/>
        <c:tickLblPos val="low"/>
        <c:spPr>
          <a:ln w="12700">
            <a:solidFill>
              <a:schemeClr val="tx2">
                <a:lumMod val="45000"/>
                <a:lumOff val="55000"/>
              </a:schemeClr>
            </a:solidFill>
          </a:ln>
        </c:spPr>
        <c:txPr>
          <a:bodyPr/>
          <a:lstStyle/>
          <a:p>
            <a:pPr>
              <a:defRPr sz="1100">
                <a:solidFill>
                  <a:schemeClr val="tx2"/>
                </a:solidFill>
              </a:defRPr>
            </a:pPr>
          </a:p>
        </c:txPr>
        <c:crossAx val="-2129643912"/>
        <c:crosses val="autoZero"/>
        <c:crossBetween val="midCat"/>
        <c:majorUnit val="2.0"/>
      </c:valAx>
      <c:valAx>
        <c:axId val="-2129643912"/>
        <c:scaling>
          <c:orientation val="minMax"/>
          <c:max val="11.0"/>
          <c:min val="0.0"/>
        </c:scaling>
        <c:delete val="0"/>
        <c:axPos val="l"/>
        <c:majorGridlines>
          <c:spPr>
            <a:ln w="9525">
              <a:solidFill>
                <a:schemeClr val="bg2"/>
              </a:solidFill>
            </a:ln>
          </c:spPr>
        </c:majorGridlines>
        <c:title>
          <c:tx>
            <c:rich>
              <a:bodyPr/>
              <a:lstStyle/>
              <a:p>
                <a:r>
                  <a:rPr sz="1100" b="0">
                    <a:solidFill>
                      <a:schemeClr val="tx2"/>
                    </a:solidFill>
                  </a:rPr>
                  <a:t>y</a:t>
                </a:r>
              </a:p>
            </c:rich>
          </c:tx>
          <c:layout/>
          <c:overlay val="0"/>
        </c:title>
        <c:numFmt formatCode="General" sourceLinked="0"/>
        <c:majorTickMark val="none"/>
        <c:minorTickMark val="none"/>
        <c:tickLblPos val="low"/>
        <c:spPr>
          <a:ln w="12700">
            <a:solidFill>
              <a:schemeClr val="tx2">
                <a:lumMod val="45000"/>
                <a:lumOff val="55000"/>
              </a:schemeClr>
            </a:solidFill>
          </a:ln>
        </c:spPr>
        <c:txPr>
          <a:bodyPr/>
          <a:lstStyle/>
          <a:p>
            <a:pPr>
              <a:defRPr sz="1100">
                <a:solidFill>
                  <a:schemeClr val="tx2"/>
                </a:solidFill>
              </a:defRPr>
            </a:pPr>
          </a:p>
        </c:txPr>
        <c:crossAx val="-2128940872"/>
        <c:crosses val="autoZero"/>
        <c:crossBetween val="midCat"/>
        <c:majorUnit val="2.0"/>
      </c:valAx>
      <c:spPr>
        <a:noFill/>
        <a:ln>
          <a:noFill/>
        </a:ln>
      </c:spPr>
    </c:plotArea>
    <c:legend>
      <c:legendPos val="b"/>
      <c:layout/>
      <c:overlay val="0"/>
      <c:txPr>
        <a:bodyPr/>
        <a:lstStyle/>
        <a:p>
          <a:pPr>
            <a:defRPr sz="1100"/>
          </a:pPr>
        </a:p>
      </c:txPr>
    </c:legend>
    <c:plotVisOnly val="1"/>
    <c:dispBlanksAs val="gap"/>
    <c:showDLblsOverMax val="0"/>
  </c:chart>
  <c:spPr>
    <a:noFill/>
    <a:ln>
      <a:noFill/>
    </a:ln>
  </c:spPr>
  <c:txPr>
    <a:bodyPr/>
    <a:lstStyle/>
    <a:p>
      <a:pPr>
        <a:defRPr sz="1100">
          <a:solidFill>
            <a:schemeClr val="tx2"/>
          </a:solidFill>
          <a:latin typeface="+mn-lt"/>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7"/>
            <c:spPr>
              <a:solidFill>
                <a:schemeClr val="accent2"/>
              </a:solidFill>
              <a:ln w="9525">
                <a:solidFill>
                  <a:schemeClr val="bg1"/>
                </a:solidFill>
              </a:ln>
            </c:spPr>
          </c:marker>
          <c:xVal>
            <c:numRef>
              <c:f>Sheet1!$A$2:$A$11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Sheet1!$B$2:$B$11</c:f>
              <c:numCache>
                <c:formatCode>General</c:formatCode>
                <c:ptCount val="10"/>
                <c:pt idx="0">
                  <c:v>3.0</c:v>
                </c:pt>
                <c:pt idx="1">
                  <c:v>2.0</c:v>
                </c:pt>
                <c:pt idx="2">
                  <c:v>5.5</c:v>
                </c:pt>
                <c:pt idx="3">
                  <c:v>3.8</c:v>
                </c:pt>
                <c:pt idx="4">
                  <c:v>5.0</c:v>
                </c:pt>
                <c:pt idx="5">
                  <c:v>7.5</c:v>
                </c:pt>
                <c:pt idx="6">
                  <c:v>5.2</c:v>
                </c:pt>
                <c:pt idx="7">
                  <c:v>8.0</c:v>
                </c:pt>
                <c:pt idx="8">
                  <c:v>6.0</c:v>
                </c:pt>
                <c:pt idx="9">
                  <c:v>8.8</c:v>
                </c:pt>
              </c:numCache>
            </c:numRef>
          </c:yVal>
          <c:smooth val="0"/>
        </c:ser>
        <c:ser>
          <c:idx val="1"/>
          <c:order val="1"/>
          <c:tx>
            <c:strRef>
              <c:f>Sheet1!$B$13</c:f>
              <c:strCache>
                <c:ptCount val="1"/>
                <c:pt idx="0">
                  <c:v>y on x</c:v>
                </c:pt>
              </c:strCache>
            </c:strRef>
          </c:tx>
          <c:spPr>
            <a:ln w="31750">
              <a:solidFill>
                <a:schemeClr val="accent4"/>
              </a:solidFill>
            </a:ln>
          </c:spPr>
          <c:marker>
            <c:symbol val="none"/>
          </c:marker>
          <c:xVal>
            <c:numRef>
              <c:f>Sheet1!$A$14:$A$15</c:f>
              <c:numCache>
                <c:formatCode>General</c:formatCode>
                <c:ptCount val="2"/>
                <c:pt idx="0">
                  <c:v>0.5</c:v>
                </c:pt>
                <c:pt idx="1">
                  <c:v>10.5</c:v>
                </c:pt>
              </c:numCache>
            </c:numRef>
          </c:xVal>
          <c:yVal>
            <c:numRef>
              <c:f>Sheet1!$B$14:$B$15</c:f>
              <c:numCache>
                <c:formatCode>General</c:formatCode>
                <c:ptCount val="2"/>
                <c:pt idx="0">
                  <c:v>2.4678787878787873</c:v>
                </c:pt>
                <c:pt idx="1">
                  <c:v>8.492121212121212</c:v>
                </c:pt>
              </c:numCache>
            </c:numRef>
          </c:yVal>
          <c:smooth val="0"/>
        </c:ser>
        <c:ser>
          <c:idx val="2"/>
          <c:order val="2"/>
          <c:tx>
            <c:strRef>
              <c:f>Sheet1!$B$17</c:f>
              <c:strCache>
                <c:ptCount val="1"/>
                <c:pt idx="0">
                  <c:v>x on y</c:v>
                </c:pt>
              </c:strCache>
            </c:strRef>
          </c:tx>
          <c:spPr>
            <a:ln w="31750">
              <a:solidFill>
                <a:schemeClr val="tx2"/>
              </a:solidFill>
            </a:ln>
          </c:spPr>
          <c:marker>
            <c:symbol val="none"/>
          </c:marker>
          <c:xVal>
            <c:numRef>
              <c:f>Sheet1!$A$18:$A$19</c:f>
              <c:numCache>
                <c:formatCode>General</c:formatCode>
                <c:ptCount val="2"/>
                <c:pt idx="0">
                  <c:v>-0.24046757584191258</c:v>
                </c:pt>
                <c:pt idx="1">
                  <c:v>11.28657574914185</c:v>
                </c:pt>
              </c:numCache>
            </c:numRef>
          </c:xVal>
          <c:yVal>
            <c:numRef>
              <c:f>Sheet1!$B$18:$B$19</c:f>
              <c:numCache>
                <c:formatCode>General</c:formatCode>
                <c:ptCount val="2"/>
                <c:pt idx="0">
                  <c:v>0.5</c:v>
                </c:pt>
                <c:pt idx="1">
                  <c:v>10.5</c:v>
                </c:pt>
              </c:numCache>
            </c:numRef>
          </c:yVal>
          <c:smooth val="0"/>
        </c:ser>
        <c:axId val="-2128940872"/>
        <c:axId val="-2129643912"/>
      </c:scatterChart>
      <c:valAx>
        <c:axId val="-2128940872"/>
        <c:scaling>
          <c:orientation val="minMax"/>
          <c:max val="11.0"/>
          <c:min val="0.0"/>
        </c:scaling>
        <c:delete val="0"/>
        <c:axPos val="b"/>
        <c:title>
          <c:tx>
            <c:rich>
              <a:bodyPr/>
              <a:lstStyle/>
              <a:p>
                <a:r>
                  <a:rPr sz="1000" b="0">
                    <a:solidFill>
                      <a:schemeClr val="tx2"/>
                    </a:solidFill>
                  </a:rPr>
                  <a:t>x</a:t>
                </a:r>
              </a:p>
            </c:rich>
          </c:tx>
          <c:layout/>
          <c:overlay val="0"/>
        </c:title>
        <c:numFmt formatCode="General" sourceLinked="0"/>
        <c:majorTickMark val="none"/>
        <c:minorTickMark val="none"/>
        <c:tickLblPos val="low"/>
        <c:spPr>
          <a:ln w="12700">
            <a:solidFill>
              <a:schemeClr val="tx2">
                <a:lumMod val="45000"/>
                <a:lumOff val="55000"/>
              </a:schemeClr>
            </a:solidFill>
          </a:ln>
        </c:spPr>
        <c:txPr>
          <a:bodyPr/>
          <a:lstStyle/>
          <a:p>
            <a:pPr>
              <a:defRPr sz="1000">
                <a:solidFill>
                  <a:schemeClr val="tx2"/>
                </a:solidFill>
              </a:defRPr>
            </a:pPr>
          </a:p>
        </c:txPr>
        <c:crossAx val="-2129643912"/>
        <c:crosses val="autoZero"/>
        <c:crossBetween val="midCat"/>
        <c:majorUnit val="2.0"/>
      </c:valAx>
      <c:valAx>
        <c:axId val="-2129643912"/>
        <c:scaling>
          <c:orientation val="minMax"/>
          <c:max val="11.0"/>
          <c:min val="0.0"/>
        </c:scaling>
        <c:delete val="0"/>
        <c:axPos val="l"/>
        <c:majorGridlines>
          <c:spPr>
            <a:ln w="9525">
              <a:solidFill>
                <a:schemeClr val="bg2"/>
              </a:solidFill>
            </a:ln>
          </c:spPr>
        </c:majorGridlines>
        <c:title>
          <c:tx>
            <c:rich>
              <a:bodyPr/>
              <a:lstStyle/>
              <a:p>
                <a:r>
                  <a:rPr sz="1000" b="0">
                    <a:solidFill>
                      <a:schemeClr val="tx2"/>
                    </a:solidFill>
                  </a:rPr>
                  <a:t>y</a:t>
                </a:r>
              </a:p>
            </c:rich>
          </c:tx>
          <c:layout/>
          <c:overlay val="0"/>
        </c:title>
        <c:numFmt formatCode="General" sourceLinked="0"/>
        <c:majorTickMark val="none"/>
        <c:minorTickMark val="none"/>
        <c:tickLblPos val="low"/>
        <c:spPr>
          <a:ln w="12700">
            <a:solidFill>
              <a:schemeClr val="tx2">
                <a:lumMod val="45000"/>
                <a:lumOff val="55000"/>
              </a:schemeClr>
            </a:solidFill>
          </a:ln>
        </c:spPr>
        <c:txPr>
          <a:bodyPr/>
          <a:lstStyle/>
          <a:p>
            <a:pPr>
              <a:defRPr sz="1000">
                <a:solidFill>
                  <a:schemeClr val="tx2"/>
                </a:solidFill>
              </a:defRPr>
            </a:pPr>
          </a:p>
        </c:txPr>
        <c:crossAx val="-2128940872"/>
        <c:crosses val="autoZero"/>
        <c:crossBetween val="midCat"/>
        <c:majorUnit val="2.0"/>
      </c:valAx>
      <c:spPr>
        <a:noFill/>
        <a:ln>
          <a:noFill/>
        </a:ln>
      </c:spPr>
    </c:plotArea>
    <c:plotVisOnly val="1"/>
    <c:dispBlanksAs val="gap"/>
    <c:showDLblsOverMax val="0"/>
  </c:chart>
  <c:spPr>
    <a:noFill/>
    <a:ln>
      <a:noFill/>
    </a:ln>
  </c:spPr>
  <c:txPr>
    <a:bodyPr/>
    <a:lstStyle/>
    <a:p>
      <a:pPr>
        <a:defRPr sz="1000">
          <a:solidFill>
            <a:schemeClr val="tx2"/>
          </a:solidFill>
          <a:latin typeface="+mn-lt"/>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7"/>
            <c:spPr>
              <a:solidFill>
                <a:schemeClr val="accent2"/>
              </a:solidFill>
              <a:ln w="9525">
                <a:solidFill>
                  <a:schemeClr val="bg1"/>
                </a:solidFill>
              </a:ln>
            </c:spPr>
          </c:marker>
          <c:xVal>
            <c:numRef>
              <c:f>Sheet1!$A$2:$A$9</c:f>
              <c:numCache>
                <c:formatCode>General</c:formatCode>
                <c:ptCount val="8"/>
                <c:pt idx="0">
                  <c:v>1.0</c:v>
                </c:pt>
                <c:pt idx="1">
                  <c:v>2.0</c:v>
                </c:pt>
                <c:pt idx="2">
                  <c:v>3.0</c:v>
                </c:pt>
                <c:pt idx="3">
                  <c:v>4.0</c:v>
                </c:pt>
                <c:pt idx="4">
                  <c:v>5.0</c:v>
                </c:pt>
                <c:pt idx="5">
                  <c:v>6.0</c:v>
                </c:pt>
                <c:pt idx="6">
                  <c:v>7.0</c:v>
                </c:pt>
                <c:pt idx="7">
                  <c:v>8.0</c:v>
                </c:pt>
              </c:numCache>
            </c:numRef>
          </c:xVal>
          <c:yVal>
            <c:numRef>
              <c:f>Sheet1!$B$2:$B$9</c:f>
              <c:numCache>
                <c:formatCode>General</c:formatCode>
                <c:ptCount val="8"/>
                <c:pt idx="0">
                  <c:v>1.6</c:v>
                </c:pt>
                <c:pt idx="1">
                  <c:v>3.9</c:v>
                </c:pt>
                <c:pt idx="2">
                  <c:v>3.0</c:v>
                </c:pt>
                <c:pt idx="3">
                  <c:v>5.9</c:v>
                </c:pt>
                <c:pt idx="4">
                  <c:v>4.5</c:v>
                </c:pt>
                <c:pt idx="5">
                  <c:v>7.4</c:v>
                </c:pt>
                <c:pt idx="6">
                  <c:v>5.8</c:v>
                </c:pt>
                <c:pt idx="7">
                  <c:v>8.9</c:v>
                </c:pt>
              </c:numCache>
            </c:numRef>
          </c:yVal>
          <c:smooth val="0"/>
        </c:ser>
        <c:ser>
          <c:idx val="1"/>
          <c:order val="1"/>
          <c:tx>
            <c:strRef>
              <c:f>Sheet1!$B$11</c:f>
              <c:strCache>
                <c:ptCount val="1"/>
                <c:pt idx="0">
                  <c:v>Fitted line</c:v>
                </c:pt>
              </c:strCache>
            </c:strRef>
          </c:tx>
          <c:spPr>
            <a:ln w="31750">
              <a:solidFill>
                <a:schemeClr val="accent4"/>
              </a:solidFill>
            </a:ln>
          </c:spPr>
          <c:marker>
            <c:symbol val="none"/>
          </c:marker>
          <c:xVal>
            <c:numRef>
              <c:f>Sheet1!$A$12:$A$13</c:f>
              <c:numCache>
                <c:formatCode>General</c:formatCode>
                <c:ptCount val="2"/>
                <c:pt idx="0">
                  <c:v>0.5</c:v>
                </c:pt>
                <c:pt idx="1">
                  <c:v>8.5</c:v>
                </c:pt>
              </c:numCache>
            </c:numRef>
          </c:xVal>
          <c:yVal>
            <c:numRef>
              <c:f>Sheet1!$B$12:$B$13</c:f>
              <c:numCache>
                <c:formatCode>General</c:formatCode>
                <c:ptCount val="2"/>
                <c:pt idx="0">
                  <c:v>1.677380952380951</c:v>
                </c:pt>
                <c:pt idx="1">
                  <c:v>8.572619047619048</c:v>
                </c:pt>
              </c:numCache>
            </c:numRef>
          </c:yVal>
          <c:smooth val="0"/>
        </c:ser>
        <c:ser>
          <c:idx val="2"/>
          <c:order val="2"/>
          <c:tx>
            <c:strRef>
              <c:f>Sheet1!$B$15</c:f>
              <c:strCache>
                <c:ptCount val="1"/>
                <c:pt idx="0">
                  <c:v>Residual 1</c:v>
                </c:pt>
              </c:strCache>
            </c:strRef>
          </c:tx>
          <c:spPr>
            <a:ln w="28575">
              <a:solidFill>
                <a:schemeClr val="accent5"/>
              </a:solidFill>
            </a:ln>
          </c:spPr>
          <c:marker>
            <c:symbol val="none"/>
          </c:marker>
          <c:xVal>
            <c:numRef>
              <c:f>Sheet1!$A$16:$A$17</c:f>
              <c:numCache>
                <c:formatCode>General</c:formatCode>
                <c:ptCount val="2"/>
                <c:pt idx="0">
                  <c:v>1.0</c:v>
                </c:pt>
                <c:pt idx="1">
                  <c:v>1.0</c:v>
                </c:pt>
              </c:numCache>
            </c:numRef>
          </c:xVal>
          <c:yVal>
            <c:numRef>
              <c:f>Sheet1!$B$16:$B$17</c:f>
              <c:numCache>
                <c:formatCode>General</c:formatCode>
                <c:ptCount val="2"/>
                <c:pt idx="0">
                  <c:v>1.6</c:v>
                </c:pt>
                <c:pt idx="1">
                  <c:v>2.108333333333332</c:v>
                </c:pt>
              </c:numCache>
            </c:numRef>
          </c:yVal>
          <c:smooth val="0"/>
        </c:ser>
        <c:ser>
          <c:idx val="3"/>
          <c:order val="3"/>
          <c:tx>
            <c:strRef>
              <c:f>Sheet1!$B$19</c:f>
              <c:strCache>
                <c:ptCount val="1"/>
                <c:pt idx="0">
                  <c:v>Residual 2</c:v>
                </c:pt>
              </c:strCache>
            </c:strRef>
          </c:tx>
          <c:spPr>
            <a:ln w="28575">
              <a:solidFill>
                <a:schemeClr val="accent5"/>
              </a:solidFill>
            </a:ln>
          </c:spPr>
          <c:marker>
            <c:symbol val="none"/>
          </c:marker>
          <c:xVal>
            <c:numRef>
              <c:f>Sheet1!$A$20:$A$21</c:f>
              <c:numCache>
                <c:formatCode>General</c:formatCode>
                <c:ptCount val="2"/>
                <c:pt idx="0">
                  <c:v>2.0</c:v>
                </c:pt>
                <c:pt idx="1">
                  <c:v>2.0</c:v>
                </c:pt>
              </c:numCache>
            </c:numRef>
          </c:xVal>
          <c:yVal>
            <c:numRef>
              <c:f>Sheet1!$B$20:$B$21</c:f>
              <c:numCache>
                <c:formatCode>General</c:formatCode>
                <c:ptCount val="2"/>
                <c:pt idx="0">
                  <c:v>3.9</c:v>
                </c:pt>
                <c:pt idx="1">
                  <c:v>2.970238095238094</c:v>
                </c:pt>
              </c:numCache>
            </c:numRef>
          </c:yVal>
          <c:smooth val="0"/>
        </c:ser>
        <c:ser>
          <c:idx val="4"/>
          <c:order val="4"/>
          <c:tx>
            <c:strRef>
              <c:f>Sheet1!$B$23</c:f>
              <c:strCache>
                <c:ptCount val="1"/>
                <c:pt idx="0">
                  <c:v>Residual 3</c:v>
                </c:pt>
              </c:strCache>
            </c:strRef>
          </c:tx>
          <c:spPr>
            <a:ln w="28575">
              <a:solidFill>
                <a:schemeClr val="accent5"/>
              </a:solidFill>
            </a:ln>
          </c:spPr>
          <c:marker>
            <c:symbol val="none"/>
          </c:marker>
          <c:xVal>
            <c:numRef>
              <c:f>Sheet1!$A$24:$A$25</c:f>
              <c:numCache>
                <c:formatCode>General</c:formatCode>
                <c:ptCount val="2"/>
                <c:pt idx="0">
                  <c:v>3.0</c:v>
                </c:pt>
                <c:pt idx="1">
                  <c:v>3.0</c:v>
                </c:pt>
              </c:numCache>
            </c:numRef>
          </c:xVal>
          <c:yVal>
            <c:numRef>
              <c:f>Sheet1!$B$24:$B$25</c:f>
              <c:numCache>
                <c:formatCode>General</c:formatCode>
                <c:ptCount val="2"/>
                <c:pt idx="0">
                  <c:v>3.0</c:v>
                </c:pt>
                <c:pt idx="1">
                  <c:v>3.8321428571428564</c:v>
                </c:pt>
              </c:numCache>
            </c:numRef>
          </c:yVal>
          <c:smooth val="0"/>
        </c:ser>
        <c:ser>
          <c:idx val="5"/>
          <c:order val="5"/>
          <c:tx>
            <c:strRef>
              <c:f>Sheet1!$B$27</c:f>
              <c:strCache>
                <c:ptCount val="1"/>
                <c:pt idx="0">
                  <c:v>Residual 4</c:v>
                </c:pt>
              </c:strCache>
            </c:strRef>
          </c:tx>
          <c:spPr>
            <a:ln w="28575">
              <a:solidFill>
                <a:schemeClr val="accent5"/>
              </a:solidFill>
            </a:ln>
          </c:spPr>
          <c:marker>
            <c:symbol val="none"/>
          </c:marker>
          <c:xVal>
            <c:numRef>
              <c:f>Sheet1!$A$28:$A$29</c:f>
              <c:numCache>
                <c:formatCode>General</c:formatCode>
                <c:ptCount val="2"/>
                <c:pt idx="0">
                  <c:v>4.0</c:v>
                </c:pt>
                <c:pt idx="1">
                  <c:v>4.0</c:v>
                </c:pt>
              </c:numCache>
            </c:numRef>
          </c:xVal>
          <c:yVal>
            <c:numRef>
              <c:f>Sheet1!$B$28:$B$29</c:f>
              <c:numCache>
                <c:formatCode>General</c:formatCode>
                <c:ptCount val="2"/>
                <c:pt idx="0">
                  <c:v>5.9</c:v>
                </c:pt>
                <c:pt idx="1">
                  <c:v>4.694047619047618</c:v>
                </c:pt>
              </c:numCache>
            </c:numRef>
          </c:yVal>
          <c:smooth val="0"/>
        </c:ser>
        <c:ser>
          <c:idx val="6"/>
          <c:order val="6"/>
          <c:tx>
            <c:strRef>
              <c:f>Sheet1!$B$31</c:f>
              <c:strCache>
                <c:ptCount val="1"/>
                <c:pt idx="0">
                  <c:v>Residual 5</c:v>
                </c:pt>
              </c:strCache>
            </c:strRef>
          </c:tx>
          <c:spPr>
            <a:ln w="28575">
              <a:solidFill>
                <a:schemeClr val="accent5"/>
              </a:solidFill>
            </a:ln>
          </c:spPr>
          <c:marker>
            <c:symbol val="none"/>
          </c:marker>
          <c:xVal>
            <c:numRef>
              <c:f>Sheet1!$A$32:$A$33</c:f>
              <c:numCache>
                <c:formatCode>General</c:formatCode>
                <c:ptCount val="2"/>
                <c:pt idx="0">
                  <c:v>5.0</c:v>
                </c:pt>
                <c:pt idx="1">
                  <c:v>5.0</c:v>
                </c:pt>
              </c:numCache>
            </c:numRef>
          </c:xVal>
          <c:yVal>
            <c:numRef>
              <c:f>Sheet1!$B$32:$B$33</c:f>
              <c:numCache>
                <c:formatCode>General</c:formatCode>
                <c:ptCount val="2"/>
                <c:pt idx="0">
                  <c:v>4.5</c:v>
                </c:pt>
                <c:pt idx="1">
                  <c:v>5.55595238095238</c:v>
                </c:pt>
              </c:numCache>
            </c:numRef>
          </c:yVal>
          <c:smooth val="0"/>
        </c:ser>
        <c:ser>
          <c:idx val="7"/>
          <c:order val="7"/>
          <c:tx>
            <c:strRef>
              <c:f>Sheet1!$B$35</c:f>
              <c:strCache>
                <c:ptCount val="1"/>
                <c:pt idx="0">
                  <c:v>Residual 6</c:v>
                </c:pt>
              </c:strCache>
            </c:strRef>
          </c:tx>
          <c:spPr>
            <a:ln w="28575">
              <a:solidFill>
                <a:schemeClr val="accent5"/>
              </a:solidFill>
            </a:ln>
          </c:spPr>
          <c:marker>
            <c:symbol val="none"/>
          </c:marker>
          <c:xVal>
            <c:numRef>
              <c:f>Sheet1!$A$36:$A$37</c:f>
              <c:numCache>
                <c:formatCode>General</c:formatCode>
                <c:ptCount val="2"/>
                <c:pt idx="0">
                  <c:v>6.0</c:v>
                </c:pt>
                <c:pt idx="1">
                  <c:v>6.0</c:v>
                </c:pt>
              </c:numCache>
            </c:numRef>
          </c:xVal>
          <c:yVal>
            <c:numRef>
              <c:f>Sheet1!$B$36:$B$37</c:f>
              <c:numCache>
                <c:formatCode>General</c:formatCode>
                <c:ptCount val="2"/>
                <c:pt idx="0">
                  <c:v>7.4</c:v>
                </c:pt>
                <c:pt idx="1">
                  <c:v>6.417857142857143</c:v>
                </c:pt>
              </c:numCache>
            </c:numRef>
          </c:yVal>
          <c:smooth val="0"/>
        </c:ser>
        <c:ser>
          <c:idx val="8"/>
          <c:order val="8"/>
          <c:tx>
            <c:strRef>
              <c:f>Sheet1!$B$39</c:f>
              <c:strCache>
                <c:ptCount val="1"/>
                <c:pt idx="0">
                  <c:v>Residual 7</c:v>
                </c:pt>
              </c:strCache>
            </c:strRef>
          </c:tx>
          <c:spPr>
            <a:ln w="28575">
              <a:solidFill>
                <a:schemeClr val="accent5"/>
              </a:solidFill>
            </a:ln>
          </c:spPr>
          <c:marker>
            <c:symbol val="none"/>
          </c:marker>
          <c:xVal>
            <c:numRef>
              <c:f>Sheet1!$A$40:$A$41</c:f>
              <c:numCache>
                <c:formatCode>General</c:formatCode>
                <c:ptCount val="2"/>
                <c:pt idx="0">
                  <c:v>7.0</c:v>
                </c:pt>
                <c:pt idx="1">
                  <c:v>7.0</c:v>
                </c:pt>
              </c:numCache>
            </c:numRef>
          </c:xVal>
          <c:yVal>
            <c:numRef>
              <c:f>Sheet1!$B$40:$B$41</c:f>
              <c:numCache>
                <c:formatCode>General</c:formatCode>
                <c:ptCount val="2"/>
                <c:pt idx="0">
                  <c:v>5.8</c:v>
                </c:pt>
                <c:pt idx="1">
                  <c:v>7.279761904761904</c:v>
                </c:pt>
              </c:numCache>
            </c:numRef>
          </c:yVal>
          <c:smooth val="0"/>
        </c:ser>
        <c:ser>
          <c:idx val="9"/>
          <c:order val="9"/>
          <c:tx>
            <c:strRef>
              <c:f>Sheet1!$B$43</c:f>
              <c:strCache>
                <c:ptCount val="1"/>
                <c:pt idx="0">
                  <c:v>Residual 8</c:v>
                </c:pt>
              </c:strCache>
            </c:strRef>
          </c:tx>
          <c:spPr>
            <a:ln w="28575">
              <a:solidFill>
                <a:schemeClr val="accent5"/>
              </a:solidFill>
            </a:ln>
          </c:spPr>
          <c:marker>
            <c:symbol val="none"/>
          </c:marker>
          <c:xVal>
            <c:numRef>
              <c:f>Sheet1!$A$44:$A$45</c:f>
              <c:numCache>
                <c:formatCode>General</c:formatCode>
                <c:ptCount val="2"/>
                <c:pt idx="0">
                  <c:v>8.0</c:v>
                </c:pt>
                <c:pt idx="1">
                  <c:v>8.0</c:v>
                </c:pt>
              </c:numCache>
            </c:numRef>
          </c:xVal>
          <c:yVal>
            <c:numRef>
              <c:f>Sheet1!$B$44:$B$45</c:f>
              <c:numCache>
                <c:formatCode>General</c:formatCode>
                <c:ptCount val="2"/>
                <c:pt idx="0">
                  <c:v>8.9</c:v>
                </c:pt>
                <c:pt idx="1">
                  <c:v>8.141666666666666</c:v>
                </c:pt>
              </c:numCache>
            </c:numRef>
          </c:yVal>
          <c:smooth val="0"/>
        </c:ser>
        <c:axId val="-2128940872"/>
        <c:axId val="-2129643912"/>
      </c:scatterChart>
      <c:valAx>
        <c:axId val="-2128940872"/>
        <c:scaling>
          <c:orientation val="minMax"/>
          <c:max val="9.0"/>
          <c:min val="0.0"/>
        </c:scaling>
        <c:delete val="0"/>
        <c:axPos val="b"/>
        <c:numFmt formatCode="General" sourceLinked="0"/>
        <c:majorTickMark val="none"/>
        <c:minorTickMark val="none"/>
        <c:tickLblPos val="low"/>
        <c:spPr>
          <a:ln w="12700">
            <a:solidFill>
              <a:schemeClr val="tx2">
                <a:lumMod val="45000"/>
                <a:lumOff val="55000"/>
              </a:schemeClr>
            </a:solidFill>
          </a:ln>
        </c:spPr>
        <c:txPr>
          <a:bodyPr/>
          <a:lstStyle/>
          <a:p>
            <a:pPr>
              <a:defRPr sz="1000">
                <a:solidFill>
                  <a:schemeClr val="tx2"/>
                </a:solidFill>
              </a:defRPr>
            </a:pPr>
          </a:p>
        </c:txPr>
        <c:crossAx val="-2129643912"/>
        <c:crosses val="autoZero"/>
        <c:crossBetween val="midCat"/>
        <c:majorUnit val="2.0"/>
      </c:valAx>
      <c:valAx>
        <c:axId val="-2129643912"/>
        <c:scaling>
          <c:orientation val="minMax"/>
          <c:max val="10.0"/>
          <c:min val="0.0"/>
        </c:scaling>
        <c:delete val="0"/>
        <c:axPos val="l"/>
        <c:majorGridlines>
          <c:spPr>
            <a:ln w="9525">
              <a:solidFill>
                <a:schemeClr val="bg2"/>
              </a:solidFill>
            </a:ln>
          </c:spPr>
        </c:majorGridlines>
        <c:numFmt formatCode="General" sourceLinked="0"/>
        <c:majorTickMark val="none"/>
        <c:minorTickMark val="none"/>
        <c:tickLblPos val="low"/>
        <c:spPr>
          <a:ln w="12700">
            <a:solidFill>
              <a:schemeClr val="tx2">
                <a:lumMod val="45000"/>
                <a:lumOff val="55000"/>
              </a:schemeClr>
            </a:solidFill>
          </a:ln>
        </c:spPr>
        <c:txPr>
          <a:bodyPr/>
          <a:lstStyle/>
          <a:p>
            <a:pPr>
              <a:defRPr sz="1000">
                <a:solidFill>
                  <a:schemeClr val="tx2"/>
                </a:solidFill>
              </a:defRPr>
            </a:pPr>
          </a:p>
        </c:txPr>
        <c:crossAx val="-2128940872"/>
        <c:crosses val="autoZero"/>
        <c:crossBetween val="midCat"/>
        <c:majorUnit val="2.0"/>
      </c:valAx>
      <c:spPr>
        <a:noFill/>
        <a:ln>
          <a:noFill/>
        </a:ln>
      </c:spPr>
    </c:plotArea>
    <c:plotVisOnly val="1"/>
    <c:dispBlanksAs val="gap"/>
    <c:showDLblsOverMax val="0"/>
  </c:chart>
  <c:spPr>
    <a:noFill/>
    <a:ln>
      <a:noFill/>
    </a:ln>
  </c:spPr>
  <c:txPr>
    <a:bodyPr/>
    <a:lstStyle/>
    <a:p>
      <a:pPr>
        <a:defRPr sz="1000">
          <a:solidFill>
            <a:schemeClr val="tx2"/>
          </a:solidFill>
          <a:latin typeface="+mn-lt"/>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Data</c:v>
                </c:pt>
              </c:strCache>
            </c:strRef>
          </c:tx>
          <c:spPr>
            <a:ln w="47625">
              <a:noFill/>
            </a:ln>
          </c:spPr>
          <c:marker>
            <c:symbol val="circle"/>
            <c:size val="9"/>
            <c:spPr>
              <a:solidFill>
                <a:schemeClr val="accent2"/>
              </a:solidFill>
              <a:ln w="9525">
                <a:solidFill>
                  <a:schemeClr val="bg1"/>
                </a:solidFill>
              </a:ln>
            </c:spPr>
          </c:marker>
          <c:xVal>
            <c:numRef>
              <c:f>Sheet1!$A$2:$A$6</c:f>
              <c:numCache>
                <c:formatCode>General</c:formatCode>
                <c:ptCount val="5"/>
                <c:pt idx="0">
                  <c:v>2.0</c:v>
                </c:pt>
                <c:pt idx="1">
                  <c:v>4.0</c:v>
                </c:pt>
                <c:pt idx="2">
                  <c:v>6.0</c:v>
                </c:pt>
                <c:pt idx="3">
                  <c:v>8.0</c:v>
                </c:pt>
                <c:pt idx="4">
                  <c:v>10.0</c:v>
                </c:pt>
              </c:numCache>
            </c:numRef>
          </c:xVal>
          <c:yVal>
            <c:numRef>
              <c:f>Sheet1!$B$2:$B$6</c:f>
              <c:numCache>
                <c:formatCode>General</c:formatCode>
                <c:ptCount val="5"/>
                <c:pt idx="0">
                  <c:v>40.0</c:v>
                </c:pt>
                <c:pt idx="1">
                  <c:v>50.0</c:v>
                </c:pt>
                <c:pt idx="2">
                  <c:v>60.0</c:v>
                </c:pt>
                <c:pt idx="3">
                  <c:v>70.0</c:v>
                </c:pt>
                <c:pt idx="4">
                  <c:v>80.0</c:v>
                </c:pt>
              </c:numCache>
            </c:numRef>
          </c:yVal>
          <c:smooth val="0"/>
        </c:ser>
        <c:ser>
          <c:idx val="1"/>
          <c:order val="1"/>
          <c:tx>
            <c:strRef>
              <c:f>Sheet1!$B$8</c:f>
              <c:strCache>
                <c:ptCount val="1"/>
                <c:pt idx="0">
                  <c:v>Fitted line y = 5x + 30</c:v>
                </c:pt>
              </c:strCache>
            </c:strRef>
          </c:tx>
          <c:spPr>
            <a:ln w="31750">
              <a:solidFill>
                <a:schemeClr val="accent4"/>
              </a:solidFill>
            </a:ln>
          </c:spPr>
          <c:marker>
            <c:symbol val="none"/>
          </c:marker>
          <c:xVal>
            <c:numRef>
              <c:f>Sheet1!$A$9:$A$10</c:f>
              <c:numCache>
                <c:formatCode>General</c:formatCode>
                <c:ptCount val="2"/>
                <c:pt idx="0">
                  <c:v>0.0</c:v>
                </c:pt>
                <c:pt idx="1">
                  <c:v>11.5</c:v>
                </c:pt>
              </c:numCache>
            </c:numRef>
          </c:xVal>
          <c:yVal>
            <c:numRef>
              <c:f>Sheet1!$B$9:$B$10</c:f>
              <c:numCache>
                <c:formatCode>General</c:formatCode>
                <c:ptCount val="2"/>
                <c:pt idx="0">
                  <c:v>30.0</c:v>
                </c:pt>
                <c:pt idx="1">
                  <c:v>87.5</c:v>
                </c:pt>
              </c:numCache>
            </c:numRef>
          </c:yVal>
          <c:smooth val="0"/>
        </c:ser>
        <c:ser>
          <c:idx val="2"/>
          <c:order val="2"/>
          <c:tx>
            <c:strRef>
              <c:f>Sheet1!$B$12</c:f>
              <c:strCache>
                <c:ptCount val="1"/>
                <c:pt idx="0">
                  <c:v>guide v</c:v>
                </c:pt>
              </c:strCache>
            </c:strRef>
          </c:tx>
          <c:spPr>
            <a:ln w="15875">
              <a:solidFill>
                <a:schemeClr val="tx2">
                  <a:lumMod val="45000"/>
                  <a:lumOff val="55000"/>
                </a:schemeClr>
              </a:solidFill>
              <a:prstDash val="dash"/>
            </a:ln>
          </c:spPr>
          <c:marker>
            <c:symbol val="none"/>
          </c:marker>
          <c:dLbls>
            <c:dLbl>
              <c:idx val="1"/>
              <c:tx>
                <c:rich>
                  <a:bodyPr/>
                  <a:lstStyle/>
                  <a:p>
                    <a:r>
                      <a:rPr sz="1100" b="1">
                        <a:solidFill>
                          <a:schemeClr val="accent5"/>
                        </a:solidFill>
                      </a:rPr>
                      <a:t>x = 7</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Sheet1!$A$13:$A$15</c:f>
              <c:numCache>
                <c:formatCode>General</c:formatCode>
                <c:ptCount val="3"/>
                <c:pt idx="0">
                  <c:v>7.0</c:v>
                </c:pt>
                <c:pt idx="1">
                  <c:v>7.0</c:v>
                </c:pt>
                <c:pt idx="2">
                  <c:v>7.0</c:v>
                </c:pt>
              </c:numCache>
            </c:numRef>
          </c:xVal>
          <c:yVal>
            <c:numRef>
              <c:f>Sheet1!$B$13:$B$15</c:f>
              <c:numCache>
                <c:formatCode>General</c:formatCode>
                <c:ptCount val="3"/>
                <c:pt idx="0">
                  <c:v>0.0</c:v>
                </c:pt>
                <c:pt idx="1">
                  <c:v>12.0</c:v>
                </c:pt>
                <c:pt idx="2">
                  <c:v>65.0</c:v>
                </c:pt>
              </c:numCache>
            </c:numRef>
          </c:yVal>
          <c:smooth val="0"/>
        </c:ser>
        <c:ser>
          <c:idx val="3"/>
          <c:order val="3"/>
          <c:tx>
            <c:strRef>
              <c:f>Sheet1!$B$17</c:f>
              <c:strCache>
                <c:ptCount val="1"/>
                <c:pt idx="0">
                  <c:v>guide h</c:v>
                </c:pt>
              </c:strCache>
            </c:strRef>
          </c:tx>
          <c:spPr>
            <a:ln w="15875">
              <a:solidFill>
                <a:schemeClr val="tx2">
                  <a:lumMod val="45000"/>
                  <a:lumOff val="55000"/>
                </a:schemeClr>
              </a:solidFill>
              <a:prstDash val="dash"/>
            </a:ln>
          </c:spPr>
          <c:marker>
            <c:symbol val="none"/>
          </c:marker>
          <c:dLbls>
            <c:dLbl>
              <c:idx val="1"/>
              <c:tx>
                <c:rich>
                  <a:bodyPr/>
                  <a:lstStyle/>
                  <a:p>
                    <a:r>
                      <a:rPr sz="1100" b="1">
                        <a:solidFill>
                          <a:schemeClr val="accent5"/>
                        </a:solidFill>
                      </a:rPr>
                      <a:t>y = 65</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xVal>
            <c:numRef>
              <c:f>Sheet1!$A$18:$A$20</c:f>
              <c:numCache>
                <c:formatCode>General</c:formatCode>
                <c:ptCount val="3"/>
                <c:pt idx="0">
                  <c:v>0.0</c:v>
                </c:pt>
                <c:pt idx="1">
                  <c:v>1.7</c:v>
                </c:pt>
                <c:pt idx="2">
                  <c:v>7.0</c:v>
                </c:pt>
              </c:numCache>
            </c:numRef>
          </c:xVal>
          <c:yVal>
            <c:numRef>
              <c:f>Sheet1!$B$18:$B$20</c:f>
              <c:numCache>
                <c:formatCode>General</c:formatCode>
                <c:ptCount val="3"/>
                <c:pt idx="0">
                  <c:v>65.0</c:v>
                </c:pt>
                <c:pt idx="1">
                  <c:v>65.0</c:v>
                </c:pt>
                <c:pt idx="2">
                  <c:v>65.0</c:v>
                </c:pt>
              </c:numCache>
            </c:numRef>
          </c:yVal>
          <c:smooth val="0"/>
        </c:ser>
        <c:ser>
          <c:idx val="4"/>
          <c:order val="4"/>
          <c:tx>
            <c:strRef>
              <c:f>Sheet1!$B$22</c:f>
              <c:strCache>
                <c:ptCount val="1"/>
                <c:pt idx="0">
                  <c:v>Prediction</c:v>
                </c:pt>
              </c:strCache>
            </c:strRef>
          </c:tx>
          <c:spPr>
            <a:ln w="47625">
              <a:noFill/>
            </a:ln>
          </c:spPr>
          <c:marker>
            <c:symbol val="diamond"/>
            <c:size val="13"/>
            <c:spPr>
              <a:solidFill>
                <a:schemeClr val="accent5"/>
              </a:solidFill>
              <a:ln w="9525">
                <a:solidFill>
                  <a:schemeClr val="bg1"/>
                </a:solidFill>
              </a:ln>
            </c:spPr>
          </c:marker>
          <c:xVal>
            <c:numRef>
              <c:f>Sheet1!$A$23:$A$23</c:f>
              <c:numCache>
                <c:formatCode>General</c:formatCode>
                <c:ptCount val="1"/>
                <c:pt idx="0">
                  <c:v>7.0</c:v>
                </c:pt>
              </c:numCache>
            </c:numRef>
          </c:xVal>
          <c:yVal>
            <c:numRef>
              <c:f>Sheet1!$B$23:$B$23</c:f>
              <c:numCache>
                <c:formatCode>General</c:formatCode>
                <c:ptCount val="1"/>
                <c:pt idx="0">
                  <c:v>65.0</c:v>
                </c:pt>
              </c:numCache>
            </c:numRef>
          </c:yVal>
          <c:smooth val="0"/>
        </c:ser>
        <c:axId val="-2128940872"/>
        <c:axId val="-2129643912"/>
      </c:scatterChart>
      <c:valAx>
        <c:axId val="-2128940872"/>
        <c:scaling>
          <c:orientation val="minMax"/>
          <c:max val="12.0"/>
          <c:min val="0.0"/>
        </c:scaling>
        <c:delete val="0"/>
        <c:axPos val="b"/>
        <c:title>
          <c:tx>
            <c:rich>
              <a:bodyPr/>
              <a:lstStyle/>
              <a:p>
                <a:r>
                  <a:rPr sz="1000" b="0">
                    <a:solidFill>
                      <a:schemeClr val="tx2"/>
                    </a:solidFill>
                  </a:rPr>
                  <a:t>Study hours (x)</a:t>
                </a:r>
              </a:p>
            </c:rich>
          </c:tx>
          <c:layout/>
          <c:overlay val="0"/>
        </c:title>
        <c:numFmt formatCode="General" sourceLinked="0"/>
        <c:majorTickMark val="none"/>
        <c:minorTickMark val="none"/>
        <c:tickLblPos val="low"/>
        <c:spPr>
          <a:ln w="12700">
            <a:solidFill>
              <a:schemeClr val="tx2">
                <a:lumMod val="45000"/>
                <a:lumOff val="55000"/>
              </a:schemeClr>
            </a:solidFill>
          </a:ln>
        </c:spPr>
        <c:txPr>
          <a:bodyPr/>
          <a:lstStyle/>
          <a:p>
            <a:pPr>
              <a:defRPr sz="1000">
                <a:solidFill>
                  <a:schemeClr val="tx2"/>
                </a:solidFill>
              </a:defRPr>
            </a:pPr>
          </a:p>
        </c:txPr>
        <c:crossAx val="-2129643912"/>
        <c:crosses val="autoZero"/>
        <c:crossBetween val="midCat"/>
        <c:majorUnit val="2.0"/>
      </c:valAx>
      <c:valAx>
        <c:axId val="-2129643912"/>
        <c:scaling>
          <c:orientation val="minMax"/>
          <c:max val="100.0"/>
          <c:min val="0.0"/>
        </c:scaling>
        <c:delete val="0"/>
        <c:axPos val="l"/>
        <c:majorGridlines>
          <c:spPr>
            <a:ln w="9525">
              <a:solidFill>
                <a:schemeClr val="bg2"/>
              </a:solidFill>
            </a:ln>
          </c:spPr>
        </c:majorGridlines>
        <c:title>
          <c:tx>
            <c:rich>
              <a:bodyPr/>
              <a:lstStyle/>
              <a:p>
                <a:r>
                  <a:rPr sz="1000" b="0">
                    <a:solidFill>
                      <a:schemeClr val="tx2"/>
                    </a:solidFill>
                  </a:rPr>
                  <a:t>Marks (y)</a:t>
                </a:r>
              </a:p>
            </c:rich>
          </c:tx>
          <c:layout/>
          <c:overlay val="0"/>
        </c:title>
        <c:numFmt formatCode="General" sourceLinked="0"/>
        <c:majorTickMark val="none"/>
        <c:minorTickMark val="none"/>
        <c:tickLblPos val="low"/>
        <c:spPr>
          <a:ln w="12700">
            <a:solidFill>
              <a:schemeClr val="tx2">
                <a:lumMod val="45000"/>
                <a:lumOff val="55000"/>
              </a:schemeClr>
            </a:solidFill>
          </a:ln>
        </c:spPr>
        <c:txPr>
          <a:bodyPr/>
          <a:lstStyle/>
          <a:p>
            <a:pPr>
              <a:defRPr sz="1000">
                <a:solidFill>
                  <a:schemeClr val="tx2"/>
                </a:solidFill>
              </a:defRPr>
            </a:pPr>
          </a:p>
        </c:txPr>
        <c:crossAx val="-2128940872"/>
        <c:crosses val="autoZero"/>
        <c:crossBetween val="midCat"/>
        <c:majorUnit val="20.0"/>
      </c:valAx>
      <c:spPr>
        <a:noFill/>
        <a:ln>
          <a:noFill/>
        </a:ln>
      </c:spPr>
    </c:plotArea>
    <c:plotVisOnly val="1"/>
    <c:dispBlanksAs val="gap"/>
    <c:showDLblsOverMax val="0"/>
  </c:chart>
  <c:spPr>
    <a:noFill/>
    <a:ln>
      <a:noFill/>
    </a:ln>
  </c:spPr>
  <c:txPr>
    <a:bodyPr/>
    <a:lstStyle/>
    <a:p>
      <a:pPr>
        <a:defRPr sz="1000">
          <a:solidFill>
            <a:schemeClr val="tx2"/>
          </a:solidFill>
          <a:latin typeface="+mn-lt"/>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I am Sayantan Bharati. Today I will present bivariate analysis — the study of how two variables move together — covering correlation, which measures the strength of a relationship, and regression, which uses that relationship to make predictions.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Bivariate simply means two variables measured together. The motivating questions are natural: are they related, and if so, can we use one to predict the other? Correlation and regression are the two standard statistical tools for exactly these questions.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will start with the visual tool — the scatter diagram — then define correlation formally with two coefficients, move to regression and least squares, work a full numerical example, and close with interpretation, limitations and applications.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touching a formula, we plot the data. The scatter diagram tells us at a glance whether the relationship is strong or weak, positive or negative, straight or curved. Only after that do we compute a number to summarise what we have seen.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sign matters: positive means both increase together, negative means they move oppositely. We also distinguish straight-line relationships from curved ones. And one warning that recurs throughout statistics: correlation does not automatically prove causation.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Pearson's r is the workhorse. It standardises the co-variation of x and y by their spreads, which is why it always lands between minus one and plus one. The shortcut form is easier for hand calculation because it uses only the raw sums Σx, Σy, Σxy, Σx² and Σy².</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the data are ranks rather than measurements — for instance two judges ranking contestants — the rank correlation is the right tool. It needs only the differences between ranks, which makes it quick to compute and robust to outliers.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properties are worth memorising: r does not change if we change units or origin, and r is symmetric between the two variables. For interpretation, a rough rule is that beyond about point-seven is strong. And the classic caution applies — even a strong correlation may be produced by a third, hidden factor.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Regression turns a relationship into a prediction. Notice there are always two lines — one for predicting y from x and one for predicting x from y — and they are not the same line. They meet at the means of the two variables, and they coincide only in the perfect-correlation case.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two equations are the practical output of the whole topic. The slope of each line — the regression coefficient — is the correlation scaled by the ratio of the standard deviations. The elegant identity that r equals plus or minus the square root of the product of the two slopes links correlation and regression tightly together.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Least squares is the criterion that makes the fit "best": we reduce the sum of the squared vertical gaps between points and line. Solving the two normal equations gives the slope and intercept. The same recipe extends to quadratic and higher curves, which is why it underpins modern linear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method on one small dataset. The numbers are chosen to be perfectly linear, so r equals one, and the regression line comes out as y equals five x plus thirty. Using it, seven hours of study predicts sixty-five marks — which shows exactly how regression is used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number, r, can be misleading, so we often report r-squared — the share of the variation in y explained by x. I want to stress the limitations: keep to a linear model, watch out for outliers, and never claim causation from correlation. With those caveats, these tools power forecasting, quality control and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standard references behind this presentation. Thank you for listening — I am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Layout">
    <p:bg>
      <p:bgPr>
        <a:solidFill>
          <a:srgbClr val="FFFFFF"/>
        </a:solidFill>
      </p:bgPr>
    </p:bg>
    <p:spTree>
      <p:nvGrpSpPr>
        <p:cNvPr id="2" name=""/>
        <p:cNvGrpSpPr/>
        <p:nvPr/>
      </p:nvGrpSpPr>
      <p:grpSpPr>
        <a:xfrm>
          <a:off x="0" y="0"/>
          <a:ext cx="0" cy="0"/>
          <a:chOff x="0" y="0"/>
          <a:chExt cx="0" cy="0"/>
        </a:xfrm>
      </p:grpSpPr>
      <p:sp>
        <p:nvSpPr>
          <p:cNvPr id="3" name="deco line 1"/>
          <p:cNvSpPr/>
          <p:nvPr/>
        </p:nvSpPr>
        <p:spPr>
          <a:xfrm>
            <a:off x="9377680" y="0"/>
            <a:ext cx="1219200" cy="6858000"/>
          </a:xfrm>
          <a:prstGeom prst="line">
            <a:avLst/>
          </a:prstGeom>
          <a:noFill/>
          <a:ln w="9525">
            <a:solidFill>
              <a:srgbClr val="BFBFBF"/>
            </a:solidFill>
            <a:prstDash val="solid"/>
          </a:ln>
        </p:spPr>
      </p:sp>
      <p:sp>
        <p:nvSpPr>
          <p:cNvPr id="4" name="deco line 2"/>
          <p:cNvSpPr/>
          <p:nvPr/>
        </p:nvSpPr>
        <p:spPr>
          <a:xfrm flipV="1">
            <a:off x="7434580" y="3690620"/>
            <a:ext cx="4763770" cy="3167380"/>
          </a:xfrm>
          <a:prstGeom prst="line">
            <a:avLst/>
          </a:prstGeom>
          <a:noFill/>
          <a:ln w="9525">
            <a:solidFill>
              <a:srgbClr val="D9D9D9"/>
            </a:solidFill>
            <a:prstDash val="solid"/>
          </a:ln>
        </p:spPr>
      </p:sp>
      <p:sp>
        <p:nvSpPr>
          <p:cNvPr id="5" name="deco r1"/>
          <p:cNvSpPr/>
          <p:nvPr/>
        </p:nvSpPr>
        <p:spPr>
          <a:xfrm>
            <a:off x="9182100" y="0"/>
            <a:ext cx="3009900" cy="6858000"/>
          </a:xfrm>
          <a:custGeom>
            <a:avLst/>
            <a:gdLst/>
            <a:ahLst/>
            <a:cxnLst/>
            <a:rect l="l" t="t" r="r" b="b"/>
            <a:pathLst>
              <a:path w="3009900" h="6858000">
                <a:moveTo>
                  <a:pt x="2047240" y="0"/>
                </a:moveTo>
                <a:lnTo>
                  <a:pt x="3009900" y="0"/>
                </a:lnTo>
                <a:lnTo>
                  <a:pt x="3009900" y="6858000"/>
                </a:lnTo>
                <a:lnTo>
                  <a:pt x="0" y="6858000"/>
                </a:lnTo>
                <a:close/>
              </a:path>
            </a:pathLst>
          </a:custGeom>
          <a:solidFill>
            <a:srgbClr val="90C226">
              <a:alpha val="30000"/>
            </a:srgbClr>
          </a:solidFill>
          <a:ln/>
        </p:spPr>
      </p:sp>
      <p:sp>
        <p:nvSpPr>
          <p:cNvPr id="6" name="deco r2"/>
          <p:cNvSpPr/>
          <p:nvPr/>
        </p:nvSpPr>
        <p:spPr>
          <a:xfrm>
            <a:off x="9601200" y="0"/>
            <a:ext cx="2590800" cy="6858000"/>
          </a:xfrm>
          <a:custGeom>
            <a:avLst/>
            <a:gdLst/>
            <a:ahLst/>
            <a:cxnLst/>
            <a:rect l="l" t="t" r="r" b="b"/>
            <a:pathLst>
              <a:path w="2590800" h="6858000">
                <a:moveTo>
                  <a:pt x="0" y="0"/>
                </a:moveTo>
                <a:lnTo>
                  <a:pt x="2590800" y="0"/>
                </a:lnTo>
                <a:lnTo>
                  <a:pt x="2590800" y="6858000"/>
                </a:lnTo>
                <a:lnTo>
                  <a:pt x="1210310" y="6858000"/>
                </a:lnTo>
                <a:close/>
              </a:path>
            </a:pathLst>
          </a:custGeom>
          <a:solidFill>
            <a:srgbClr val="90C226">
              <a:alpha val="20000"/>
            </a:srgbClr>
          </a:solidFill>
          <a:ln/>
        </p:spPr>
      </p:sp>
      <p:sp>
        <p:nvSpPr>
          <p:cNvPr id="7" name="deco r3"/>
          <p:cNvSpPr/>
          <p:nvPr/>
        </p:nvSpPr>
        <p:spPr>
          <a:xfrm>
            <a:off x="8934450" y="3048000"/>
            <a:ext cx="3257550" cy="3810000"/>
          </a:xfrm>
          <a:custGeom>
            <a:avLst/>
            <a:gdLst/>
            <a:ahLst/>
            <a:cxnLst/>
            <a:rect l="l" t="t" r="r" b="b"/>
            <a:pathLst>
              <a:path w="3257550" h="3810000">
                <a:moveTo>
                  <a:pt x="0" y="3810000"/>
                </a:moveTo>
                <a:lnTo>
                  <a:pt x="3257550" y="0"/>
                </a:lnTo>
                <a:lnTo>
                  <a:pt x="3257550" y="3810000"/>
                </a:lnTo>
                <a:close/>
              </a:path>
            </a:pathLst>
          </a:custGeom>
          <a:solidFill>
            <a:srgbClr val="54A021">
              <a:alpha val="72000"/>
            </a:srgbClr>
          </a:solidFill>
          <a:ln/>
        </p:spPr>
      </p:sp>
      <p:sp>
        <p:nvSpPr>
          <p:cNvPr id="8" name="deco r4"/>
          <p:cNvSpPr/>
          <p:nvPr/>
        </p:nvSpPr>
        <p:spPr>
          <a:xfrm>
            <a:off x="9334500" y="0"/>
            <a:ext cx="2857500" cy="6858000"/>
          </a:xfrm>
          <a:custGeom>
            <a:avLst/>
            <a:gdLst/>
            <a:ahLst/>
            <a:cxnLst/>
            <a:rect l="l" t="t" r="r" b="b"/>
            <a:pathLst>
              <a:path w="2857500" h="6858000">
                <a:moveTo>
                  <a:pt x="0" y="0"/>
                </a:moveTo>
                <a:lnTo>
                  <a:pt x="2857500" y="0"/>
                </a:lnTo>
                <a:lnTo>
                  <a:pt x="2857500" y="6858000"/>
                </a:lnTo>
                <a:lnTo>
                  <a:pt x="2473960" y="6858000"/>
                </a:lnTo>
                <a:close/>
              </a:path>
            </a:pathLst>
          </a:custGeom>
          <a:solidFill>
            <a:srgbClr val="3F7819">
              <a:alpha val="70000"/>
            </a:srgbClr>
          </a:solidFill>
          <a:ln/>
        </p:spPr>
      </p:sp>
      <p:sp>
        <p:nvSpPr>
          <p:cNvPr id="9" name="deco r5"/>
          <p:cNvSpPr/>
          <p:nvPr/>
        </p:nvSpPr>
        <p:spPr>
          <a:xfrm>
            <a:off x="10896600" y="0"/>
            <a:ext cx="1295400" cy="6858000"/>
          </a:xfrm>
          <a:custGeom>
            <a:avLst/>
            <a:gdLst/>
            <a:ahLst/>
            <a:cxnLst/>
            <a:rect l="l" t="t" r="r" b="b"/>
            <a:pathLst>
              <a:path w="1295400" h="6858000">
                <a:moveTo>
                  <a:pt x="1023620" y="0"/>
                </a:moveTo>
                <a:lnTo>
                  <a:pt x="1295400" y="0"/>
                </a:lnTo>
                <a:lnTo>
                  <a:pt x="1295400" y="6858000"/>
                </a:lnTo>
                <a:lnTo>
                  <a:pt x="0" y="6858000"/>
                </a:lnTo>
                <a:close/>
              </a:path>
            </a:pathLst>
          </a:custGeom>
          <a:solidFill>
            <a:srgbClr val="C0E474">
              <a:alpha val="70000"/>
            </a:srgbClr>
          </a:solidFill>
          <a:ln/>
        </p:spPr>
      </p:sp>
      <p:sp>
        <p:nvSpPr>
          <p:cNvPr id="10" name="deco r6"/>
          <p:cNvSpPr/>
          <p:nvPr/>
        </p:nvSpPr>
        <p:spPr>
          <a:xfrm>
            <a:off x="10934700" y="0"/>
            <a:ext cx="1257300" cy="6858000"/>
          </a:xfrm>
          <a:custGeom>
            <a:avLst/>
            <a:gdLst/>
            <a:ahLst/>
            <a:cxnLst/>
            <a:rect l="l" t="t" r="r" b="b"/>
            <a:pathLst>
              <a:path w="1257300" h="6858000">
                <a:moveTo>
                  <a:pt x="0" y="0"/>
                </a:moveTo>
                <a:lnTo>
                  <a:pt x="1257300" y="0"/>
                </a:lnTo>
                <a:lnTo>
                  <a:pt x="1257300" y="6858000"/>
                </a:lnTo>
                <a:lnTo>
                  <a:pt x="1116330" y="6858000"/>
                </a:lnTo>
                <a:close/>
              </a:path>
            </a:pathLst>
          </a:custGeom>
          <a:solidFill>
            <a:srgbClr val="90C226">
              <a:alpha val="65000"/>
            </a:srgbClr>
          </a:solidFill>
          <a:ln/>
        </p:spPr>
      </p:sp>
      <p:sp>
        <p:nvSpPr>
          <p:cNvPr id="11" name="deco r7"/>
          <p:cNvSpPr/>
          <p:nvPr/>
        </p:nvSpPr>
        <p:spPr>
          <a:xfrm>
            <a:off x="10373360" y="3591560"/>
            <a:ext cx="1818640" cy="3266440"/>
          </a:xfrm>
          <a:custGeom>
            <a:avLst/>
            <a:gdLst/>
            <a:ahLst/>
            <a:cxnLst/>
            <a:rect l="l" t="t" r="r" b="b"/>
            <a:pathLst>
              <a:path w="1818640" h="3266440">
                <a:moveTo>
                  <a:pt x="0" y="3266440"/>
                </a:moveTo>
                <a:lnTo>
                  <a:pt x="1818640" y="0"/>
                </a:lnTo>
                <a:lnTo>
                  <a:pt x="1818640" y="3266440"/>
                </a:lnTo>
                <a:close/>
              </a:path>
            </a:pathLst>
          </a:custGeom>
          <a:solidFill>
            <a:srgbClr val="90C226">
              <a:alpha val="80000"/>
            </a:srgbClr>
          </a:solidFill>
          <a:ln/>
        </p:spPr>
      </p:sp>
      <p:sp>
        <p:nvSpPr>
          <p:cNvPr id="12" name="deco left"/>
          <p:cNvSpPr/>
          <p:nvPr/>
        </p:nvSpPr>
        <p:spPr>
          <a:xfrm>
            <a:off x="0" y="0"/>
            <a:ext cx="838200" cy="5667375"/>
          </a:xfrm>
          <a:custGeom>
            <a:avLst/>
            <a:gdLst/>
            <a:ahLst/>
            <a:cxnLst/>
            <a:rect l="l" t="t" r="r" b="b"/>
            <a:pathLst>
              <a:path w="838200" h="5667375">
                <a:moveTo>
                  <a:pt x="838200" y="0"/>
                </a:moveTo>
                <a:lnTo>
                  <a:pt x="0" y="5667375"/>
                </a:lnTo>
                <a:lnTo>
                  <a:pt x="0" y="0"/>
                </a:lnTo>
                <a:close/>
              </a:path>
            </a:pathLst>
          </a:custGeom>
          <a:solidFill>
            <a:srgbClr val="90C226">
              <a:alpha val="85000"/>
            </a:srgbClr>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ayout">
    <p:bg>
      <p:bgPr>
        <a:solidFill>
          <a:srgbClr val="FFFFFF"/>
        </a:solidFill>
      </p:bgPr>
    </p:bg>
    <p:spTree>
      <p:nvGrpSpPr>
        <p:cNvPr id="2" name=""/>
        <p:cNvGrpSpPr/>
        <p:nvPr/>
      </p:nvGrpSpPr>
      <p:grpSpPr>
        <a:xfrm>
          <a:off x="0" y="0"/>
          <a:ext cx="0" cy="0"/>
          <a:chOff x="0" y="0"/>
          <a:chExt cx="0" cy="0"/>
        </a:xfrm>
      </p:grpSpPr>
      <p:sp>
        <p:nvSpPr>
          <p:cNvPr id="3" name="deco line 1"/>
          <p:cNvSpPr/>
          <p:nvPr/>
        </p:nvSpPr>
        <p:spPr>
          <a:xfrm>
            <a:off x="9377680" y="0"/>
            <a:ext cx="1219200" cy="6858000"/>
          </a:xfrm>
          <a:prstGeom prst="line">
            <a:avLst/>
          </a:prstGeom>
          <a:noFill/>
          <a:ln w="9525">
            <a:solidFill>
              <a:srgbClr val="BFBFBF"/>
            </a:solidFill>
            <a:prstDash val="solid"/>
          </a:ln>
        </p:spPr>
      </p:sp>
      <p:sp>
        <p:nvSpPr>
          <p:cNvPr id="4" name="deco line 2"/>
          <p:cNvSpPr/>
          <p:nvPr/>
        </p:nvSpPr>
        <p:spPr>
          <a:xfrm flipV="1">
            <a:off x="7434580" y="3690620"/>
            <a:ext cx="4763770" cy="3167380"/>
          </a:xfrm>
          <a:prstGeom prst="line">
            <a:avLst/>
          </a:prstGeom>
          <a:noFill/>
          <a:ln w="9525">
            <a:solidFill>
              <a:srgbClr val="D9D9D9"/>
            </a:solidFill>
            <a:prstDash val="solid"/>
          </a:ln>
        </p:spPr>
      </p:sp>
      <p:sp>
        <p:nvSpPr>
          <p:cNvPr id="5" name="deco r1"/>
          <p:cNvSpPr/>
          <p:nvPr/>
        </p:nvSpPr>
        <p:spPr>
          <a:xfrm>
            <a:off x="9182100" y="0"/>
            <a:ext cx="3009900" cy="6858000"/>
          </a:xfrm>
          <a:custGeom>
            <a:avLst/>
            <a:gdLst/>
            <a:ahLst/>
            <a:cxnLst/>
            <a:rect l="l" t="t" r="r" b="b"/>
            <a:pathLst>
              <a:path w="3009900" h="6858000">
                <a:moveTo>
                  <a:pt x="2047240" y="0"/>
                </a:moveTo>
                <a:lnTo>
                  <a:pt x="3009900" y="0"/>
                </a:lnTo>
                <a:lnTo>
                  <a:pt x="3009900" y="6858000"/>
                </a:lnTo>
                <a:lnTo>
                  <a:pt x="0" y="6858000"/>
                </a:lnTo>
                <a:close/>
              </a:path>
            </a:pathLst>
          </a:custGeom>
          <a:solidFill>
            <a:srgbClr val="90C226">
              <a:alpha val="30000"/>
            </a:srgbClr>
          </a:solidFill>
          <a:ln/>
        </p:spPr>
      </p:sp>
      <p:sp>
        <p:nvSpPr>
          <p:cNvPr id="6" name="deco r2"/>
          <p:cNvSpPr/>
          <p:nvPr/>
        </p:nvSpPr>
        <p:spPr>
          <a:xfrm>
            <a:off x="9601200" y="0"/>
            <a:ext cx="2590800" cy="6858000"/>
          </a:xfrm>
          <a:custGeom>
            <a:avLst/>
            <a:gdLst/>
            <a:ahLst/>
            <a:cxnLst/>
            <a:rect l="l" t="t" r="r" b="b"/>
            <a:pathLst>
              <a:path w="2590800" h="6858000">
                <a:moveTo>
                  <a:pt x="0" y="0"/>
                </a:moveTo>
                <a:lnTo>
                  <a:pt x="2590800" y="0"/>
                </a:lnTo>
                <a:lnTo>
                  <a:pt x="2590800" y="6858000"/>
                </a:lnTo>
                <a:lnTo>
                  <a:pt x="1210310" y="6858000"/>
                </a:lnTo>
                <a:close/>
              </a:path>
            </a:pathLst>
          </a:custGeom>
          <a:solidFill>
            <a:srgbClr val="90C226">
              <a:alpha val="20000"/>
            </a:srgbClr>
          </a:solidFill>
          <a:ln/>
        </p:spPr>
      </p:sp>
      <p:sp>
        <p:nvSpPr>
          <p:cNvPr id="7" name="deco r3"/>
          <p:cNvSpPr/>
          <p:nvPr/>
        </p:nvSpPr>
        <p:spPr>
          <a:xfrm>
            <a:off x="8934450" y="3048000"/>
            <a:ext cx="3257550" cy="3810000"/>
          </a:xfrm>
          <a:custGeom>
            <a:avLst/>
            <a:gdLst/>
            <a:ahLst/>
            <a:cxnLst/>
            <a:rect l="l" t="t" r="r" b="b"/>
            <a:pathLst>
              <a:path w="3257550" h="3810000">
                <a:moveTo>
                  <a:pt x="0" y="3810000"/>
                </a:moveTo>
                <a:lnTo>
                  <a:pt x="3257550" y="0"/>
                </a:lnTo>
                <a:lnTo>
                  <a:pt x="3257550" y="3810000"/>
                </a:lnTo>
                <a:close/>
              </a:path>
            </a:pathLst>
          </a:custGeom>
          <a:solidFill>
            <a:srgbClr val="54A021">
              <a:alpha val="72000"/>
            </a:srgbClr>
          </a:solidFill>
          <a:ln/>
        </p:spPr>
      </p:sp>
      <p:sp>
        <p:nvSpPr>
          <p:cNvPr id="8" name="deco r4"/>
          <p:cNvSpPr/>
          <p:nvPr/>
        </p:nvSpPr>
        <p:spPr>
          <a:xfrm>
            <a:off x="9334500" y="0"/>
            <a:ext cx="2857500" cy="6858000"/>
          </a:xfrm>
          <a:custGeom>
            <a:avLst/>
            <a:gdLst/>
            <a:ahLst/>
            <a:cxnLst/>
            <a:rect l="l" t="t" r="r" b="b"/>
            <a:pathLst>
              <a:path w="2857500" h="6858000">
                <a:moveTo>
                  <a:pt x="0" y="0"/>
                </a:moveTo>
                <a:lnTo>
                  <a:pt x="2857500" y="0"/>
                </a:lnTo>
                <a:lnTo>
                  <a:pt x="2857500" y="6858000"/>
                </a:lnTo>
                <a:lnTo>
                  <a:pt x="2473960" y="6858000"/>
                </a:lnTo>
                <a:close/>
              </a:path>
            </a:pathLst>
          </a:custGeom>
          <a:solidFill>
            <a:srgbClr val="3F7819">
              <a:alpha val="70000"/>
            </a:srgbClr>
          </a:solidFill>
          <a:ln/>
        </p:spPr>
      </p:sp>
      <p:sp>
        <p:nvSpPr>
          <p:cNvPr id="9" name="deco r5"/>
          <p:cNvSpPr/>
          <p:nvPr/>
        </p:nvSpPr>
        <p:spPr>
          <a:xfrm>
            <a:off x="10896600" y="0"/>
            <a:ext cx="1295400" cy="6858000"/>
          </a:xfrm>
          <a:custGeom>
            <a:avLst/>
            <a:gdLst/>
            <a:ahLst/>
            <a:cxnLst/>
            <a:rect l="l" t="t" r="r" b="b"/>
            <a:pathLst>
              <a:path w="1295400" h="6858000">
                <a:moveTo>
                  <a:pt x="1023620" y="0"/>
                </a:moveTo>
                <a:lnTo>
                  <a:pt x="1295400" y="0"/>
                </a:lnTo>
                <a:lnTo>
                  <a:pt x="1295400" y="6858000"/>
                </a:lnTo>
                <a:lnTo>
                  <a:pt x="0" y="6858000"/>
                </a:lnTo>
                <a:close/>
              </a:path>
            </a:pathLst>
          </a:custGeom>
          <a:solidFill>
            <a:srgbClr val="C0E474">
              <a:alpha val="70000"/>
            </a:srgbClr>
          </a:solidFill>
          <a:ln/>
        </p:spPr>
      </p:sp>
      <p:sp>
        <p:nvSpPr>
          <p:cNvPr id="10" name="deco r6"/>
          <p:cNvSpPr/>
          <p:nvPr/>
        </p:nvSpPr>
        <p:spPr>
          <a:xfrm>
            <a:off x="10934700" y="0"/>
            <a:ext cx="1257300" cy="6858000"/>
          </a:xfrm>
          <a:custGeom>
            <a:avLst/>
            <a:gdLst/>
            <a:ahLst/>
            <a:cxnLst/>
            <a:rect l="l" t="t" r="r" b="b"/>
            <a:pathLst>
              <a:path w="1257300" h="6858000">
                <a:moveTo>
                  <a:pt x="0" y="0"/>
                </a:moveTo>
                <a:lnTo>
                  <a:pt x="1257300" y="0"/>
                </a:lnTo>
                <a:lnTo>
                  <a:pt x="1257300" y="6858000"/>
                </a:lnTo>
                <a:lnTo>
                  <a:pt x="1116330" y="6858000"/>
                </a:lnTo>
                <a:close/>
              </a:path>
            </a:pathLst>
          </a:custGeom>
          <a:solidFill>
            <a:srgbClr val="90C226">
              <a:alpha val="65000"/>
            </a:srgbClr>
          </a:solidFill>
          <a:ln/>
        </p:spPr>
      </p:sp>
      <p:sp>
        <p:nvSpPr>
          <p:cNvPr id="11" name="deco r7"/>
          <p:cNvSpPr/>
          <p:nvPr/>
        </p:nvSpPr>
        <p:spPr>
          <a:xfrm>
            <a:off x="10373360" y="3591560"/>
            <a:ext cx="1818640" cy="3266440"/>
          </a:xfrm>
          <a:custGeom>
            <a:avLst/>
            <a:gdLst/>
            <a:ahLst/>
            <a:cxnLst/>
            <a:rect l="l" t="t" r="r" b="b"/>
            <a:pathLst>
              <a:path w="1818640" h="3266440">
                <a:moveTo>
                  <a:pt x="0" y="3266440"/>
                </a:moveTo>
                <a:lnTo>
                  <a:pt x="1818640" y="0"/>
                </a:lnTo>
                <a:lnTo>
                  <a:pt x="1818640" y="3266440"/>
                </a:lnTo>
                <a:close/>
              </a:path>
            </a:pathLst>
          </a:custGeom>
          <a:solidFill>
            <a:srgbClr val="90C226">
              <a:alpha val="80000"/>
            </a:srgbClr>
          </a:solidFill>
          <a:ln/>
        </p:spPr>
      </p:sp>
      <p:sp>
        <p:nvSpPr>
          <p:cNvPr id="12" name="deco left"/>
          <p:cNvSpPr/>
          <p:nvPr/>
        </p:nvSpPr>
        <p:spPr>
          <a:xfrm>
            <a:off x="0" y="4010025"/>
            <a:ext cx="447675" cy="2847975"/>
          </a:xfrm>
          <a:custGeom>
            <a:avLst/>
            <a:gdLst/>
            <a:ahLst/>
            <a:cxnLst/>
            <a:rect l="l" t="t" r="r" b="b"/>
            <a:pathLst>
              <a:path w="447675" h="2847975">
                <a:moveTo>
                  <a:pt x="0" y="2847975"/>
                </a:moveTo>
                <a:lnTo>
                  <a:pt x="0" y="0"/>
                </a:lnTo>
                <a:lnTo>
                  <a:pt x="447675" y="2847975"/>
                </a:lnTo>
                <a:close/>
              </a:path>
            </a:pathLst>
          </a:custGeom>
          <a:solidFill>
            <a:srgbClr val="90C226">
              <a:alpha val="85000"/>
            </a:srgbClr>
          </a:solidFill>
          <a:ln/>
        </p:spPr>
      </p:sp>
      <p:sp>
        <p:nvSpPr>
          <p:cNvPr id="90" name="Footer text"/>
          <p:cNvSpPr txBox="1"/>
          <p:nvPr userDrawn="1"/>
        </p:nvSpPr>
        <p:spPr>
          <a:xfrm>
            <a:off x="731520" y="6428232"/>
            <a:ext cx="6309360" cy="274320"/>
          </a:xfrm>
          <a:prstGeom prst="rect">
            <a:avLst/>
          </a:prstGeom>
          <a:noFill/>
        </p:spPr>
        <p:txBody>
          <a:bodyPr wrap="square" lIns="0" tIns="0" rIns="0" bIns="0" anchor="ctr">
            <a:noAutofit/>
          </a:bodyPr>
          <a:lstStyle/>
          <a:p>
            <a:r>
              <a:rPr lang="en-US" sz="1000">
                <a:solidFill>
                  <a:schemeClr val="tx2">
                    <a:lumMod val="75000"/>
                    <a:lumOff val="25000"/>
                  </a:schemeClr>
                </a:solidFill>
              </a:rPr>
              <a:t>Sayantan Bharati  |  BWU/BTS/25/503  |  Probability &amp; Statistics (BBS00014)</a:t>
            </a:r>
          </a:p>
        </p:txBody>
      </p:sp>
      <p:sp>
        <p:nvSpPr>
          <p:cNvPr id="91" name="Slide number"/>
          <p:cNvSpPr txBox="1"/>
          <p:nvPr userDrawn="1"/>
        </p:nvSpPr>
        <p:spPr>
          <a:xfrm>
            <a:off x="7863840" y="6428232"/>
            <a:ext cx="914400" cy="274320"/>
          </a:xfrm>
          <a:prstGeom prst="rect">
            <a:avLst/>
          </a:prstGeom>
          <a:noFill/>
        </p:spPr>
        <p:txBody>
          <a:bodyPr wrap="square" lIns="0" tIns="0" rIns="0" bIns="0" anchor="ctr">
            <a:noAutofit/>
          </a:bodyPr>
          <a:lstStyle/>
          <a:p>
            <a:pPr algn="r"/>
            <a:fld id="{B6F15528-21DE-4FAA-801E-634DDDAF4B2B}" type="slidenum">
              <a:rPr lang="en-US" sz="1000" b="1">
                <a:solidFill>
                  <a:schemeClr val="tx2"/>
                </a:solidFill>
              </a:rPr>
              <a:t>‹#›</a:t>
            </a:fld>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chart" Target="../charts/chart5.xml"/><Relationship Id="rId6" Type="http://schemas.openxmlformats.org/officeDocument/2006/relationships/chart" Target="../charts/char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chart" Target="../charts/chart9.xml"/><Relationship Id="rId6" Type="http://schemas.openxmlformats.org/officeDocument/2006/relationships/chart" Target="../charts/char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chart" Target="../charts/chart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hart" Target="../charts/char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chart" Target="../charts/chart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7.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chart" Target="../charts/chart18.xml"/><Relationship Id="rId7" Type="http://schemas.openxmlformats.org/officeDocument/2006/relationships/image" Target="../media/image19.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p:nvPr>
            <p:ph type="ctrTitle"/>
          </p:nvPr>
        </p:nvSpPr>
        <p:spPr>
          <a:xfrm>
            <a:off x="1097280" y="731520"/>
            <a:ext cx="7315200" cy="1600200"/>
          </a:xfrm>
          <a:prstGeom prst="rect">
            <a:avLst/>
          </a:prstGeom>
          <a:noFill/>
        </p:spPr>
        <p:txBody>
          <a:bodyPr wrap="square" anchor="b" lIns="45720" rIns="45720" tIns="27432" bIns="27432">
            <a:noAutofit/>
          </a:bodyPr>
          <a:lstStyle/>
          <a:p>
            <a:pPr algn="l">
              <a:spcAft>
                <a:spcPts val="0"/>
              </a:spcAft>
            </a:pPr>
            <a:r>
              <a:rPr sz="3600" b="1" i="0">
                <a:solidFill>
                  <a:schemeClr val="tx2"/>
                </a:solidFill>
              </a:rPr>
              <a:t>Bivariate Analysis:</a:t>
            </a:r>
          </a:p>
          <a:p>
            <a:pPr algn="l">
              <a:spcAft>
                <a:spcPts val="0"/>
              </a:spcAft>
            </a:pPr>
            <a:r>
              <a:rPr sz="3600" b="1" i="0">
                <a:solidFill>
                  <a:schemeClr val="tx2"/>
                </a:solidFill>
              </a:rPr>
              <a:t>Correlation &amp; Regression</a:t>
            </a:r>
          </a:p>
        </p:txBody>
      </p:sp>
      <p:sp>
        <p:nvSpPr>
          <p:cNvPr id="3" name="Subtitle"/>
          <p:cNvSpPr txBox="1"/>
          <p:nvPr/>
        </p:nvSpPr>
        <p:spPr>
          <a:xfrm>
            <a:off x="1097280" y="2423160"/>
            <a:ext cx="7315200" cy="777240"/>
          </a:xfrm>
          <a:prstGeom prst="rect">
            <a:avLst/>
          </a:prstGeom>
          <a:noFill/>
        </p:spPr>
        <p:txBody>
          <a:bodyPr wrap="square" anchor="t" lIns="45720" rIns="45720" tIns="27432" bIns="27432">
            <a:noAutofit/>
          </a:bodyPr>
          <a:lstStyle/>
          <a:p>
            <a:pPr algn="l">
              <a:spcAft>
                <a:spcPts val="600"/>
              </a:spcAft>
            </a:pPr>
            <a:r>
              <a:rPr sz="1800" b="0" i="1">
                <a:solidFill>
                  <a:schemeClr val="accent2">
                    <a:lumMod val="75000"/>
                  </a:schemeClr>
                </a:solidFill>
              </a:rPr>
              <a:t>Measuring and Modelling the Relationship Between Two Variables</a:t>
            </a:r>
          </a:p>
        </p:txBody>
      </p:sp>
      <p:sp>
        <p:nvSpPr>
          <p:cNvPr id="4" name="Course details"/>
          <p:cNvSpPr txBox="1"/>
          <p:nvPr/>
        </p:nvSpPr>
        <p:spPr>
          <a:xfrm>
            <a:off x="1097280" y="3520440"/>
            <a:ext cx="7315200" cy="2377440"/>
          </a:xfrm>
          <a:prstGeom prst="rect">
            <a:avLst/>
          </a:prstGeom>
          <a:noFill/>
        </p:spPr>
        <p:txBody>
          <a:bodyPr wrap="square" anchor="t" lIns="45720" rIns="45720" tIns="27432" bIns="27432">
            <a:noAutofit/>
          </a:bodyPr>
          <a:lstStyle/>
          <a:p>
            <a:pPr algn="l">
              <a:spcAft>
                <a:spcPts val="700"/>
              </a:spcAft>
            </a:pPr>
            <a:r>
              <a:rPr sz="1400" b="1" i="0">
                <a:solidFill>
                  <a:schemeClr val="tx2"/>
                </a:solidFill>
              </a:rPr>
              <a:t>Course:</a:t>
            </a:r>
            <a:r>
              <a:rPr sz="1400" b="0" i="0">
                <a:solidFill>
                  <a:schemeClr val="tx2"/>
                </a:solidFill>
              </a:rPr>
              <a:t> Probability &amp; Statistics (BBS00014)</a:t>
            </a:r>
          </a:p>
          <a:p>
            <a:pPr algn="l">
              <a:spcAft>
                <a:spcPts val="700"/>
              </a:spcAft>
            </a:pPr>
            <a:r>
              <a:rPr sz="1400" b="1" i="0">
                <a:solidFill>
                  <a:schemeClr val="tx2"/>
                </a:solidFill>
              </a:rPr>
              <a:t>Presented by:</a:t>
            </a:r>
            <a:r>
              <a:rPr sz="1400" b="0" i="0">
                <a:solidFill>
                  <a:schemeClr val="tx2"/>
                </a:solidFill>
              </a:rPr>
              <a:t> Sayantan Bharati | BWU/BTS/25/503 | Section B</a:t>
            </a:r>
          </a:p>
          <a:p>
            <a:pPr algn="l">
              <a:spcAft>
                <a:spcPts val="700"/>
              </a:spcAft>
            </a:pPr>
            <a:r>
              <a:rPr sz="1400" b="1" i="0">
                <a:solidFill>
                  <a:schemeClr val="tx2"/>
                </a:solidFill>
              </a:rPr>
              <a:t>Programme:</a:t>
            </a:r>
            <a:r>
              <a:rPr sz="1400" b="0" i="0">
                <a:solidFill>
                  <a:schemeClr val="tx2"/>
                </a:solidFill>
              </a:rPr>
              <a:t> B.Tech (CSE), Batch 2025, AY 2026-27 (Odd Semester 3)</a:t>
            </a:r>
          </a:p>
          <a:p>
            <a:pPr algn="l">
              <a:spcAft>
                <a:spcPts val="700"/>
              </a:spcAft>
            </a:pPr>
            <a:r>
              <a:rPr sz="1400" b="1" i="0">
                <a:solidFill>
                  <a:schemeClr val="tx2"/>
                </a:solidFill>
              </a:rPr>
              <a:t>Faculty:</a:t>
            </a:r>
            <a:r>
              <a:rPr sz="1400" b="0" i="0">
                <a:solidFill>
                  <a:schemeClr val="tx2"/>
                </a:solidFill>
              </a:rPr>
              <a:t> Mrs. Rittika Bhattacharya</a:t>
            </a:r>
          </a:p>
          <a:p>
            <a:pPr algn="l">
              <a:spcAft>
                <a:spcPts val="700"/>
              </a:spcAft>
            </a:pPr>
            <a:r>
              <a:rPr sz="1400" b="1" i="0">
                <a:solidFill>
                  <a:schemeClr val="tx2"/>
                </a:solidFill>
              </a:rPr>
              <a:t>Department of Mathematics,</a:t>
            </a:r>
            <a:r>
              <a:rPr sz="1400" b="0" i="0">
                <a:solidFill>
                  <a:schemeClr val="tx2"/>
                </a:solidFill>
              </a:rPr>
              <a:t> Brainware University</a:t>
            </a:r>
          </a:p>
          <a:p>
            <a:pPr algn="l">
              <a:spcAft>
                <a:spcPts val="700"/>
              </a:spcAft>
            </a:pPr>
            <a:r>
              <a:rPr sz="1400" b="1" i="0">
                <a:solidFill>
                  <a:schemeClr val="tx2"/>
                </a:solidFill>
              </a:rPr>
              <a:t>Date:</a:t>
            </a:r>
            <a:r>
              <a:rPr sz="1400" b="0" i="0">
                <a:solidFill>
                  <a:schemeClr val="tx2"/>
                </a:solidFill>
              </a:rPr>
              <a:t> 14-10-2026</a:t>
            </a:r>
          </a:p>
        </p:txBody>
      </p:sp>
      <p:sp>
        <p:nvSpPr>
          <p:cNvPr id="5" name="Hero card"/>
          <p:cNvSpPr/>
          <p:nvPr/>
        </p:nvSpPr>
        <p:spPr>
          <a:xfrm>
            <a:off x="8641080" y="3246120"/>
            <a:ext cx="3154680" cy="2926080"/>
          </a:xfrm>
          <a:prstGeom prst="roundRect">
            <a:avLst>
              <a:gd name="adj" fmla="val 5000"/>
            </a:avLst>
          </a:prstGeom>
          <a:solidFill>
            <a:schemeClr val="bg1"/>
          </a:solidFill>
          <a:ln>
            <a:noFill/>
          </a:ln>
          <a:effectLst>
            <a:outerShdw blurRad="152400" dist="381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Hero scatter plot"/>
          <p:cNvGraphicFramePr>
            <a:graphicFrameLocks noGrp="1"/>
          </p:cNvGraphicFramePr>
          <p:nvPr/>
        </p:nvGraphicFramePr>
        <p:xfrm>
          <a:off x="8732520" y="3337560"/>
          <a:ext cx="2971800" cy="2331720"/>
        </p:xfrm>
        <a:graphic>
          <a:graphicData uri="http://schemas.openxmlformats.org/drawingml/2006/chart">
            <c:chart xmlns:c="http://schemas.openxmlformats.org/drawingml/2006/chart" r:id="rId3"/>
          </a:graphicData>
        </a:graphic>
      </p:graphicFrame>
      <p:sp>
        <p:nvSpPr>
          <p:cNvPr id="7" name="Hero caption"/>
          <p:cNvSpPr txBox="1"/>
          <p:nvPr/>
        </p:nvSpPr>
        <p:spPr>
          <a:xfrm>
            <a:off x="8732520" y="5669280"/>
            <a:ext cx="2971800" cy="411480"/>
          </a:xfrm>
          <a:prstGeom prst="rect">
            <a:avLst/>
          </a:prstGeom>
          <a:noFill/>
        </p:spPr>
        <p:txBody>
          <a:bodyPr wrap="square" anchor="ctr" lIns="45720" rIns="45720" tIns="27432" bIns="27432">
            <a:noAutofit/>
          </a:bodyPr>
          <a:lstStyle/>
          <a:p>
            <a:pPr algn="ctr">
              <a:spcAft>
                <a:spcPts val="600"/>
              </a:spcAft>
            </a:pPr>
            <a:r>
              <a:rPr sz="1200" b="0" i="1">
                <a:solidFill>
                  <a:schemeClr val="accent2">
                    <a:lumMod val="75000"/>
                  </a:schemeClr>
                </a:solidFill>
              </a:rPr>
              <a:t>Scatter plot with fitted trend line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Introduction — When One Variable Depends on Another</a:t>
            </a:r>
          </a:p>
        </p:txBody>
      </p:sp>
      <p:sp>
        <p:nvSpPr>
          <p:cNvPr id="3" name="Bullets"/>
          <p:cNvSpPr txBox="1"/>
          <p:nvPr/>
        </p:nvSpPr>
        <p:spPr>
          <a:xfrm>
            <a:off x="731520" y="1417320"/>
            <a:ext cx="4343400" cy="4846320"/>
          </a:xfrm>
          <a:prstGeom prst="rect">
            <a:avLst/>
          </a:prstGeom>
          <a:noFill/>
        </p:spPr>
        <p:txBody>
          <a:bodyPr wrap="square" anchor="t" lIns="45720" rIns="45720" tIns="27432" bIns="27432">
            <a:noAutofit/>
          </a:bodyPr>
          <a:lstStyle/>
          <a:p>
            <a:pPr algn="l" marL="219456" indent="-219456">
              <a:spcAft>
                <a:spcPts val="900"/>
              </a:spcAft>
              <a:buClr>
                <a:schemeClr val="accent2">
                  <a:lumMod val="75000"/>
                </a:schemeClr>
              </a:buClr>
              <a:buFont typeface="Arial"/>
              <a:buChar char="•"/>
            </a:pPr>
            <a:r>
              <a:rPr sz="1400" b="1" i="0">
                <a:solidFill>
                  <a:schemeClr val="tx2"/>
                </a:solidFill>
              </a:rPr>
              <a:t>Bivariate data</a:t>
            </a:r>
            <a:r>
              <a:rPr sz="1400" b="0" i="0">
                <a:solidFill>
                  <a:schemeClr val="tx2"/>
                </a:solidFill>
              </a:rPr>
              <a:t> = two variables measured on the same subject (</a:t>
            </a:r>
            <a:r>
              <a:rPr sz="1400" b="0" i="1">
                <a:solidFill>
                  <a:schemeClr val="tx2"/>
                </a:solidFill>
                <a:latin typeface="Cambria Math"/>
              </a:rPr>
              <a:t>x</a:t>
            </a:r>
            <a:r>
              <a:rPr sz="1400" b="0" i="0">
                <a:solidFill>
                  <a:schemeClr val="tx2"/>
                </a:solidFill>
              </a:rPr>
              <a:t>, </a:t>
            </a:r>
            <a:r>
              <a:rPr sz="1400" b="0" i="1">
                <a:solidFill>
                  <a:schemeClr val="tx2"/>
                </a:solidFill>
                <a:latin typeface="Cambria Math"/>
              </a:rPr>
              <a:t>y</a:t>
            </a:r>
            <a:r>
              <a:rPr sz="1400" b="0" i="0">
                <a:solidFill>
                  <a:schemeClr val="tx2"/>
                </a:solidFill>
              </a:rPr>
              <a:t>).</a:t>
            </a:r>
          </a:p>
          <a:p>
            <a:pPr algn="l" marL="219456" indent="-219456">
              <a:spcAft>
                <a:spcPts val="900"/>
              </a:spcAft>
              <a:buClr>
                <a:schemeClr val="accent2">
                  <a:lumMod val="75000"/>
                </a:schemeClr>
              </a:buClr>
              <a:buFont typeface="Arial"/>
              <a:buChar char="•"/>
            </a:pPr>
            <a:r>
              <a:rPr sz="1400" b="0" i="0">
                <a:solidFill>
                  <a:schemeClr val="tx2"/>
                </a:solidFill>
              </a:rPr>
              <a:t>Examples: study hours vs marks; price vs demand; temperature vs ice-cream sales.</a:t>
            </a:r>
          </a:p>
          <a:p>
            <a:pPr algn="l" marL="219456" indent="-219456">
              <a:spcAft>
                <a:spcPts val="900"/>
              </a:spcAft>
              <a:buClr>
                <a:schemeClr val="accent2">
                  <a:lumMod val="75000"/>
                </a:schemeClr>
              </a:buClr>
              <a:buFont typeface="Arial"/>
              <a:buChar char="•"/>
            </a:pPr>
            <a:r>
              <a:rPr sz="1400" b="0" i="0">
                <a:solidFill>
                  <a:schemeClr val="tx2"/>
                </a:solidFill>
              </a:rPr>
              <a:t>Two central questions: </a:t>
            </a:r>
            <a:r>
              <a:rPr sz="1400" b="0" i="1">
                <a:solidFill>
                  <a:schemeClr val="tx2"/>
                </a:solidFill>
              </a:rPr>
              <a:t>Do they move together?</a:t>
            </a:r>
            <a:r>
              <a:rPr sz="1400" b="0" i="0">
                <a:solidFill>
                  <a:schemeClr val="tx2"/>
                </a:solidFill>
              </a:rPr>
              <a:t> and </a:t>
            </a:r>
            <a:r>
              <a:rPr sz="1400" b="0" i="1">
                <a:solidFill>
                  <a:schemeClr val="tx2"/>
                </a:solidFill>
              </a:rPr>
              <a:t>Can we predict one from the other?</a:t>
            </a:r>
          </a:p>
          <a:p>
            <a:pPr algn="l" marL="219456" indent="-219456">
              <a:spcAft>
                <a:spcPts val="900"/>
              </a:spcAft>
              <a:buClr>
                <a:schemeClr val="accent2">
                  <a:lumMod val="75000"/>
                </a:schemeClr>
              </a:buClr>
              <a:buFont typeface="Arial"/>
              <a:buChar char="•"/>
            </a:pPr>
            <a:r>
              <a:rPr sz="1400" b="1" i="0">
                <a:solidFill>
                  <a:schemeClr val="tx2"/>
                </a:solidFill>
              </a:rPr>
              <a:t>Correlation</a:t>
            </a:r>
            <a:r>
              <a:rPr sz="1400" b="0" i="0">
                <a:solidFill>
                  <a:schemeClr val="tx2"/>
                </a:solidFill>
              </a:rPr>
              <a:t> answers the first: strength and direction of association.</a:t>
            </a:r>
          </a:p>
          <a:p>
            <a:pPr algn="l" marL="219456" indent="-219456">
              <a:spcAft>
                <a:spcPts val="900"/>
              </a:spcAft>
              <a:buClr>
                <a:schemeClr val="accent2">
                  <a:lumMod val="75000"/>
                </a:schemeClr>
              </a:buClr>
              <a:buFont typeface="Arial"/>
              <a:buChar char="•"/>
            </a:pPr>
            <a:r>
              <a:rPr sz="1400" b="1" i="0">
                <a:solidFill>
                  <a:schemeClr val="tx2"/>
                </a:solidFill>
              </a:rPr>
              <a:t>Regression</a:t>
            </a:r>
            <a:r>
              <a:rPr sz="1400" b="0" i="0">
                <a:solidFill>
                  <a:schemeClr val="tx2"/>
                </a:solidFill>
              </a:rPr>
              <a:t> answers the second: a model that predicts </a:t>
            </a:r>
            <a:r>
              <a:rPr sz="1400" b="0" i="1">
                <a:solidFill>
                  <a:schemeClr val="tx2"/>
                </a:solidFill>
                <a:latin typeface="Cambria Math"/>
              </a:rPr>
              <a:t>y</a:t>
            </a:r>
            <a:r>
              <a:rPr sz="1400" b="0" i="0">
                <a:solidFill>
                  <a:schemeClr val="tx2"/>
                </a:solidFill>
              </a:rPr>
              <a:t> from </a:t>
            </a:r>
            <a:r>
              <a:rPr sz="1400" b="0" i="1">
                <a:solidFill>
                  <a:schemeClr val="tx2"/>
                </a:solidFill>
                <a:latin typeface="Cambria Math"/>
              </a:rPr>
              <a:t>x</a:t>
            </a:r>
            <a:r>
              <a:rPr sz="1400" b="0" i="0">
                <a:solidFill>
                  <a:schemeClr val="tx2"/>
                </a:solidFill>
              </a:rPr>
              <a:t>.</a:t>
            </a:r>
          </a:p>
          <a:p>
            <a:pPr algn="l" marL="219456" indent="-219456">
              <a:spcAft>
                <a:spcPts val="900"/>
              </a:spcAft>
              <a:buClr>
                <a:schemeClr val="accent2">
                  <a:lumMod val="75000"/>
                </a:schemeClr>
              </a:buClr>
              <a:buFont typeface="Arial"/>
              <a:buChar char="•"/>
            </a:pPr>
            <a:r>
              <a:rPr sz="1400" b="0" i="0">
                <a:solidFill>
                  <a:schemeClr val="tx2"/>
                </a:solidFill>
              </a:rPr>
              <a:t>Both build on earlier tools — mean, variance and standard deviation.</a:t>
            </a:r>
          </a:p>
        </p:txBody>
      </p:sp>
      <p:sp>
        <p:nvSpPr>
          <p:cNvPr id="4" name="Visual panel"/>
          <p:cNvSpPr/>
          <p:nvPr/>
        </p:nvSpPr>
        <p:spPr>
          <a:xfrm>
            <a:off x="5349240" y="1371600"/>
            <a:ext cx="3474720" cy="493776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Paired observations"/>
          <p:cNvGraphicFramePr>
            <a:graphicFrameLocks noGrp="1"/>
          </p:cNvGraphicFramePr>
          <p:nvPr/>
        </p:nvGraphicFramePr>
        <p:xfrm>
          <a:off x="5486400" y="1508760"/>
          <a:ext cx="3200400" cy="1463040"/>
        </p:xfrm>
        <a:graphic>
          <a:graphicData uri="http://schemas.openxmlformats.org/drawingml/2006/table">
            <a:tbl>
              <a:tblPr firstRow="1" bandRow="1">
                <a:tableStyleId>{5C22544A-7EE6-4342-B048-85BDC9FD1C3A}</a:tableStyleId>
              </a:tblPr>
              <a:tblGrid>
                <a:gridCol w="914400"/>
                <a:gridCol w="1143000"/>
                <a:gridCol w="1143000"/>
              </a:tblGrid>
              <a:tr h="365760">
                <a:tc>
                  <a:txBody>
                    <a:bodyPr/>
                    <a:lstStyle/>
                    <a:p>
                      <a:pPr algn="ctr"/>
                      <a:r>
                        <a:rPr sz="1300" b="1">
                          <a:solidFill>
                            <a:schemeClr val="bg1"/>
                          </a:solidFill>
                        </a:rPr>
                        <a:t>Student</a:t>
                      </a:r>
                    </a:p>
                  </a:txBody>
                  <a:tcPr anchor="ctr" marL="45720" marR="45720" marT="18288" marB="18288">
                    <a:solidFill>
                      <a:schemeClr val="accent2">
                        <a:lumMod val="75000"/>
                      </a:schemeClr>
                    </a:solidFill>
                  </a:tcPr>
                </a:tc>
                <a:tc>
                  <a:txBody>
                    <a:bodyPr/>
                    <a:lstStyle/>
                    <a:p>
                      <a:pPr algn="ctr"/>
                      <a:r>
                        <a:rPr sz="1300" b="1">
                          <a:solidFill>
                            <a:schemeClr val="bg1"/>
                          </a:solidFill>
                        </a:rPr>
                        <a:t>Hours (x)</a:t>
                      </a:r>
                    </a:p>
                  </a:txBody>
                  <a:tcPr anchor="ctr" marL="45720" marR="45720" marT="18288" marB="18288">
                    <a:solidFill>
                      <a:schemeClr val="accent2">
                        <a:lumMod val="75000"/>
                      </a:schemeClr>
                    </a:solidFill>
                  </a:tcPr>
                </a:tc>
                <a:tc>
                  <a:txBody>
                    <a:bodyPr/>
                    <a:lstStyle/>
                    <a:p>
                      <a:pPr algn="ctr"/>
                      <a:r>
                        <a:rPr sz="1300" b="1">
                          <a:solidFill>
                            <a:schemeClr val="bg1"/>
                          </a:solidFill>
                        </a:rPr>
                        <a:t>Marks (y)</a:t>
                      </a:r>
                    </a:p>
                  </a:txBody>
                  <a:tcPr anchor="ctr" marL="45720" marR="45720" marT="18288" marB="18288">
                    <a:solidFill>
                      <a:schemeClr val="accent2">
                        <a:lumMod val="75000"/>
                      </a:schemeClr>
                    </a:solidFill>
                  </a:tcPr>
                </a:tc>
              </a:tr>
              <a:tr h="365760">
                <a:tc>
                  <a:txBody>
                    <a:bodyPr/>
                    <a:lstStyle/>
                    <a:p>
                      <a:pPr algn="ctr"/>
                      <a:r>
                        <a:rPr sz="1300" b="0">
                          <a:solidFill>
                            <a:schemeClr val="tx2"/>
                          </a:solidFill>
                        </a:rPr>
                        <a:t>A</a:t>
                      </a:r>
                    </a:p>
                  </a:txBody>
                  <a:tcPr anchor="ctr" marL="45720" marR="45720" marT="18288" marB="18288">
                    <a:solidFill>
                      <a:schemeClr val="bg1"/>
                    </a:solidFill>
                  </a:tcPr>
                </a:tc>
                <a:tc>
                  <a:txBody>
                    <a:bodyPr/>
                    <a:lstStyle/>
                    <a:p>
                      <a:pPr algn="ctr"/>
                      <a:r>
                        <a:rPr sz="1300" b="0">
                          <a:solidFill>
                            <a:schemeClr val="tx2"/>
                          </a:solidFill>
                        </a:rPr>
                        <a:t>2</a:t>
                      </a:r>
                    </a:p>
                  </a:txBody>
                  <a:tcPr anchor="ctr" marL="45720" marR="45720" marT="18288" marB="18288">
                    <a:solidFill>
                      <a:schemeClr val="bg1"/>
                    </a:solidFill>
                  </a:tcPr>
                </a:tc>
                <a:tc>
                  <a:txBody>
                    <a:bodyPr/>
                    <a:lstStyle/>
                    <a:p>
                      <a:pPr algn="ctr"/>
                      <a:r>
                        <a:rPr sz="1300" b="0">
                          <a:solidFill>
                            <a:schemeClr val="tx2"/>
                          </a:solidFill>
                        </a:rPr>
                        <a:t>40</a:t>
                      </a:r>
                    </a:p>
                  </a:txBody>
                  <a:tcPr anchor="ctr" marL="45720" marR="45720" marT="18288" marB="18288">
                    <a:solidFill>
                      <a:schemeClr val="bg1"/>
                    </a:solidFill>
                  </a:tcPr>
                </a:tc>
              </a:tr>
              <a:tr h="365760">
                <a:tc>
                  <a:txBody>
                    <a:bodyPr/>
                    <a:lstStyle/>
                    <a:p>
                      <a:pPr algn="ctr"/>
                      <a:r>
                        <a:rPr sz="1300" b="0">
                          <a:solidFill>
                            <a:schemeClr val="tx2"/>
                          </a:solidFill>
                        </a:rPr>
                        <a:t>B</a:t>
                      </a:r>
                    </a:p>
                  </a:txBody>
                  <a:tcPr anchor="ctr" marL="45720" marR="45720" marT="18288" marB="18288">
                    <a:solidFill>
                      <a:schemeClr val="accent1">
                        <a:lumMod val="10000"/>
                        <a:lumOff val="90000"/>
                      </a:schemeClr>
                    </a:solidFill>
                  </a:tcPr>
                </a:tc>
                <a:tc>
                  <a:txBody>
                    <a:bodyPr/>
                    <a:lstStyle/>
                    <a:p>
                      <a:pPr algn="ctr"/>
                      <a:r>
                        <a:rPr sz="1300" b="0">
                          <a:solidFill>
                            <a:schemeClr val="tx2"/>
                          </a:solidFill>
                        </a:rPr>
                        <a:t>5</a:t>
                      </a:r>
                    </a:p>
                  </a:txBody>
                  <a:tcPr anchor="ctr" marL="45720" marR="45720" marT="18288" marB="18288">
                    <a:solidFill>
                      <a:schemeClr val="accent1">
                        <a:lumMod val="10000"/>
                        <a:lumOff val="90000"/>
                      </a:schemeClr>
                    </a:solidFill>
                  </a:tcPr>
                </a:tc>
                <a:tc>
                  <a:txBody>
                    <a:bodyPr/>
                    <a:lstStyle/>
                    <a:p>
                      <a:pPr algn="ctr"/>
                      <a:r>
                        <a:rPr sz="1300" b="0">
                          <a:solidFill>
                            <a:schemeClr val="tx2"/>
                          </a:solidFill>
                        </a:rPr>
                        <a:t>65</a:t>
                      </a:r>
                    </a:p>
                  </a:txBody>
                  <a:tcPr anchor="ctr" marL="45720" marR="45720" marT="18288" marB="18288">
                    <a:solidFill>
                      <a:schemeClr val="accent1">
                        <a:lumMod val="10000"/>
                        <a:lumOff val="90000"/>
                      </a:schemeClr>
                    </a:solidFill>
                  </a:tcPr>
                </a:tc>
              </a:tr>
              <a:tr h="365760">
                <a:tc>
                  <a:txBody>
                    <a:bodyPr/>
                    <a:lstStyle/>
                    <a:p>
                      <a:pPr algn="ctr"/>
                      <a:r>
                        <a:rPr sz="1300" b="0">
                          <a:solidFill>
                            <a:schemeClr val="tx2"/>
                          </a:solidFill>
                        </a:rPr>
                        <a:t>C</a:t>
                      </a:r>
                    </a:p>
                  </a:txBody>
                  <a:tcPr anchor="ctr" marL="45720" marR="45720" marT="18288" marB="18288">
                    <a:solidFill>
                      <a:schemeClr val="bg1"/>
                    </a:solidFill>
                  </a:tcPr>
                </a:tc>
                <a:tc>
                  <a:txBody>
                    <a:bodyPr/>
                    <a:lstStyle/>
                    <a:p>
                      <a:pPr algn="ctr"/>
                      <a:r>
                        <a:rPr sz="1300" b="0">
                          <a:solidFill>
                            <a:schemeClr val="tx2"/>
                          </a:solidFill>
                        </a:rPr>
                        <a:t>8</a:t>
                      </a:r>
                    </a:p>
                  </a:txBody>
                  <a:tcPr anchor="ctr" marL="45720" marR="45720" marT="18288" marB="18288">
                    <a:solidFill>
                      <a:schemeClr val="bg1"/>
                    </a:solidFill>
                  </a:tcPr>
                </a:tc>
                <a:tc>
                  <a:txBody>
                    <a:bodyPr/>
                    <a:lstStyle/>
                    <a:p>
                      <a:pPr algn="ctr"/>
                      <a:r>
                        <a:rPr sz="1300" b="0">
                          <a:solidFill>
                            <a:schemeClr val="tx2"/>
                          </a:solidFill>
                        </a:rPr>
                        <a:t>85</a:t>
                      </a:r>
                    </a:p>
                  </a:txBody>
                  <a:tcPr anchor="ctr" marL="45720" marR="45720" marT="18288" marB="18288">
                    <a:solidFill>
                      <a:schemeClr val="bg1"/>
                    </a:solidFill>
                  </a:tcPr>
                </a:tc>
              </a:tr>
            </a:tbl>
          </a:graphicData>
        </a:graphic>
      </p:graphicFrame>
      <p:sp>
        <p:nvSpPr>
          <p:cNvPr id="6" name="Table caption"/>
          <p:cNvSpPr txBox="1"/>
          <p:nvPr/>
        </p:nvSpPr>
        <p:spPr>
          <a:xfrm>
            <a:off x="5486400" y="3017520"/>
            <a:ext cx="3200400" cy="320040"/>
          </a:xfrm>
          <a:prstGeom prst="rect">
            <a:avLst/>
          </a:prstGeom>
          <a:noFill/>
        </p:spPr>
        <p:txBody>
          <a:bodyPr wrap="square" anchor="t" lIns="45720" rIns="45720" tIns="27432" bIns="27432">
            <a:noAutofit/>
          </a:bodyPr>
          <a:lstStyle/>
          <a:p>
            <a:pPr algn="l">
              <a:spcAft>
                <a:spcPts val="600"/>
              </a:spcAft>
            </a:pPr>
            <a:r>
              <a:rPr sz="1200" b="0" i="1">
                <a:solidFill>
                  <a:schemeClr val="accent2">
                    <a:lumMod val="75000"/>
                  </a:schemeClr>
                </a:solidFill>
              </a:rPr>
              <a:t>Does y rise with x?  Yes — see the plot</a:t>
            </a:r>
          </a:p>
        </p:txBody>
      </p:sp>
      <p:graphicFrame>
        <p:nvGraphicFramePr>
          <p:cNvPr id="7" name="Study hours vs marks scatter"/>
          <p:cNvGraphicFramePr>
            <a:graphicFrameLocks noGrp="1"/>
          </p:cNvGraphicFramePr>
          <p:nvPr/>
        </p:nvGraphicFramePr>
        <p:xfrm>
          <a:off x="5440680" y="3383280"/>
          <a:ext cx="3291840" cy="2880360"/>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Presentation Outline</a:t>
            </a:r>
          </a:p>
        </p:txBody>
      </p:sp>
      <p:sp>
        <p:nvSpPr>
          <p:cNvPr id="3" name="Topic card 1"/>
          <p:cNvSpPr/>
          <p:nvPr/>
        </p:nvSpPr>
        <p:spPr>
          <a:xfrm>
            <a:off x="731520" y="1463040"/>
            <a:ext cx="3931920" cy="77724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adge"/>
          <p:cNvSpPr/>
          <p:nvPr/>
        </p:nvSpPr>
        <p:spPr>
          <a:xfrm>
            <a:off x="886968" y="1618488"/>
            <a:ext cx="466344" cy="466344"/>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a:solidFill>
                  <a:schemeClr val="bg1"/>
                </a:solidFill>
              </a:rPr>
              <a:t>1</a:t>
            </a:r>
          </a:p>
        </p:txBody>
      </p:sp>
      <p:sp>
        <p:nvSpPr>
          <p:cNvPr id="5" name="Topic 1"/>
          <p:cNvSpPr txBox="1"/>
          <p:nvPr/>
        </p:nvSpPr>
        <p:spPr>
          <a:xfrm>
            <a:off x="1508760" y="1499616"/>
            <a:ext cx="3063240" cy="704088"/>
          </a:xfrm>
          <a:prstGeom prst="rect">
            <a:avLst/>
          </a:prstGeom>
          <a:noFill/>
        </p:spPr>
        <p:txBody>
          <a:bodyPr wrap="square" anchor="ctr" lIns="45720" rIns="45720" tIns="27432" bIns="27432">
            <a:noAutofit/>
          </a:bodyPr>
          <a:lstStyle/>
          <a:p>
            <a:pPr algn="l">
              <a:spcAft>
                <a:spcPts val="0"/>
              </a:spcAft>
            </a:pPr>
            <a:r>
              <a:rPr sz="1400" b="0" i="0">
                <a:solidFill>
                  <a:schemeClr val="tx2"/>
                </a:solidFill>
              </a:rPr>
              <a:t>Bivariate Data &amp; Scatter Diagrams</a:t>
            </a:r>
          </a:p>
        </p:txBody>
      </p:sp>
      <p:sp>
        <p:nvSpPr>
          <p:cNvPr id="6" name="Topic card 2"/>
          <p:cNvSpPr/>
          <p:nvPr/>
        </p:nvSpPr>
        <p:spPr>
          <a:xfrm>
            <a:off x="731520" y="2377440"/>
            <a:ext cx="3931920" cy="77724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adge"/>
          <p:cNvSpPr/>
          <p:nvPr/>
        </p:nvSpPr>
        <p:spPr>
          <a:xfrm>
            <a:off x="886968" y="2532888"/>
            <a:ext cx="466344" cy="466344"/>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a:solidFill>
                  <a:schemeClr val="bg1"/>
                </a:solidFill>
              </a:rPr>
              <a:t>2</a:t>
            </a:r>
          </a:p>
        </p:txBody>
      </p:sp>
      <p:sp>
        <p:nvSpPr>
          <p:cNvPr id="8" name="Topic 2"/>
          <p:cNvSpPr txBox="1"/>
          <p:nvPr/>
        </p:nvSpPr>
        <p:spPr>
          <a:xfrm>
            <a:off x="1508760" y="2414016"/>
            <a:ext cx="3063240" cy="704088"/>
          </a:xfrm>
          <a:prstGeom prst="rect">
            <a:avLst/>
          </a:prstGeom>
          <a:noFill/>
        </p:spPr>
        <p:txBody>
          <a:bodyPr wrap="square" anchor="ctr" lIns="45720" rIns="45720" tIns="27432" bIns="27432">
            <a:noAutofit/>
          </a:bodyPr>
          <a:lstStyle/>
          <a:p>
            <a:pPr algn="l">
              <a:spcAft>
                <a:spcPts val="0"/>
              </a:spcAft>
            </a:pPr>
            <a:r>
              <a:rPr sz="1400" b="0" i="0">
                <a:solidFill>
                  <a:schemeClr val="tx2"/>
                </a:solidFill>
              </a:rPr>
              <a:t>Types of Correlation</a:t>
            </a:r>
          </a:p>
        </p:txBody>
      </p:sp>
      <p:sp>
        <p:nvSpPr>
          <p:cNvPr id="9" name="Topic card 3"/>
          <p:cNvSpPr/>
          <p:nvPr/>
        </p:nvSpPr>
        <p:spPr>
          <a:xfrm>
            <a:off x="731520" y="3291840"/>
            <a:ext cx="3931920" cy="77724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adge"/>
          <p:cNvSpPr/>
          <p:nvPr/>
        </p:nvSpPr>
        <p:spPr>
          <a:xfrm>
            <a:off x="886968" y="3447288"/>
            <a:ext cx="466344" cy="466344"/>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a:solidFill>
                  <a:schemeClr val="bg1"/>
                </a:solidFill>
              </a:rPr>
              <a:t>3</a:t>
            </a:r>
          </a:p>
        </p:txBody>
      </p:sp>
      <p:sp>
        <p:nvSpPr>
          <p:cNvPr id="11" name="Topic 3"/>
          <p:cNvSpPr txBox="1"/>
          <p:nvPr/>
        </p:nvSpPr>
        <p:spPr>
          <a:xfrm>
            <a:off x="1508760" y="3328416"/>
            <a:ext cx="3063240" cy="704088"/>
          </a:xfrm>
          <a:prstGeom prst="rect">
            <a:avLst/>
          </a:prstGeom>
          <a:noFill/>
        </p:spPr>
        <p:txBody>
          <a:bodyPr wrap="square" anchor="ctr" lIns="45720" rIns="45720" tIns="27432" bIns="27432">
            <a:noAutofit/>
          </a:bodyPr>
          <a:lstStyle/>
          <a:p>
            <a:pPr algn="l">
              <a:spcAft>
                <a:spcPts val="0"/>
              </a:spcAft>
            </a:pPr>
            <a:r>
              <a:rPr sz="1400" b="0" i="0">
                <a:solidFill>
                  <a:schemeClr val="tx2"/>
                </a:solidFill>
              </a:rPr>
              <a:t>Karl Pearson's Coefficient of Correlation</a:t>
            </a:r>
          </a:p>
        </p:txBody>
      </p:sp>
      <p:sp>
        <p:nvSpPr>
          <p:cNvPr id="12" name="Topic card 4"/>
          <p:cNvSpPr/>
          <p:nvPr/>
        </p:nvSpPr>
        <p:spPr>
          <a:xfrm>
            <a:off x="731520" y="4206240"/>
            <a:ext cx="3931920" cy="77724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adge"/>
          <p:cNvSpPr/>
          <p:nvPr/>
        </p:nvSpPr>
        <p:spPr>
          <a:xfrm>
            <a:off x="886968" y="4361688"/>
            <a:ext cx="466344" cy="466344"/>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a:solidFill>
                  <a:schemeClr val="bg1"/>
                </a:solidFill>
              </a:rPr>
              <a:t>4</a:t>
            </a:r>
          </a:p>
        </p:txBody>
      </p:sp>
      <p:sp>
        <p:nvSpPr>
          <p:cNvPr id="14" name="Topic 4"/>
          <p:cNvSpPr txBox="1"/>
          <p:nvPr/>
        </p:nvSpPr>
        <p:spPr>
          <a:xfrm>
            <a:off x="1508760" y="4242816"/>
            <a:ext cx="3063240" cy="704088"/>
          </a:xfrm>
          <a:prstGeom prst="rect">
            <a:avLst/>
          </a:prstGeom>
          <a:noFill/>
        </p:spPr>
        <p:txBody>
          <a:bodyPr wrap="square" anchor="ctr" lIns="45720" rIns="45720" tIns="27432" bIns="27432">
            <a:noAutofit/>
          </a:bodyPr>
          <a:lstStyle/>
          <a:p>
            <a:pPr algn="l">
              <a:spcAft>
                <a:spcPts val="0"/>
              </a:spcAft>
            </a:pPr>
            <a:r>
              <a:rPr sz="1400" b="0" i="0">
                <a:solidFill>
                  <a:schemeClr val="tx2"/>
                </a:solidFill>
              </a:rPr>
              <a:t>Spearman's Rank Correlation</a:t>
            </a:r>
          </a:p>
        </p:txBody>
      </p:sp>
      <p:sp>
        <p:nvSpPr>
          <p:cNvPr id="15" name="Topic card 5"/>
          <p:cNvSpPr/>
          <p:nvPr/>
        </p:nvSpPr>
        <p:spPr>
          <a:xfrm>
            <a:off x="731520" y="5120640"/>
            <a:ext cx="3931920" cy="77724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adge"/>
          <p:cNvSpPr/>
          <p:nvPr/>
        </p:nvSpPr>
        <p:spPr>
          <a:xfrm>
            <a:off x="886968" y="5276088"/>
            <a:ext cx="466344" cy="466344"/>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a:solidFill>
                  <a:schemeClr val="bg1"/>
                </a:solidFill>
              </a:rPr>
              <a:t>5</a:t>
            </a:r>
          </a:p>
        </p:txBody>
      </p:sp>
      <p:sp>
        <p:nvSpPr>
          <p:cNvPr id="17" name="Topic 5"/>
          <p:cNvSpPr txBox="1"/>
          <p:nvPr/>
        </p:nvSpPr>
        <p:spPr>
          <a:xfrm>
            <a:off x="1508760" y="5157216"/>
            <a:ext cx="3063240" cy="704088"/>
          </a:xfrm>
          <a:prstGeom prst="rect">
            <a:avLst/>
          </a:prstGeom>
          <a:noFill/>
        </p:spPr>
        <p:txBody>
          <a:bodyPr wrap="square" anchor="ctr" lIns="45720" rIns="45720" tIns="27432" bIns="27432">
            <a:noAutofit/>
          </a:bodyPr>
          <a:lstStyle/>
          <a:p>
            <a:pPr algn="l">
              <a:spcAft>
                <a:spcPts val="0"/>
              </a:spcAft>
            </a:pPr>
            <a:r>
              <a:rPr sz="1400" b="0" i="0">
                <a:solidFill>
                  <a:schemeClr val="tx2"/>
                </a:solidFill>
              </a:rPr>
              <a:t>Properties &amp; Interpretation of r</a:t>
            </a:r>
          </a:p>
        </p:txBody>
      </p:sp>
      <p:sp>
        <p:nvSpPr>
          <p:cNvPr id="18" name="Topic card 6"/>
          <p:cNvSpPr/>
          <p:nvPr/>
        </p:nvSpPr>
        <p:spPr>
          <a:xfrm>
            <a:off x="4846320" y="1463040"/>
            <a:ext cx="3931920" cy="77724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dge"/>
          <p:cNvSpPr/>
          <p:nvPr/>
        </p:nvSpPr>
        <p:spPr>
          <a:xfrm>
            <a:off x="5001768" y="1618488"/>
            <a:ext cx="466344" cy="466344"/>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a:solidFill>
                  <a:schemeClr val="bg1"/>
                </a:solidFill>
              </a:rPr>
              <a:t>6</a:t>
            </a:r>
          </a:p>
        </p:txBody>
      </p:sp>
      <p:sp>
        <p:nvSpPr>
          <p:cNvPr id="20" name="Topic 6"/>
          <p:cNvSpPr txBox="1"/>
          <p:nvPr/>
        </p:nvSpPr>
        <p:spPr>
          <a:xfrm>
            <a:off x="5623559" y="1499616"/>
            <a:ext cx="3063240" cy="704088"/>
          </a:xfrm>
          <a:prstGeom prst="rect">
            <a:avLst/>
          </a:prstGeom>
          <a:noFill/>
        </p:spPr>
        <p:txBody>
          <a:bodyPr wrap="square" anchor="ctr" lIns="45720" rIns="45720" tIns="27432" bIns="27432">
            <a:noAutofit/>
          </a:bodyPr>
          <a:lstStyle/>
          <a:p>
            <a:pPr algn="l">
              <a:spcAft>
                <a:spcPts val="0"/>
              </a:spcAft>
            </a:pPr>
            <a:r>
              <a:rPr sz="1400" b="0" i="0">
                <a:solidFill>
                  <a:schemeClr val="tx2"/>
                </a:solidFill>
              </a:rPr>
              <a:t>Regression — Concept &amp; Lines</a:t>
            </a:r>
          </a:p>
        </p:txBody>
      </p:sp>
      <p:sp>
        <p:nvSpPr>
          <p:cNvPr id="21" name="Topic card 7"/>
          <p:cNvSpPr/>
          <p:nvPr/>
        </p:nvSpPr>
        <p:spPr>
          <a:xfrm>
            <a:off x="4846320" y="2377440"/>
            <a:ext cx="3931920" cy="77724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dge"/>
          <p:cNvSpPr/>
          <p:nvPr/>
        </p:nvSpPr>
        <p:spPr>
          <a:xfrm>
            <a:off x="5001768" y="2532888"/>
            <a:ext cx="466344" cy="466344"/>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a:solidFill>
                  <a:schemeClr val="bg1"/>
                </a:solidFill>
              </a:rPr>
              <a:t>7</a:t>
            </a:r>
          </a:p>
        </p:txBody>
      </p:sp>
      <p:sp>
        <p:nvSpPr>
          <p:cNvPr id="23" name="Topic 7"/>
          <p:cNvSpPr txBox="1"/>
          <p:nvPr/>
        </p:nvSpPr>
        <p:spPr>
          <a:xfrm>
            <a:off x="5623559" y="2414016"/>
            <a:ext cx="3063240" cy="704088"/>
          </a:xfrm>
          <a:prstGeom prst="rect">
            <a:avLst/>
          </a:prstGeom>
          <a:noFill/>
        </p:spPr>
        <p:txBody>
          <a:bodyPr wrap="square" anchor="ctr" lIns="45720" rIns="45720" tIns="27432" bIns="27432">
            <a:noAutofit/>
          </a:bodyPr>
          <a:lstStyle/>
          <a:p>
            <a:pPr algn="l">
              <a:spcAft>
                <a:spcPts val="0"/>
              </a:spcAft>
            </a:pPr>
            <a:r>
              <a:rPr sz="1400" b="0" i="0">
                <a:solidFill>
                  <a:schemeClr val="tx2"/>
                </a:solidFill>
              </a:rPr>
              <a:t>Regression Equations &amp; Coefficients</a:t>
            </a:r>
          </a:p>
        </p:txBody>
      </p:sp>
      <p:sp>
        <p:nvSpPr>
          <p:cNvPr id="24" name="Topic card 8"/>
          <p:cNvSpPr/>
          <p:nvPr/>
        </p:nvSpPr>
        <p:spPr>
          <a:xfrm>
            <a:off x="4846320" y="3291840"/>
            <a:ext cx="3931920" cy="77724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dge"/>
          <p:cNvSpPr/>
          <p:nvPr/>
        </p:nvSpPr>
        <p:spPr>
          <a:xfrm>
            <a:off x="5001768" y="3447288"/>
            <a:ext cx="466344" cy="466344"/>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a:solidFill>
                  <a:schemeClr val="bg1"/>
                </a:solidFill>
              </a:rPr>
              <a:t>8</a:t>
            </a:r>
          </a:p>
        </p:txBody>
      </p:sp>
      <p:sp>
        <p:nvSpPr>
          <p:cNvPr id="26" name="Topic 8"/>
          <p:cNvSpPr txBox="1"/>
          <p:nvPr/>
        </p:nvSpPr>
        <p:spPr>
          <a:xfrm>
            <a:off x="5623559" y="3328416"/>
            <a:ext cx="3063240" cy="704088"/>
          </a:xfrm>
          <a:prstGeom prst="rect">
            <a:avLst/>
          </a:prstGeom>
          <a:noFill/>
        </p:spPr>
        <p:txBody>
          <a:bodyPr wrap="square" anchor="ctr" lIns="45720" rIns="45720" tIns="27432" bIns="27432">
            <a:noAutofit/>
          </a:bodyPr>
          <a:lstStyle/>
          <a:p>
            <a:pPr algn="l">
              <a:spcAft>
                <a:spcPts val="0"/>
              </a:spcAft>
            </a:pPr>
            <a:r>
              <a:rPr sz="1400" b="0" i="0">
                <a:solidFill>
                  <a:schemeClr val="tx2"/>
                </a:solidFill>
              </a:rPr>
              <a:t>Method of Least Squares &amp; Curve Fitting</a:t>
            </a:r>
          </a:p>
        </p:txBody>
      </p:sp>
      <p:sp>
        <p:nvSpPr>
          <p:cNvPr id="27" name="Topic card 9"/>
          <p:cNvSpPr/>
          <p:nvPr/>
        </p:nvSpPr>
        <p:spPr>
          <a:xfrm>
            <a:off x="4846320" y="4206240"/>
            <a:ext cx="3931920" cy="77724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dge"/>
          <p:cNvSpPr/>
          <p:nvPr/>
        </p:nvSpPr>
        <p:spPr>
          <a:xfrm>
            <a:off x="5001768" y="4361688"/>
            <a:ext cx="466344" cy="466344"/>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a:solidFill>
                  <a:schemeClr val="bg1"/>
                </a:solidFill>
              </a:rPr>
              <a:t>9</a:t>
            </a:r>
          </a:p>
        </p:txBody>
      </p:sp>
      <p:sp>
        <p:nvSpPr>
          <p:cNvPr id="29" name="Topic 9"/>
          <p:cNvSpPr txBox="1"/>
          <p:nvPr/>
        </p:nvSpPr>
        <p:spPr>
          <a:xfrm>
            <a:off x="5623559" y="4242816"/>
            <a:ext cx="3063240" cy="704088"/>
          </a:xfrm>
          <a:prstGeom prst="rect">
            <a:avLst/>
          </a:prstGeom>
          <a:noFill/>
        </p:spPr>
        <p:txBody>
          <a:bodyPr wrap="square" anchor="ctr" lIns="45720" rIns="45720" tIns="27432" bIns="27432">
            <a:noAutofit/>
          </a:bodyPr>
          <a:lstStyle/>
          <a:p>
            <a:pPr algn="l">
              <a:spcAft>
                <a:spcPts val="0"/>
              </a:spcAft>
            </a:pPr>
            <a:r>
              <a:rPr sz="1400" b="0" i="0">
                <a:solidFill>
                  <a:schemeClr val="tx2"/>
                </a:solidFill>
              </a:rPr>
              <a:t>Worked Example</a:t>
            </a:r>
          </a:p>
        </p:txBody>
      </p:sp>
      <p:sp>
        <p:nvSpPr>
          <p:cNvPr id="30" name="Topic card 10"/>
          <p:cNvSpPr/>
          <p:nvPr/>
        </p:nvSpPr>
        <p:spPr>
          <a:xfrm>
            <a:off x="4846320" y="5120640"/>
            <a:ext cx="3931920" cy="77724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dge"/>
          <p:cNvSpPr/>
          <p:nvPr/>
        </p:nvSpPr>
        <p:spPr>
          <a:xfrm>
            <a:off x="5001768" y="5276088"/>
            <a:ext cx="466344" cy="466344"/>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a:solidFill>
                  <a:schemeClr val="bg1"/>
                </a:solidFill>
              </a:rPr>
              <a:t>10</a:t>
            </a:r>
          </a:p>
        </p:txBody>
      </p:sp>
      <p:sp>
        <p:nvSpPr>
          <p:cNvPr id="32" name="Topic 10"/>
          <p:cNvSpPr txBox="1"/>
          <p:nvPr/>
        </p:nvSpPr>
        <p:spPr>
          <a:xfrm>
            <a:off x="5623559" y="5157216"/>
            <a:ext cx="3063240" cy="704088"/>
          </a:xfrm>
          <a:prstGeom prst="rect">
            <a:avLst/>
          </a:prstGeom>
          <a:noFill/>
        </p:spPr>
        <p:txBody>
          <a:bodyPr wrap="square" anchor="ctr" lIns="45720" rIns="45720" tIns="27432" bIns="27432">
            <a:noAutofit/>
          </a:bodyPr>
          <a:lstStyle/>
          <a:p>
            <a:pPr algn="l">
              <a:spcAft>
                <a:spcPts val="0"/>
              </a:spcAft>
            </a:pPr>
            <a:r>
              <a:rPr sz="1400" b="0" i="0">
                <a:solidFill>
                  <a:schemeClr val="tx2"/>
                </a:solidFill>
              </a:rPr>
              <a:t>Coefficient of Determination, Limitations &amp; Applications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Seeing the Relationship — Scatter Diagrams</a:t>
            </a:r>
          </a:p>
        </p:txBody>
      </p:sp>
      <p:sp>
        <p:nvSpPr>
          <p:cNvPr id="3" name="Bullets left"/>
          <p:cNvSpPr txBox="1"/>
          <p:nvPr/>
        </p:nvSpPr>
        <p:spPr>
          <a:xfrm>
            <a:off x="731520" y="1371600"/>
            <a:ext cx="3931920" cy="2011680"/>
          </a:xfrm>
          <a:prstGeom prst="rect">
            <a:avLst/>
          </a:prstGeom>
          <a:noFill/>
        </p:spPr>
        <p:txBody>
          <a:bodyPr wrap="square" anchor="t" lIns="45720" rIns="45720" tIns="27432" bIns="27432">
            <a:noAutofit/>
          </a:bodyPr>
          <a:lstStyle/>
          <a:p>
            <a:pPr algn="l" marL="219456" indent="-219456">
              <a:spcAft>
                <a:spcPts val="600"/>
              </a:spcAft>
              <a:buClr>
                <a:schemeClr val="accent2">
                  <a:lumMod val="75000"/>
                </a:schemeClr>
              </a:buClr>
              <a:buFont typeface="Arial"/>
              <a:buChar char="•"/>
            </a:pPr>
            <a:r>
              <a:rPr sz="1400" b="0" i="0">
                <a:solidFill>
                  <a:schemeClr val="tx2"/>
                </a:solidFill>
              </a:rPr>
              <a:t>A </a:t>
            </a:r>
            <a:r>
              <a:rPr sz="1400" b="1" i="0">
                <a:solidFill>
                  <a:schemeClr val="tx2"/>
                </a:solidFill>
              </a:rPr>
              <a:t>scatter diagram</a:t>
            </a:r>
            <a:r>
              <a:rPr sz="1400" b="0" i="0">
                <a:solidFill>
                  <a:schemeClr val="tx2"/>
                </a:solidFill>
              </a:rPr>
              <a:t> plots each pair (</a:t>
            </a:r>
            <a:r>
              <a:rPr sz="1400" b="0" i="1">
                <a:solidFill>
                  <a:schemeClr val="tx2"/>
                </a:solidFill>
                <a:latin typeface="Cambria Math"/>
              </a:rPr>
              <a:t>x</a:t>
            </a:r>
            <a:r>
              <a:rPr sz="1400" b="0" i="0">
                <a:solidFill>
                  <a:schemeClr val="tx2"/>
                </a:solidFill>
              </a:rPr>
              <a:t>, </a:t>
            </a:r>
            <a:r>
              <a:rPr sz="1400" b="0" i="1">
                <a:solidFill>
                  <a:schemeClr val="tx2"/>
                </a:solidFill>
                <a:latin typeface="Cambria Math"/>
              </a:rPr>
              <a:t>y</a:t>
            </a:r>
            <a:r>
              <a:rPr sz="1400" b="0" i="0">
                <a:solidFill>
                  <a:schemeClr val="tx2"/>
                </a:solidFill>
              </a:rPr>
              <a:t>) as a point.</a:t>
            </a:r>
          </a:p>
          <a:p>
            <a:pPr algn="l" marL="219456" indent="-219456">
              <a:spcAft>
                <a:spcPts val="600"/>
              </a:spcAft>
              <a:buClr>
                <a:schemeClr val="accent2">
                  <a:lumMod val="75000"/>
                </a:schemeClr>
              </a:buClr>
              <a:buFont typeface="Arial"/>
              <a:buChar char="•"/>
            </a:pPr>
            <a:r>
              <a:rPr sz="1400" b="0" i="0">
                <a:solidFill>
                  <a:schemeClr val="tx2"/>
                </a:solidFill>
              </a:rPr>
              <a:t>The overall </a:t>
            </a:r>
            <a:r>
              <a:rPr sz="1400" b="0" i="1">
                <a:solidFill>
                  <a:schemeClr val="tx2"/>
                </a:solidFill>
              </a:rPr>
              <a:t>shape</a:t>
            </a:r>
            <a:r>
              <a:rPr sz="1400" b="0" i="0">
                <a:solidFill>
                  <a:schemeClr val="tx2"/>
                </a:solidFill>
              </a:rPr>
              <a:t> of the cloud reveals the relationship before any calculation.</a:t>
            </a:r>
          </a:p>
          <a:p>
            <a:pPr algn="l" marL="219456" indent="-219456">
              <a:spcAft>
                <a:spcPts val="600"/>
              </a:spcAft>
              <a:buClr>
                <a:schemeClr val="accent2">
                  <a:lumMod val="75000"/>
                </a:schemeClr>
              </a:buClr>
              <a:buFont typeface="Arial"/>
              <a:buChar char="•"/>
            </a:pPr>
            <a:r>
              <a:rPr sz="1400" b="0" i="0">
                <a:solidFill>
                  <a:schemeClr val="tx2"/>
                </a:solidFill>
              </a:rPr>
              <a:t>Closer to a straight line → stronger </a:t>
            </a:r>
            <a:r>
              <a:rPr sz="1400" b="1" i="0">
                <a:solidFill>
                  <a:schemeClr val="tx2"/>
                </a:solidFill>
              </a:rPr>
              <a:t>linear</a:t>
            </a:r>
            <a:r>
              <a:rPr sz="1400" b="0" i="0">
                <a:solidFill>
                  <a:schemeClr val="tx2"/>
                </a:solidFill>
              </a:rPr>
              <a:t> relationship.</a:t>
            </a:r>
          </a:p>
        </p:txBody>
      </p:sp>
      <p:sp>
        <p:nvSpPr>
          <p:cNvPr id="4" name="Bullets right"/>
          <p:cNvSpPr txBox="1"/>
          <p:nvPr/>
        </p:nvSpPr>
        <p:spPr>
          <a:xfrm>
            <a:off x="4846320" y="1371600"/>
            <a:ext cx="3931920" cy="2011680"/>
          </a:xfrm>
          <a:prstGeom prst="rect">
            <a:avLst/>
          </a:prstGeom>
          <a:noFill/>
        </p:spPr>
        <p:txBody>
          <a:bodyPr wrap="square" anchor="t" lIns="45720" rIns="45720" tIns="27432" bIns="27432">
            <a:noAutofit/>
          </a:bodyPr>
          <a:lstStyle/>
          <a:p>
            <a:pPr algn="l" marL="219456" indent="-219456">
              <a:spcAft>
                <a:spcPts val="600"/>
              </a:spcAft>
              <a:buClr>
                <a:schemeClr val="accent2">
                  <a:lumMod val="75000"/>
                </a:schemeClr>
              </a:buClr>
              <a:buFont typeface="Arial"/>
              <a:buChar char="•"/>
            </a:pPr>
            <a:r>
              <a:rPr sz="1400" b="0" i="0">
                <a:solidFill>
                  <a:schemeClr val="tx2"/>
                </a:solidFill>
              </a:rPr>
              <a:t>No pattern → little or no linear relationship.</a:t>
            </a:r>
          </a:p>
          <a:p>
            <a:pPr algn="l" marL="219456" indent="-219456">
              <a:spcAft>
                <a:spcPts val="600"/>
              </a:spcAft>
              <a:buClr>
                <a:schemeClr val="accent2">
                  <a:lumMod val="75000"/>
                </a:schemeClr>
              </a:buClr>
              <a:buFont typeface="Arial"/>
              <a:buChar char="•"/>
            </a:pPr>
            <a:r>
              <a:rPr sz="1400" b="0" i="0">
                <a:solidFill>
                  <a:schemeClr val="tx2"/>
                </a:solidFill>
              </a:rPr>
              <a:t>A scatter plot is the first, free check — always plot before computing.</a:t>
            </a:r>
          </a:p>
          <a:p>
            <a:pPr algn="l" marL="219456" indent="-219456">
              <a:spcAft>
                <a:spcPts val="600"/>
              </a:spcAft>
              <a:buClr>
                <a:schemeClr val="accent2">
                  <a:lumMod val="75000"/>
                </a:schemeClr>
              </a:buClr>
              <a:buFont typeface="Arial"/>
              <a:buChar char="•"/>
            </a:pPr>
            <a:r>
              <a:rPr sz="1400" b="0" i="0">
                <a:solidFill>
                  <a:schemeClr val="tx2"/>
                </a:solidFill>
              </a:rPr>
              <a:t>It also exposes </a:t>
            </a:r>
            <a:r>
              <a:rPr sz="1400" b="1" i="0">
                <a:solidFill>
                  <a:schemeClr val="tx2"/>
                </a:solidFill>
              </a:rPr>
              <a:t>outliers</a:t>
            </a:r>
            <a:r>
              <a:rPr sz="1400" b="0" i="0">
                <a:solidFill>
                  <a:schemeClr val="tx2"/>
                </a:solidFill>
              </a:rPr>
              <a:t> and non-linear (curved) patterns.</a:t>
            </a:r>
          </a:p>
        </p:txBody>
      </p:sp>
      <p:sp>
        <p:nvSpPr>
          <p:cNvPr id="5" name="Panel 1"/>
          <p:cNvSpPr/>
          <p:nvPr/>
        </p:nvSpPr>
        <p:spPr>
          <a:xfrm>
            <a:off x="731520" y="3520440"/>
            <a:ext cx="1965960" cy="274320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Scatter Strong positive"/>
          <p:cNvGraphicFramePr>
            <a:graphicFrameLocks noGrp="1"/>
          </p:cNvGraphicFramePr>
          <p:nvPr/>
        </p:nvGraphicFramePr>
        <p:xfrm>
          <a:off x="777240" y="3566160"/>
          <a:ext cx="1874519" cy="1920240"/>
        </p:xfrm>
        <a:graphic>
          <a:graphicData uri="http://schemas.openxmlformats.org/drawingml/2006/chart">
            <c:chart xmlns:c="http://schemas.openxmlformats.org/drawingml/2006/chart" r:id="rId3"/>
          </a:graphicData>
        </a:graphic>
      </p:graphicFrame>
      <p:sp>
        <p:nvSpPr>
          <p:cNvPr id="7" name="Caption Strong positive"/>
          <p:cNvSpPr txBox="1"/>
          <p:nvPr/>
        </p:nvSpPr>
        <p:spPr>
          <a:xfrm>
            <a:off x="777240" y="5532120"/>
            <a:ext cx="1874519" cy="640080"/>
          </a:xfrm>
          <a:prstGeom prst="rect">
            <a:avLst/>
          </a:prstGeom>
          <a:noFill/>
        </p:spPr>
        <p:txBody>
          <a:bodyPr wrap="square" anchor="t" lIns="45720" rIns="45720" tIns="27432" bIns="27432">
            <a:noAutofit/>
          </a:bodyPr>
          <a:lstStyle/>
          <a:p>
            <a:pPr algn="ctr">
              <a:spcAft>
                <a:spcPts val="0"/>
              </a:spcAft>
            </a:pPr>
            <a:r>
              <a:rPr sz="1200" b="1" i="0">
                <a:solidFill>
                  <a:schemeClr val="tx2"/>
                </a:solidFill>
              </a:rPr>
              <a:t>Strong positive</a:t>
            </a:r>
          </a:p>
          <a:p>
            <a:pPr algn="ctr">
              <a:spcAft>
                <a:spcPts val="0"/>
              </a:spcAft>
            </a:pPr>
            <a:r>
              <a:rPr sz="1200" b="0" i="0">
                <a:solidFill>
                  <a:schemeClr val="tx2"/>
                </a:solidFill>
              </a:rPr>
              <a:t>r ≈ +0.95</a:t>
            </a:r>
          </a:p>
        </p:txBody>
      </p:sp>
      <p:sp>
        <p:nvSpPr>
          <p:cNvPr id="8" name="Panel 2"/>
          <p:cNvSpPr/>
          <p:nvPr/>
        </p:nvSpPr>
        <p:spPr>
          <a:xfrm>
            <a:off x="2788920" y="3520440"/>
            <a:ext cx="1965960" cy="274320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Scatter Weak positive"/>
          <p:cNvGraphicFramePr>
            <a:graphicFrameLocks noGrp="1"/>
          </p:cNvGraphicFramePr>
          <p:nvPr/>
        </p:nvGraphicFramePr>
        <p:xfrm>
          <a:off x="2834639" y="3566160"/>
          <a:ext cx="1874519" cy="1920240"/>
        </p:xfrm>
        <a:graphic>
          <a:graphicData uri="http://schemas.openxmlformats.org/drawingml/2006/chart">
            <c:chart xmlns:c="http://schemas.openxmlformats.org/drawingml/2006/chart" r:id="rId4"/>
          </a:graphicData>
        </a:graphic>
      </p:graphicFrame>
      <p:sp>
        <p:nvSpPr>
          <p:cNvPr id="10" name="Caption Weak positive"/>
          <p:cNvSpPr txBox="1"/>
          <p:nvPr/>
        </p:nvSpPr>
        <p:spPr>
          <a:xfrm>
            <a:off x="2834639" y="5532120"/>
            <a:ext cx="1874519" cy="640080"/>
          </a:xfrm>
          <a:prstGeom prst="rect">
            <a:avLst/>
          </a:prstGeom>
          <a:noFill/>
        </p:spPr>
        <p:txBody>
          <a:bodyPr wrap="square" anchor="t" lIns="45720" rIns="45720" tIns="27432" bIns="27432">
            <a:noAutofit/>
          </a:bodyPr>
          <a:lstStyle/>
          <a:p>
            <a:pPr algn="ctr">
              <a:spcAft>
                <a:spcPts val="0"/>
              </a:spcAft>
            </a:pPr>
            <a:r>
              <a:rPr sz="1200" b="1" i="0">
                <a:solidFill>
                  <a:schemeClr val="tx2"/>
                </a:solidFill>
              </a:rPr>
              <a:t>Weak positive</a:t>
            </a:r>
          </a:p>
          <a:p>
            <a:pPr algn="ctr">
              <a:spcAft>
                <a:spcPts val="0"/>
              </a:spcAft>
            </a:pPr>
            <a:r>
              <a:rPr sz="1200" b="0" i="0">
                <a:solidFill>
                  <a:schemeClr val="tx2"/>
                </a:solidFill>
              </a:rPr>
              <a:t>r ≈ +0.40</a:t>
            </a:r>
          </a:p>
        </p:txBody>
      </p:sp>
      <p:sp>
        <p:nvSpPr>
          <p:cNvPr id="11" name="Panel 3"/>
          <p:cNvSpPr/>
          <p:nvPr/>
        </p:nvSpPr>
        <p:spPr>
          <a:xfrm>
            <a:off x="4846320" y="3520440"/>
            <a:ext cx="1965960" cy="274320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Scatter Negative"/>
          <p:cNvGraphicFramePr>
            <a:graphicFrameLocks noGrp="1"/>
          </p:cNvGraphicFramePr>
          <p:nvPr/>
        </p:nvGraphicFramePr>
        <p:xfrm>
          <a:off x="4892040" y="3566160"/>
          <a:ext cx="1874519" cy="1920240"/>
        </p:xfrm>
        <a:graphic>
          <a:graphicData uri="http://schemas.openxmlformats.org/drawingml/2006/chart">
            <c:chart xmlns:c="http://schemas.openxmlformats.org/drawingml/2006/chart" r:id="rId5"/>
          </a:graphicData>
        </a:graphic>
      </p:graphicFrame>
      <p:sp>
        <p:nvSpPr>
          <p:cNvPr id="13" name="Caption Negative"/>
          <p:cNvSpPr txBox="1"/>
          <p:nvPr/>
        </p:nvSpPr>
        <p:spPr>
          <a:xfrm>
            <a:off x="4892040" y="5532120"/>
            <a:ext cx="1874519" cy="640080"/>
          </a:xfrm>
          <a:prstGeom prst="rect">
            <a:avLst/>
          </a:prstGeom>
          <a:noFill/>
        </p:spPr>
        <p:txBody>
          <a:bodyPr wrap="square" anchor="t" lIns="45720" rIns="45720" tIns="27432" bIns="27432">
            <a:noAutofit/>
          </a:bodyPr>
          <a:lstStyle/>
          <a:p>
            <a:pPr algn="ctr">
              <a:spcAft>
                <a:spcPts val="0"/>
              </a:spcAft>
            </a:pPr>
            <a:r>
              <a:rPr sz="1200" b="1" i="0">
                <a:solidFill>
                  <a:schemeClr val="tx2"/>
                </a:solidFill>
              </a:rPr>
              <a:t>Negative</a:t>
            </a:r>
          </a:p>
          <a:p>
            <a:pPr algn="ctr">
              <a:spcAft>
                <a:spcPts val="0"/>
              </a:spcAft>
            </a:pPr>
            <a:r>
              <a:rPr sz="1200" b="0" i="0">
                <a:solidFill>
                  <a:schemeClr val="tx2"/>
                </a:solidFill>
              </a:rPr>
              <a:t>r ≈ −0.85</a:t>
            </a:r>
          </a:p>
        </p:txBody>
      </p:sp>
      <p:sp>
        <p:nvSpPr>
          <p:cNvPr id="14" name="Panel 4"/>
          <p:cNvSpPr/>
          <p:nvPr/>
        </p:nvSpPr>
        <p:spPr>
          <a:xfrm>
            <a:off x="6903720" y="3520440"/>
            <a:ext cx="1965960" cy="274320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Scatter No correlation"/>
          <p:cNvGraphicFramePr>
            <a:graphicFrameLocks noGrp="1"/>
          </p:cNvGraphicFramePr>
          <p:nvPr/>
        </p:nvGraphicFramePr>
        <p:xfrm>
          <a:off x="6949440" y="3566160"/>
          <a:ext cx="1874519" cy="1920240"/>
        </p:xfrm>
        <a:graphic>
          <a:graphicData uri="http://schemas.openxmlformats.org/drawingml/2006/chart">
            <c:chart xmlns:c="http://schemas.openxmlformats.org/drawingml/2006/chart" r:id="rId6"/>
          </a:graphicData>
        </a:graphic>
      </p:graphicFrame>
      <p:sp>
        <p:nvSpPr>
          <p:cNvPr id="16" name="Caption No correlation"/>
          <p:cNvSpPr txBox="1"/>
          <p:nvPr/>
        </p:nvSpPr>
        <p:spPr>
          <a:xfrm>
            <a:off x="6949440" y="5532120"/>
            <a:ext cx="1874519" cy="640080"/>
          </a:xfrm>
          <a:prstGeom prst="rect">
            <a:avLst/>
          </a:prstGeom>
          <a:noFill/>
        </p:spPr>
        <p:txBody>
          <a:bodyPr wrap="square" anchor="t" lIns="45720" rIns="45720" tIns="27432" bIns="27432">
            <a:noAutofit/>
          </a:bodyPr>
          <a:lstStyle/>
          <a:p>
            <a:pPr algn="ctr">
              <a:spcAft>
                <a:spcPts val="0"/>
              </a:spcAft>
            </a:pPr>
            <a:r>
              <a:rPr sz="1200" b="1" i="0">
                <a:solidFill>
                  <a:schemeClr val="tx2"/>
                </a:solidFill>
              </a:rPr>
              <a:t>No correlation</a:t>
            </a:r>
          </a:p>
          <a:p>
            <a:pPr algn="ctr">
              <a:spcAft>
                <a:spcPts val="0"/>
              </a:spcAft>
            </a:pPr>
            <a:r>
              <a:rPr sz="1200" b="0" i="0">
                <a:solidFill>
                  <a:schemeClr val="tx2"/>
                </a:solidFill>
              </a:rPr>
              <a:t>r ≈ 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Types of Correlation</a:t>
            </a:r>
          </a:p>
        </p:txBody>
      </p:sp>
      <p:sp>
        <p:nvSpPr>
          <p:cNvPr id="3" name="Bullets"/>
          <p:cNvSpPr txBox="1"/>
          <p:nvPr/>
        </p:nvSpPr>
        <p:spPr>
          <a:xfrm>
            <a:off x="731520" y="1417320"/>
            <a:ext cx="4114800" cy="4846320"/>
          </a:xfrm>
          <a:prstGeom prst="rect">
            <a:avLst/>
          </a:prstGeom>
          <a:noFill/>
        </p:spPr>
        <p:txBody>
          <a:bodyPr wrap="square" anchor="t" lIns="45720" rIns="45720" tIns="27432" bIns="27432">
            <a:noAutofit/>
          </a:bodyPr>
          <a:lstStyle/>
          <a:p>
            <a:pPr algn="l" marL="219456" indent="-219456">
              <a:spcAft>
                <a:spcPts val="1000"/>
              </a:spcAft>
              <a:buClr>
                <a:schemeClr val="accent2">
                  <a:lumMod val="75000"/>
                </a:schemeClr>
              </a:buClr>
              <a:buFont typeface="Arial"/>
              <a:buChar char="•"/>
            </a:pPr>
            <a:r>
              <a:rPr sz="1600" b="1" i="0">
                <a:solidFill>
                  <a:schemeClr val="tx2"/>
                </a:solidFill>
              </a:rPr>
              <a:t>Positive correlation:</a:t>
            </a:r>
            <a:r>
              <a:rPr sz="1600" b="0" i="0">
                <a:solidFill>
                  <a:schemeClr val="tx2"/>
                </a:solidFill>
              </a:rPr>
              <a:t> </a:t>
            </a:r>
            <a:r>
              <a:rPr sz="1600" b="0" i="1">
                <a:solidFill>
                  <a:schemeClr val="tx2"/>
                </a:solidFill>
                <a:latin typeface="Cambria Math"/>
              </a:rPr>
              <a:t>x</a:t>
            </a:r>
            <a:r>
              <a:rPr sz="1600" b="0" i="0">
                <a:solidFill>
                  <a:schemeClr val="tx2"/>
                </a:solidFill>
              </a:rPr>
              <a:t> and </a:t>
            </a:r>
            <a:r>
              <a:rPr sz="1600" b="0" i="1">
                <a:solidFill>
                  <a:schemeClr val="tx2"/>
                </a:solidFill>
                <a:latin typeface="Cambria Math"/>
              </a:rPr>
              <a:t>y</a:t>
            </a:r>
            <a:r>
              <a:rPr sz="1600" b="0" i="0">
                <a:solidFill>
                  <a:schemeClr val="tx2"/>
                </a:solidFill>
              </a:rPr>
              <a:t> rise together (height vs weight).</a:t>
            </a:r>
          </a:p>
          <a:p>
            <a:pPr algn="l" marL="219456" indent="-219456">
              <a:spcAft>
                <a:spcPts val="1000"/>
              </a:spcAft>
              <a:buClr>
                <a:schemeClr val="accent2">
                  <a:lumMod val="75000"/>
                </a:schemeClr>
              </a:buClr>
              <a:buFont typeface="Arial"/>
              <a:buChar char="•"/>
            </a:pPr>
            <a:r>
              <a:rPr sz="1600" b="1" i="0">
                <a:solidFill>
                  <a:schemeClr val="tx2"/>
                </a:solidFill>
              </a:rPr>
              <a:t>Negative correlation:</a:t>
            </a:r>
            <a:r>
              <a:rPr sz="1600" b="0" i="0">
                <a:solidFill>
                  <a:schemeClr val="tx2"/>
                </a:solidFill>
              </a:rPr>
              <a:t> one rises as the other falls (price vs demand).</a:t>
            </a:r>
          </a:p>
          <a:p>
            <a:pPr algn="l" marL="219456" indent="-219456">
              <a:spcAft>
                <a:spcPts val="1000"/>
              </a:spcAft>
              <a:buClr>
                <a:schemeClr val="accent2">
                  <a:lumMod val="75000"/>
                </a:schemeClr>
              </a:buClr>
              <a:buFont typeface="Arial"/>
              <a:buChar char="•"/>
            </a:pPr>
            <a:r>
              <a:rPr sz="1600" b="1" i="0">
                <a:solidFill>
                  <a:schemeClr val="tx2"/>
                </a:solidFill>
              </a:rPr>
              <a:t>No correlation:</a:t>
            </a:r>
            <a:r>
              <a:rPr sz="1600" b="0" i="0">
                <a:solidFill>
                  <a:schemeClr val="tx2"/>
                </a:solidFill>
              </a:rPr>
              <a:t> no consistent pattern.</a:t>
            </a:r>
          </a:p>
          <a:p>
            <a:pPr algn="l" marL="219456" indent="-219456">
              <a:spcAft>
                <a:spcPts val="1000"/>
              </a:spcAft>
              <a:buClr>
                <a:schemeClr val="accent2">
                  <a:lumMod val="75000"/>
                </a:schemeClr>
              </a:buClr>
              <a:buFont typeface="Arial"/>
              <a:buChar char="•"/>
            </a:pPr>
            <a:r>
              <a:rPr sz="1600" b="1" i="0">
                <a:solidFill>
                  <a:schemeClr val="tx2"/>
                </a:solidFill>
              </a:rPr>
              <a:t>Linear vs non-linear:</a:t>
            </a:r>
            <a:r>
              <a:rPr sz="1600" b="0" i="0">
                <a:solidFill>
                  <a:schemeClr val="tx2"/>
                </a:solidFill>
              </a:rPr>
              <a:t> points near a line vs near a curve.</a:t>
            </a:r>
          </a:p>
          <a:p>
            <a:pPr algn="l" marL="219456" indent="-219456">
              <a:spcAft>
                <a:spcPts val="1000"/>
              </a:spcAft>
              <a:buClr>
                <a:schemeClr val="accent2">
                  <a:lumMod val="75000"/>
                </a:schemeClr>
              </a:buClr>
              <a:buFont typeface="Arial"/>
              <a:buChar char="•"/>
            </a:pPr>
            <a:r>
              <a:rPr sz="1600" b="1" i="0">
                <a:solidFill>
                  <a:schemeClr val="tx2"/>
                </a:solidFill>
              </a:rPr>
              <a:t>Simple / multiple / partial:</a:t>
            </a:r>
            <a:r>
              <a:rPr sz="1600" b="0" i="0">
                <a:solidFill>
                  <a:schemeClr val="tx2"/>
                </a:solidFill>
              </a:rPr>
              <a:t> two variables, more than two, or controlling others.</a:t>
            </a:r>
          </a:p>
          <a:p>
            <a:pPr algn="l" marL="219456" indent="-219456">
              <a:spcAft>
                <a:spcPts val="1000"/>
              </a:spcAft>
              <a:buClr>
                <a:schemeClr val="accent2">
                  <a:lumMod val="75000"/>
                </a:schemeClr>
              </a:buClr>
              <a:buFont typeface="Arial"/>
              <a:buChar char="•"/>
            </a:pPr>
            <a:r>
              <a:rPr sz="1600" b="0" i="0">
                <a:solidFill>
                  <a:schemeClr val="tx2"/>
                </a:solidFill>
              </a:rPr>
              <a:t>Correlation is about </a:t>
            </a:r>
            <a:r>
              <a:rPr sz="1600" b="1" i="0">
                <a:solidFill>
                  <a:schemeClr val="tx2"/>
                </a:solidFill>
              </a:rPr>
              <a:t>association</a:t>
            </a:r>
            <a:r>
              <a:rPr sz="1600" b="0" i="0">
                <a:solidFill>
                  <a:schemeClr val="tx2"/>
                </a:solidFill>
              </a:rPr>
              <a:t>, not necessarily </a:t>
            </a:r>
            <a:r>
              <a:rPr sz="1600" b="1" i="0">
                <a:solidFill>
                  <a:schemeClr val="tx2"/>
                </a:solidFill>
              </a:rPr>
              <a:t>causation</a:t>
            </a:r>
            <a:r>
              <a:rPr sz="1600" b="0" i="0">
                <a:solidFill>
                  <a:schemeClr val="tx2"/>
                </a:solidFill>
              </a:rPr>
              <a:t>.</a:t>
            </a:r>
          </a:p>
        </p:txBody>
      </p:sp>
      <p:sp>
        <p:nvSpPr>
          <p:cNvPr id="4" name="Panel Positive"/>
          <p:cNvSpPr/>
          <p:nvPr/>
        </p:nvSpPr>
        <p:spPr>
          <a:xfrm>
            <a:off x="5120640" y="1417320"/>
            <a:ext cx="1783080" cy="233172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Scatter Positive"/>
          <p:cNvGraphicFramePr>
            <a:graphicFrameLocks noGrp="1"/>
          </p:cNvGraphicFramePr>
          <p:nvPr/>
        </p:nvGraphicFramePr>
        <p:xfrm>
          <a:off x="5148072" y="1463040"/>
          <a:ext cx="1728216" cy="1737360"/>
        </p:xfrm>
        <a:graphic>
          <a:graphicData uri="http://schemas.openxmlformats.org/drawingml/2006/chart">
            <c:chart xmlns:c="http://schemas.openxmlformats.org/drawingml/2006/chart" r:id="rId3"/>
          </a:graphicData>
        </a:graphic>
      </p:graphicFrame>
      <p:sp>
        <p:nvSpPr>
          <p:cNvPr id="6" name="Caption Positive"/>
          <p:cNvSpPr txBox="1"/>
          <p:nvPr/>
        </p:nvSpPr>
        <p:spPr>
          <a:xfrm>
            <a:off x="5148072" y="3200400"/>
            <a:ext cx="1728216" cy="502920"/>
          </a:xfrm>
          <a:prstGeom prst="rect">
            <a:avLst/>
          </a:prstGeom>
          <a:noFill/>
        </p:spPr>
        <p:txBody>
          <a:bodyPr wrap="square" anchor="ctr" lIns="45720" rIns="45720" tIns="27432" bIns="27432">
            <a:noAutofit/>
          </a:bodyPr>
          <a:lstStyle/>
          <a:p>
            <a:pPr algn="ctr">
              <a:spcAft>
                <a:spcPts val="0"/>
              </a:spcAft>
            </a:pPr>
            <a:r>
              <a:rPr sz="1300" b="1" i="0">
                <a:solidFill>
                  <a:schemeClr val="tx2"/>
                </a:solidFill>
              </a:rPr>
              <a:t>Positive</a:t>
            </a:r>
          </a:p>
        </p:txBody>
      </p:sp>
      <p:sp>
        <p:nvSpPr>
          <p:cNvPr id="7" name="Panel Negative"/>
          <p:cNvSpPr/>
          <p:nvPr/>
        </p:nvSpPr>
        <p:spPr>
          <a:xfrm>
            <a:off x="6995159" y="1417320"/>
            <a:ext cx="1783080" cy="233172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Scatter Negative"/>
          <p:cNvGraphicFramePr>
            <a:graphicFrameLocks noGrp="1"/>
          </p:cNvGraphicFramePr>
          <p:nvPr/>
        </p:nvGraphicFramePr>
        <p:xfrm>
          <a:off x="7022592" y="1463040"/>
          <a:ext cx="1728216" cy="1737360"/>
        </p:xfrm>
        <a:graphic>
          <a:graphicData uri="http://schemas.openxmlformats.org/drawingml/2006/chart">
            <c:chart xmlns:c="http://schemas.openxmlformats.org/drawingml/2006/chart" r:id="rId4"/>
          </a:graphicData>
        </a:graphic>
      </p:graphicFrame>
      <p:sp>
        <p:nvSpPr>
          <p:cNvPr id="9" name="Caption Negative"/>
          <p:cNvSpPr txBox="1"/>
          <p:nvPr/>
        </p:nvSpPr>
        <p:spPr>
          <a:xfrm>
            <a:off x="7022592" y="3200400"/>
            <a:ext cx="1728216" cy="502920"/>
          </a:xfrm>
          <a:prstGeom prst="rect">
            <a:avLst/>
          </a:prstGeom>
          <a:noFill/>
        </p:spPr>
        <p:txBody>
          <a:bodyPr wrap="square" anchor="ctr" lIns="45720" rIns="45720" tIns="27432" bIns="27432">
            <a:noAutofit/>
          </a:bodyPr>
          <a:lstStyle/>
          <a:p>
            <a:pPr algn="ctr">
              <a:spcAft>
                <a:spcPts val="0"/>
              </a:spcAft>
            </a:pPr>
            <a:r>
              <a:rPr sz="1300" b="1" i="0">
                <a:solidFill>
                  <a:schemeClr val="tx2"/>
                </a:solidFill>
              </a:rPr>
              <a:t>Negative</a:t>
            </a:r>
          </a:p>
        </p:txBody>
      </p:sp>
      <p:sp>
        <p:nvSpPr>
          <p:cNvPr id="10" name="Panel None"/>
          <p:cNvSpPr/>
          <p:nvPr/>
        </p:nvSpPr>
        <p:spPr>
          <a:xfrm>
            <a:off x="5120640" y="3886200"/>
            <a:ext cx="1783080" cy="233172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Scatter None"/>
          <p:cNvGraphicFramePr>
            <a:graphicFrameLocks noGrp="1"/>
          </p:cNvGraphicFramePr>
          <p:nvPr/>
        </p:nvGraphicFramePr>
        <p:xfrm>
          <a:off x="5148072" y="3931920"/>
          <a:ext cx="1728216" cy="1737360"/>
        </p:xfrm>
        <a:graphic>
          <a:graphicData uri="http://schemas.openxmlformats.org/drawingml/2006/chart">
            <c:chart xmlns:c="http://schemas.openxmlformats.org/drawingml/2006/chart" r:id="rId5"/>
          </a:graphicData>
        </a:graphic>
      </p:graphicFrame>
      <p:sp>
        <p:nvSpPr>
          <p:cNvPr id="12" name="Caption None"/>
          <p:cNvSpPr txBox="1"/>
          <p:nvPr/>
        </p:nvSpPr>
        <p:spPr>
          <a:xfrm>
            <a:off x="5148072" y="5669280"/>
            <a:ext cx="1728216" cy="502920"/>
          </a:xfrm>
          <a:prstGeom prst="rect">
            <a:avLst/>
          </a:prstGeom>
          <a:noFill/>
        </p:spPr>
        <p:txBody>
          <a:bodyPr wrap="square" anchor="ctr" lIns="45720" rIns="45720" tIns="27432" bIns="27432">
            <a:noAutofit/>
          </a:bodyPr>
          <a:lstStyle/>
          <a:p>
            <a:pPr algn="ctr">
              <a:spcAft>
                <a:spcPts val="0"/>
              </a:spcAft>
            </a:pPr>
            <a:r>
              <a:rPr sz="1300" b="1" i="0">
                <a:solidFill>
                  <a:schemeClr val="tx2"/>
                </a:solidFill>
              </a:rPr>
              <a:t>None</a:t>
            </a:r>
          </a:p>
        </p:txBody>
      </p:sp>
      <p:sp>
        <p:nvSpPr>
          <p:cNvPr id="13" name="Panel Non-linear"/>
          <p:cNvSpPr/>
          <p:nvPr/>
        </p:nvSpPr>
        <p:spPr>
          <a:xfrm>
            <a:off x="6995159" y="3886200"/>
            <a:ext cx="1783080" cy="233172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Scatter Non-linear"/>
          <p:cNvGraphicFramePr>
            <a:graphicFrameLocks noGrp="1"/>
          </p:cNvGraphicFramePr>
          <p:nvPr/>
        </p:nvGraphicFramePr>
        <p:xfrm>
          <a:off x="7022592" y="3931920"/>
          <a:ext cx="1728216" cy="1737360"/>
        </p:xfrm>
        <a:graphic>
          <a:graphicData uri="http://schemas.openxmlformats.org/drawingml/2006/chart">
            <c:chart xmlns:c="http://schemas.openxmlformats.org/drawingml/2006/chart" r:id="rId6"/>
          </a:graphicData>
        </a:graphic>
      </p:graphicFrame>
      <p:sp>
        <p:nvSpPr>
          <p:cNvPr id="15" name="Caption Non-linear"/>
          <p:cNvSpPr txBox="1"/>
          <p:nvPr/>
        </p:nvSpPr>
        <p:spPr>
          <a:xfrm>
            <a:off x="7022592" y="5669280"/>
            <a:ext cx="1728216" cy="502920"/>
          </a:xfrm>
          <a:prstGeom prst="rect">
            <a:avLst/>
          </a:prstGeom>
          <a:noFill/>
        </p:spPr>
        <p:txBody>
          <a:bodyPr wrap="square" anchor="ctr" lIns="45720" rIns="45720" tIns="27432" bIns="27432">
            <a:noAutofit/>
          </a:bodyPr>
          <a:lstStyle/>
          <a:p>
            <a:pPr algn="ctr">
              <a:spcAft>
                <a:spcPts val="0"/>
              </a:spcAft>
            </a:pPr>
            <a:r>
              <a:rPr sz="1300" b="1" i="0">
                <a:solidFill>
                  <a:schemeClr val="tx2"/>
                </a:solidFill>
              </a:rPr>
              <a:t>Non-linear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Karl Pearson's Coefficient of Correlation</a:t>
            </a:r>
          </a:p>
        </p:txBody>
      </p:sp>
      <p:sp>
        <p:nvSpPr>
          <p:cNvPr id="3" name="Formula card"/>
          <p:cNvSpPr/>
          <p:nvPr/>
        </p:nvSpPr>
        <p:spPr>
          <a:xfrm>
            <a:off x="731520" y="1371600"/>
            <a:ext cx="8046720" cy="118872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ormula label"/>
          <p:cNvSpPr txBox="1"/>
          <p:nvPr/>
        </p:nvSpPr>
        <p:spPr>
          <a:xfrm>
            <a:off x="868680" y="1426464"/>
            <a:ext cx="7772400" cy="274320"/>
          </a:xfrm>
          <a:prstGeom prst="rect">
            <a:avLst/>
          </a:prstGeom>
          <a:noFill/>
        </p:spPr>
        <p:txBody>
          <a:bodyPr wrap="square" anchor="t" lIns="45720" rIns="45720" tIns="27432" bIns="27432">
            <a:noAutofit/>
          </a:bodyPr>
          <a:lstStyle/>
          <a:p>
            <a:pPr algn="l">
              <a:spcAft>
                <a:spcPts val="600"/>
              </a:spcAft>
            </a:pPr>
            <a:r>
              <a:rPr sz="1200" b="1" i="0">
                <a:solidFill>
                  <a:schemeClr val="accent2">
                    <a:lumMod val="75000"/>
                  </a:schemeClr>
                </a:solidFill>
              </a:rPr>
              <a:t>Definition</a:t>
            </a:r>
          </a:p>
        </p:txBody>
      </p:sp>
      <mc:AlternateContent xmlns:mc="http://schemas.openxmlformats.org/markup-compatibility/2006">
        <mc:Choice xmlns:a14="http://schemas.microsoft.com/office/drawing/2010/main" Requires="a14">
          <p:sp>
            <p:nvSpPr>
              <p:cNvPr id="5" name="Equation 5"/>
              <p:cNvSpPr txBox="1"/>
              <p:nvPr/>
            </p:nvSpPr>
            <p:spPr>
              <a:xfrm>
                <a:off x="822960" y="1645920"/>
                <a:ext cx="7863840" cy="868680"/>
              </a:xfrm>
              <a:prstGeom prst="rect">
                <a:avLst/>
              </a:prstGeom>
              <a:noFill/>
            </p:spPr>
            <p:txBody>
              <a:bodyPr wrap="square" lIns="45720" tIns="0" rIns="45720" bIns="0" rtlCol="0" anchor="ctr">
                <a:noAutofit/>
              </a:bodyPr>
              <a:lstStyle/>
              <a:p>
                <a:pPr algn="c"/>
                <a14:m>
                  <m:oMathPara xmlns:m="http://schemas.openxmlformats.org/officeDocument/2006/math">
                    <m:oMathParaPr>
                      <m:jc m:val="centerGroup"/>
                    </m:oMathParaPr>
                    <m:oMath>
                      <m:r>
                        <a:rPr lang="en-US" sz="2000" i="1">
                          <a:solidFill>
                            <a:srgbClr val="2C3C43"/>
                          </a:solidFill>
                          <a:latin typeface="Cambria Math" panose="02040503050406030204" pitchFamily="18" charset="0"/>
                          <a:cs typeface="Cambria Math" panose="02040503050406030204" pitchFamily="18" charset="0"/>
                        </a:rPr>
                        <m:t>r</m:t>
                      </m:r>
                      <m:r>
                        <a:rPr lang="en-US" sz="2000" i="1">
                          <a:solidFill>
                            <a:srgbClr val="2C3C43"/>
                          </a:solidFill>
                          <a:latin typeface="Cambria Math" panose="02040503050406030204" pitchFamily="18" charset="0"/>
                          <a:cs typeface="Cambria Math" panose="02040503050406030204" pitchFamily="18" charset="0"/>
                        </a:rPr>
                        <m:t>=</m:t>
                      </m:r>
                      <m:f>
                        <m:fPr>
                          <m:ctrlPr>
                            <a:rPr lang="en-US" sz="2000" i="1">
                              <a:solidFill>
                                <a:srgbClr val="2C3C43"/>
                              </a:solidFill>
                              <a:latin typeface="Cambria Math" panose="02040503050406030204" pitchFamily="18" charset="0"/>
                              <a:cs typeface="Cambria Math" panose="02040503050406030204" pitchFamily="18" charset="0"/>
                            </a:rPr>
                          </m:ctrlPr>
                        </m:fPr>
                        <m:num>
                          <m:nary>
                            <m:naryPr>
                              <m:chr m:val="∑"/>
                              <m:limLoc m:val="undOvr"/>
                              <m:subHide m:val="1"/>
                              <m:supHide m:val="1"/>
                              <m:ctrlPr>
                                <a:rPr lang="en-US" sz="2000" i="1">
                                  <a:solidFill>
                                    <a:srgbClr val="2C3C43"/>
                                  </a:solidFill>
                                  <a:latin typeface="Cambria Math" panose="02040503050406030204" pitchFamily="18" charset="0"/>
                                  <a:cs typeface="Cambria Math" panose="02040503050406030204" pitchFamily="18" charset="0"/>
                                </a:rPr>
                              </m:ctrlPr>
                            </m:naryPr>
                            <m:sub/>
                            <m:sup/>
                            <m:e>
                              <m:d>
                                <m:dPr>
                                  <m:begChr m:val="("/>
                                  <m:endChr m:val=")"/>
                                  <m:ctrlPr>
                                    <a:rPr lang="en-US" sz="2000" i="1">
                                      <a:solidFill>
                                        <a:srgbClr val="2C3C43"/>
                                      </a:solidFill>
                                      <a:latin typeface="Cambria Math" panose="02040503050406030204" pitchFamily="18" charset="0"/>
                                      <a:cs typeface="Cambria Math" panose="02040503050406030204" pitchFamily="18" charset="0"/>
                                    </a:rPr>
                                  </m:ctrlPr>
                                </m:dPr>
                                <m:e>
                                  <m:r>
                                    <a:rPr lang="en-US" sz="2000" i="1">
                                      <a:solidFill>
                                        <a:srgbClr val="2C3C43"/>
                                      </a:solidFill>
                                      <a:latin typeface="Cambria Math" panose="02040503050406030204" pitchFamily="18" charset="0"/>
                                      <a:cs typeface="Cambria Math" panose="02040503050406030204" pitchFamily="18" charset="0"/>
                                    </a:rPr>
                                    <m:t>x</m:t>
                                  </m:r>
                                  <m:r>
                                    <a:rPr lang="en-US" sz="2000" i="1">
                                      <a:solidFill>
                                        <a:srgbClr val="2C3C43"/>
                                      </a:solidFill>
                                      <a:latin typeface="Cambria Math" panose="02040503050406030204" pitchFamily="18" charset="0"/>
                                      <a:cs typeface="Cambria Math" panose="02040503050406030204" pitchFamily="18" charset="0"/>
                                    </a:rPr>
                                    <m:t>−</m:t>
                                  </m:r>
                                  <m:acc>
                                    <m:accPr>
                                      <m:chr m:val="̅"/>
                                      <m:ctrlPr>
                                        <a:rPr lang="en-US" sz="2000" i="1">
                                          <a:solidFill>
                                            <a:srgbClr val="2C3C43"/>
                                          </a:solidFill>
                                          <a:latin typeface="Cambria Math" panose="02040503050406030204" pitchFamily="18" charset="0"/>
                                          <a:cs typeface="Cambria Math" panose="02040503050406030204" pitchFamily="18" charset="0"/>
                                        </a:rPr>
                                      </m:ctrlPr>
                                    </m:accPr>
                                    <m:e>
                                      <m:r>
                                        <a:rPr lang="en-US" sz="2000" i="1">
                                          <a:solidFill>
                                            <a:srgbClr val="2C3C43"/>
                                          </a:solidFill>
                                          <a:latin typeface="Cambria Math" panose="02040503050406030204" pitchFamily="18" charset="0"/>
                                          <a:cs typeface="Cambria Math" panose="02040503050406030204" pitchFamily="18" charset="0"/>
                                        </a:rPr>
                                        <m:t>x</m:t>
                                      </m:r>
                                    </m:e>
                                  </m:acc>
                                </m:e>
                              </m:d>
                              <m:d>
                                <m:dPr>
                                  <m:begChr m:val="("/>
                                  <m:endChr m:val=")"/>
                                  <m:ctrlPr>
                                    <a:rPr lang="en-US" sz="2000" i="1">
                                      <a:solidFill>
                                        <a:srgbClr val="2C3C43"/>
                                      </a:solidFill>
                                      <a:latin typeface="Cambria Math" panose="02040503050406030204" pitchFamily="18" charset="0"/>
                                      <a:cs typeface="Cambria Math" panose="02040503050406030204" pitchFamily="18" charset="0"/>
                                    </a:rPr>
                                  </m:ctrlPr>
                                </m:dPr>
                                <m:e>
                                  <m:r>
                                    <a:rPr lang="en-US" sz="2000" i="1">
                                      <a:solidFill>
                                        <a:srgbClr val="2C3C43"/>
                                      </a:solidFill>
                                      <a:latin typeface="Cambria Math" panose="02040503050406030204" pitchFamily="18" charset="0"/>
                                      <a:cs typeface="Cambria Math" panose="02040503050406030204" pitchFamily="18" charset="0"/>
                                    </a:rPr>
                                    <m:t>y</m:t>
                                  </m:r>
                                  <m:r>
                                    <a:rPr lang="en-US" sz="2000" i="1">
                                      <a:solidFill>
                                        <a:srgbClr val="2C3C43"/>
                                      </a:solidFill>
                                      <a:latin typeface="Cambria Math" panose="02040503050406030204" pitchFamily="18" charset="0"/>
                                      <a:cs typeface="Cambria Math" panose="02040503050406030204" pitchFamily="18" charset="0"/>
                                    </a:rPr>
                                    <m:t>−</m:t>
                                  </m:r>
                                  <m:acc>
                                    <m:accPr>
                                      <m:chr m:val="̅"/>
                                      <m:ctrlPr>
                                        <a:rPr lang="en-US" sz="2000" i="1">
                                          <a:solidFill>
                                            <a:srgbClr val="2C3C43"/>
                                          </a:solidFill>
                                          <a:latin typeface="Cambria Math" panose="02040503050406030204" pitchFamily="18" charset="0"/>
                                          <a:cs typeface="Cambria Math" panose="02040503050406030204" pitchFamily="18" charset="0"/>
                                        </a:rPr>
                                      </m:ctrlPr>
                                    </m:accPr>
                                    <m:e>
                                      <m:r>
                                        <a:rPr lang="en-US" sz="2000" i="1">
                                          <a:solidFill>
                                            <a:srgbClr val="2C3C43"/>
                                          </a:solidFill>
                                          <a:latin typeface="Cambria Math" panose="02040503050406030204" pitchFamily="18" charset="0"/>
                                          <a:cs typeface="Cambria Math" panose="02040503050406030204" pitchFamily="18" charset="0"/>
                                        </a:rPr>
                                        <m:t>y</m:t>
                                      </m:r>
                                    </m:e>
                                  </m:acc>
                                </m:e>
                              </m:d>
                            </m:e>
                          </m:nary>
                        </m:num>
                        <m:den>
                          <m:rad>
                            <m:radPr>
                              <m:degHide m:val="1"/>
                              <m:ctrlPr>
                                <a:rPr lang="en-US" sz="2000" i="1">
                                  <a:solidFill>
                                    <a:srgbClr val="2C3C43"/>
                                  </a:solidFill>
                                  <a:latin typeface="Cambria Math" panose="02040503050406030204" pitchFamily="18" charset="0"/>
                                  <a:cs typeface="Cambria Math" panose="02040503050406030204" pitchFamily="18" charset="0"/>
                                </a:rPr>
                              </m:ctrlPr>
                            </m:radPr>
                            <m:deg/>
                            <m:e>
                              <m:nary>
                                <m:naryPr>
                                  <m:chr m:val="∑"/>
                                  <m:limLoc m:val="undOvr"/>
                                  <m:subHide m:val="1"/>
                                  <m:supHide m:val="1"/>
                                  <m:ctrlPr>
                                    <a:rPr lang="en-US" sz="2000" i="1">
                                      <a:solidFill>
                                        <a:srgbClr val="2C3C43"/>
                                      </a:solidFill>
                                      <a:latin typeface="Cambria Math" panose="02040503050406030204" pitchFamily="18" charset="0"/>
                                      <a:cs typeface="Cambria Math" panose="02040503050406030204" pitchFamily="18" charset="0"/>
                                    </a:rPr>
                                  </m:ctrlPr>
                                </m:naryPr>
                                <m:sub/>
                                <m:sup/>
                                <m:e>
                                  <m:sSup>
                                    <m:sSupPr>
                                      <m:ctrlPr>
                                        <a:rPr lang="en-US" sz="2000" i="1">
                                          <a:solidFill>
                                            <a:srgbClr val="2C3C43"/>
                                          </a:solidFill>
                                          <a:latin typeface="Cambria Math" panose="02040503050406030204" pitchFamily="18" charset="0"/>
                                          <a:cs typeface="Cambria Math" panose="02040503050406030204" pitchFamily="18" charset="0"/>
                                        </a:rPr>
                                      </m:ctrlPr>
                                    </m:sSupPr>
                                    <m:e>
                                      <m:d>
                                        <m:dPr>
                                          <m:begChr m:val="("/>
                                          <m:endChr m:val=")"/>
                                          <m:ctrlPr>
                                            <a:rPr lang="en-US" sz="2000" i="1">
                                              <a:solidFill>
                                                <a:srgbClr val="2C3C43"/>
                                              </a:solidFill>
                                              <a:latin typeface="Cambria Math" panose="02040503050406030204" pitchFamily="18" charset="0"/>
                                              <a:cs typeface="Cambria Math" panose="02040503050406030204" pitchFamily="18" charset="0"/>
                                            </a:rPr>
                                          </m:ctrlPr>
                                        </m:dPr>
                                        <m:e>
                                          <m:r>
                                            <a:rPr lang="en-US" sz="2000" i="1">
                                              <a:solidFill>
                                                <a:srgbClr val="2C3C43"/>
                                              </a:solidFill>
                                              <a:latin typeface="Cambria Math" panose="02040503050406030204" pitchFamily="18" charset="0"/>
                                              <a:cs typeface="Cambria Math" panose="02040503050406030204" pitchFamily="18" charset="0"/>
                                            </a:rPr>
                                            <m:t>x</m:t>
                                          </m:r>
                                          <m:r>
                                            <a:rPr lang="en-US" sz="2000" i="1">
                                              <a:solidFill>
                                                <a:srgbClr val="2C3C43"/>
                                              </a:solidFill>
                                              <a:latin typeface="Cambria Math" panose="02040503050406030204" pitchFamily="18" charset="0"/>
                                              <a:cs typeface="Cambria Math" panose="02040503050406030204" pitchFamily="18" charset="0"/>
                                            </a:rPr>
                                            <m:t>−</m:t>
                                          </m:r>
                                          <m:acc>
                                            <m:accPr>
                                              <m:chr m:val="̅"/>
                                              <m:ctrlPr>
                                                <a:rPr lang="en-US" sz="2000" i="1">
                                                  <a:solidFill>
                                                    <a:srgbClr val="2C3C43"/>
                                                  </a:solidFill>
                                                  <a:latin typeface="Cambria Math" panose="02040503050406030204" pitchFamily="18" charset="0"/>
                                                  <a:cs typeface="Cambria Math" panose="02040503050406030204" pitchFamily="18" charset="0"/>
                                                </a:rPr>
                                              </m:ctrlPr>
                                            </m:accPr>
                                            <m:e>
                                              <m:r>
                                                <a:rPr lang="en-US" sz="2000" i="1">
                                                  <a:solidFill>
                                                    <a:srgbClr val="2C3C43"/>
                                                  </a:solidFill>
                                                  <a:latin typeface="Cambria Math" panose="02040503050406030204" pitchFamily="18" charset="0"/>
                                                  <a:cs typeface="Cambria Math" panose="02040503050406030204" pitchFamily="18" charset="0"/>
                                                </a:rPr>
                                                <m:t>x</m:t>
                                              </m:r>
                                            </m:e>
                                          </m:acc>
                                        </m:e>
                                      </m:d>
                                    </m:e>
                                    <m:sup>
                                      <m:r>
                                        <a:rPr lang="en-US" sz="2000" i="1">
                                          <a:solidFill>
                                            <a:srgbClr val="2C3C43"/>
                                          </a:solidFill>
                                          <a:latin typeface="Cambria Math" panose="02040503050406030204" pitchFamily="18" charset="0"/>
                                          <a:cs typeface="Cambria Math" panose="02040503050406030204" pitchFamily="18" charset="0"/>
                                        </a:rPr>
                                        <m:t>2</m:t>
                                      </m:r>
                                    </m:sup>
                                  </m:sSup>
                                </m:e>
                              </m:nary>
                              <m:r>
                                <a:rPr lang="en-US" sz="2000" i="1">
                                  <a:solidFill>
                                    <a:srgbClr val="2C3C43"/>
                                  </a:solidFill>
                                  <a:latin typeface="Cambria Math" panose="02040503050406030204" pitchFamily="18" charset="0"/>
                                  <a:cs typeface="Cambria Math" panose="02040503050406030204" pitchFamily="18" charset="0"/>
                                </a:rPr>
                                <m:t>·</m:t>
                              </m:r>
                              <m:nary>
                                <m:naryPr>
                                  <m:chr m:val="∑"/>
                                  <m:limLoc m:val="undOvr"/>
                                  <m:subHide m:val="1"/>
                                  <m:supHide m:val="1"/>
                                  <m:ctrlPr>
                                    <a:rPr lang="en-US" sz="2000" i="1">
                                      <a:solidFill>
                                        <a:srgbClr val="2C3C43"/>
                                      </a:solidFill>
                                      <a:latin typeface="Cambria Math" panose="02040503050406030204" pitchFamily="18" charset="0"/>
                                      <a:cs typeface="Cambria Math" panose="02040503050406030204" pitchFamily="18" charset="0"/>
                                    </a:rPr>
                                  </m:ctrlPr>
                                </m:naryPr>
                                <m:sub/>
                                <m:sup/>
                                <m:e>
                                  <m:sSup>
                                    <m:sSupPr>
                                      <m:ctrlPr>
                                        <a:rPr lang="en-US" sz="2000" i="1">
                                          <a:solidFill>
                                            <a:srgbClr val="2C3C43"/>
                                          </a:solidFill>
                                          <a:latin typeface="Cambria Math" panose="02040503050406030204" pitchFamily="18" charset="0"/>
                                          <a:cs typeface="Cambria Math" panose="02040503050406030204" pitchFamily="18" charset="0"/>
                                        </a:rPr>
                                      </m:ctrlPr>
                                    </m:sSupPr>
                                    <m:e>
                                      <m:d>
                                        <m:dPr>
                                          <m:begChr m:val="("/>
                                          <m:endChr m:val=")"/>
                                          <m:ctrlPr>
                                            <a:rPr lang="en-US" sz="2000" i="1">
                                              <a:solidFill>
                                                <a:srgbClr val="2C3C43"/>
                                              </a:solidFill>
                                              <a:latin typeface="Cambria Math" panose="02040503050406030204" pitchFamily="18" charset="0"/>
                                              <a:cs typeface="Cambria Math" panose="02040503050406030204" pitchFamily="18" charset="0"/>
                                            </a:rPr>
                                          </m:ctrlPr>
                                        </m:dPr>
                                        <m:e>
                                          <m:r>
                                            <a:rPr lang="en-US" sz="2000" i="1">
                                              <a:solidFill>
                                                <a:srgbClr val="2C3C43"/>
                                              </a:solidFill>
                                              <a:latin typeface="Cambria Math" panose="02040503050406030204" pitchFamily="18" charset="0"/>
                                              <a:cs typeface="Cambria Math" panose="02040503050406030204" pitchFamily="18" charset="0"/>
                                            </a:rPr>
                                            <m:t>y</m:t>
                                          </m:r>
                                          <m:r>
                                            <a:rPr lang="en-US" sz="2000" i="1">
                                              <a:solidFill>
                                                <a:srgbClr val="2C3C43"/>
                                              </a:solidFill>
                                              <a:latin typeface="Cambria Math" panose="02040503050406030204" pitchFamily="18" charset="0"/>
                                              <a:cs typeface="Cambria Math" panose="02040503050406030204" pitchFamily="18" charset="0"/>
                                            </a:rPr>
                                            <m:t>−</m:t>
                                          </m:r>
                                          <m:acc>
                                            <m:accPr>
                                              <m:chr m:val="̅"/>
                                              <m:ctrlPr>
                                                <a:rPr lang="en-US" sz="2000" i="1">
                                                  <a:solidFill>
                                                    <a:srgbClr val="2C3C43"/>
                                                  </a:solidFill>
                                                  <a:latin typeface="Cambria Math" panose="02040503050406030204" pitchFamily="18" charset="0"/>
                                                  <a:cs typeface="Cambria Math" panose="02040503050406030204" pitchFamily="18" charset="0"/>
                                                </a:rPr>
                                              </m:ctrlPr>
                                            </m:accPr>
                                            <m:e>
                                              <m:r>
                                                <a:rPr lang="en-US" sz="2000" i="1">
                                                  <a:solidFill>
                                                    <a:srgbClr val="2C3C43"/>
                                                  </a:solidFill>
                                                  <a:latin typeface="Cambria Math" panose="02040503050406030204" pitchFamily="18" charset="0"/>
                                                  <a:cs typeface="Cambria Math" panose="02040503050406030204" pitchFamily="18" charset="0"/>
                                                </a:rPr>
                                                <m:t>y</m:t>
                                              </m:r>
                                            </m:e>
                                          </m:acc>
                                        </m:e>
                                      </m:d>
                                    </m:e>
                                    <m:sup>
                                      <m:r>
                                        <a:rPr lang="en-US" sz="2000" i="1">
                                          <a:solidFill>
                                            <a:srgbClr val="2C3C43"/>
                                          </a:solidFill>
                                          <a:latin typeface="Cambria Math" panose="02040503050406030204" pitchFamily="18" charset="0"/>
                                          <a:cs typeface="Cambria Math" panose="02040503050406030204" pitchFamily="18" charset="0"/>
                                        </a:rPr>
                                        <m:t>2</m:t>
                                      </m:r>
                                    </m:sup>
                                  </m:sSup>
                                </m:e>
                              </m:nary>
                            </m:e>
                          </m:rad>
                        </m:den>
                      </m:f>
                    </m:oMath>
                  </m:oMathPara>
                </a14:m>
                <a:endParaRPr lang="en-US" sz="2000"/>
              </a:p>
            </p:txBody>
          </p:sp>
        </mc:Choice>
        <mc:Fallback>
          <p:pic>
            <p:nvPicPr>
              <p:cNvPr id="6" name="Equation image 5" descr="Equation"/>
              <p:cNvPicPr>
                <a:picLocks noChangeAspect="1"/>
              </p:cNvPicPr>
              <p:nvPr/>
            </p:nvPicPr>
            <p:blipFill>
              <a:blip r:embed="rId3"/>
              <a:stretch>
                <a:fillRect/>
              </a:stretch>
            </p:blipFill>
            <p:spPr>
              <a:xfrm>
                <a:off x="3385566" y="1699641"/>
                <a:ext cx="2738628" cy="761238"/>
              </a:xfrm>
              <a:prstGeom prst="rect">
                <a:avLst/>
              </a:prstGeom>
            </p:spPr>
          </p:pic>
        </mc:Fallback>
      </mc:AlternateContent>
      <p:sp>
        <p:nvSpPr>
          <p:cNvPr id="7" name="Formula card"/>
          <p:cNvSpPr/>
          <p:nvPr/>
        </p:nvSpPr>
        <p:spPr>
          <a:xfrm>
            <a:off x="731520" y="2697480"/>
            <a:ext cx="8046720" cy="118872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ormula label"/>
          <p:cNvSpPr txBox="1"/>
          <p:nvPr/>
        </p:nvSpPr>
        <p:spPr>
          <a:xfrm>
            <a:off x="868680" y="2752344"/>
            <a:ext cx="7772400" cy="274320"/>
          </a:xfrm>
          <a:prstGeom prst="rect">
            <a:avLst/>
          </a:prstGeom>
          <a:noFill/>
        </p:spPr>
        <p:txBody>
          <a:bodyPr wrap="square" anchor="t" lIns="45720" rIns="45720" tIns="27432" bIns="27432">
            <a:noAutofit/>
          </a:bodyPr>
          <a:lstStyle/>
          <a:p>
            <a:pPr algn="l">
              <a:spcAft>
                <a:spcPts val="600"/>
              </a:spcAft>
            </a:pPr>
            <a:r>
              <a:rPr sz="1200" b="1" i="0">
                <a:solidFill>
                  <a:schemeClr val="accent2">
                    <a:lumMod val="75000"/>
                  </a:schemeClr>
                </a:solidFill>
              </a:rPr>
              <a:t>Shortcut (raw scores)</a:t>
            </a:r>
          </a:p>
        </p:txBody>
      </p:sp>
      <mc:AlternateContent xmlns:mc="http://schemas.openxmlformats.org/markup-compatibility/2006">
        <mc:Choice xmlns:a14="http://schemas.microsoft.com/office/drawing/2010/main" Requires="a14">
          <p:sp>
            <p:nvSpPr>
              <p:cNvPr id="9" name="Equation 9"/>
              <p:cNvSpPr txBox="1"/>
              <p:nvPr/>
            </p:nvSpPr>
            <p:spPr>
              <a:xfrm>
                <a:off x="822960" y="2971800"/>
                <a:ext cx="7863840" cy="868680"/>
              </a:xfrm>
              <a:prstGeom prst="rect">
                <a:avLst/>
              </a:prstGeom>
              <a:noFill/>
            </p:spPr>
            <p:txBody>
              <a:bodyPr wrap="square" lIns="45720" tIns="0" rIns="45720" bIns="0" rtlCol="0" anchor="ctr">
                <a:noAutofit/>
              </a:bodyPr>
              <a:lstStyle/>
              <a:p>
                <a:pPr algn="c"/>
                <a14:m>
                  <m:oMathPara xmlns:m="http://schemas.openxmlformats.org/officeDocument/2006/math">
                    <m:oMathParaPr>
                      <m:jc m:val="centerGroup"/>
                    </m:oMathParaPr>
                    <m:oMath>
                      <m:r>
                        <a:rPr lang="en-US" sz="1800" i="1">
                          <a:solidFill>
                            <a:srgbClr val="2C3C43"/>
                          </a:solidFill>
                          <a:latin typeface="Cambria Math" panose="02040503050406030204" pitchFamily="18" charset="0"/>
                          <a:cs typeface="Cambria Math" panose="02040503050406030204" pitchFamily="18" charset="0"/>
                        </a:rPr>
                        <m:t>r</m:t>
                      </m:r>
                      <m:r>
                        <a:rPr lang="en-US" sz="1800" i="1">
                          <a:solidFill>
                            <a:srgbClr val="2C3C43"/>
                          </a:solidFill>
                          <a:latin typeface="Cambria Math" panose="02040503050406030204" pitchFamily="18" charset="0"/>
                          <a:cs typeface="Cambria Math" panose="02040503050406030204" pitchFamily="18" charset="0"/>
                        </a:rPr>
                        <m:t>=</m:t>
                      </m:r>
                      <m:f>
                        <m:fPr>
                          <m:ctrlPr>
                            <a:rPr lang="en-US" sz="1800" i="1">
                              <a:solidFill>
                                <a:srgbClr val="2C3C43"/>
                              </a:solidFill>
                              <a:latin typeface="Cambria Math" panose="02040503050406030204" pitchFamily="18" charset="0"/>
                              <a:cs typeface="Cambria Math" panose="02040503050406030204" pitchFamily="18" charset="0"/>
                            </a:rPr>
                          </m:ctrlPr>
                        </m:fPr>
                        <m:num>
                          <m:r>
                            <a:rPr lang="en-US" sz="1800" i="1">
                              <a:solidFill>
                                <a:srgbClr val="2C3C43"/>
                              </a:solidFill>
                              <a:latin typeface="Cambria Math" panose="02040503050406030204" pitchFamily="18" charset="0"/>
                              <a:cs typeface="Cambria Math" panose="02040503050406030204" pitchFamily="18" charset="0"/>
                            </a:rPr>
                            <m:t>n</m:t>
                          </m:r>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r>
                                <a:rPr lang="en-US" sz="1800" i="1">
                                  <a:solidFill>
                                    <a:srgbClr val="2C3C43"/>
                                  </a:solidFill>
                                  <a:latin typeface="Cambria Math" panose="02040503050406030204" pitchFamily="18" charset="0"/>
                                  <a:cs typeface="Cambria Math" panose="02040503050406030204" pitchFamily="18" charset="0"/>
                                </a:rPr>
                                <m:t>xy</m:t>
                              </m:r>
                            </m:e>
                          </m:nary>
                          <m:r>
                            <a:rPr lang="en-US" sz="1800" i="1">
                              <a:solidFill>
                                <a:srgbClr val="2C3C43"/>
                              </a:solidFill>
                              <a:latin typeface="Cambria Math" panose="02040503050406030204" pitchFamily="18" charset="0"/>
                              <a:cs typeface="Cambria Math" panose="02040503050406030204" pitchFamily="18" charset="0"/>
                            </a:rPr>
                            <m:t>−</m:t>
                          </m:r>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r>
                                <a:rPr lang="en-US" sz="1800" i="1">
                                  <a:solidFill>
                                    <a:srgbClr val="2C3C43"/>
                                  </a:solidFill>
                                  <a:latin typeface="Cambria Math" panose="02040503050406030204" pitchFamily="18" charset="0"/>
                                  <a:cs typeface="Cambria Math" panose="02040503050406030204" pitchFamily="18" charset="0"/>
                                </a:rPr>
                                <m:t>x</m:t>
                              </m:r>
                            </m:e>
                          </m:nary>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r>
                                <a:rPr lang="en-US" sz="1800" i="1">
                                  <a:solidFill>
                                    <a:srgbClr val="2C3C43"/>
                                  </a:solidFill>
                                  <a:latin typeface="Cambria Math" panose="02040503050406030204" pitchFamily="18" charset="0"/>
                                  <a:cs typeface="Cambria Math" panose="02040503050406030204" pitchFamily="18" charset="0"/>
                                </a:rPr>
                                <m:t>y</m:t>
                              </m:r>
                            </m:e>
                          </m:nary>
                        </m:num>
                        <m:den>
                          <m:rad>
                            <m:radPr>
                              <m:degHide m:val="1"/>
                              <m:ctrlPr>
                                <a:rPr lang="en-US" sz="1800" i="1">
                                  <a:solidFill>
                                    <a:srgbClr val="2C3C43"/>
                                  </a:solidFill>
                                  <a:latin typeface="Cambria Math" panose="02040503050406030204" pitchFamily="18" charset="0"/>
                                  <a:cs typeface="Cambria Math" panose="02040503050406030204" pitchFamily="18" charset="0"/>
                                </a:rPr>
                              </m:ctrlPr>
                            </m:radPr>
                            <m:deg/>
                            <m:e>
                              <m:d>
                                <m:dPr>
                                  <m:begChr m:val="("/>
                                  <m:endChr m:val=")"/>
                                  <m:ctrlPr>
                                    <a:rPr lang="en-US" sz="1800" i="1">
                                      <a:solidFill>
                                        <a:srgbClr val="2C3C43"/>
                                      </a:solidFill>
                                      <a:latin typeface="Cambria Math" panose="02040503050406030204" pitchFamily="18" charset="0"/>
                                      <a:cs typeface="Cambria Math" panose="02040503050406030204" pitchFamily="18" charset="0"/>
                                    </a:rPr>
                                  </m:ctrlPr>
                                </m:dPr>
                                <m:e>
                                  <m:r>
                                    <a:rPr lang="en-US" sz="1800" i="1">
                                      <a:solidFill>
                                        <a:srgbClr val="2C3C43"/>
                                      </a:solidFill>
                                      <a:latin typeface="Cambria Math" panose="02040503050406030204" pitchFamily="18" charset="0"/>
                                      <a:cs typeface="Cambria Math" panose="02040503050406030204" pitchFamily="18" charset="0"/>
                                    </a:rPr>
                                    <m:t>n</m:t>
                                  </m:r>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sSup>
                                        <m:sSupPr>
                                          <m:ctrlPr>
                                            <a:rPr lang="en-US" sz="1800" i="1">
                                              <a:solidFill>
                                                <a:srgbClr val="2C3C43"/>
                                              </a:solidFill>
                                              <a:latin typeface="Cambria Math" panose="02040503050406030204" pitchFamily="18" charset="0"/>
                                              <a:cs typeface="Cambria Math" panose="02040503050406030204" pitchFamily="18" charset="0"/>
                                            </a:rPr>
                                          </m:ctrlPr>
                                        </m:sSupPr>
                                        <m:e>
                                          <m:r>
                                            <a:rPr lang="en-US" sz="1800" i="1">
                                              <a:solidFill>
                                                <a:srgbClr val="2C3C43"/>
                                              </a:solidFill>
                                              <a:latin typeface="Cambria Math" panose="02040503050406030204" pitchFamily="18" charset="0"/>
                                              <a:cs typeface="Cambria Math" panose="02040503050406030204" pitchFamily="18" charset="0"/>
                                            </a:rPr>
                                            <m:t>x</m:t>
                                          </m:r>
                                        </m:e>
                                        <m:sup>
                                          <m:r>
                                            <a:rPr lang="en-US" sz="1800" i="1">
                                              <a:solidFill>
                                                <a:srgbClr val="2C3C43"/>
                                              </a:solidFill>
                                              <a:latin typeface="Cambria Math" panose="02040503050406030204" pitchFamily="18" charset="0"/>
                                              <a:cs typeface="Cambria Math" panose="02040503050406030204" pitchFamily="18" charset="0"/>
                                            </a:rPr>
                                            <m:t>2</m:t>
                                          </m:r>
                                        </m:sup>
                                      </m:sSup>
                                    </m:e>
                                  </m:nary>
                                  <m:r>
                                    <a:rPr lang="en-US" sz="1800" i="1">
                                      <a:solidFill>
                                        <a:srgbClr val="2C3C43"/>
                                      </a:solidFill>
                                      <a:latin typeface="Cambria Math" panose="02040503050406030204" pitchFamily="18" charset="0"/>
                                      <a:cs typeface="Cambria Math" panose="02040503050406030204" pitchFamily="18" charset="0"/>
                                    </a:rPr>
                                    <m:t>−</m:t>
                                  </m:r>
                                  <m:sSup>
                                    <m:sSupPr>
                                      <m:ctrlPr>
                                        <a:rPr lang="en-US" sz="1800" i="1">
                                          <a:solidFill>
                                            <a:srgbClr val="2C3C43"/>
                                          </a:solidFill>
                                          <a:latin typeface="Cambria Math" panose="02040503050406030204" pitchFamily="18" charset="0"/>
                                          <a:cs typeface="Cambria Math" panose="02040503050406030204" pitchFamily="18" charset="0"/>
                                        </a:rPr>
                                      </m:ctrlPr>
                                    </m:sSupPr>
                                    <m:e>
                                      <m:d>
                                        <m:dPr>
                                          <m:begChr m:val="("/>
                                          <m:endChr m:val=")"/>
                                          <m:ctrlPr>
                                            <a:rPr lang="en-US" sz="1800" i="1">
                                              <a:solidFill>
                                                <a:srgbClr val="2C3C43"/>
                                              </a:solidFill>
                                              <a:latin typeface="Cambria Math" panose="02040503050406030204" pitchFamily="18" charset="0"/>
                                              <a:cs typeface="Cambria Math" panose="02040503050406030204" pitchFamily="18" charset="0"/>
                                            </a:rPr>
                                          </m:ctrlPr>
                                        </m:dPr>
                                        <m:e>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r>
                                                <a:rPr lang="en-US" sz="1800" i="1">
                                                  <a:solidFill>
                                                    <a:srgbClr val="2C3C43"/>
                                                  </a:solidFill>
                                                  <a:latin typeface="Cambria Math" panose="02040503050406030204" pitchFamily="18" charset="0"/>
                                                  <a:cs typeface="Cambria Math" panose="02040503050406030204" pitchFamily="18" charset="0"/>
                                                </a:rPr>
                                                <m:t>x</m:t>
                                              </m:r>
                                            </m:e>
                                          </m:nary>
                                        </m:e>
                                      </m:d>
                                    </m:e>
                                    <m:sup>
                                      <m:r>
                                        <a:rPr lang="en-US" sz="1800" i="1">
                                          <a:solidFill>
                                            <a:srgbClr val="2C3C43"/>
                                          </a:solidFill>
                                          <a:latin typeface="Cambria Math" panose="02040503050406030204" pitchFamily="18" charset="0"/>
                                          <a:cs typeface="Cambria Math" panose="02040503050406030204" pitchFamily="18" charset="0"/>
                                        </a:rPr>
                                        <m:t>2</m:t>
                                      </m:r>
                                    </m:sup>
                                  </m:sSup>
                                </m:e>
                              </m:d>
                              <m:d>
                                <m:dPr>
                                  <m:begChr m:val="("/>
                                  <m:endChr m:val=")"/>
                                  <m:ctrlPr>
                                    <a:rPr lang="en-US" sz="1800" i="1">
                                      <a:solidFill>
                                        <a:srgbClr val="2C3C43"/>
                                      </a:solidFill>
                                      <a:latin typeface="Cambria Math" panose="02040503050406030204" pitchFamily="18" charset="0"/>
                                      <a:cs typeface="Cambria Math" panose="02040503050406030204" pitchFamily="18" charset="0"/>
                                    </a:rPr>
                                  </m:ctrlPr>
                                </m:dPr>
                                <m:e>
                                  <m:r>
                                    <a:rPr lang="en-US" sz="1800" i="1">
                                      <a:solidFill>
                                        <a:srgbClr val="2C3C43"/>
                                      </a:solidFill>
                                      <a:latin typeface="Cambria Math" panose="02040503050406030204" pitchFamily="18" charset="0"/>
                                      <a:cs typeface="Cambria Math" panose="02040503050406030204" pitchFamily="18" charset="0"/>
                                    </a:rPr>
                                    <m:t>n</m:t>
                                  </m:r>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sSup>
                                        <m:sSupPr>
                                          <m:ctrlPr>
                                            <a:rPr lang="en-US" sz="1800" i="1">
                                              <a:solidFill>
                                                <a:srgbClr val="2C3C43"/>
                                              </a:solidFill>
                                              <a:latin typeface="Cambria Math" panose="02040503050406030204" pitchFamily="18" charset="0"/>
                                              <a:cs typeface="Cambria Math" panose="02040503050406030204" pitchFamily="18" charset="0"/>
                                            </a:rPr>
                                          </m:ctrlPr>
                                        </m:sSupPr>
                                        <m:e>
                                          <m:r>
                                            <a:rPr lang="en-US" sz="1800" i="1">
                                              <a:solidFill>
                                                <a:srgbClr val="2C3C43"/>
                                              </a:solidFill>
                                              <a:latin typeface="Cambria Math" panose="02040503050406030204" pitchFamily="18" charset="0"/>
                                              <a:cs typeface="Cambria Math" panose="02040503050406030204" pitchFamily="18" charset="0"/>
                                            </a:rPr>
                                            <m:t>y</m:t>
                                          </m:r>
                                        </m:e>
                                        <m:sup>
                                          <m:r>
                                            <a:rPr lang="en-US" sz="1800" i="1">
                                              <a:solidFill>
                                                <a:srgbClr val="2C3C43"/>
                                              </a:solidFill>
                                              <a:latin typeface="Cambria Math" panose="02040503050406030204" pitchFamily="18" charset="0"/>
                                              <a:cs typeface="Cambria Math" panose="02040503050406030204" pitchFamily="18" charset="0"/>
                                            </a:rPr>
                                            <m:t>2</m:t>
                                          </m:r>
                                        </m:sup>
                                      </m:sSup>
                                    </m:e>
                                  </m:nary>
                                  <m:r>
                                    <a:rPr lang="en-US" sz="1800" i="1">
                                      <a:solidFill>
                                        <a:srgbClr val="2C3C43"/>
                                      </a:solidFill>
                                      <a:latin typeface="Cambria Math" panose="02040503050406030204" pitchFamily="18" charset="0"/>
                                      <a:cs typeface="Cambria Math" panose="02040503050406030204" pitchFamily="18" charset="0"/>
                                    </a:rPr>
                                    <m:t>−</m:t>
                                  </m:r>
                                  <m:sSup>
                                    <m:sSupPr>
                                      <m:ctrlPr>
                                        <a:rPr lang="en-US" sz="1800" i="1">
                                          <a:solidFill>
                                            <a:srgbClr val="2C3C43"/>
                                          </a:solidFill>
                                          <a:latin typeface="Cambria Math" panose="02040503050406030204" pitchFamily="18" charset="0"/>
                                          <a:cs typeface="Cambria Math" panose="02040503050406030204" pitchFamily="18" charset="0"/>
                                        </a:rPr>
                                      </m:ctrlPr>
                                    </m:sSupPr>
                                    <m:e>
                                      <m:d>
                                        <m:dPr>
                                          <m:begChr m:val="("/>
                                          <m:endChr m:val=")"/>
                                          <m:ctrlPr>
                                            <a:rPr lang="en-US" sz="1800" i="1">
                                              <a:solidFill>
                                                <a:srgbClr val="2C3C43"/>
                                              </a:solidFill>
                                              <a:latin typeface="Cambria Math" panose="02040503050406030204" pitchFamily="18" charset="0"/>
                                              <a:cs typeface="Cambria Math" panose="02040503050406030204" pitchFamily="18" charset="0"/>
                                            </a:rPr>
                                          </m:ctrlPr>
                                        </m:dPr>
                                        <m:e>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r>
                                                <a:rPr lang="en-US" sz="1800" i="1">
                                                  <a:solidFill>
                                                    <a:srgbClr val="2C3C43"/>
                                                  </a:solidFill>
                                                  <a:latin typeface="Cambria Math" panose="02040503050406030204" pitchFamily="18" charset="0"/>
                                                  <a:cs typeface="Cambria Math" panose="02040503050406030204" pitchFamily="18" charset="0"/>
                                                </a:rPr>
                                                <m:t>y</m:t>
                                              </m:r>
                                            </m:e>
                                          </m:nary>
                                        </m:e>
                                      </m:d>
                                    </m:e>
                                    <m:sup>
                                      <m:r>
                                        <a:rPr lang="en-US" sz="1800" i="1">
                                          <a:solidFill>
                                            <a:srgbClr val="2C3C43"/>
                                          </a:solidFill>
                                          <a:latin typeface="Cambria Math" panose="02040503050406030204" pitchFamily="18" charset="0"/>
                                          <a:cs typeface="Cambria Math" panose="02040503050406030204" pitchFamily="18" charset="0"/>
                                        </a:rPr>
                                        <m:t>2</m:t>
                                      </m:r>
                                    </m:sup>
                                  </m:sSup>
                                </m:e>
                              </m:d>
                            </m:e>
                          </m:rad>
                        </m:den>
                      </m:f>
                    </m:oMath>
                  </m:oMathPara>
                </a14:m>
                <a:endParaRPr lang="en-US" sz="1800"/>
              </a:p>
            </p:txBody>
          </p:sp>
        </mc:Choice>
        <mc:Fallback>
          <p:pic>
            <p:nvPicPr>
              <p:cNvPr id="10" name="Equation image 9" descr="Equation"/>
              <p:cNvPicPr>
                <a:picLocks noChangeAspect="1"/>
              </p:cNvPicPr>
              <p:nvPr/>
            </p:nvPicPr>
            <p:blipFill>
              <a:blip r:embed="rId4"/>
              <a:stretch>
                <a:fillRect/>
              </a:stretch>
            </p:blipFill>
            <p:spPr>
              <a:xfrm>
                <a:off x="2971800" y="3060954"/>
                <a:ext cx="3566160" cy="690372"/>
              </a:xfrm>
              <a:prstGeom prst="rect">
                <a:avLst/>
              </a:prstGeom>
            </p:spPr>
          </p:pic>
        </mc:Fallback>
      </mc:AlternateContent>
      <p:sp>
        <p:nvSpPr>
          <p:cNvPr id="11" name="Bullets"/>
          <p:cNvSpPr txBox="1"/>
          <p:nvPr/>
        </p:nvSpPr>
        <p:spPr>
          <a:xfrm>
            <a:off x="731520" y="4114800"/>
            <a:ext cx="4480560" cy="2194560"/>
          </a:xfrm>
          <a:prstGeom prst="rect">
            <a:avLst/>
          </a:prstGeom>
          <a:noFill/>
        </p:spPr>
        <p:txBody>
          <a:bodyPr wrap="square" anchor="t" lIns="45720" rIns="45720" tIns="27432" bIns="27432">
            <a:noAutofit/>
          </a:bodyPr>
          <a:lstStyle/>
          <a:p>
            <a:pPr algn="l" marL="219456" indent="-219456">
              <a:spcAft>
                <a:spcPts val="700"/>
              </a:spcAft>
              <a:buClr>
                <a:schemeClr val="accent2">
                  <a:lumMod val="75000"/>
                </a:schemeClr>
              </a:buClr>
              <a:buFont typeface="Arial"/>
              <a:buChar char="•"/>
            </a:pPr>
            <a:r>
              <a:rPr sz="1400" b="0" i="0">
                <a:solidFill>
                  <a:schemeClr val="tx2"/>
                </a:solidFill>
              </a:rPr>
              <a:t>Measures the strength of </a:t>
            </a:r>
            <a:r>
              <a:rPr sz="1400" b="1" i="0">
                <a:solidFill>
                  <a:schemeClr val="tx2"/>
                </a:solidFill>
              </a:rPr>
              <a:t>linear</a:t>
            </a:r>
            <a:r>
              <a:rPr sz="1400" b="0" i="0">
                <a:solidFill>
                  <a:schemeClr val="tx2"/>
                </a:solidFill>
              </a:rPr>
              <a:t> relationship between </a:t>
            </a:r>
            <a:r>
              <a:rPr sz="1400" b="0" i="1">
                <a:solidFill>
                  <a:schemeClr val="tx2"/>
                </a:solidFill>
                <a:latin typeface="Cambria Math"/>
              </a:rPr>
              <a:t>x</a:t>
            </a:r>
            <a:r>
              <a:rPr sz="1400" b="0" i="0">
                <a:solidFill>
                  <a:schemeClr val="tx2"/>
                </a:solidFill>
              </a:rPr>
              <a:t> and </a:t>
            </a:r>
            <a:r>
              <a:rPr sz="1400" b="0" i="1">
                <a:solidFill>
                  <a:schemeClr val="tx2"/>
                </a:solidFill>
                <a:latin typeface="Cambria Math"/>
              </a:rPr>
              <a:t>y</a:t>
            </a:r>
            <a:r>
              <a:rPr sz="1400" b="0" i="0">
                <a:solidFill>
                  <a:schemeClr val="tx2"/>
                </a:solidFill>
              </a:rPr>
              <a:t>.</a:t>
            </a:r>
          </a:p>
          <a:p>
            <a:pPr algn="l" marL="219456" indent="-219456">
              <a:spcAft>
                <a:spcPts val="700"/>
              </a:spcAft>
              <a:buClr>
                <a:schemeClr val="accent2">
                  <a:lumMod val="75000"/>
                </a:schemeClr>
              </a:buClr>
              <a:buFont typeface="Arial"/>
              <a:buChar char="•"/>
            </a:pPr>
            <a:r>
              <a:rPr sz="1400" b="0" i="0">
                <a:solidFill>
                  <a:schemeClr val="tx2"/>
                </a:solidFill>
              </a:rPr>
              <a:t>Range: </a:t>
            </a:r>
            <a:r>
              <a:rPr sz="1400" b="1" i="0">
                <a:solidFill>
                  <a:schemeClr val="tx2"/>
                </a:solidFill>
              </a:rPr>
              <a:t>−1 ≤ r ≤ 1</a:t>
            </a:r>
            <a:r>
              <a:rPr sz="1400" b="0" i="0">
                <a:solidFill>
                  <a:schemeClr val="tx2"/>
                </a:solidFill>
              </a:rPr>
              <a:t>.</a:t>
            </a:r>
          </a:p>
          <a:p>
            <a:pPr algn="l" marL="219456" indent="-219456">
              <a:spcAft>
                <a:spcPts val="700"/>
              </a:spcAft>
              <a:buClr>
                <a:schemeClr val="accent2">
                  <a:lumMod val="75000"/>
                </a:schemeClr>
              </a:buClr>
              <a:buFont typeface="Arial"/>
              <a:buChar char="•"/>
            </a:pPr>
            <a:r>
              <a:rPr sz="1400" b="0" i="1">
                <a:solidFill>
                  <a:schemeClr val="tx2"/>
                </a:solidFill>
                <a:latin typeface="Cambria Math"/>
              </a:rPr>
              <a:t>r</a:t>
            </a:r>
            <a:r>
              <a:rPr sz="1400" b="0" i="0">
                <a:solidFill>
                  <a:schemeClr val="tx2"/>
                </a:solidFill>
              </a:rPr>
              <a:t> = +1 perfect positive, </a:t>
            </a:r>
            <a:r>
              <a:rPr sz="1400" b="0" i="1">
                <a:solidFill>
                  <a:schemeClr val="tx2"/>
                </a:solidFill>
                <a:latin typeface="Cambria Math"/>
              </a:rPr>
              <a:t>r</a:t>
            </a:r>
            <a:r>
              <a:rPr sz="1400" b="0" i="0">
                <a:solidFill>
                  <a:schemeClr val="tx2"/>
                </a:solidFill>
              </a:rPr>
              <a:t> = −1 perfect negative, </a:t>
            </a:r>
            <a:r>
              <a:rPr sz="1400" b="0" i="1">
                <a:solidFill>
                  <a:schemeClr val="tx2"/>
                </a:solidFill>
                <a:latin typeface="Cambria Math"/>
              </a:rPr>
              <a:t>r</a:t>
            </a:r>
            <a:r>
              <a:rPr sz="1400" b="0" i="0">
                <a:solidFill>
                  <a:schemeClr val="tx2"/>
                </a:solidFill>
              </a:rPr>
              <a:t> = 0 no linear relation.</a:t>
            </a:r>
          </a:p>
          <a:p>
            <a:pPr algn="l" marL="219456" indent="-219456">
              <a:spcAft>
                <a:spcPts val="700"/>
              </a:spcAft>
              <a:buClr>
                <a:schemeClr val="accent2">
                  <a:lumMod val="75000"/>
                </a:schemeClr>
              </a:buClr>
              <a:buFont typeface="Arial"/>
              <a:buChar char="•"/>
            </a:pPr>
            <a:r>
              <a:rPr sz="1400" b="0" i="0">
                <a:solidFill>
                  <a:schemeClr val="tx2"/>
                </a:solidFill>
              </a:rPr>
              <a:t>Also called the </a:t>
            </a:r>
            <a:r>
              <a:rPr sz="1400" b="1" i="0">
                <a:solidFill>
                  <a:schemeClr val="tx2"/>
                </a:solidFill>
              </a:rPr>
              <a:t>product-moment correlation coefficient</a:t>
            </a:r>
            <a:r>
              <a:rPr sz="1400" b="0" i="0">
                <a:solidFill>
                  <a:schemeClr val="tx2"/>
                </a:solidFill>
              </a:rPr>
              <a:t>.</a:t>
            </a:r>
          </a:p>
        </p:txBody>
      </p:sp>
      <p:sp>
        <p:nvSpPr>
          <p:cNvPr id="12" name="Visual panel"/>
          <p:cNvSpPr/>
          <p:nvPr/>
        </p:nvSpPr>
        <p:spPr>
          <a:xfrm>
            <a:off x="5440680" y="4069080"/>
            <a:ext cx="3337560" cy="224028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Annotated scatter"/>
          <p:cNvGraphicFramePr>
            <a:graphicFrameLocks noGrp="1"/>
          </p:cNvGraphicFramePr>
          <p:nvPr/>
        </p:nvGraphicFramePr>
        <p:xfrm>
          <a:off x="5486400" y="4114800"/>
          <a:ext cx="3246120" cy="1783080"/>
        </p:xfrm>
        <a:graphic>
          <a:graphicData uri="http://schemas.openxmlformats.org/drawingml/2006/chart">
            <c:chart xmlns:c="http://schemas.openxmlformats.org/drawingml/2006/chart" r:id="rId5"/>
          </a:graphicData>
        </a:graphic>
      </p:graphicFrame>
      <p:sp>
        <p:nvSpPr>
          <p:cNvPr id="14" name="Plot caption"/>
          <p:cNvSpPr txBox="1"/>
          <p:nvPr/>
        </p:nvSpPr>
        <p:spPr>
          <a:xfrm>
            <a:off x="5532120" y="5897880"/>
            <a:ext cx="3200400" cy="365760"/>
          </a:xfrm>
          <a:prstGeom prst="rect">
            <a:avLst/>
          </a:prstGeom>
          <a:noFill/>
        </p:spPr>
        <p:txBody>
          <a:bodyPr wrap="square" anchor="t" lIns="45720" rIns="45720" tIns="27432" bIns="27432">
            <a:noAutofit/>
          </a:bodyPr>
          <a:lstStyle/>
          <a:p>
            <a:pPr algn="ctr">
              <a:spcAft>
                <a:spcPts val="0"/>
              </a:spcAft>
            </a:pPr>
            <a:r>
              <a:rPr sz="1000" b="0" i="1">
                <a:solidFill>
                  <a:schemeClr val="accent2">
                    <a:lumMod val="75000"/>
                  </a:schemeClr>
                </a:solidFill>
              </a:rPr>
              <a:t>Green points add to r; orange subtract. Dashed lines: x̄ and ȳ</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Spearman's Rank Correlation</a:t>
            </a:r>
          </a:p>
        </p:txBody>
      </p:sp>
      <p:sp>
        <p:nvSpPr>
          <p:cNvPr id="3" name="Bullets"/>
          <p:cNvSpPr txBox="1"/>
          <p:nvPr/>
        </p:nvSpPr>
        <p:spPr>
          <a:xfrm>
            <a:off x="731520" y="1417320"/>
            <a:ext cx="4114800" cy="4846320"/>
          </a:xfrm>
          <a:prstGeom prst="rect">
            <a:avLst/>
          </a:prstGeom>
          <a:noFill/>
        </p:spPr>
        <p:txBody>
          <a:bodyPr wrap="square" anchor="t" lIns="45720" rIns="45720" tIns="27432" bIns="27432">
            <a:noAutofit/>
          </a:bodyPr>
          <a:lstStyle/>
          <a:p>
            <a:pPr algn="l" marL="219456" indent="-219456">
              <a:spcAft>
                <a:spcPts val="900"/>
              </a:spcAft>
              <a:buClr>
                <a:schemeClr val="accent2">
                  <a:lumMod val="75000"/>
                </a:schemeClr>
              </a:buClr>
              <a:buFont typeface="Arial"/>
              <a:buChar char="•"/>
            </a:pPr>
            <a:r>
              <a:rPr sz="1400" b="0" i="0">
                <a:solidFill>
                  <a:schemeClr val="tx2"/>
                </a:solidFill>
              </a:rPr>
              <a:t>Used when data are </a:t>
            </a:r>
            <a:r>
              <a:rPr sz="1400" b="1" i="0">
                <a:solidFill>
                  <a:schemeClr val="tx2"/>
                </a:solidFill>
              </a:rPr>
              <a:t>ranks</a:t>
            </a:r>
            <a:r>
              <a:rPr sz="1400" b="0" i="0">
                <a:solidFill>
                  <a:schemeClr val="tx2"/>
                </a:solidFill>
              </a:rPr>
              <a:t> or when the relationship is not strictly linear.</a:t>
            </a:r>
          </a:p>
          <a:p>
            <a:pPr algn="l" marL="219456" indent="-219456">
              <a:spcAft>
                <a:spcPts val="900"/>
              </a:spcAft>
              <a:buClr>
                <a:schemeClr val="accent2">
                  <a:lumMod val="75000"/>
                </a:schemeClr>
              </a:buClr>
              <a:buFont typeface="Arial"/>
              <a:buChar char="•"/>
            </a:pPr>
            <a:r>
              <a:rPr sz="1400" b="0" i="0">
                <a:solidFill>
                  <a:schemeClr val="tx2"/>
                </a:solidFill>
              </a:rPr>
              <a:t>Rank each variable 1…</a:t>
            </a:r>
            <a:r>
              <a:rPr sz="1400" b="0" i="1">
                <a:solidFill>
                  <a:schemeClr val="tx2"/>
                </a:solidFill>
                <a:latin typeface="Cambria Math"/>
              </a:rPr>
              <a:t>n</a:t>
            </a:r>
            <a:r>
              <a:rPr sz="1400" b="0" i="0">
                <a:solidFill>
                  <a:schemeClr val="tx2"/>
                </a:solidFill>
              </a:rPr>
              <a:t>, then work with </a:t>
            </a:r>
            <a:r>
              <a:rPr sz="1400" b="1" i="0">
                <a:solidFill>
                  <a:schemeClr val="tx2"/>
                </a:solidFill>
              </a:rPr>
              <a:t>differences of ranks</a:t>
            </a:r>
            <a:r>
              <a:rPr sz="1400" b="0" i="0">
                <a:solidFill>
                  <a:schemeClr val="tx2"/>
                </a:solidFill>
              </a:rPr>
              <a:t> </a:t>
            </a:r>
            <a:r>
              <a:rPr sz="1400" b="0" i="1">
                <a:solidFill>
                  <a:schemeClr val="tx2"/>
                </a:solidFill>
                <a:latin typeface="Cambria Math"/>
              </a:rPr>
              <a:t>d</a:t>
            </a:r>
            <a:r>
              <a:rPr sz="1400" b="0" i="0">
                <a:solidFill>
                  <a:schemeClr val="tx2"/>
                </a:solidFill>
              </a:rPr>
              <a:t> = </a:t>
            </a:r>
            <a:r>
              <a:rPr sz="1400" b="0" i="1">
                <a:solidFill>
                  <a:schemeClr val="tx2"/>
                </a:solidFill>
                <a:latin typeface="Cambria Math"/>
              </a:rPr>
              <a:t>R</a:t>
            </a:r>
            <a:r>
              <a:rPr sz="1400" b="0" i="0">
                <a:solidFill>
                  <a:schemeClr val="tx2"/>
                </a:solidFill>
              </a:rPr>
              <a:t>ₓ − </a:t>
            </a:r>
            <a:r>
              <a:rPr sz="1400" b="0" i="1">
                <a:solidFill>
                  <a:schemeClr val="tx2"/>
                </a:solidFill>
                <a:latin typeface="Cambria Math"/>
              </a:rPr>
              <a:t>R</a:t>
            </a:r>
            <a:r>
              <a:rPr sz="1400" b="0" i="0">
                <a:solidFill>
                  <a:schemeClr val="tx2"/>
                </a:solidFill>
              </a:rPr>
              <a:t>ᵧ.</a:t>
            </a:r>
          </a:p>
          <a:p>
            <a:pPr algn="l" marL="219456" indent="-219456">
              <a:spcAft>
                <a:spcPts val="900"/>
              </a:spcAft>
              <a:buClr>
                <a:schemeClr val="accent2">
                  <a:lumMod val="75000"/>
                </a:schemeClr>
              </a:buClr>
              <a:buFont typeface="Arial"/>
              <a:buChar char="•"/>
            </a:pPr>
            <a:r>
              <a:rPr sz="1400" b="0" i="0">
                <a:solidFill>
                  <a:schemeClr val="tx2"/>
                </a:solidFill>
              </a:rPr>
              <a:t>Range again </a:t>
            </a:r>
            <a:r>
              <a:rPr sz="1400" b="1" i="0">
                <a:solidFill>
                  <a:schemeClr val="tx2"/>
                </a:solidFill>
              </a:rPr>
              <a:t>−1 ≤ ρ ≤ 1</a:t>
            </a:r>
            <a:r>
              <a:rPr sz="1400" b="0" i="0">
                <a:solidFill>
                  <a:schemeClr val="tx2"/>
                </a:solidFill>
              </a:rPr>
              <a:t>, interpreted like </a:t>
            </a:r>
            <a:r>
              <a:rPr sz="1400" b="0" i="1">
                <a:solidFill>
                  <a:schemeClr val="tx2"/>
                </a:solidFill>
                <a:latin typeface="Cambria Math"/>
              </a:rPr>
              <a:t>r</a:t>
            </a:r>
            <a:r>
              <a:rPr sz="1400" b="0" i="0">
                <a:solidFill>
                  <a:schemeClr val="tx2"/>
                </a:solidFill>
              </a:rPr>
              <a:t>.</a:t>
            </a:r>
          </a:p>
          <a:p>
            <a:pPr algn="l" marL="219456" indent="-219456">
              <a:spcAft>
                <a:spcPts val="900"/>
              </a:spcAft>
              <a:buClr>
                <a:schemeClr val="accent2">
                  <a:lumMod val="75000"/>
                </a:schemeClr>
              </a:buClr>
              <a:buFont typeface="Arial"/>
              <a:buChar char="•"/>
            </a:pPr>
            <a:r>
              <a:rPr sz="1400" b="0" i="0">
                <a:solidFill>
                  <a:schemeClr val="tx2"/>
                </a:solidFill>
              </a:rPr>
              <a:t>If ranks </a:t>
            </a:r>
            <a:r>
              <a:rPr sz="1400" b="1" i="0">
                <a:solidFill>
                  <a:schemeClr val="tx2"/>
                </a:solidFill>
              </a:rPr>
              <a:t>tie</a:t>
            </a:r>
            <a:r>
              <a:rPr sz="1400" b="0" i="0">
                <a:solidFill>
                  <a:schemeClr val="tx2"/>
                </a:solidFill>
              </a:rPr>
              <a:t>, use the corrected formula (average ranks).</a:t>
            </a:r>
          </a:p>
          <a:p>
            <a:pPr algn="l" marL="219456" indent="-219456">
              <a:spcAft>
                <a:spcPts val="900"/>
              </a:spcAft>
              <a:buClr>
                <a:schemeClr val="accent2">
                  <a:lumMod val="75000"/>
                </a:schemeClr>
              </a:buClr>
              <a:buFont typeface="Arial"/>
              <a:buChar char="•"/>
            </a:pPr>
            <a:r>
              <a:rPr sz="1400" b="0" i="0">
                <a:solidFill>
                  <a:schemeClr val="tx2"/>
                </a:solidFill>
              </a:rPr>
              <a:t>Useful for qualitative rankings (judges' scores, satisfaction surveys).</a:t>
            </a:r>
          </a:p>
        </p:txBody>
      </p:sp>
      <p:sp>
        <p:nvSpPr>
          <p:cNvPr id="4" name="Formula card"/>
          <p:cNvSpPr/>
          <p:nvPr/>
        </p:nvSpPr>
        <p:spPr>
          <a:xfrm>
            <a:off x="5120640" y="1417320"/>
            <a:ext cx="3657600" cy="123444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rmula label"/>
          <p:cNvSpPr txBox="1"/>
          <p:nvPr/>
        </p:nvSpPr>
        <p:spPr>
          <a:xfrm>
            <a:off x="5257800" y="1472184"/>
            <a:ext cx="3383280" cy="274320"/>
          </a:xfrm>
          <a:prstGeom prst="rect">
            <a:avLst/>
          </a:prstGeom>
          <a:noFill/>
        </p:spPr>
        <p:txBody>
          <a:bodyPr wrap="square" anchor="t" lIns="45720" rIns="45720" tIns="27432" bIns="27432">
            <a:noAutofit/>
          </a:bodyPr>
          <a:lstStyle/>
          <a:p>
            <a:pPr algn="l">
              <a:spcAft>
                <a:spcPts val="600"/>
              </a:spcAft>
            </a:pPr>
            <a:r>
              <a:rPr sz="1200" b="1" i="0">
                <a:solidFill>
                  <a:schemeClr val="accent2">
                    <a:lumMod val="75000"/>
                  </a:schemeClr>
                </a:solidFill>
              </a:rPr>
              <a:t>Formula</a:t>
            </a:r>
          </a:p>
        </p:txBody>
      </p:sp>
      <mc:AlternateContent xmlns:mc="http://schemas.openxmlformats.org/markup-compatibility/2006">
        <mc:Choice xmlns:a14="http://schemas.microsoft.com/office/drawing/2010/main" Requires="a14">
          <p:sp>
            <p:nvSpPr>
              <p:cNvPr id="6" name="Equation 6"/>
              <p:cNvSpPr txBox="1"/>
              <p:nvPr/>
            </p:nvSpPr>
            <p:spPr>
              <a:xfrm>
                <a:off x="5212080" y="1691640"/>
                <a:ext cx="3474720" cy="914400"/>
              </a:xfrm>
              <a:prstGeom prst="rect">
                <a:avLst/>
              </a:prstGeom>
              <a:noFill/>
            </p:spPr>
            <p:txBody>
              <a:bodyPr wrap="square" lIns="45720" tIns="0" rIns="45720" bIns="0" rtlCol="0" anchor="ctr">
                <a:noAutofit/>
              </a:bodyPr>
              <a:lstStyle/>
              <a:p>
                <a:pPr algn="c"/>
                <a14:m>
                  <m:oMathPara xmlns:m="http://schemas.openxmlformats.org/officeDocument/2006/math">
                    <m:oMathParaPr>
                      <m:jc m:val="centerGroup"/>
                    </m:oMathParaPr>
                    <m:oMath>
                      <m:r>
                        <a:rPr lang="en-US" sz="2000" i="1">
                          <a:solidFill>
                            <a:srgbClr val="2C3C43"/>
                          </a:solidFill>
                          <a:latin typeface="Cambria Math" panose="02040503050406030204" pitchFamily="18" charset="0"/>
                          <a:cs typeface="Cambria Math" panose="02040503050406030204" pitchFamily="18" charset="0"/>
                        </a:rPr>
                        <m:t>ρ</m:t>
                      </m:r>
                      <m:r>
                        <a:rPr lang="en-US" sz="2000" i="1">
                          <a:solidFill>
                            <a:srgbClr val="2C3C43"/>
                          </a:solidFill>
                          <a:latin typeface="Cambria Math" panose="02040503050406030204" pitchFamily="18" charset="0"/>
                          <a:cs typeface="Cambria Math" panose="02040503050406030204" pitchFamily="18" charset="0"/>
                        </a:rPr>
                        <m:t>=</m:t>
                      </m:r>
                      <m:r>
                        <a:rPr lang="en-US" sz="2000" i="1">
                          <a:solidFill>
                            <a:srgbClr val="2C3C43"/>
                          </a:solidFill>
                          <a:latin typeface="Cambria Math" panose="02040503050406030204" pitchFamily="18" charset="0"/>
                          <a:cs typeface="Cambria Math" panose="02040503050406030204" pitchFamily="18" charset="0"/>
                        </a:rPr>
                        <m:t>1</m:t>
                      </m:r>
                      <m:r>
                        <a:rPr lang="en-US" sz="2000" i="1">
                          <a:solidFill>
                            <a:srgbClr val="2C3C43"/>
                          </a:solidFill>
                          <a:latin typeface="Cambria Math" panose="02040503050406030204" pitchFamily="18" charset="0"/>
                          <a:cs typeface="Cambria Math" panose="02040503050406030204" pitchFamily="18" charset="0"/>
                        </a:rPr>
                        <m:t>−</m:t>
                      </m:r>
                      <m:f>
                        <m:fPr>
                          <m:ctrlPr>
                            <a:rPr lang="en-US" sz="2000" i="1">
                              <a:solidFill>
                                <a:srgbClr val="2C3C43"/>
                              </a:solidFill>
                              <a:latin typeface="Cambria Math" panose="02040503050406030204" pitchFamily="18" charset="0"/>
                              <a:cs typeface="Cambria Math" panose="02040503050406030204" pitchFamily="18" charset="0"/>
                            </a:rPr>
                          </m:ctrlPr>
                        </m:fPr>
                        <m:num>
                          <m:r>
                            <a:rPr lang="en-US" sz="2000" i="1">
                              <a:solidFill>
                                <a:srgbClr val="2C3C43"/>
                              </a:solidFill>
                              <a:latin typeface="Cambria Math" panose="02040503050406030204" pitchFamily="18" charset="0"/>
                              <a:cs typeface="Cambria Math" panose="02040503050406030204" pitchFamily="18" charset="0"/>
                            </a:rPr>
                            <m:t>6</m:t>
                          </m:r>
                          <m:nary>
                            <m:naryPr>
                              <m:chr m:val="∑"/>
                              <m:limLoc m:val="undOvr"/>
                              <m:subHide m:val="1"/>
                              <m:supHide m:val="1"/>
                              <m:ctrlPr>
                                <a:rPr lang="en-US" sz="2000" i="1">
                                  <a:solidFill>
                                    <a:srgbClr val="2C3C43"/>
                                  </a:solidFill>
                                  <a:latin typeface="Cambria Math" panose="02040503050406030204" pitchFamily="18" charset="0"/>
                                  <a:cs typeface="Cambria Math" panose="02040503050406030204" pitchFamily="18" charset="0"/>
                                </a:rPr>
                              </m:ctrlPr>
                            </m:naryPr>
                            <m:sub/>
                            <m:sup/>
                            <m:e>
                              <m:sSup>
                                <m:sSupPr>
                                  <m:ctrlPr>
                                    <a:rPr lang="en-US" sz="2000" i="1">
                                      <a:solidFill>
                                        <a:srgbClr val="2C3C43"/>
                                      </a:solidFill>
                                      <a:latin typeface="Cambria Math" panose="02040503050406030204" pitchFamily="18" charset="0"/>
                                      <a:cs typeface="Cambria Math" panose="02040503050406030204" pitchFamily="18" charset="0"/>
                                    </a:rPr>
                                  </m:ctrlPr>
                                </m:sSupPr>
                                <m:e>
                                  <m:r>
                                    <a:rPr lang="en-US" sz="2000" i="1">
                                      <a:solidFill>
                                        <a:srgbClr val="2C3C43"/>
                                      </a:solidFill>
                                      <a:latin typeface="Cambria Math" panose="02040503050406030204" pitchFamily="18" charset="0"/>
                                      <a:cs typeface="Cambria Math" panose="02040503050406030204" pitchFamily="18" charset="0"/>
                                    </a:rPr>
                                    <m:t>d</m:t>
                                  </m:r>
                                </m:e>
                                <m:sup>
                                  <m:r>
                                    <a:rPr lang="en-US" sz="2000" i="1">
                                      <a:solidFill>
                                        <a:srgbClr val="2C3C43"/>
                                      </a:solidFill>
                                      <a:latin typeface="Cambria Math" panose="02040503050406030204" pitchFamily="18" charset="0"/>
                                      <a:cs typeface="Cambria Math" panose="02040503050406030204" pitchFamily="18" charset="0"/>
                                    </a:rPr>
                                    <m:t>2</m:t>
                                  </m:r>
                                </m:sup>
                              </m:sSup>
                            </m:e>
                          </m:nary>
                        </m:num>
                        <m:den>
                          <m:r>
                            <a:rPr lang="en-US" sz="2000" i="1">
                              <a:solidFill>
                                <a:srgbClr val="2C3C43"/>
                              </a:solidFill>
                              <a:latin typeface="Cambria Math" panose="02040503050406030204" pitchFamily="18" charset="0"/>
                              <a:cs typeface="Cambria Math" panose="02040503050406030204" pitchFamily="18" charset="0"/>
                            </a:rPr>
                            <m:t>n</m:t>
                          </m:r>
                          <m:d>
                            <m:dPr>
                              <m:begChr m:val="("/>
                              <m:endChr m:val=")"/>
                              <m:ctrlPr>
                                <a:rPr lang="en-US" sz="2000" i="1">
                                  <a:solidFill>
                                    <a:srgbClr val="2C3C43"/>
                                  </a:solidFill>
                                  <a:latin typeface="Cambria Math" panose="02040503050406030204" pitchFamily="18" charset="0"/>
                                  <a:cs typeface="Cambria Math" panose="02040503050406030204" pitchFamily="18" charset="0"/>
                                </a:rPr>
                              </m:ctrlPr>
                            </m:dPr>
                            <m:e>
                              <m:sSup>
                                <m:sSupPr>
                                  <m:ctrlPr>
                                    <a:rPr lang="en-US" sz="2000" i="1">
                                      <a:solidFill>
                                        <a:srgbClr val="2C3C43"/>
                                      </a:solidFill>
                                      <a:latin typeface="Cambria Math" panose="02040503050406030204" pitchFamily="18" charset="0"/>
                                      <a:cs typeface="Cambria Math" panose="02040503050406030204" pitchFamily="18" charset="0"/>
                                    </a:rPr>
                                  </m:ctrlPr>
                                </m:sSupPr>
                                <m:e>
                                  <m:r>
                                    <a:rPr lang="en-US" sz="2000" i="1">
                                      <a:solidFill>
                                        <a:srgbClr val="2C3C43"/>
                                      </a:solidFill>
                                      <a:latin typeface="Cambria Math" panose="02040503050406030204" pitchFamily="18" charset="0"/>
                                      <a:cs typeface="Cambria Math" panose="02040503050406030204" pitchFamily="18" charset="0"/>
                                    </a:rPr>
                                    <m:t>n</m:t>
                                  </m:r>
                                </m:e>
                                <m:sup>
                                  <m:r>
                                    <a:rPr lang="en-US" sz="2000" i="1">
                                      <a:solidFill>
                                        <a:srgbClr val="2C3C43"/>
                                      </a:solidFill>
                                      <a:latin typeface="Cambria Math" panose="02040503050406030204" pitchFamily="18" charset="0"/>
                                      <a:cs typeface="Cambria Math" panose="02040503050406030204" pitchFamily="18" charset="0"/>
                                    </a:rPr>
                                    <m:t>2</m:t>
                                  </m:r>
                                </m:sup>
                              </m:sSup>
                              <m:r>
                                <a:rPr lang="en-US" sz="2000" i="1">
                                  <a:solidFill>
                                    <a:srgbClr val="2C3C43"/>
                                  </a:solidFill>
                                  <a:latin typeface="Cambria Math" panose="02040503050406030204" pitchFamily="18" charset="0"/>
                                  <a:cs typeface="Cambria Math" panose="02040503050406030204" pitchFamily="18" charset="0"/>
                                </a:rPr>
                                <m:t>−</m:t>
                              </m:r>
                              <m:r>
                                <a:rPr lang="en-US" sz="2000" i="1">
                                  <a:solidFill>
                                    <a:srgbClr val="2C3C43"/>
                                  </a:solidFill>
                                  <a:latin typeface="Cambria Math" panose="02040503050406030204" pitchFamily="18" charset="0"/>
                                  <a:cs typeface="Cambria Math" panose="02040503050406030204" pitchFamily="18" charset="0"/>
                                </a:rPr>
                                <m:t>1</m:t>
                              </m:r>
                            </m:e>
                          </m:d>
                        </m:den>
                      </m:f>
                    </m:oMath>
                  </m:oMathPara>
                </a14:m>
                <a:endParaRPr lang="en-US" sz="2000"/>
              </a:p>
            </p:txBody>
          </p:sp>
        </mc:Choice>
        <mc:Fallback>
          <p:pic>
            <p:nvPicPr>
              <p:cNvPr id="7" name="Equation image 6" descr="Equation"/>
              <p:cNvPicPr>
                <a:picLocks noChangeAspect="1"/>
              </p:cNvPicPr>
              <p:nvPr/>
            </p:nvPicPr>
            <p:blipFill>
              <a:blip r:embed="rId3"/>
              <a:stretch>
                <a:fillRect/>
              </a:stretch>
            </p:blipFill>
            <p:spPr>
              <a:xfrm>
                <a:off x="6000750" y="1815084"/>
                <a:ext cx="1897380" cy="667512"/>
              </a:xfrm>
              <a:prstGeom prst="rect">
                <a:avLst/>
              </a:prstGeom>
            </p:spPr>
          </p:pic>
        </mc:Fallback>
      </mc:AlternateContent>
      <p:sp>
        <p:nvSpPr>
          <p:cNvPr id="8" name="Rank table panel"/>
          <p:cNvSpPr/>
          <p:nvPr/>
        </p:nvSpPr>
        <p:spPr>
          <a:xfrm>
            <a:off x="5120640" y="2834640"/>
            <a:ext cx="3657600" cy="347472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Rank table"/>
          <p:cNvGraphicFramePr>
            <a:graphicFrameLocks noGrp="1"/>
          </p:cNvGraphicFramePr>
          <p:nvPr/>
        </p:nvGraphicFramePr>
        <p:xfrm>
          <a:off x="5212080" y="2971800"/>
          <a:ext cx="3474720" cy="1920240"/>
        </p:xfrm>
        <a:graphic>
          <a:graphicData uri="http://schemas.openxmlformats.org/drawingml/2006/table">
            <a:tbl>
              <a:tblPr firstRow="1" bandRow="1">
                <a:tableStyleId>{5C22544A-7EE6-4342-B048-85BDC9FD1C3A}</a:tableStyleId>
              </a:tblPr>
              <a:tblGrid>
                <a:gridCol w="548640"/>
                <a:gridCol w="502920"/>
                <a:gridCol w="502920"/>
                <a:gridCol w="1280160"/>
                <a:gridCol w="640080"/>
              </a:tblGrid>
              <a:tr h="384048">
                <a:tc>
                  <a:txBody>
                    <a:bodyPr/>
                    <a:lstStyle/>
                    <a:p>
                      <a:pPr algn="ctr"/>
                      <a:r>
                        <a:rPr sz="1200" b="1">
                          <a:solidFill>
                            <a:schemeClr val="bg1"/>
                          </a:solidFill>
                        </a:rPr>
                        <a:t>Item</a:t>
                      </a:r>
                    </a:p>
                  </a:txBody>
                  <a:tcPr anchor="ctr" marL="45720" marR="45720" marT="18288" marB="18288">
                    <a:solidFill>
                      <a:schemeClr val="accent2">
                        <a:lumMod val="75000"/>
                      </a:schemeClr>
                    </a:solidFill>
                  </a:tcPr>
                </a:tc>
                <a:tc>
                  <a:txBody>
                    <a:bodyPr/>
                    <a:lstStyle/>
                    <a:p>
                      <a:pPr algn="ctr"/>
                      <a:r>
                        <a:rPr sz="1200" b="1">
                          <a:solidFill>
                            <a:schemeClr val="bg1"/>
                          </a:solidFill>
                        </a:rPr>
                        <a:t>Rx</a:t>
                      </a:r>
                    </a:p>
                  </a:txBody>
                  <a:tcPr anchor="ctr" marL="45720" marR="45720" marT="18288" marB="18288">
                    <a:solidFill>
                      <a:schemeClr val="accent2">
                        <a:lumMod val="75000"/>
                      </a:schemeClr>
                    </a:solidFill>
                  </a:tcPr>
                </a:tc>
                <a:tc>
                  <a:txBody>
                    <a:bodyPr/>
                    <a:lstStyle/>
                    <a:p>
                      <a:pPr algn="ctr"/>
                      <a:r>
                        <a:rPr sz="1200" b="1">
                          <a:solidFill>
                            <a:schemeClr val="bg1"/>
                          </a:solidFill>
                        </a:rPr>
                        <a:t>Ry</a:t>
                      </a:r>
                    </a:p>
                  </a:txBody>
                  <a:tcPr anchor="ctr" marL="45720" marR="45720" marT="18288" marB="18288">
                    <a:solidFill>
                      <a:schemeClr val="accent2">
                        <a:lumMod val="75000"/>
                      </a:schemeClr>
                    </a:solidFill>
                  </a:tcPr>
                </a:tc>
                <a:tc>
                  <a:txBody>
                    <a:bodyPr/>
                    <a:lstStyle/>
                    <a:p>
                      <a:pPr algn="ctr"/>
                      <a:r>
                        <a:rPr sz="1200" b="1">
                          <a:solidFill>
                            <a:schemeClr val="bg1"/>
                          </a:solidFill>
                        </a:rPr>
                        <a:t>d = Rx−Ry</a:t>
                      </a:r>
                    </a:p>
                  </a:txBody>
                  <a:tcPr anchor="ctr" marL="45720" marR="45720" marT="18288" marB="18288">
                    <a:solidFill>
                      <a:schemeClr val="accent2">
                        <a:lumMod val="75000"/>
                      </a:schemeClr>
                    </a:solidFill>
                  </a:tcPr>
                </a:tc>
                <a:tc>
                  <a:txBody>
                    <a:bodyPr/>
                    <a:lstStyle/>
                    <a:p>
                      <a:pPr algn="ctr"/>
                      <a:r>
                        <a:rPr sz="1200" b="1">
                          <a:solidFill>
                            <a:schemeClr val="bg1"/>
                          </a:solidFill>
                        </a:rPr>
                        <a:t>d²</a:t>
                      </a:r>
                    </a:p>
                  </a:txBody>
                  <a:tcPr anchor="ctr" marL="45720" marR="45720" marT="18288" marB="18288">
                    <a:solidFill>
                      <a:schemeClr val="accent2">
                        <a:lumMod val="75000"/>
                      </a:schemeClr>
                    </a:solidFill>
                  </a:tcPr>
                </a:tc>
              </a:tr>
              <a:tr h="384048">
                <a:tc>
                  <a:txBody>
                    <a:bodyPr/>
                    <a:lstStyle/>
                    <a:p>
                      <a:pPr algn="ctr"/>
                      <a:r>
                        <a:rPr sz="1200" b="0">
                          <a:solidFill>
                            <a:schemeClr val="tx2"/>
                          </a:solidFill>
                        </a:rPr>
                        <a:t>A</a:t>
                      </a:r>
                    </a:p>
                  </a:txBody>
                  <a:tcPr anchor="ctr" marL="45720" marR="45720" marT="18288" marB="18288">
                    <a:solidFill>
                      <a:schemeClr val="bg1"/>
                    </a:solidFill>
                  </a:tcPr>
                </a:tc>
                <a:tc>
                  <a:txBody>
                    <a:bodyPr/>
                    <a:lstStyle/>
                    <a:p>
                      <a:pPr algn="ctr"/>
                      <a:r>
                        <a:rPr sz="1200" b="0">
                          <a:solidFill>
                            <a:schemeClr val="tx2"/>
                          </a:solidFill>
                        </a:rPr>
                        <a:t>2</a:t>
                      </a:r>
                    </a:p>
                  </a:txBody>
                  <a:tcPr anchor="ctr" marL="45720" marR="45720" marT="18288" marB="18288">
                    <a:solidFill>
                      <a:schemeClr val="bg1"/>
                    </a:solidFill>
                  </a:tcPr>
                </a:tc>
                <a:tc>
                  <a:txBody>
                    <a:bodyPr/>
                    <a:lstStyle/>
                    <a:p>
                      <a:pPr algn="ctr"/>
                      <a:r>
                        <a:rPr sz="1200" b="0">
                          <a:solidFill>
                            <a:schemeClr val="tx2"/>
                          </a:solidFill>
                        </a:rPr>
                        <a:t>1</a:t>
                      </a:r>
                    </a:p>
                  </a:txBody>
                  <a:tcPr anchor="ctr" marL="45720" marR="45720" marT="18288" marB="18288">
                    <a:solidFill>
                      <a:schemeClr val="bg1"/>
                    </a:solidFill>
                  </a:tcPr>
                </a:tc>
                <a:tc>
                  <a:txBody>
                    <a:bodyPr/>
                    <a:lstStyle/>
                    <a:p>
                      <a:pPr algn="ctr"/>
                      <a:r>
                        <a:rPr sz="1200" b="0">
                          <a:solidFill>
                            <a:schemeClr val="tx2"/>
                          </a:solidFill>
                        </a:rPr>
                        <a:t>+1</a:t>
                      </a:r>
                    </a:p>
                  </a:txBody>
                  <a:tcPr anchor="ctr" marL="45720" marR="45720" marT="18288" marB="18288">
                    <a:solidFill>
                      <a:schemeClr val="bg1"/>
                    </a:solidFill>
                  </a:tcPr>
                </a:tc>
                <a:tc>
                  <a:txBody>
                    <a:bodyPr/>
                    <a:lstStyle/>
                    <a:p>
                      <a:pPr algn="ctr"/>
                      <a:r>
                        <a:rPr sz="1200" b="0">
                          <a:solidFill>
                            <a:schemeClr val="tx2"/>
                          </a:solidFill>
                        </a:rPr>
                        <a:t>1</a:t>
                      </a:r>
                    </a:p>
                  </a:txBody>
                  <a:tcPr anchor="ctr" marL="45720" marR="45720" marT="18288" marB="18288">
                    <a:solidFill>
                      <a:schemeClr val="bg1"/>
                    </a:solidFill>
                  </a:tcPr>
                </a:tc>
              </a:tr>
              <a:tr h="384048">
                <a:tc>
                  <a:txBody>
                    <a:bodyPr/>
                    <a:lstStyle/>
                    <a:p>
                      <a:pPr algn="ctr"/>
                      <a:r>
                        <a:rPr sz="1200" b="0">
                          <a:solidFill>
                            <a:schemeClr val="tx2"/>
                          </a:solidFill>
                        </a:rPr>
                        <a:t>B</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1</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3</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−2</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4</a:t>
                      </a:r>
                    </a:p>
                  </a:txBody>
                  <a:tcPr anchor="ctr" marL="45720" marR="45720" marT="18288" marB="18288">
                    <a:solidFill>
                      <a:schemeClr val="accent1">
                        <a:lumMod val="10000"/>
                        <a:lumOff val="90000"/>
                      </a:schemeClr>
                    </a:solidFill>
                  </a:tcPr>
                </a:tc>
              </a:tr>
              <a:tr h="384048">
                <a:tc>
                  <a:txBody>
                    <a:bodyPr/>
                    <a:lstStyle/>
                    <a:p>
                      <a:pPr algn="ctr"/>
                      <a:r>
                        <a:rPr sz="1200" b="0">
                          <a:solidFill>
                            <a:schemeClr val="tx2"/>
                          </a:solidFill>
                        </a:rPr>
                        <a:t>C</a:t>
                      </a:r>
                    </a:p>
                  </a:txBody>
                  <a:tcPr anchor="ctr" marL="45720" marR="45720" marT="18288" marB="18288">
                    <a:solidFill>
                      <a:schemeClr val="bg1"/>
                    </a:solidFill>
                  </a:tcPr>
                </a:tc>
                <a:tc>
                  <a:txBody>
                    <a:bodyPr/>
                    <a:lstStyle/>
                    <a:p>
                      <a:pPr algn="ctr"/>
                      <a:r>
                        <a:rPr sz="1200" b="0">
                          <a:solidFill>
                            <a:schemeClr val="tx2"/>
                          </a:solidFill>
                        </a:rPr>
                        <a:t>3</a:t>
                      </a:r>
                    </a:p>
                  </a:txBody>
                  <a:tcPr anchor="ctr" marL="45720" marR="45720" marT="18288" marB="18288">
                    <a:solidFill>
                      <a:schemeClr val="bg1"/>
                    </a:solidFill>
                  </a:tcPr>
                </a:tc>
                <a:tc>
                  <a:txBody>
                    <a:bodyPr/>
                    <a:lstStyle/>
                    <a:p>
                      <a:pPr algn="ctr"/>
                      <a:r>
                        <a:rPr sz="1200" b="0">
                          <a:solidFill>
                            <a:schemeClr val="tx2"/>
                          </a:solidFill>
                        </a:rPr>
                        <a:t>2</a:t>
                      </a:r>
                    </a:p>
                  </a:txBody>
                  <a:tcPr anchor="ctr" marL="45720" marR="45720" marT="18288" marB="18288">
                    <a:solidFill>
                      <a:schemeClr val="bg1"/>
                    </a:solidFill>
                  </a:tcPr>
                </a:tc>
                <a:tc>
                  <a:txBody>
                    <a:bodyPr/>
                    <a:lstStyle/>
                    <a:p>
                      <a:pPr algn="ctr"/>
                      <a:r>
                        <a:rPr sz="1200" b="0">
                          <a:solidFill>
                            <a:schemeClr val="tx2"/>
                          </a:solidFill>
                        </a:rPr>
                        <a:t>+1</a:t>
                      </a:r>
                    </a:p>
                  </a:txBody>
                  <a:tcPr anchor="ctr" marL="45720" marR="45720" marT="18288" marB="18288">
                    <a:solidFill>
                      <a:schemeClr val="bg1"/>
                    </a:solidFill>
                  </a:tcPr>
                </a:tc>
                <a:tc>
                  <a:txBody>
                    <a:bodyPr/>
                    <a:lstStyle/>
                    <a:p>
                      <a:pPr algn="ctr"/>
                      <a:r>
                        <a:rPr sz="1200" b="0">
                          <a:solidFill>
                            <a:schemeClr val="tx2"/>
                          </a:solidFill>
                        </a:rPr>
                        <a:t>1</a:t>
                      </a:r>
                    </a:p>
                  </a:txBody>
                  <a:tcPr anchor="ctr" marL="45720" marR="45720" marT="18288" marB="18288">
                    <a:solidFill>
                      <a:schemeClr val="bg1"/>
                    </a:solidFill>
                  </a:tcPr>
                </a:tc>
              </a:tr>
              <a:tr h="384048">
                <a:tc>
                  <a:txBody>
                    <a:bodyPr/>
                    <a:lstStyle/>
                    <a:p>
                      <a:pPr algn="ctr"/>
                    </a:p>
                  </a:txBody>
                  <a:tcPr anchor="ctr" marL="45720" marR="45720" marT="18288" marB="18288">
                    <a:solidFill>
                      <a:schemeClr val="accent1">
                        <a:lumMod val="40000"/>
                        <a:lumOff val="60000"/>
                      </a:schemeClr>
                    </a:solidFill>
                  </a:tcPr>
                </a:tc>
                <a:tc>
                  <a:txBody>
                    <a:bodyPr/>
                    <a:lstStyle/>
                    <a:p>
                      <a:pPr algn="ctr"/>
                    </a:p>
                  </a:txBody>
                  <a:tcPr anchor="ctr" marL="45720" marR="45720" marT="18288" marB="18288">
                    <a:solidFill>
                      <a:schemeClr val="accent1">
                        <a:lumMod val="40000"/>
                        <a:lumOff val="60000"/>
                      </a:schemeClr>
                    </a:solidFill>
                  </a:tcPr>
                </a:tc>
                <a:tc>
                  <a:txBody>
                    <a:bodyPr/>
                    <a:lstStyle/>
                    <a:p>
                      <a:pPr algn="ctr"/>
                    </a:p>
                  </a:txBody>
                  <a:tcPr anchor="ctr" marL="45720" marR="45720" marT="18288" marB="18288">
                    <a:solidFill>
                      <a:schemeClr val="accent1">
                        <a:lumMod val="40000"/>
                        <a:lumOff val="60000"/>
                      </a:schemeClr>
                    </a:solidFill>
                  </a:tcPr>
                </a:tc>
                <a:tc>
                  <a:txBody>
                    <a:bodyPr/>
                    <a:lstStyle/>
                    <a:p>
                      <a:pPr algn="ctr"/>
                      <a:r>
                        <a:rPr sz="1200" b="1">
                          <a:solidFill>
                            <a:schemeClr val="tx2"/>
                          </a:solidFill>
                        </a:rPr>
                        <a:t>Σd²</a:t>
                      </a:r>
                    </a:p>
                  </a:txBody>
                  <a:tcPr anchor="ctr" marL="45720" marR="45720" marT="18288" marB="18288">
                    <a:solidFill>
                      <a:schemeClr val="accent1">
                        <a:lumMod val="40000"/>
                        <a:lumOff val="60000"/>
                      </a:schemeClr>
                    </a:solidFill>
                  </a:tcPr>
                </a:tc>
                <a:tc>
                  <a:txBody>
                    <a:bodyPr/>
                    <a:lstStyle/>
                    <a:p>
                      <a:pPr algn="ctr"/>
                      <a:r>
                        <a:rPr sz="1200" b="1">
                          <a:solidFill>
                            <a:schemeClr val="tx2"/>
                          </a:solidFill>
                        </a:rPr>
                        <a:t>6</a:t>
                      </a:r>
                    </a:p>
                  </a:txBody>
                  <a:tcPr anchor="ctr" marL="45720" marR="45720" marT="18288" marB="18288">
                    <a:solidFill>
                      <a:schemeClr val="accent1">
                        <a:lumMod val="40000"/>
                        <a:lumOff val="60000"/>
                      </a:schemeClr>
                    </a:solidFill>
                  </a:tcPr>
                </a:tc>
              </a:tr>
            </a:tbl>
          </a:graphicData>
        </a:graphic>
      </p:graphicFrame>
      <p:sp>
        <p:nvSpPr>
          <p:cNvPr id="10" name="Rank caption"/>
          <p:cNvSpPr txBox="1"/>
          <p:nvPr/>
        </p:nvSpPr>
        <p:spPr>
          <a:xfrm>
            <a:off x="5212080" y="5029200"/>
            <a:ext cx="3474720" cy="274320"/>
          </a:xfrm>
          <a:prstGeom prst="rect">
            <a:avLst/>
          </a:prstGeom>
          <a:noFill/>
        </p:spPr>
        <p:txBody>
          <a:bodyPr wrap="square" anchor="t" lIns="45720" rIns="45720" tIns="27432" bIns="27432">
            <a:noAutofit/>
          </a:bodyPr>
          <a:lstStyle/>
          <a:p>
            <a:pPr algn="l">
              <a:spcAft>
                <a:spcPts val="0"/>
              </a:spcAft>
            </a:pPr>
            <a:r>
              <a:rPr sz="1200" b="0" i="1">
                <a:solidFill>
                  <a:schemeClr val="accent2">
                    <a:lumMod val="75000"/>
                  </a:schemeClr>
                </a:solidFill>
              </a:rPr>
              <a:t>Worked on these three items (n = 3):</a:t>
            </a:r>
          </a:p>
        </p:txBody>
      </p:sp>
      <p:sp>
        <p:nvSpPr>
          <p:cNvPr id="11" name="Formula card"/>
          <p:cNvSpPr/>
          <p:nvPr/>
        </p:nvSpPr>
        <p:spPr>
          <a:xfrm>
            <a:off x="5212080" y="5349240"/>
            <a:ext cx="3474720" cy="82296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Equation 12"/>
              <p:cNvSpPr txBox="1"/>
              <p:nvPr/>
            </p:nvSpPr>
            <p:spPr>
              <a:xfrm>
                <a:off x="5303520" y="5349240"/>
                <a:ext cx="3291840" cy="777240"/>
              </a:xfrm>
              <a:prstGeom prst="rect">
                <a:avLst/>
              </a:prstGeom>
              <a:noFill/>
            </p:spPr>
            <p:txBody>
              <a:bodyPr wrap="square" lIns="45720" tIns="0" rIns="45720" bIns="0" rtlCol="0" anchor="ctr">
                <a:noAutofit/>
              </a:bodyPr>
              <a:lstStyle/>
              <a:p>
                <a:pPr algn="c"/>
                <a14:m>
                  <m:oMathPara xmlns:m="http://schemas.openxmlformats.org/officeDocument/2006/math">
                    <m:oMathParaPr>
                      <m:jc m:val="centerGroup"/>
                    </m:oMathParaPr>
                    <m:oMath>
                      <m:r>
                        <a:rPr lang="en-US" sz="1800" i="1">
                          <a:solidFill>
                            <a:srgbClr val="2C3C43"/>
                          </a:solidFill>
                          <a:latin typeface="Cambria Math" panose="02040503050406030204" pitchFamily="18" charset="0"/>
                          <a:cs typeface="Cambria Math" panose="02040503050406030204" pitchFamily="18" charset="0"/>
                        </a:rPr>
                        <m:t>ρ</m:t>
                      </m:r>
                      <m:r>
                        <a:rPr lang="en-US" sz="1800" i="1">
                          <a:solidFill>
                            <a:srgbClr val="2C3C43"/>
                          </a:solidFill>
                          <a:latin typeface="Cambria Math" panose="02040503050406030204" pitchFamily="18" charset="0"/>
                          <a:cs typeface="Cambria Math" panose="02040503050406030204" pitchFamily="18" charset="0"/>
                        </a:rPr>
                        <m:t>=</m:t>
                      </m:r>
                      <m:r>
                        <a:rPr lang="en-US" sz="1800" i="1">
                          <a:solidFill>
                            <a:srgbClr val="2C3C43"/>
                          </a:solidFill>
                          <a:latin typeface="Cambria Math" panose="02040503050406030204" pitchFamily="18" charset="0"/>
                          <a:cs typeface="Cambria Math" panose="02040503050406030204" pitchFamily="18" charset="0"/>
                        </a:rPr>
                        <m:t>1</m:t>
                      </m:r>
                      <m:r>
                        <a:rPr lang="en-US" sz="1800" i="1">
                          <a:solidFill>
                            <a:srgbClr val="2C3C43"/>
                          </a:solidFill>
                          <a:latin typeface="Cambria Math" panose="02040503050406030204" pitchFamily="18" charset="0"/>
                          <a:cs typeface="Cambria Math" panose="02040503050406030204" pitchFamily="18" charset="0"/>
                        </a:rPr>
                        <m:t>−</m:t>
                      </m:r>
                      <m:f>
                        <m:fPr>
                          <m:ctrlPr>
                            <a:rPr lang="en-US" sz="1800" i="1">
                              <a:solidFill>
                                <a:srgbClr val="2C3C43"/>
                              </a:solidFill>
                              <a:latin typeface="Cambria Math" panose="02040503050406030204" pitchFamily="18" charset="0"/>
                              <a:cs typeface="Cambria Math" panose="02040503050406030204" pitchFamily="18" charset="0"/>
                            </a:rPr>
                          </m:ctrlPr>
                        </m:fPr>
                        <m:num>
                          <m:r>
                            <a:rPr lang="en-US" sz="1800" i="1">
                              <a:solidFill>
                                <a:srgbClr val="2C3C43"/>
                              </a:solidFill>
                              <a:latin typeface="Cambria Math" panose="02040503050406030204" pitchFamily="18" charset="0"/>
                              <a:cs typeface="Cambria Math" panose="02040503050406030204" pitchFamily="18" charset="0"/>
                            </a:rPr>
                            <m:t>6·6</m:t>
                          </m:r>
                        </m:num>
                        <m:den>
                          <m:r>
                            <a:rPr lang="en-US" sz="1800" i="1">
                              <a:solidFill>
                                <a:srgbClr val="2C3C43"/>
                              </a:solidFill>
                              <a:latin typeface="Cambria Math" panose="02040503050406030204" pitchFamily="18" charset="0"/>
                              <a:cs typeface="Cambria Math" panose="02040503050406030204" pitchFamily="18" charset="0"/>
                            </a:rPr>
                            <m:t>3·8</m:t>
                          </m:r>
                        </m:den>
                      </m:f>
                      <m:r>
                        <a:rPr lang="en-US" sz="1800" i="1">
                          <a:solidFill>
                            <a:srgbClr val="2C3C43"/>
                          </a:solidFill>
                          <a:latin typeface="Cambria Math" panose="02040503050406030204" pitchFamily="18" charset="0"/>
                          <a:cs typeface="Cambria Math" panose="02040503050406030204" pitchFamily="18" charset="0"/>
                        </a:rPr>
                        <m:t>=</m:t>
                      </m:r>
                      <m:r>
                        <a:rPr lang="en-US" sz="1800" i="1">
                          <a:solidFill>
                            <a:srgbClr val="2C3C43"/>
                          </a:solidFill>
                          <a:latin typeface="Cambria Math" panose="02040503050406030204" pitchFamily="18" charset="0"/>
                          <a:cs typeface="Cambria Math" panose="02040503050406030204" pitchFamily="18" charset="0"/>
                        </a:rPr>
                        <m:t>−0.5</m:t>
                      </m:r>
                    </m:oMath>
                  </m:oMathPara>
                </a14:m>
                <a:endParaRPr lang="en-US" sz="1800"/>
              </a:p>
            </p:txBody>
          </p:sp>
        </mc:Choice>
        <mc:Fallback>
          <p:pic>
            <p:nvPicPr>
              <p:cNvPr id="13" name="Equation image 12" descr="Equation"/>
              <p:cNvPicPr>
                <a:picLocks noChangeAspect="1"/>
              </p:cNvPicPr>
              <p:nvPr/>
            </p:nvPicPr>
            <p:blipFill>
              <a:blip r:embed="rId4"/>
              <a:stretch>
                <a:fillRect/>
              </a:stretch>
            </p:blipFill>
            <p:spPr>
              <a:xfrm>
                <a:off x="5861304" y="5505831"/>
                <a:ext cx="2176272" cy="464058"/>
              </a:xfrm>
              <a:prstGeom prst="rect">
                <a:avLst/>
              </a:prstGeom>
            </p:spPr>
          </p:pic>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Properties and Interpretation of r</a:t>
            </a:r>
          </a:p>
        </p:txBody>
      </p:sp>
      <p:sp>
        <p:nvSpPr>
          <p:cNvPr id="3" name="Bullets"/>
          <p:cNvSpPr txBox="1"/>
          <p:nvPr/>
        </p:nvSpPr>
        <p:spPr>
          <a:xfrm>
            <a:off x="731520" y="1417320"/>
            <a:ext cx="4114800" cy="4846320"/>
          </a:xfrm>
          <a:prstGeom prst="rect">
            <a:avLst/>
          </a:prstGeom>
          <a:noFill/>
        </p:spPr>
        <p:txBody>
          <a:bodyPr wrap="square" anchor="t" lIns="45720" rIns="45720" tIns="27432" bIns="27432">
            <a:noAutofit/>
          </a:bodyPr>
          <a:lstStyle/>
          <a:p>
            <a:pPr algn="l" marL="219456" indent="-219456">
              <a:spcAft>
                <a:spcPts val="800"/>
              </a:spcAft>
              <a:buClr>
                <a:schemeClr val="accent2">
                  <a:lumMod val="75000"/>
                </a:schemeClr>
              </a:buClr>
              <a:buFont typeface="Arial"/>
              <a:buChar char="•"/>
            </a:pPr>
            <a:r>
              <a:rPr sz="1400" b="0" i="1">
                <a:solidFill>
                  <a:schemeClr val="tx2"/>
                </a:solidFill>
                <a:latin typeface="Cambria Math"/>
              </a:rPr>
              <a:t>r</a:t>
            </a:r>
            <a:r>
              <a:rPr sz="1400" b="0" i="0">
                <a:solidFill>
                  <a:schemeClr val="tx2"/>
                </a:solidFill>
              </a:rPr>
              <a:t> is </a:t>
            </a:r>
            <a:r>
              <a:rPr sz="1400" b="1" i="0">
                <a:solidFill>
                  <a:schemeClr val="tx2"/>
                </a:solidFill>
              </a:rPr>
              <a:t>independent of origin and scale</a:t>
            </a:r>
            <a:r>
              <a:rPr sz="1400" b="0" i="0">
                <a:solidFill>
                  <a:schemeClr val="tx2"/>
                </a:solidFill>
              </a:rPr>
              <a:t> — shifting or rescaling doesn't change it.</a:t>
            </a:r>
          </a:p>
          <a:p>
            <a:pPr algn="l" marL="219456" indent="-219456">
              <a:spcAft>
                <a:spcPts val="800"/>
              </a:spcAft>
              <a:buClr>
                <a:schemeClr val="accent2">
                  <a:lumMod val="75000"/>
                </a:schemeClr>
              </a:buClr>
              <a:buFont typeface="Arial"/>
              <a:buChar char="•"/>
            </a:pPr>
            <a:r>
              <a:rPr sz="1400" b="0" i="0">
                <a:solidFill>
                  <a:schemeClr val="tx2"/>
                </a:solidFill>
              </a:rPr>
              <a:t>Symmetric: </a:t>
            </a:r>
            <a:r>
              <a:rPr sz="1400" b="0" i="1">
                <a:solidFill>
                  <a:schemeClr val="tx2"/>
                </a:solidFill>
                <a:latin typeface="Cambria Math"/>
              </a:rPr>
              <a:t>r</a:t>
            </a:r>
            <a:r>
              <a:rPr sz="1400" b="0" i="0">
                <a:solidFill>
                  <a:schemeClr val="tx2"/>
                </a:solidFill>
              </a:rPr>
              <a:t>(x,y) = </a:t>
            </a:r>
            <a:r>
              <a:rPr sz="1400" b="0" i="1">
                <a:solidFill>
                  <a:schemeClr val="tx2"/>
                </a:solidFill>
                <a:latin typeface="Cambria Math"/>
              </a:rPr>
              <a:t>r</a:t>
            </a:r>
            <a:r>
              <a:rPr sz="1400" b="0" i="0">
                <a:solidFill>
                  <a:schemeClr val="tx2"/>
                </a:solidFill>
              </a:rPr>
              <a:t>(y,x).</a:t>
            </a:r>
          </a:p>
          <a:p>
            <a:pPr algn="l" marL="219456" indent="-219456">
              <a:spcAft>
                <a:spcPts val="800"/>
              </a:spcAft>
              <a:buClr>
                <a:schemeClr val="accent2">
                  <a:lumMod val="75000"/>
                </a:schemeClr>
              </a:buClr>
              <a:buFont typeface="Arial"/>
              <a:buChar char="•"/>
            </a:pPr>
            <a:r>
              <a:rPr sz="1400" b="0" i="1">
                <a:solidFill>
                  <a:schemeClr val="tx2"/>
                </a:solidFill>
                <a:latin typeface="Cambria Math"/>
              </a:rPr>
              <a:t>r</a:t>
            </a:r>
            <a:r>
              <a:rPr sz="1400" b="0" i="0">
                <a:solidFill>
                  <a:schemeClr val="tx2"/>
                </a:solidFill>
              </a:rPr>
              <a:t> has the </a:t>
            </a:r>
            <a:r>
              <a:rPr sz="1400" b="1" i="0">
                <a:solidFill>
                  <a:schemeClr val="tx2"/>
                </a:solidFill>
              </a:rPr>
              <a:t>same sign</a:t>
            </a:r>
            <a:r>
              <a:rPr sz="1400" b="0" i="0">
                <a:solidFill>
                  <a:schemeClr val="tx2"/>
                </a:solidFill>
              </a:rPr>
              <a:t> as the regression coefficients.</a:t>
            </a:r>
          </a:p>
          <a:p>
            <a:pPr algn="l" marL="219456" indent="-219456">
              <a:spcAft>
                <a:spcPts val="800"/>
              </a:spcAft>
              <a:buClr>
                <a:schemeClr val="accent2">
                  <a:lumMod val="75000"/>
                </a:schemeClr>
              </a:buClr>
              <a:buFont typeface="Arial"/>
              <a:buChar char="•"/>
            </a:pPr>
            <a:r>
              <a:rPr sz="1400" b="0" i="1">
                <a:solidFill>
                  <a:schemeClr val="tx2"/>
                </a:solidFill>
                <a:latin typeface="Cambria Math"/>
              </a:rPr>
              <a:t>r</a:t>
            </a:r>
            <a:r>
              <a:rPr sz="1400" b="0" i="0">
                <a:solidFill>
                  <a:schemeClr val="tx2"/>
                </a:solidFill>
              </a:rPr>
              <a:t> = 0 means no </a:t>
            </a:r>
            <a:r>
              <a:rPr sz="1400" b="1" i="0">
                <a:solidFill>
                  <a:schemeClr val="tx2"/>
                </a:solidFill>
              </a:rPr>
              <a:t>linear</a:t>
            </a:r>
            <a:r>
              <a:rPr sz="1400" b="0" i="0">
                <a:solidFill>
                  <a:schemeClr val="tx2"/>
                </a:solidFill>
              </a:rPr>
              <a:t> relation (a non-linear pattern may still exist).</a:t>
            </a:r>
          </a:p>
          <a:p>
            <a:pPr algn="l" marL="219456" indent="-219456">
              <a:spcAft>
                <a:spcPts val="800"/>
              </a:spcAft>
              <a:buClr>
                <a:schemeClr val="accent2">
                  <a:lumMod val="75000"/>
                </a:schemeClr>
              </a:buClr>
              <a:buFont typeface="Arial"/>
              <a:buChar char="•"/>
            </a:pPr>
            <a:r>
              <a:rPr sz="1400" b="0" i="0">
                <a:solidFill>
                  <a:schemeClr val="tx2"/>
                </a:solidFill>
              </a:rPr>
              <a:t>Rough guide: |</a:t>
            </a:r>
            <a:r>
              <a:rPr sz="1400" b="0" i="1">
                <a:solidFill>
                  <a:schemeClr val="tx2"/>
                </a:solidFill>
                <a:latin typeface="Cambria Math"/>
              </a:rPr>
              <a:t>r</a:t>
            </a:r>
            <a:r>
              <a:rPr sz="1400" b="0" i="0">
                <a:solidFill>
                  <a:schemeClr val="tx2"/>
                </a:solidFill>
              </a:rPr>
              <a:t>| &gt; 0.7 strong, 0.4–0.7 moderate, &lt; 0.4 weak.</a:t>
            </a:r>
          </a:p>
          <a:p>
            <a:pPr algn="l" marL="219456" indent="-219456">
              <a:spcAft>
                <a:spcPts val="800"/>
              </a:spcAft>
              <a:buClr>
                <a:schemeClr val="accent2">
                  <a:lumMod val="75000"/>
                </a:schemeClr>
              </a:buClr>
              <a:buFont typeface="Arial"/>
              <a:buChar char="•"/>
            </a:pPr>
            <a:r>
              <a:rPr sz="1400" b="1" i="0">
                <a:solidFill>
                  <a:schemeClr val="tx2"/>
                </a:solidFill>
              </a:rPr>
              <a:t>Correlation ≠ causation</a:t>
            </a:r>
            <a:r>
              <a:rPr sz="1400" b="0" i="0">
                <a:solidFill>
                  <a:schemeClr val="tx2"/>
                </a:solidFill>
              </a:rPr>
              <a:t> — a hidden third variable can create it.</a:t>
            </a:r>
          </a:p>
        </p:txBody>
      </p:sp>
      <p:sp>
        <p:nvSpPr>
          <p:cNvPr id="4" name="Visual panel"/>
          <p:cNvSpPr/>
          <p:nvPr/>
        </p:nvSpPr>
        <p:spPr>
          <a:xfrm>
            <a:off x="5120640" y="1371600"/>
            <a:ext cx="3657600" cy="416052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Gauge heading"/>
          <p:cNvSpPr txBox="1"/>
          <p:nvPr/>
        </p:nvSpPr>
        <p:spPr>
          <a:xfrm>
            <a:off x="5257800" y="1463040"/>
            <a:ext cx="3383280" cy="320040"/>
          </a:xfrm>
          <a:prstGeom prst="rect">
            <a:avLst/>
          </a:prstGeom>
          <a:noFill/>
        </p:spPr>
        <p:txBody>
          <a:bodyPr wrap="square" anchor="t" lIns="45720" rIns="45720" tIns="27432" bIns="27432">
            <a:noAutofit/>
          </a:bodyPr>
          <a:lstStyle/>
          <a:p>
            <a:pPr algn="l">
              <a:spcAft>
                <a:spcPts val="0"/>
              </a:spcAft>
            </a:pPr>
            <a:r>
              <a:rPr sz="1300" b="1" i="0">
                <a:solidFill>
                  <a:schemeClr val="accent2">
                    <a:lumMod val="75000"/>
                  </a:schemeClr>
                </a:solidFill>
              </a:rPr>
              <a:t>Strength of linear relationship</a:t>
            </a:r>
          </a:p>
        </p:txBody>
      </p:sp>
      <p:sp>
        <p:nvSpPr>
          <p:cNvPr id="6" name="Gauge zone Strong"/>
          <p:cNvSpPr/>
          <p:nvPr/>
        </p:nvSpPr>
        <p:spPr>
          <a:xfrm>
            <a:off x="5303520" y="1874519"/>
            <a:ext cx="493776" cy="457200"/>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a:solidFill>
                  <a:schemeClr val="bg1"/>
                </a:solidFill>
              </a:rPr>
              <a:t>Strong</a:t>
            </a:r>
          </a:p>
        </p:txBody>
      </p:sp>
      <p:sp>
        <p:nvSpPr>
          <p:cNvPr id="7" name="Gauge zone Mod."/>
          <p:cNvSpPr/>
          <p:nvPr/>
        </p:nvSpPr>
        <p:spPr>
          <a:xfrm>
            <a:off x="5797296" y="1874519"/>
            <a:ext cx="493775" cy="457200"/>
          </a:xfrm>
          <a:prstGeom prst="rect">
            <a:avLst/>
          </a:prstGeom>
          <a:solidFill>
            <a:schemeClr val="accent4">
              <a:lumMod val="60000"/>
              <a:lumOff val="4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a:solidFill>
                  <a:schemeClr val="tx2"/>
                </a:solidFill>
              </a:rPr>
              <a:t>Mod.</a:t>
            </a:r>
          </a:p>
        </p:txBody>
      </p:sp>
      <p:sp>
        <p:nvSpPr>
          <p:cNvPr id="8" name="Gauge zone Weak / none"/>
          <p:cNvSpPr/>
          <p:nvPr/>
        </p:nvSpPr>
        <p:spPr>
          <a:xfrm>
            <a:off x="6291072" y="1874519"/>
            <a:ext cx="1316736"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a:solidFill>
                  <a:schemeClr val="tx2"/>
                </a:solidFill>
              </a:rPr>
              <a:t>Weak / none</a:t>
            </a:r>
          </a:p>
        </p:txBody>
      </p:sp>
      <p:sp>
        <p:nvSpPr>
          <p:cNvPr id="9" name="Gauge zone Mod."/>
          <p:cNvSpPr/>
          <p:nvPr/>
        </p:nvSpPr>
        <p:spPr>
          <a:xfrm>
            <a:off x="7607808" y="1874519"/>
            <a:ext cx="493775" cy="457200"/>
          </a:xfrm>
          <a:prstGeom prst="rect">
            <a:avLst/>
          </a:prstGeom>
          <a:solidFill>
            <a:schemeClr val="accent1">
              <a:lumMod val="80000"/>
              <a:lumOff val="2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a:solidFill>
                  <a:schemeClr val="tx2"/>
                </a:solidFill>
              </a:rPr>
              <a:t>Mod.</a:t>
            </a:r>
          </a:p>
        </p:txBody>
      </p:sp>
      <p:sp>
        <p:nvSpPr>
          <p:cNvPr id="10" name="Gauge zone Strong"/>
          <p:cNvSpPr/>
          <p:nvPr/>
        </p:nvSpPr>
        <p:spPr>
          <a:xfrm>
            <a:off x="8101583" y="1874519"/>
            <a:ext cx="493776" cy="457200"/>
          </a:xfrm>
          <a:prstGeom prst="rect">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a:solidFill>
                  <a:schemeClr val="bg1"/>
                </a:solidFill>
              </a:rPr>
              <a:t>Strong</a:t>
            </a:r>
          </a:p>
        </p:txBody>
      </p:sp>
      <p:sp>
        <p:nvSpPr>
          <p:cNvPr id="11" name="Gauge tick −1"/>
          <p:cNvSpPr txBox="1"/>
          <p:nvPr/>
        </p:nvSpPr>
        <p:spPr>
          <a:xfrm>
            <a:off x="5029200" y="2350008"/>
            <a:ext cx="548640" cy="256032"/>
          </a:xfrm>
          <a:prstGeom prst="rect">
            <a:avLst/>
          </a:prstGeom>
          <a:noFill/>
        </p:spPr>
        <p:txBody>
          <a:bodyPr wrap="square" anchor="t" lIns="0" rIns="0" tIns="27432" bIns="27432">
            <a:noAutofit/>
          </a:bodyPr>
          <a:lstStyle/>
          <a:p>
            <a:pPr algn="ctr">
              <a:spcAft>
                <a:spcPts val="0"/>
              </a:spcAft>
            </a:pPr>
            <a:r>
              <a:rPr sz="1000" b="0" i="0">
                <a:solidFill>
                  <a:schemeClr val="tx2"/>
                </a:solidFill>
              </a:rPr>
              <a:t>−1</a:t>
            </a:r>
          </a:p>
        </p:txBody>
      </p:sp>
      <p:sp>
        <p:nvSpPr>
          <p:cNvPr id="12" name="Gauge tick −0.7"/>
          <p:cNvSpPr txBox="1"/>
          <p:nvPr/>
        </p:nvSpPr>
        <p:spPr>
          <a:xfrm>
            <a:off x="5522976" y="2350008"/>
            <a:ext cx="548640" cy="256032"/>
          </a:xfrm>
          <a:prstGeom prst="rect">
            <a:avLst/>
          </a:prstGeom>
          <a:noFill/>
        </p:spPr>
        <p:txBody>
          <a:bodyPr wrap="square" anchor="t" lIns="0" rIns="0" tIns="27432" bIns="27432">
            <a:noAutofit/>
          </a:bodyPr>
          <a:lstStyle/>
          <a:p>
            <a:pPr algn="ctr">
              <a:spcAft>
                <a:spcPts val="0"/>
              </a:spcAft>
            </a:pPr>
            <a:r>
              <a:rPr sz="1000" b="0" i="0">
                <a:solidFill>
                  <a:schemeClr val="tx2"/>
                </a:solidFill>
              </a:rPr>
              <a:t>−0.7</a:t>
            </a:r>
          </a:p>
        </p:txBody>
      </p:sp>
      <p:sp>
        <p:nvSpPr>
          <p:cNvPr id="13" name="Gauge tick −0.4"/>
          <p:cNvSpPr txBox="1"/>
          <p:nvPr/>
        </p:nvSpPr>
        <p:spPr>
          <a:xfrm>
            <a:off x="6016752" y="2350008"/>
            <a:ext cx="548640" cy="256032"/>
          </a:xfrm>
          <a:prstGeom prst="rect">
            <a:avLst/>
          </a:prstGeom>
          <a:noFill/>
        </p:spPr>
        <p:txBody>
          <a:bodyPr wrap="square" anchor="t" lIns="0" rIns="0" tIns="27432" bIns="27432">
            <a:noAutofit/>
          </a:bodyPr>
          <a:lstStyle/>
          <a:p>
            <a:pPr algn="ctr">
              <a:spcAft>
                <a:spcPts val="0"/>
              </a:spcAft>
            </a:pPr>
            <a:r>
              <a:rPr sz="1000" b="0" i="0">
                <a:solidFill>
                  <a:schemeClr val="tx2"/>
                </a:solidFill>
              </a:rPr>
              <a:t>−0.4</a:t>
            </a:r>
          </a:p>
        </p:txBody>
      </p:sp>
      <p:sp>
        <p:nvSpPr>
          <p:cNvPr id="14" name="Gauge tick 0"/>
          <p:cNvSpPr txBox="1"/>
          <p:nvPr/>
        </p:nvSpPr>
        <p:spPr>
          <a:xfrm>
            <a:off x="6675120" y="2350008"/>
            <a:ext cx="548640" cy="256032"/>
          </a:xfrm>
          <a:prstGeom prst="rect">
            <a:avLst/>
          </a:prstGeom>
          <a:noFill/>
        </p:spPr>
        <p:txBody>
          <a:bodyPr wrap="square" anchor="t" lIns="0" rIns="0" tIns="27432" bIns="27432">
            <a:noAutofit/>
          </a:bodyPr>
          <a:lstStyle/>
          <a:p>
            <a:pPr algn="ctr">
              <a:spcAft>
                <a:spcPts val="0"/>
              </a:spcAft>
            </a:pPr>
            <a:r>
              <a:rPr sz="1000" b="0" i="0">
                <a:solidFill>
                  <a:schemeClr val="tx2"/>
                </a:solidFill>
              </a:rPr>
              <a:t>0</a:t>
            </a:r>
          </a:p>
        </p:txBody>
      </p:sp>
      <p:sp>
        <p:nvSpPr>
          <p:cNvPr id="15" name="Gauge tick 0.4"/>
          <p:cNvSpPr txBox="1"/>
          <p:nvPr/>
        </p:nvSpPr>
        <p:spPr>
          <a:xfrm>
            <a:off x="7333488" y="2350008"/>
            <a:ext cx="548640" cy="256032"/>
          </a:xfrm>
          <a:prstGeom prst="rect">
            <a:avLst/>
          </a:prstGeom>
          <a:noFill/>
        </p:spPr>
        <p:txBody>
          <a:bodyPr wrap="square" anchor="t" lIns="0" rIns="0" tIns="27432" bIns="27432">
            <a:noAutofit/>
          </a:bodyPr>
          <a:lstStyle/>
          <a:p>
            <a:pPr algn="ctr">
              <a:spcAft>
                <a:spcPts val="0"/>
              </a:spcAft>
            </a:pPr>
            <a:r>
              <a:rPr sz="1000" b="0" i="0">
                <a:solidFill>
                  <a:schemeClr val="tx2"/>
                </a:solidFill>
              </a:rPr>
              <a:t>0.4</a:t>
            </a:r>
          </a:p>
        </p:txBody>
      </p:sp>
      <p:sp>
        <p:nvSpPr>
          <p:cNvPr id="16" name="Gauge tick 0.7"/>
          <p:cNvSpPr txBox="1"/>
          <p:nvPr/>
        </p:nvSpPr>
        <p:spPr>
          <a:xfrm>
            <a:off x="7827263" y="2350008"/>
            <a:ext cx="548640" cy="256032"/>
          </a:xfrm>
          <a:prstGeom prst="rect">
            <a:avLst/>
          </a:prstGeom>
          <a:noFill/>
        </p:spPr>
        <p:txBody>
          <a:bodyPr wrap="square" anchor="t" lIns="0" rIns="0" tIns="27432" bIns="27432">
            <a:noAutofit/>
          </a:bodyPr>
          <a:lstStyle/>
          <a:p>
            <a:pPr algn="ctr">
              <a:spcAft>
                <a:spcPts val="0"/>
              </a:spcAft>
            </a:pPr>
            <a:r>
              <a:rPr sz="1000" b="0" i="0">
                <a:solidFill>
                  <a:schemeClr val="tx2"/>
                </a:solidFill>
              </a:rPr>
              <a:t>0.7</a:t>
            </a:r>
          </a:p>
        </p:txBody>
      </p:sp>
      <p:sp>
        <p:nvSpPr>
          <p:cNvPr id="17" name="Gauge tick +1"/>
          <p:cNvSpPr txBox="1"/>
          <p:nvPr/>
        </p:nvSpPr>
        <p:spPr>
          <a:xfrm>
            <a:off x="8321040" y="2350008"/>
            <a:ext cx="548640" cy="256032"/>
          </a:xfrm>
          <a:prstGeom prst="rect">
            <a:avLst/>
          </a:prstGeom>
          <a:noFill/>
        </p:spPr>
        <p:txBody>
          <a:bodyPr wrap="square" anchor="t" lIns="0" rIns="0" tIns="27432" bIns="27432">
            <a:noAutofit/>
          </a:bodyPr>
          <a:lstStyle/>
          <a:p>
            <a:pPr algn="ctr">
              <a:spcAft>
                <a:spcPts val="0"/>
              </a:spcAft>
            </a:pPr>
            <a:r>
              <a:rPr sz="1000" b="0" i="0">
                <a:solidFill>
                  <a:schemeClr val="tx2"/>
                </a:solidFill>
              </a:rPr>
              <a:t>+1</a:t>
            </a:r>
          </a:p>
        </p:txBody>
      </p:sp>
      <p:sp>
        <p:nvSpPr>
          <p:cNvPr id="18" name="Mini panel r ≈ −0.9"/>
          <p:cNvSpPr/>
          <p:nvPr/>
        </p:nvSpPr>
        <p:spPr>
          <a:xfrm>
            <a:off x="5257800" y="2926080"/>
            <a:ext cx="1069848" cy="17373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9" name="Scatter r ≈ −0.9"/>
          <p:cNvGraphicFramePr>
            <a:graphicFrameLocks noGrp="1"/>
          </p:cNvGraphicFramePr>
          <p:nvPr/>
        </p:nvGraphicFramePr>
        <p:xfrm>
          <a:off x="5276088" y="2971800"/>
          <a:ext cx="1033271" cy="1188720"/>
        </p:xfrm>
        <a:graphic>
          <a:graphicData uri="http://schemas.openxmlformats.org/drawingml/2006/chart">
            <c:chart xmlns:c="http://schemas.openxmlformats.org/drawingml/2006/chart" r:id="rId3"/>
          </a:graphicData>
        </a:graphic>
      </p:graphicFrame>
      <p:sp>
        <p:nvSpPr>
          <p:cNvPr id="20" name="Caption r ≈ −0.9"/>
          <p:cNvSpPr txBox="1"/>
          <p:nvPr/>
        </p:nvSpPr>
        <p:spPr>
          <a:xfrm>
            <a:off x="5257800" y="4206240"/>
            <a:ext cx="1069848" cy="411480"/>
          </a:xfrm>
          <a:prstGeom prst="rect">
            <a:avLst/>
          </a:prstGeom>
          <a:noFill/>
        </p:spPr>
        <p:txBody>
          <a:bodyPr wrap="square" anchor="ctr" lIns="0" rIns="0" tIns="27432" bIns="27432">
            <a:noAutofit/>
          </a:bodyPr>
          <a:lstStyle/>
          <a:p>
            <a:pPr algn="ctr">
              <a:spcAft>
                <a:spcPts val="0"/>
              </a:spcAft>
            </a:pPr>
            <a:r>
              <a:rPr sz="1100" b="1" i="0">
                <a:solidFill>
                  <a:schemeClr val="tx2"/>
                </a:solidFill>
              </a:rPr>
              <a:t>r ≈ −0.9</a:t>
            </a:r>
          </a:p>
        </p:txBody>
      </p:sp>
      <p:sp>
        <p:nvSpPr>
          <p:cNvPr id="21" name="Mini panel r ≈ 0"/>
          <p:cNvSpPr/>
          <p:nvPr/>
        </p:nvSpPr>
        <p:spPr>
          <a:xfrm>
            <a:off x="6382512" y="2926080"/>
            <a:ext cx="1069848" cy="17373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2" name="Scatter r ≈ 0"/>
          <p:cNvGraphicFramePr>
            <a:graphicFrameLocks noGrp="1"/>
          </p:cNvGraphicFramePr>
          <p:nvPr/>
        </p:nvGraphicFramePr>
        <p:xfrm>
          <a:off x="6400800" y="2971800"/>
          <a:ext cx="1033271" cy="1188720"/>
        </p:xfrm>
        <a:graphic>
          <a:graphicData uri="http://schemas.openxmlformats.org/drawingml/2006/chart">
            <c:chart xmlns:c="http://schemas.openxmlformats.org/drawingml/2006/chart" r:id="rId4"/>
          </a:graphicData>
        </a:graphic>
      </p:graphicFrame>
      <p:sp>
        <p:nvSpPr>
          <p:cNvPr id="23" name="Caption r ≈ 0"/>
          <p:cNvSpPr txBox="1"/>
          <p:nvPr/>
        </p:nvSpPr>
        <p:spPr>
          <a:xfrm>
            <a:off x="6382512" y="4206240"/>
            <a:ext cx="1069848" cy="411480"/>
          </a:xfrm>
          <a:prstGeom prst="rect">
            <a:avLst/>
          </a:prstGeom>
          <a:noFill/>
        </p:spPr>
        <p:txBody>
          <a:bodyPr wrap="square" anchor="ctr" lIns="0" rIns="0" tIns="27432" bIns="27432">
            <a:noAutofit/>
          </a:bodyPr>
          <a:lstStyle/>
          <a:p>
            <a:pPr algn="ctr">
              <a:spcAft>
                <a:spcPts val="0"/>
              </a:spcAft>
            </a:pPr>
            <a:r>
              <a:rPr sz="1100" b="1" i="0">
                <a:solidFill>
                  <a:schemeClr val="tx2"/>
                </a:solidFill>
              </a:rPr>
              <a:t>r ≈ 0</a:t>
            </a:r>
          </a:p>
        </p:txBody>
      </p:sp>
      <p:sp>
        <p:nvSpPr>
          <p:cNvPr id="24" name="Mini panel r ≈ +0.9"/>
          <p:cNvSpPr/>
          <p:nvPr/>
        </p:nvSpPr>
        <p:spPr>
          <a:xfrm>
            <a:off x="7507224" y="2926080"/>
            <a:ext cx="1069848" cy="17373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5" name="Scatter r ≈ +0.9"/>
          <p:cNvGraphicFramePr>
            <a:graphicFrameLocks noGrp="1"/>
          </p:cNvGraphicFramePr>
          <p:nvPr/>
        </p:nvGraphicFramePr>
        <p:xfrm>
          <a:off x="7525512" y="2971800"/>
          <a:ext cx="1033271" cy="1188720"/>
        </p:xfrm>
        <a:graphic>
          <a:graphicData uri="http://schemas.openxmlformats.org/drawingml/2006/chart">
            <c:chart xmlns:c="http://schemas.openxmlformats.org/drawingml/2006/chart" r:id="rId5"/>
          </a:graphicData>
        </a:graphic>
      </p:graphicFrame>
      <p:sp>
        <p:nvSpPr>
          <p:cNvPr id="26" name="Caption r ≈ +0.9"/>
          <p:cNvSpPr txBox="1"/>
          <p:nvPr/>
        </p:nvSpPr>
        <p:spPr>
          <a:xfrm>
            <a:off x="7507224" y="4206240"/>
            <a:ext cx="1069848" cy="411480"/>
          </a:xfrm>
          <a:prstGeom prst="rect">
            <a:avLst/>
          </a:prstGeom>
          <a:noFill/>
        </p:spPr>
        <p:txBody>
          <a:bodyPr wrap="square" anchor="ctr" lIns="0" rIns="0" tIns="27432" bIns="27432">
            <a:noAutofit/>
          </a:bodyPr>
          <a:lstStyle/>
          <a:p>
            <a:pPr algn="ctr">
              <a:spcAft>
                <a:spcPts val="0"/>
              </a:spcAft>
            </a:pPr>
            <a:r>
              <a:rPr sz="1100" b="1" i="0">
                <a:solidFill>
                  <a:schemeClr val="tx2"/>
                </a:solidFill>
              </a:rPr>
              <a:t>r ≈ +0.9</a:t>
            </a:r>
          </a:p>
        </p:txBody>
      </p:sp>
      <p:sp>
        <p:nvSpPr>
          <p:cNvPr id="27" name="Gauge note"/>
          <p:cNvSpPr txBox="1"/>
          <p:nvPr/>
        </p:nvSpPr>
        <p:spPr>
          <a:xfrm>
            <a:off x="5257800" y="4846320"/>
            <a:ext cx="3383280" cy="594360"/>
          </a:xfrm>
          <a:prstGeom prst="rect">
            <a:avLst/>
          </a:prstGeom>
          <a:noFill/>
        </p:spPr>
        <p:txBody>
          <a:bodyPr wrap="square" anchor="t" lIns="45720" rIns="45720" tIns="27432" bIns="27432">
            <a:noAutofit/>
          </a:bodyPr>
          <a:lstStyle/>
          <a:p>
            <a:pPr algn="l">
              <a:spcAft>
                <a:spcPts val="400"/>
              </a:spcAft>
            </a:pPr>
            <a:r>
              <a:rPr sz="1200" b="0" i="1">
                <a:solidFill>
                  <a:schemeClr val="accent2">
                    <a:lumMod val="75000"/>
                  </a:schemeClr>
                </a:solidFill>
              </a:rPr>
              <a:t>Read the zone from |r|, then confirm the pattern on the scatter plot.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Regression — Predicting One Variable from Another</a:t>
            </a:r>
          </a:p>
        </p:txBody>
      </p:sp>
      <p:sp>
        <p:nvSpPr>
          <p:cNvPr id="3" name="Bullets"/>
          <p:cNvSpPr txBox="1"/>
          <p:nvPr/>
        </p:nvSpPr>
        <p:spPr>
          <a:xfrm>
            <a:off x="731520" y="1417320"/>
            <a:ext cx="4114800" cy="4846320"/>
          </a:xfrm>
          <a:prstGeom prst="rect">
            <a:avLst/>
          </a:prstGeom>
          <a:noFill/>
        </p:spPr>
        <p:txBody>
          <a:bodyPr wrap="square" anchor="t" lIns="45720" rIns="45720" tIns="27432" bIns="27432">
            <a:noAutofit/>
          </a:bodyPr>
          <a:lstStyle/>
          <a:p>
            <a:pPr algn="l" marL="219456" indent="-219456">
              <a:spcAft>
                <a:spcPts val="900"/>
              </a:spcAft>
              <a:buClr>
                <a:schemeClr val="accent2">
                  <a:lumMod val="75000"/>
                </a:schemeClr>
              </a:buClr>
              <a:buFont typeface="Arial"/>
              <a:buChar char="•"/>
            </a:pPr>
            <a:r>
              <a:rPr sz="1400" b="0" i="0">
                <a:solidFill>
                  <a:schemeClr val="tx2"/>
                </a:solidFill>
              </a:rPr>
              <a:t>Correlation measures relationship; </a:t>
            </a:r>
            <a:r>
              <a:rPr sz="1400" b="1" i="0">
                <a:solidFill>
                  <a:schemeClr val="tx2"/>
                </a:solidFill>
              </a:rPr>
              <a:t>regression fits a model</a:t>
            </a:r>
            <a:r>
              <a:rPr sz="1400" b="0" i="0">
                <a:solidFill>
                  <a:schemeClr val="tx2"/>
                </a:solidFill>
              </a:rPr>
              <a:t> to predict.</a:t>
            </a:r>
          </a:p>
          <a:p>
            <a:pPr algn="l" marL="219456" indent="-219456">
              <a:spcAft>
                <a:spcPts val="900"/>
              </a:spcAft>
              <a:buClr>
                <a:schemeClr val="accent2">
                  <a:lumMod val="75000"/>
                </a:schemeClr>
              </a:buClr>
              <a:buFont typeface="Arial"/>
              <a:buChar char="•"/>
            </a:pPr>
            <a:r>
              <a:rPr sz="1400" b="1" i="0">
                <a:solidFill>
                  <a:schemeClr val="tx2"/>
                </a:solidFill>
              </a:rPr>
              <a:t>Line of regression of </a:t>
            </a:r>
            <a:r>
              <a:rPr sz="1400" b="1" i="1">
                <a:solidFill>
                  <a:schemeClr val="tx2"/>
                </a:solidFill>
                <a:latin typeface="Cambria Math"/>
              </a:rPr>
              <a:t>y</a:t>
            </a:r>
            <a:r>
              <a:rPr sz="1400" b="1" i="0">
                <a:solidFill>
                  <a:schemeClr val="tx2"/>
                </a:solidFill>
              </a:rPr>
              <a:t> on </a:t>
            </a:r>
            <a:r>
              <a:rPr sz="1400" b="1" i="1">
                <a:solidFill>
                  <a:schemeClr val="tx2"/>
                </a:solidFill>
                <a:latin typeface="Cambria Math"/>
              </a:rPr>
              <a:t>x</a:t>
            </a:r>
            <a:r>
              <a:rPr sz="1400" b="0" i="0">
                <a:solidFill>
                  <a:schemeClr val="tx2"/>
                </a:solidFill>
              </a:rPr>
              <a:t> predicts </a:t>
            </a:r>
            <a:r>
              <a:rPr sz="1400" b="0" i="1">
                <a:solidFill>
                  <a:schemeClr val="tx2"/>
                </a:solidFill>
                <a:latin typeface="Cambria Math"/>
              </a:rPr>
              <a:t>y</a:t>
            </a:r>
            <a:r>
              <a:rPr sz="1400" b="0" i="0">
                <a:solidFill>
                  <a:schemeClr val="tx2"/>
                </a:solidFill>
              </a:rPr>
              <a:t> from </a:t>
            </a:r>
            <a:r>
              <a:rPr sz="1400" b="0" i="1">
                <a:solidFill>
                  <a:schemeClr val="tx2"/>
                </a:solidFill>
                <a:latin typeface="Cambria Math"/>
              </a:rPr>
              <a:t>x</a:t>
            </a:r>
            <a:r>
              <a:rPr sz="1400" b="0" i="0">
                <a:solidFill>
                  <a:schemeClr val="tx2"/>
                </a:solidFill>
              </a:rPr>
              <a:t>.</a:t>
            </a:r>
          </a:p>
          <a:p>
            <a:pPr algn="l" marL="219456" indent="-219456">
              <a:spcAft>
                <a:spcPts val="900"/>
              </a:spcAft>
              <a:buClr>
                <a:schemeClr val="accent2">
                  <a:lumMod val="75000"/>
                </a:schemeClr>
              </a:buClr>
              <a:buFont typeface="Arial"/>
              <a:buChar char="•"/>
            </a:pPr>
            <a:r>
              <a:rPr sz="1400" b="1" i="0">
                <a:solidFill>
                  <a:schemeClr val="tx2"/>
                </a:solidFill>
              </a:rPr>
              <a:t>Line of regression of </a:t>
            </a:r>
            <a:r>
              <a:rPr sz="1400" b="1" i="1">
                <a:solidFill>
                  <a:schemeClr val="tx2"/>
                </a:solidFill>
                <a:latin typeface="Cambria Math"/>
              </a:rPr>
              <a:t>x</a:t>
            </a:r>
            <a:r>
              <a:rPr sz="1400" b="1" i="0">
                <a:solidFill>
                  <a:schemeClr val="tx2"/>
                </a:solidFill>
              </a:rPr>
              <a:t> on </a:t>
            </a:r>
            <a:r>
              <a:rPr sz="1400" b="1" i="1">
                <a:solidFill>
                  <a:schemeClr val="tx2"/>
                </a:solidFill>
                <a:latin typeface="Cambria Math"/>
              </a:rPr>
              <a:t>y</a:t>
            </a:r>
            <a:r>
              <a:rPr sz="1400" b="0" i="0">
                <a:solidFill>
                  <a:schemeClr val="tx2"/>
                </a:solidFill>
              </a:rPr>
              <a:t> predicts </a:t>
            </a:r>
            <a:r>
              <a:rPr sz="1400" b="0" i="1">
                <a:solidFill>
                  <a:schemeClr val="tx2"/>
                </a:solidFill>
                <a:latin typeface="Cambria Math"/>
              </a:rPr>
              <a:t>x</a:t>
            </a:r>
            <a:r>
              <a:rPr sz="1400" b="0" i="0">
                <a:solidFill>
                  <a:schemeClr val="tx2"/>
                </a:solidFill>
              </a:rPr>
              <a:t> from </a:t>
            </a:r>
            <a:r>
              <a:rPr sz="1400" b="0" i="1">
                <a:solidFill>
                  <a:schemeClr val="tx2"/>
                </a:solidFill>
                <a:latin typeface="Cambria Math"/>
              </a:rPr>
              <a:t>y</a:t>
            </a:r>
            <a:r>
              <a:rPr sz="1400" b="0" i="0">
                <a:solidFill>
                  <a:schemeClr val="tx2"/>
                </a:solidFill>
              </a:rPr>
              <a:t>.</a:t>
            </a:r>
          </a:p>
          <a:p>
            <a:pPr algn="l" marL="219456" indent="-219456">
              <a:spcAft>
                <a:spcPts val="900"/>
              </a:spcAft>
              <a:buClr>
                <a:schemeClr val="accent2">
                  <a:lumMod val="75000"/>
                </a:schemeClr>
              </a:buClr>
              <a:buFont typeface="Arial"/>
              <a:buChar char="•"/>
            </a:pPr>
            <a:r>
              <a:rPr sz="1400" b="0" i="0">
                <a:solidFill>
                  <a:schemeClr val="tx2"/>
                </a:solidFill>
              </a:rPr>
              <a:t>The two lines are different unless |</a:t>
            </a:r>
            <a:r>
              <a:rPr sz="1400" b="0" i="1">
                <a:solidFill>
                  <a:schemeClr val="tx2"/>
                </a:solidFill>
                <a:latin typeface="Cambria Math"/>
              </a:rPr>
              <a:t>r</a:t>
            </a:r>
            <a:r>
              <a:rPr sz="1400" b="0" i="0">
                <a:solidFill>
                  <a:schemeClr val="tx2"/>
                </a:solidFill>
              </a:rPr>
              <a:t>| = 1.</a:t>
            </a:r>
          </a:p>
          <a:p>
            <a:pPr algn="l" marL="219456" indent="-219456">
              <a:spcAft>
                <a:spcPts val="900"/>
              </a:spcAft>
              <a:buClr>
                <a:schemeClr val="accent2">
                  <a:lumMod val="75000"/>
                </a:schemeClr>
              </a:buClr>
              <a:buFont typeface="Arial"/>
              <a:buChar char="•"/>
            </a:pPr>
            <a:r>
              <a:rPr sz="1400" b="0" i="0">
                <a:solidFill>
                  <a:schemeClr val="tx2"/>
                </a:solidFill>
              </a:rPr>
              <a:t>They intersect at the point (</a:t>
            </a:r>
            <a:r>
              <a:rPr sz="1400" b="0" i="1">
                <a:solidFill>
                  <a:schemeClr val="tx2"/>
                </a:solidFill>
                <a:latin typeface="Cambria Math"/>
              </a:rPr>
              <a:t>x̄</a:t>
            </a:r>
            <a:r>
              <a:rPr sz="1400" b="0" i="0">
                <a:solidFill>
                  <a:schemeClr val="tx2"/>
                </a:solidFill>
              </a:rPr>
              <a:t>, </a:t>
            </a:r>
            <a:r>
              <a:rPr sz="1400" b="0" i="1">
                <a:solidFill>
                  <a:schemeClr val="tx2"/>
                </a:solidFill>
                <a:latin typeface="Cambria Math"/>
              </a:rPr>
              <a:t>ȳ</a:t>
            </a:r>
            <a:r>
              <a:rPr sz="1400" b="0" i="0">
                <a:solidFill>
                  <a:schemeClr val="tx2"/>
                </a:solidFill>
              </a:rPr>
              <a:t>) — the means.</a:t>
            </a:r>
          </a:p>
          <a:p>
            <a:pPr algn="l" marL="219456" indent="-219456">
              <a:spcAft>
                <a:spcPts val="900"/>
              </a:spcAft>
              <a:buClr>
                <a:schemeClr val="accent2">
                  <a:lumMod val="75000"/>
                </a:schemeClr>
              </a:buClr>
              <a:buFont typeface="Arial"/>
              <a:buChar char="•"/>
            </a:pPr>
            <a:r>
              <a:rPr sz="1400" b="0" i="0">
                <a:solidFill>
                  <a:schemeClr val="tx2"/>
                </a:solidFill>
              </a:rPr>
              <a:t>“Regression” comes from Galton: extreme values tend toward the mean.</a:t>
            </a:r>
          </a:p>
        </p:txBody>
      </p:sp>
      <p:sp>
        <p:nvSpPr>
          <p:cNvPr id="4" name="Visual panel"/>
          <p:cNvSpPr/>
          <p:nvPr/>
        </p:nvSpPr>
        <p:spPr>
          <a:xfrm>
            <a:off x="5120640" y="1371600"/>
            <a:ext cx="3657600" cy="493776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wo regression lines"/>
          <p:cNvGraphicFramePr>
            <a:graphicFrameLocks noGrp="1"/>
          </p:cNvGraphicFramePr>
          <p:nvPr/>
        </p:nvGraphicFramePr>
        <p:xfrm>
          <a:off x="5166360" y="1463040"/>
          <a:ext cx="3566160" cy="4754880"/>
        </p:xfrm>
        <a:graphic>
          <a:graphicData uri="http://schemas.openxmlformats.org/drawingml/2006/chart">
            <c:chart xmlns:c="http://schemas.openxmlformats.org/drawingml/2006/chart" r:id="rId3"/>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Regression Equations and Coefficients</a:t>
            </a:r>
          </a:p>
        </p:txBody>
      </p:sp>
      <p:sp>
        <p:nvSpPr>
          <p:cNvPr id="3" name="Formula card"/>
          <p:cNvSpPr/>
          <p:nvPr/>
        </p:nvSpPr>
        <p:spPr>
          <a:xfrm>
            <a:off x="731520" y="1371600"/>
            <a:ext cx="4206240" cy="178308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ormula label"/>
          <p:cNvSpPr txBox="1"/>
          <p:nvPr/>
        </p:nvSpPr>
        <p:spPr>
          <a:xfrm>
            <a:off x="868680" y="1426464"/>
            <a:ext cx="3931920" cy="274320"/>
          </a:xfrm>
          <a:prstGeom prst="rect">
            <a:avLst/>
          </a:prstGeom>
          <a:noFill/>
        </p:spPr>
        <p:txBody>
          <a:bodyPr wrap="square" anchor="t" lIns="45720" rIns="45720" tIns="27432" bIns="27432">
            <a:noAutofit/>
          </a:bodyPr>
          <a:lstStyle/>
          <a:p>
            <a:pPr algn="l">
              <a:spcAft>
                <a:spcPts val="600"/>
              </a:spcAft>
            </a:pPr>
            <a:r>
              <a:rPr sz="1200" b="1" i="0">
                <a:solidFill>
                  <a:schemeClr val="accent2">
                    <a:lumMod val="75000"/>
                  </a:schemeClr>
                </a:solidFill>
              </a:rPr>
              <a:t>Regression coefficients</a:t>
            </a:r>
          </a:p>
        </p:txBody>
      </p:sp>
      <mc:AlternateContent xmlns:mc="http://schemas.openxmlformats.org/markup-compatibility/2006">
        <mc:Choice xmlns:a14="http://schemas.microsoft.com/office/drawing/2010/main" Requires="a14">
          <p:sp>
            <p:nvSpPr>
              <p:cNvPr id="5" name="Equation 5"/>
              <p:cNvSpPr txBox="1"/>
              <p:nvPr/>
            </p:nvSpPr>
            <p:spPr>
              <a:xfrm>
                <a:off x="822960" y="1700784"/>
                <a:ext cx="4023360" cy="699516"/>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b</m:t>
                          </m:r>
                        </m:e>
                        <m:sub>
                          <m:r>
                            <a:rPr lang="en-US" sz="1800" i="1">
                              <a:solidFill>
                                <a:srgbClr val="2C3C43"/>
                              </a:solidFill>
                              <a:latin typeface="Cambria Math" panose="02040503050406030204" pitchFamily="18" charset="0"/>
                              <a:cs typeface="Cambria Math" panose="02040503050406030204" pitchFamily="18" charset="0"/>
                            </a:rPr>
                            <m:t>yx</m:t>
                          </m:r>
                        </m:sub>
                      </m:sSub>
                      <m:r>
                        <a:rPr lang="en-US" sz="1800" i="1">
                          <a:solidFill>
                            <a:srgbClr val="2C3C43"/>
                          </a:solidFill>
                          <a:latin typeface="Cambria Math" panose="02040503050406030204" pitchFamily="18" charset="0"/>
                          <a:cs typeface="Cambria Math" panose="02040503050406030204" pitchFamily="18" charset="0"/>
                        </a:rPr>
                        <m:t>=</m:t>
                      </m:r>
                      <m:r>
                        <a:rPr lang="en-US" sz="1800" i="1">
                          <a:solidFill>
                            <a:srgbClr val="2C3C43"/>
                          </a:solidFill>
                          <a:latin typeface="Cambria Math" panose="02040503050406030204" pitchFamily="18" charset="0"/>
                          <a:cs typeface="Cambria Math" panose="02040503050406030204" pitchFamily="18" charset="0"/>
                        </a:rPr>
                        <m:t>r</m:t>
                      </m:r>
                      <m:r>
                        <a:rPr lang="en-US" sz="1800" i="1">
                          <a:solidFill>
                            <a:srgbClr val="2C3C43"/>
                          </a:solidFill>
                          <a:latin typeface="Cambria Math" panose="02040503050406030204" pitchFamily="18" charset="0"/>
                          <a:cs typeface="Cambria Math" panose="02040503050406030204" pitchFamily="18" charset="0"/>
                        </a:rPr>
                        <m:t>·</m:t>
                      </m:r>
                      <m:f>
                        <m:fPr>
                          <m:ctrlPr>
                            <a:rPr lang="en-US" sz="1800" i="1">
                              <a:solidFill>
                                <a:srgbClr val="2C3C43"/>
                              </a:solidFill>
                              <a:latin typeface="Cambria Math" panose="02040503050406030204" pitchFamily="18" charset="0"/>
                              <a:cs typeface="Cambria Math" panose="02040503050406030204" pitchFamily="18" charset="0"/>
                            </a:rPr>
                          </m:ctrlPr>
                        </m:fPr>
                        <m:num>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σ</m:t>
                              </m:r>
                            </m:e>
                            <m:sub>
                              <m:r>
                                <a:rPr lang="en-US" sz="1800" i="1">
                                  <a:solidFill>
                                    <a:srgbClr val="2C3C43"/>
                                  </a:solidFill>
                                  <a:latin typeface="Cambria Math" panose="02040503050406030204" pitchFamily="18" charset="0"/>
                                  <a:cs typeface="Cambria Math" panose="02040503050406030204" pitchFamily="18" charset="0"/>
                                </a:rPr>
                                <m:t>y</m:t>
                              </m:r>
                            </m:sub>
                          </m:sSub>
                        </m:num>
                        <m:den>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σ</m:t>
                              </m:r>
                            </m:e>
                            <m:sub>
                              <m:r>
                                <a:rPr lang="en-US" sz="1800" i="1">
                                  <a:solidFill>
                                    <a:srgbClr val="2C3C43"/>
                                  </a:solidFill>
                                  <a:latin typeface="Cambria Math" panose="02040503050406030204" pitchFamily="18" charset="0"/>
                                  <a:cs typeface="Cambria Math" panose="02040503050406030204" pitchFamily="18" charset="0"/>
                                </a:rPr>
                                <m:t>x</m:t>
                              </m:r>
                            </m:sub>
                          </m:sSub>
                        </m:den>
                      </m:f>
                    </m:oMath>
                  </m:oMathPara>
                </a14:m>
                <a:endParaRPr lang="en-US" sz="1800"/>
              </a:p>
            </p:txBody>
          </p:sp>
        </mc:Choice>
        <mc:Fallback>
          <p:pic>
            <p:nvPicPr>
              <p:cNvPr id="6" name="Equation image 5" descr="Equation"/>
              <p:cNvPicPr>
                <a:picLocks noChangeAspect="1"/>
              </p:cNvPicPr>
              <p:nvPr/>
            </p:nvPicPr>
            <p:blipFill>
              <a:blip r:embed="rId3"/>
              <a:stretch>
                <a:fillRect/>
              </a:stretch>
            </p:blipFill>
            <p:spPr>
              <a:xfrm>
                <a:off x="822960" y="1831086"/>
                <a:ext cx="1175004" cy="438912"/>
              </a:xfrm>
              <a:prstGeom prst="rect">
                <a:avLst/>
              </a:prstGeom>
            </p:spPr>
          </p:pic>
        </mc:Fallback>
      </mc:AlternateContent>
      <mc:AlternateContent xmlns:mc="http://schemas.openxmlformats.org/markup-compatibility/2006">
        <mc:Choice xmlns:a14="http://schemas.microsoft.com/office/drawing/2010/main" Requires="a14">
          <p:sp>
            <p:nvSpPr>
              <p:cNvPr id="7" name="Equation 7"/>
              <p:cNvSpPr txBox="1"/>
              <p:nvPr/>
            </p:nvSpPr>
            <p:spPr>
              <a:xfrm>
                <a:off x="822960" y="2400300"/>
                <a:ext cx="4023360" cy="699516"/>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b</m:t>
                          </m:r>
                        </m:e>
                        <m:sub>
                          <m:r>
                            <a:rPr lang="en-US" sz="1800" i="1">
                              <a:solidFill>
                                <a:srgbClr val="2C3C43"/>
                              </a:solidFill>
                              <a:latin typeface="Cambria Math" panose="02040503050406030204" pitchFamily="18" charset="0"/>
                              <a:cs typeface="Cambria Math" panose="02040503050406030204" pitchFamily="18" charset="0"/>
                            </a:rPr>
                            <m:t>xy</m:t>
                          </m:r>
                        </m:sub>
                      </m:sSub>
                      <m:r>
                        <a:rPr lang="en-US" sz="1800" i="1">
                          <a:solidFill>
                            <a:srgbClr val="2C3C43"/>
                          </a:solidFill>
                          <a:latin typeface="Cambria Math" panose="02040503050406030204" pitchFamily="18" charset="0"/>
                          <a:cs typeface="Cambria Math" panose="02040503050406030204" pitchFamily="18" charset="0"/>
                        </a:rPr>
                        <m:t>=</m:t>
                      </m:r>
                      <m:r>
                        <a:rPr lang="en-US" sz="1800" i="1">
                          <a:solidFill>
                            <a:srgbClr val="2C3C43"/>
                          </a:solidFill>
                          <a:latin typeface="Cambria Math" panose="02040503050406030204" pitchFamily="18" charset="0"/>
                          <a:cs typeface="Cambria Math" panose="02040503050406030204" pitchFamily="18" charset="0"/>
                        </a:rPr>
                        <m:t>r</m:t>
                      </m:r>
                      <m:r>
                        <a:rPr lang="en-US" sz="1800" i="1">
                          <a:solidFill>
                            <a:srgbClr val="2C3C43"/>
                          </a:solidFill>
                          <a:latin typeface="Cambria Math" panose="02040503050406030204" pitchFamily="18" charset="0"/>
                          <a:cs typeface="Cambria Math" panose="02040503050406030204" pitchFamily="18" charset="0"/>
                        </a:rPr>
                        <m:t>·</m:t>
                      </m:r>
                      <m:f>
                        <m:fPr>
                          <m:ctrlPr>
                            <a:rPr lang="en-US" sz="1800" i="1">
                              <a:solidFill>
                                <a:srgbClr val="2C3C43"/>
                              </a:solidFill>
                              <a:latin typeface="Cambria Math" panose="02040503050406030204" pitchFamily="18" charset="0"/>
                              <a:cs typeface="Cambria Math" panose="02040503050406030204" pitchFamily="18" charset="0"/>
                            </a:rPr>
                          </m:ctrlPr>
                        </m:fPr>
                        <m:num>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σ</m:t>
                              </m:r>
                            </m:e>
                            <m:sub>
                              <m:r>
                                <a:rPr lang="en-US" sz="1800" i="1">
                                  <a:solidFill>
                                    <a:srgbClr val="2C3C43"/>
                                  </a:solidFill>
                                  <a:latin typeface="Cambria Math" panose="02040503050406030204" pitchFamily="18" charset="0"/>
                                  <a:cs typeface="Cambria Math" panose="02040503050406030204" pitchFamily="18" charset="0"/>
                                </a:rPr>
                                <m:t>x</m:t>
                              </m:r>
                            </m:sub>
                          </m:sSub>
                        </m:num>
                        <m:den>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σ</m:t>
                              </m:r>
                            </m:e>
                            <m:sub>
                              <m:r>
                                <a:rPr lang="en-US" sz="1800" i="1">
                                  <a:solidFill>
                                    <a:srgbClr val="2C3C43"/>
                                  </a:solidFill>
                                  <a:latin typeface="Cambria Math" panose="02040503050406030204" pitchFamily="18" charset="0"/>
                                  <a:cs typeface="Cambria Math" panose="02040503050406030204" pitchFamily="18" charset="0"/>
                                </a:rPr>
                                <m:t>y</m:t>
                              </m:r>
                            </m:sub>
                          </m:sSub>
                        </m:den>
                      </m:f>
                    </m:oMath>
                  </m:oMathPara>
                </a14:m>
                <a:endParaRPr lang="en-US" sz="1800"/>
              </a:p>
            </p:txBody>
          </p:sp>
        </mc:Choice>
        <mc:Fallback>
          <p:pic>
            <p:nvPicPr>
              <p:cNvPr id="8" name="Equation image 7" descr="Equation"/>
              <p:cNvPicPr>
                <a:picLocks noChangeAspect="1"/>
              </p:cNvPicPr>
              <p:nvPr/>
            </p:nvPicPr>
            <p:blipFill>
              <a:blip r:embed="rId4"/>
              <a:stretch>
                <a:fillRect/>
              </a:stretch>
            </p:blipFill>
            <p:spPr>
              <a:xfrm>
                <a:off x="822960" y="2530602"/>
                <a:ext cx="1175004" cy="438912"/>
              </a:xfrm>
              <a:prstGeom prst="rect">
                <a:avLst/>
              </a:prstGeom>
            </p:spPr>
          </p:pic>
        </mc:Fallback>
      </mc:AlternateContent>
      <p:sp>
        <p:nvSpPr>
          <p:cNvPr id="9" name="Formula card"/>
          <p:cNvSpPr/>
          <p:nvPr/>
        </p:nvSpPr>
        <p:spPr>
          <a:xfrm>
            <a:off x="731520" y="3291840"/>
            <a:ext cx="4206240" cy="150876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ormula label"/>
          <p:cNvSpPr txBox="1"/>
          <p:nvPr/>
        </p:nvSpPr>
        <p:spPr>
          <a:xfrm>
            <a:off x="868680" y="3346704"/>
            <a:ext cx="3931920" cy="274320"/>
          </a:xfrm>
          <a:prstGeom prst="rect">
            <a:avLst/>
          </a:prstGeom>
          <a:noFill/>
        </p:spPr>
        <p:txBody>
          <a:bodyPr wrap="square" anchor="t" lIns="45720" rIns="45720" tIns="27432" bIns="27432">
            <a:noAutofit/>
          </a:bodyPr>
          <a:lstStyle/>
          <a:p>
            <a:pPr algn="l">
              <a:spcAft>
                <a:spcPts val="600"/>
              </a:spcAft>
            </a:pPr>
            <a:r>
              <a:rPr sz="1200" b="1" i="0">
                <a:solidFill>
                  <a:schemeClr val="accent2">
                    <a:lumMod val="75000"/>
                  </a:schemeClr>
                </a:solidFill>
              </a:rPr>
              <a:t>Regression lines</a:t>
            </a:r>
          </a:p>
        </p:txBody>
      </p:sp>
      <mc:AlternateContent xmlns:mc="http://schemas.openxmlformats.org/markup-compatibility/2006">
        <mc:Choice xmlns:a14="http://schemas.microsoft.com/office/drawing/2010/main" Requires="a14">
          <p:sp>
            <p:nvSpPr>
              <p:cNvPr id="11" name="Equation 11"/>
              <p:cNvSpPr txBox="1"/>
              <p:nvPr/>
            </p:nvSpPr>
            <p:spPr>
              <a:xfrm>
                <a:off x="822960" y="3621024"/>
                <a:ext cx="4023360" cy="562356"/>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d>
                        <m:dPr>
                          <m:begChr m:val="("/>
                          <m:endChr m:val=")"/>
                          <m:ctrlPr>
                            <a:rPr lang="en-US" sz="1800" i="1">
                              <a:solidFill>
                                <a:srgbClr val="2C3C43"/>
                              </a:solidFill>
                              <a:latin typeface="Cambria Math" panose="02040503050406030204" pitchFamily="18" charset="0"/>
                              <a:cs typeface="Cambria Math" panose="02040503050406030204" pitchFamily="18" charset="0"/>
                            </a:rPr>
                          </m:ctrlPr>
                        </m:dPr>
                        <m:e>
                          <m:r>
                            <a:rPr lang="en-US" sz="1800" i="1">
                              <a:solidFill>
                                <a:srgbClr val="2C3C43"/>
                              </a:solidFill>
                              <a:latin typeface="Cambria Math" panose="02040503050406030204" pitchFamily="18" charset="0"/>
                              <a:cs typeface="Cambria Math" panose="02040503050406030204" pitchFamily="18" charset="0"/>
                            </a:rPr>
                            <m:t>y</m:t>
                          </m:r>
                          <m:r>
                            <a:rPr lang="en-US" sz="1800" i="1">
                              <a:solidFill>
                                <a:srgbClr val="2C3C43"/>
                              </a:solidFill>
                              <a:latin typeface="Cambria Math" panose="02040503050406030204" pitchFamily="18" charset="0"/>
                              <a:cs typeface="Cambria Math" panose="02040503050406030204" pitchFamily="18" charset="0"/>
                            </a:rPr>
                            <m:t>−</m:t>
                          </m:r>
                          <m:acc>
                            <m:accPr>
                              <m:chr m:val="̅"/>
                              <m:ctrlPr>
                                <a:rPr lang="en-US" sz="1800" i="1">
                                  <a:solidFill>
                                    <a:srgbClr val="2C3C43"/>
                                  </a:solidFill>
                                  <a:latin typeface="Cambria Math" panose="02040503050406030204" pitchFamily="18" charset="0"/>
                                  <a:cs typeface="Cambria Math" panose="02040503050406030204" pitchFamily="18" charset="0"/>
                                </a:rPr>
                              </m:ctrlPr>
                            </m:accPr>
                            <m:e>
                              <m:r>
                                <a:rPr lang="en-US" sz="1800" i="1">
                                  <a:solidFill>
                                    <a:srgbClr val="2C3C43"/>
                                  </a:solidFill>
                                  <a:latin typeface="Cambria Math" panose="02040503050406030204" pitchFamily="18" charset="0"/>
                                  <a:cs typeface="Cambria Math" panose="02040503050406030204" pitchFamily="18" charset="0"/>
                                </a:rPr>
                                <m:t>y</m:t>
                              </m:r>
                            </m:e>
                          </m:acc>
                        </m:e>
                      </m:d>
                      <m:r>
                        <a:rPr lang="en-US" sz="1800" i="1">
                          <a:solidFill>
                            <a:srgbClr val="2C3C43"/>
                          </a:solidFill>
                          <a:latin typeface="Cambria Math" panose="02040503050406030204" pitchFamily="18" charset="0"/>
                          <a:cs typeface="Cambria Math" panose="02040503050406030204" pitchFamily="18" charset="0"/>
                        </a:rPr>
                        <m:t>=</m:t>
                      </m:r>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b</m:t>
                          </m:r>
                        </m:e>
                        <m:sub>
                          <m:r>
                            <a:rPr lang="en-US" sz="1800" i="1">
                              <a:solidFill>
                                <a:srgbClr val="2C3C43"/>
                              </a:solidFill>
                              <a:latin typeface="Cambria Math" panose="02040503050406030204" pitchFamily="18" charset="0"/>
                              <a:cs typeface="Cambria Math" panose="02040503050406030204" pitchFamily="18" charset="0"/>
                            </a:rPr>
                            <m:t>yx</m:t>
                          </m:r>
                        </m:sub>
                      </m:sSub>
                      <m:d>
                        <m:dPr>
                          <m:begChr m:val="("/>
                          <m:endChr m:val=")"/>
                          <m:ctrlPr>
                            <a:rPr lang="en-US" sz="1800" i="1">
                              <a:solidFill>
                                <a:srgbClr val="2C3C43"/>
                              </a:solidFill>
                              <a:latin typeface="Cambria Math" panose="02040503050406030204" pitchFamily="18" charset="0"/>
                              <a:cs typeface="Cambria Math" panose="02040503050406030204" pitchFamily="18" charset="0"/>
                            </a:rPr>
                          </m:ctrlPr>
                        </m:dPr>
                        <m:e>
                          <m:r>
                            <a:rPr lang="en-US" sz="1800" i="1">
                              <a:solidFill>
                                <a:srgbClr val="2C3C43"/>
                              </a:solidFill>
                              <a:latin typeface="Cambria Math" panose="02040503050406030204" pitchFamily="18" charset="0"/>
                              <a:cs typeface="Cambria Math" panose="02040503050406030204" pitchFamily="18" charset="0"/>
                            </a:rPr>
                            <m:t>x</m:t>
                          </m:r>
                          <m:r>
                            <a:rPr lang="en-US" sz="1800" i="1">
                              <a:solidFill>
                                <a:srgbClr val="2C3C43"/>
                              </a:solidFill>
                              <a:latin typeface="Cambria Math" panose="02040503050406030204" pitchFamily="18" charset="0"/>
                              <a:cs typeface="Cambria Math" panose="02040503050406030204" pitchFamily="18" charset="0"/>
                            </a:rPr>
                            <m:t>−</m:t>
                          </m:r>
                          <m:acc>
                            <m:accPr>
                              <m:chr m:val="̅"/>
                              <m:ctrlPr>
                                <a:rPr lang="en-US" sz="1800" i="1">
                                  <a:solidFill>
                                    <a:srgbClr val="2C3C43"/>
                                  </a:solidFill>
                                  <a:latin typeface="Cambria Math" panose="02040503050406030204" pitchFamily="18" charset="0"/>
                                  <a:cs typeface="Cambria Math" panose="02040503050406030204" pitchFamily="18" charset="0"/>
                                </a:rPr>
                              </m:ctrlPr>
                            </m:accPr>
                            <m:e>
                              <m:r>
                                <a:rPr lang="en-US" sz="1800" i="1">
                                  <a:solidFill>
                                    <a:srgbClr val="2C3C43"/>
                                  </a:solidFill>
                                  <a:latin typeface="Cambria Math" panose="02040503050406030204" pitchFamily="18" charset="0"/>
                                  <a:cs typeface="Cambria Math" panose="02040503050406030204" pitchFamily="18" charset="0"/>
                                </a:rPr>
                                <m:t>x</m:t>
                              </m:r>
                            </m:e>
                          </m:acc>
                        </m:e>
                      </m:d>
                    </m:oMath>
                  </m:oMathPara>
                </a14:m>
                <a:endParaRPr lang="en-US" sz="1800"/>
              </a:p>
            </p:txBody>
          </p:sp>
        </mc:Choice>
        <mc:Fallback>
          <p:pic>
            <p:nvPicPr>
              <p:cNvPr id="12" name="Equation image 11" descr="Equation"/>
              <p:cNvPicPr>
                <a:picLocks noChangeAspect="1"/>
              </p:cNvPicPr>
              <p:nvPr/>
            </p:nvPicPr>
            <p:blipFill>
              <a:blip r:embed="rId5"/>
              <a:stretch>
                <a:fillRect/>
              </a:stretch>
            </p:blipFill>
            <p:spPr>
              <a:xfrm>
                <a:off x="822960" y="3738753"/>
                <a:ext cx="1874520" cy="326898"/>
              </a:xfrm>
              <a:prstGeom prst="rect">
                <a:avLst/>
              </a:prstGeom>
            </p:spPr>
          </p:pic>
        </mc:Fallback>
      </mc:AlternateContent>
      <mc:AlternateContent xmlns:mc="http://schemas.openxmlformats.org/markup-compatibility/2006">
        <mc:Choice xmlns:a14="http://schemas.microsoft.com/office/drawing/2010/main" Requires="a14">
          <p:sp>
            <p:nvSpPr>
              <p:cNvPr id="13" name="Equation 13"/>
              <p:cNvSpPr txBox="1"/>
              <p:nvPr/>
            </p:nvSpPr>
            <p:spPr>
              <a:xfrm>
                <a:off x="822960" y="4183380"/>
                <a:ext cx="4023360" cy="562356"/>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d>
                        <m:dPr>
                          <m:begChr m:val="("/>
                          <m:endChr m:val=")"/>
                          <m:ctrlPr>
                            <a:rPr lang="en-US" sz="1800" i="1">
                              <a:solidFill>
                                <a:srgbClr val="2C3C43"/>
                              </a:solidFill>
                              <a:latin typeface="Cambria Math" panose="02040503050406030204" pitchFamily="18" charset="0"/>
                              <a:cs typeface="Cambria Math" panose="02040503050406030204" pitchFamily="18" charset="0"/>
                            </a:rPr>
                          </m:ctrlPr>
                        </m:dPr>
                        <m:e>
                          <m:r>
                            <a:rPr lang="en-US" sz="1800" i="1">
                              <a:solidFill>
                                <a:srgbClr val="2C3C43"/>
                              </a:solidFill>
                              <a:latin typeface="Cambria Math" panose="02040503050406030204" pitchFamily="18" charset="0"/>
                              <a:cs typeface="Cambria Math" panose="02040503050406030204" pitchFamily="18" charset="0"/>
                            </a:rPr>
                            <m:t>x</m:t>
                          </m:r>
                          <m:r>
                            <a:rPr lang="en-US" sz="1800" i="1">
                              <a:solidFill>
                                <a:srgbClr val="2C3C43"/>
                              </a:solidFill>
                              <a:latin typeface="Cambria Math" panose="02040503050406030204" pitchFamily="18" charset="0"/>
                              <a:cs typeface="Cambria Math" panose="02040503050406030204" pitchFamily="18" charset="0"/>
                            </a:rPr>
                            <m:t>−</m:t>
                          </m:r>
                          <m:acc>
                            <m:accPr>
                              <m:chr m:val="̅"/>
                              <m:ctrlPr>
                                <a:rPr lang="en-US" sz="1800" i="1">
                                  <a:solidFill>
                                    <a:srgbClr val="2C3C43"/>
                                  </a:solidFill>
                                  <a:latin typeface="Cambria Math" panose="02040503050406030204" pitchFamily="18" charset="0"/>
                                  <a:cs typeface="Cambria Math" panose="02040503050406030204" pitchFamily="18" charset="0"/>
                                </a:rPr>
                              </m:ctrlPr>
                            </m:accPr>
                            <m:e>
                              <m:r>
                                <a:rPr lang="en-US" sz="1800" i="1">
                                  <a:solidFill>
                                    <a:srgbClr val="2C3C43"/>
                                  </a:solidFill>
                                  <a:latin typeface="Cambria Math" panose="02040503050406030204" pitchFamily="18" charset="0"/>
                                  <a:cs typeface="Cambria Math" panose="02040503050406030204" pitchFamily="18" charset="0"/>
                                </a:rPr>
                                <m:t>x</m:t>
                              </m:r>
                            </m:e>
                          </m:acc>
                        </m:e>
                      </m:d>
                      <m:r>
                        <a:rPr lang="en-US" sz="1800" i="1">
                          <a:solidFill>
                            <a:srgbClr val="2C3C43"/>
                          </a:solidFill>
                          <a:latin typeface="Cambria Math" panose="02040503050406030204" pitchFamily="18" charset="0"/>
                          <a:cs typeface="Cambria Math" panose="02040503050406030204" pitchFamily="18" charset="0"/>
                        </a:rPr>
                        <m:t>=</m:t>
                      </m:r>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b</m:t>
                          </m:r>
                        </m:e>
                        <m:sub>
                          <m:r>
                            <a:rPr lang="en-US" sz="1800" i="1">
                              <a:solidFill>
                                <a:srgbClr val="2C3C43"/>
                              </a:solidFill>
                              <a:latin typeface="Cambria Math" panose="02040503050406030204" pitchFamily="18" charset="0"/>
                              <a:cs typeface="Cambria Math" panose="02040503050406030204" pitchFamily="18" charset="0"/>
                            </a:rPr>
                            <m:t>xy</m:t>
                          </m:r>
                        </m:sub>
                      </m:sSub>
                      <m:d>
                        <m:dPr>
                          <m:begChr m:val="("/>
                          <m:endChr m:val=")"/>
                          <m:ctrlPr>
                            <a:rPr lang="en-US" sz="1800" i="1">
                              <a:solidFill>
                                <a:srgbClr val="2C3C43"/>
                              </a:solidFill>
                              <a:latin typeface="Cambria Math" panose="02040503050406030204" pitchFamily="18" charset="0"/>
                              <a:cs typeface="Cambria Math" panose="02040503050406030204" pitchFamily="18" charset="0"/>
                            </a:rPr>
                          </m:ctrlPr>
                        </m:dPr>
                        <m:e>
                          <m:r>
                            <a:rPr lang="en-US" sz="1800" i="1">
                              <a:solidFill>
                                <a:srgbClr val="2C3C43"/>
                              </a:solidFill>
                              <a:latin typeface="Cambria Math" panose="02040503050406030204" pitchFamily="18" charset="0"/>
                              <a:cs typeface="Cambria Math" panose="02040503050406030204" pitchFamily="18" charset="0"/>
                            </a:rPr>
                            <m:t>y</m:t>
                          </m:r>
                          <m:r>
                            <a:rPr lang="en-US" sz="1800" i="1">
                              <a:solidFill>
                                <a:srgbClr val="2C3C43"/>
                              </a:solidFill>
                              <a:latin typeface="Cambria Math" panose="02040503050406030204" pitchFamily="18" charset="0"/>
                              <a:cs typeface="Cambria Math" panose="02040503050406030204" pitchFamily="18" charset="0"/>
                            </a:rPr>
                            <m:t>−</m:t>
                          </m:r>
                          <m:acc>
                            <m:accPr>
                              <m:chr m:val="̅"/>
                              <m:ctrlPr>
                                <a:rPr lang="en-US" sz="1800" i="1">
                                  <a:solidFill>
                                    <a:srgbClr val="2C3C43"/>
                                  </a:solidFill>
                                  <a:latin typeface="Cambria Math" panose="02040503050406030204" pitchFamily="18" charset="0"/>
                                  <a:cs typeface="Cambria Math" panose="02040503050406030204" pitchFamily="18" charset="0"/>
                                </a:rPr>
                              </m:ctrlPr>
                            </m:accPr>
                            <m:e>
                              <m:r>
                                <a:rPr lang="en-US" sz="1800" i="1">
                                  <a:solidFill>
                                    <a:srgbClr val="2C3C43"/>
                                  </a:solidFill>
                                  <a:latin typeface="Cambria Math" panose="02040503050406030204" pitchFamily="18" charset="0"/>
                                  <a:cs typeface="Cambria Math" panose="02040503050406030204" pitchFamily="18" charset="0"/>
                                </a:rPr>
                                <m:t>y</m:t>
                              </m:r>
                            </m:e>
                          </m:acc>
                        </m:e>
                      </m:d>
                    </m:oMath>
                  </m:oMathPara>
                </a14:m>
                <a:endParaRPr lang="en-US" sz="1800"/>
              </a:p>
            </p:txBody>
          </p:sp>
        </mc:Choice>
        <mc:Fallback>
          <p:pic>
            <p:nvPicPr>
              <p:cNvPr id="14" name="Equation image 13" descr="Equation"/>
              <p:cNvPicPr>
                <a:picLocks noChangeAspect="1"/>
              </p:cNvPicPr>
              <p:nvPr/>
            </p:nvPicPr>
            <p:blipFill>
              <a:blip r:embed="rId6"/>
              <a:stretch>
                <a:fillRect/>
              </a:stretch>
            </p:blipFill>
            <p:spPr>
              <a:xfrm>
                <a:off x="822960" y="4301109"/>
                <a:ext cx="1874520" cy="326898"/>
              </a:xfrm>
              <a:prstGeom prst="rect">
                <a:avLst/>
              </a:prstGeom>
            </p:spPr>
          </p:pic>
        </mc:Fallback>
      </mc:AlternateContent>
      <p:sp>
        <p:nvSpPr>
          <p:cNvPr id="15" name="Formula card"/>
          <p:cNvSpPr/>
          <p:nvPr/>
        </p:nvSpPr>
        <p:spPr>
          <a:xfrm>
            <a:off x="731520" y="4937760"/>
            <a:ext cx="4206240" cy="137160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ormula label"/>
          <p:cNvSpPr txBox="1"/>
          <p:nvPr/>
        </p:nvSpPr>
        <p:spPr>
          <a:xfrm>
            <a:off x="868680" y="4992624"/>
            <a:ext cx="3931920" cy="274320"/>
          </a:xfrm>
          <a:prstGeom prst="rect">
            <a:avLst/>
          </a:prstGeom>
          <a:noFill/>
        </p:spPr>
        <p:txBody>
          <a:bodyPr wrap="square" anchor="t" lIns="45720" rIns="45720" tIns="27432" bIns="27432">
            <a:noAutofit/>
          </a:bodyPr>
          <a:lstStyle/>
          <a:p>
            <a:pPr algn="l">
              <a:spcAft>
                <a:spcPts val="600"/>
              </a:spcAft>
            </a:pPr>
            <a:r>
              <a:rPr sz="1200" b="1" i="0">
                <a:solidFill>
                  <a:schemeClr val="accent2">
                    <a:lumMod val="75000"/>
                  </a:schemeClr>
                </a:solidFill>
              </a:rPr>
              <a:t>Key identity</a:t>
            </a:r>
          </a:p>
        </p:txBody>
      </p:sp>
      <mc:AlternateContent xmlns:mc="http://schemas.openxmlformats.org/markup-compatibility/2006">
        <mc:Choice xmlns:a14="http://schemas.microsoft.com/office/drawing/2010/main" Requires="a14">
          <p:sp>
            <p:nvSpPr>
              <p:cNvPr id="17" name="Equation 17"/>
              <p:cNvSpPr txBox="1"/>
              <p:nvPr/>
            </p:nvSpPr>
            <p:spPr>
              <a:xfrm>
                <a:off x="822960" y="5266944"/>
                <a:ext cx="4023360" cy="987552"/>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r>
                        <a:rPr lang="en-US" sz="1800" i="1">
                          <a:solidFill>
                            <a:srgbClr val="2C3C43"/>
                          </a:solidFill>
                          <a:latin typeface="Cambria Math" panose="02040503050406030204" pitchFamily="18" charset="0"/>
                          <a:cs typeface="Cambria Math" panose="02040503050406030204" pitchFamily="18" charset="0"/>
                        </a:rPr>
                        <m:t>r</m:t>
                      </m:r>
                      <m:r>
                        <a:rPr lang="en-US" sz="1800" i="1">
                          <a:solidFill>
                            <a:srgbClr val="2C3C43"/>
                          </a:solidFill>
                          <a:latin typeface="Cambria Math" panose="02040503050406030204" pitchFamily="18" charset="0"/>
                          <a:cs typeface="Cambria Math" panose="02040503050406030204" pitchFamily="18" charset="0"/>
                        </a:rPr>
                        <m:t>=</m:t>
                      </m:r>
                      <m:r>
                        <a:rPr lang="en-US" sz="1800" i="1">
                          <a:solidFill>
                            <a:srgbClr val="2C3C43"/>
                          </a:solidFill>
                          <a:latin typeface="Cambria Math" panose="02040503050406030204" pitchFamily="18" charset="0"/>
                          <a:cs typeface="Cambria Math" panose="02040503050406030204" pitchFamily="18" charset="0"/>
                        </a:rPr>
                        <m:t>±</m:t>
                      </m:r>
                      <m:rad>
                        <m:radPr>
                          <m:degHide m:val="1"/>
                          <m:ctrlPr>
                            <a:rPr lang="en-US" sz="1800" i="1">
                              <a:solidFill>
                                <a:srgbClr val="2C3C43"/>
                              </a:solidFill>
                              <a:latin typeface="Cambria Math" panose="02040503050406030204" pitchFamily="18" charset="0"/>
                              <a:cs typeface="Cambria Math" panose="02040503050406030204" pitchFamily="18" charset="0"/>
                            </a:rPr>
                          </m:ctrlPr>
                        </m:radPr>
                        <m:deg/>
                        <m:e>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b</m:t>
                              </m:r>
                            </m:e>
                            <m:sub>
                              <m:r>
                                <a:rPr lang="en-US" sz="1800" i="1">
                                  <a:solidFill>
                                    <a:srgbClr val="2C3C43"/>
                                  </a:solidFill>
                                  <a:latin typeface="Cambria Math" panose="02040503050406030204" pitchFamily="18" charset="0"/>
                                  <a:cs typeface="Cambria Math" panose="02040503050406030204" pitchFamily="18" charset="0"/>
                                </a:rPr>
                                <m:t>yx</m:t>
                              </m:r>
                            </m:sub>
                          </m:sSub>
                          <m:r>
                            <a:rPr lang="en-US" sz="1800" i="1">
                              <a:solidFill>
                                <a:srgbClr val="2C3C43"/>
                              </a:solidFill>
                              <a:latin typeface="Cambria Math" panose="02040503050406030204" pitchFamily="18" charset="0"/>
                              <a:cs typeface="Cambria Math" panose="02040503050406030204" pitchFamily="18" charset="0"/>
                            </a:rPr>
                            <m:t>·</m:t>
                          </m:r>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b</m:t>
                              </m:r>
                            </m:e>
                            <m:sub>
                              <m:r>
                                <a:rPr lang="en-US" sz="1800" i="1">
                                  <a:solidFill>
                                    <a:srgbClr val="2C3C43"/>
                                  </a:solidFill>
                                  <a:latin typeface="Cambria Math" panose="02040503050406030204" pitchFamily="18" charset="0"/>
                                  <a:cs typeface="Cambria Math" panose="02040503050406030204" pitchFamily="18" charset="0"/>
                                </a:rPr>
                                <m:t>xy</m:t>
                              </m:r>
                            </m:sub>
                          </m:sSub>
                        </m:e>
                      </m:rad>
                    </m:oMath>
                  </m:oMathPara>
                </a14:m>
                <a:endParaRPr lang="en-US" sz="1800"/>
              </a:p>
            </p:txBody>
          </p:sp>
        </mc:Choice>
        <mc:Fallback>
          <p:pic>
            <p:nvPicPr>
              <p:cNvPr id="18" name="Equation image 17" descr="Equation"/>
              <p:cNvPicPr>
                <a:picLocks noChangeAspect="1"/>
              </p:cNvPicPr>
              <p:nvPr/>
            </p:nvPicPr>
            <p:blipFill>
              <a:blip r:embed="rId7"/>
              <a:stretch>
                <a:fillRect/>
              </a:stretch>
            </p:blipFill>
            <p:spPr>
              <a:xfrm>
                <a:off x="822960" y="5556123"/>
                <a:ext cx="1618488" cy="409194"/>
              </a:xfrm>
              <a:prstGeom prst="rect">
                <a:avLst/>
              </a:prstGeom>
            </p:spPr>
          </p:pic>
        </mc:Fallback>
      </mc:AlternateContent>
      <p:sp>
        <p:nvSpPr>
          <p:cNvPr id="19" name="Sign notes"/>
          <p:cNvSpPr txBox="1"/>
          <p:nvPr/>
        </p:nvSpPr>
        <p:spPr>
          <a:xfrm>
            <a:off x="5120640" y="5166360"/>
            <a:ext cx="3657600" cy="1097280"/>
          </a:xfrm>
          <a:prstGeom prst="rect">
            <a:avLst/>
          </a:prstGeom>
          <a:noFill/>
        </p:spPr>
        <p:txBody>
          <a:bodyPr wrap="square" anchor="t" lIns="45720" rIns="45720" tIns="27432" bIns="27432">
            <a:noAutofit/>
          </a:bodyPr>
          <a:lstStyle/>
          <a:p>
            <a:pPr algn="l" marL="219456" indent="-219456">
              <a:spcAft>
                <a:spcPts val="400"/>
              </a:spcAft>
              <a:buClr>
                <a:schemeClr val="accent2">
                  <a:lumMod val="75000"/>
                </a:schemeClr>
              </a:buClr>
              <a:buFont typeface="Arial"/>
              <a:buChar char="•"/>
            </a:pPr>
            <a:r>
              <a:rPr sz="1400" b="0" i="0">
                <a:solidFill>
                  <a:schemeClr val="tx2"/>
                </a:solidFill>
              </a:rPr>
              <a:t>Sign follows </a:t>
            </a:r>
            <a:r>
              <a:rPr sz="1400" b="0" i="1">
                <a:solidFill>
                  <a:schemeClr val="tx2"/>
                </a:solidFill>
                <a:latin typeface="Cambria Math"/>
              </a:rPr>
              <a:t>r</a:t>
            </a:r>
            <a:r>
              <a:rPr sz="1400" b="0" i="0">
                <a:solidFill>
                  <a:schemeClr val="tx2"/>
                </a:solidFill>
              </a:rPr>
              <a:t>.</a:t>
            </a:r>
          </a:p>
          <a:p>
            <a:pPr algn="l" marL="219456" indent="-219456">
              <a:spcAft>
                <a:spcPts val="400"/>
              </a:spcAft>
              <a:buClr>
                <a:schemeClr val="accent2">
                  <a:lumMod val="75000"/>
                </a:schemeClr>
              </a:buClr>
              <a:buFont typeface="Arial"/>
              <a:buChar char="•"/>
            </a:pPr>
            <a:r>
              <a:rPr sz="1400" b="0" i="0">
                <a:solidFill>
                  <a:schemeClr val="tx2"/>
                </a:solidFill>
              </a:rPr>
              <a:t>Both coefficients share the sign of </a:t>
            </a:r>
            <a:r>
              <a:rPr sz="1400" b="0" i="1">
                <a:solidFill>
                  <a:schemeClr val="tx2"/>
                </a:solidFill>
                <a:latin typeface="Cambria Math"/>
              </a:rPr>
              <a:t>r</a:t>
            </a:r>
            <a:r>
              <a:rPr sz="1400" b="0" i="0">
                <a:solidFill>
                  <a:schemeClr val="tx2"/>
                </a:solidFill>
              </a:rPr>
              <a:t>.</a:t>
            </a:r>
          </a:p>
        </p:txBody>
      </p:sp>
      <p:sp>
        <p:nvSpPr>
          <p:cNvPr id="20" name="Visual panel"/>
          <p:cNvSpPr/>
          <p:nvPr/>
        </p:nvSpPr>
        <p:spPr>
          <a:xfrm>
            <a:off x="5120640" y="1371600"/>
            <a:ext cx="3657600" cy="365760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1" name="Mini regression example"/>
          <p:cNvGraphicFramePr>
            <a:graphicFrameLocks noGrp="1"/>
          </p:cNvGraphicFramePr>
          <p:nvPr/>
        </p:nvGraphicFramePr>
        <p:xfrm>
          <a:off x="5166360" y="1417320"/>
          <a:ext cx="3566160" cy="3063240"/>
        </p:xfrm>
        <a:graphic>
          <a:graphicData uri="http://schemas.openxmlformats.org/drawingml/2006/chart">
            <c:chart xmlns:c="http://schemas.openxmlformats.org/drawingml/2006/chart" r:id="rId8"/>
          </a:graphicData>
        </a:graphic>
      </p:graphicFrame>
      <p:sp>
        <p:nvSpPr>
          <p:cNvPr id="22" name="Example numbers"/>
          <p:cNvSpPr txBox="1"/>
          <p:nvPr/>
        </p:nvSpPr>
        <p:spPr>
          <a:xfrm>
            <a:off x="5212080" y="4480560"/>
            <a:ext cx="3474720" cy="502920"/>
          </a:xfrm>
          <a:prstGeom prst="rect">
            <a:avLst/>
          </a:prstGeom>
          <a:noFill/>
        </p:spPr>
        <p:txBody>
          <a:bodyPr wrap="square" anchor="t" lIns="45720" rIns="45720" tIns="27432" bIns="27432">
            <a:noAutofit/>
          </a:bodyPr>
          <a:lstStyle/>
          <a:p>
            <a:pPr algn="ctr">
              <a:spcAft>
                <a:spcPts val="0"/>
              </a:spcAft>
            </a:pPr>
            <a:r>
              <a:rPr sz="1100" b="0" i="1">
                <a:solidFill>
                  <a:schemeClr val="accent2">
                    <a:lumMod val="75000"/>
                  </a:schemeClr>
                </a:solidFill>
              </a:rPr>
              <a:t>This data: b_yx = 0.60, b_xy = 1.15</a:t>
            </a:r>
          </a:p>
          <a:p>
            <a:pPr algn="ctr">
              <a:spcAft>
                <a:spcPts val="0"/>
              </a:spcAft>
            </a:pPr>
            <a:r>
              <a:rPr sz="1100" b="0" i="1">
                <a:solidFill>
                  <a:schemeClr val="accent2">
                    <a:lumMod val="75000"/>
                  </a:schemeClr>
                </a:solidFill>
              </a:rPr>
              <a:t>so r = √(0.60 × 1.15) = 0.83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Fitting the Line — Least Squares</a:t>
            </a:r>
          </a:p>
        </p:txBody>
      </p:sp>
      <p:sp>
        <p:nvSpPr>
          <p:cNvPr id="3" name="Bullets"/>
          <p:cNvSpPr txBox="1"/>
          <p:nvPr/>
        </p:nvSpPr>
        <p:spPr>
          <a:xfrm>
            <a:off x="731520" y="1371600"/>
            <a:ext cx="4114800" cy="2697480"/>
          </a:xfrm>
          <a:prstGeom prst="rect">
            <a:avLst/>
          </a:prstGeom>
          <a:noFill/>
        </p:spPr>
        <p:txBody>
          <a:bodyPr wrap="square" anchor="t" lIns="45720" rIns="45720" tIns="27432" bIns="27432">
            <a:noAutofit/>
          </a:bodyPr>
          <a:lstStyle/>
          <a:p>
            <a:pPr algn="l" marL="219456" indent="-219456">
              <a:spcAft>
                <a:spcPts val="700"/>
              </a:spcAft>
              <a:buClr>
                <a:schemeClr val="accent2">
                  <a:lumMod val="75000"/>
                </a:schemeClr>
              </a:buClr>
              <a:buFont typeface="Arial"/>
              <a:buChar char="•"/>
            </a:pPr>
            <a:r>
              <a:rPr sz="1400" b="0" i="0">
                <a:solidFill>
                  <a:schemeClr val="tx2"/>
                </a:solidFill>
              </a:rPr>
              <a:t>Goal: choose a line </a:t>
            </a:r>
            <a:r>
              <a:rPr sz="1400" b="0" i="1">
                <a:solidFill>
                  <a:schemeClr val="tx2"/>
                </a:solidFill>
                <a:latin typeface="Cambria Math"/>
              </a:rPr>
              <a:t>y</a:t>
            </a:r>
            <a:r>
              <a:rPr sz="1400" b="0" i="0">
                <a:solidFill>
                  <a:schemeClr val="tx2"/>
                </a:solidFill>
              </a:rPr>
              <a:t> = </a:t>
            </a:r>
            <a:r>
              <a:rPr sz="1400" b="0" i="1">
                <a:solidFill>
                  <a:schemeClr val="tx2"/>
                </a:solidFill>
                <a:latin typeface="Cambria Math"/>
              </a:rPr>
              <a:t>a</a:t>
            </a:r>
            <a:r>
              <a:rPr sz="1400" b="0" i="0">
                <a:solidFill>
                  <a:schemeClr val="tx2"/>
                </a:solidFill>
              </a:rPr>
              <a:t> + </a:t>
            </a:r>
            <a:r>
              <a:rPr sz="1400" b="0" i="1">
                <a:solidFill>
                  <a:schemeClr val="tx2"/>
                </a:solidFill>
                <a:latin typeface="Cambria Math"/>
              </a:rPr>
              <a:t>b</a:t>
            </a:r>
            <a:r>
              <a:rPr sz="1400" b="0" i="1">
                <a:solidFill>
                  <a:schemeClr val="tx2"/>
                </a:solidFill>
                <a:latin typeface="Cambria Math"/>
              </a:rPr>
              <a:t>x</a:t>
            </a:r>
            <a:r>
              <a:rPr sz="1400" b="0" i="0">
                <a:solidFill>
                  <a:schemeClr val="tx2"/>
                </a:solidFill>
              </a:rPr>
              <a:t> that best fits the points.</a:t>
            </a:r>
          </a:p>
          <a:p>
            <a:pPr algn="l" marL="219456" indent="-219456">
              <a:spcAft>
                <a:spcPts val="700"/>
              </a:spcAft>
              <a:buClr>
                <a:schemeClr val="accent2">
                  <a:lumMod val="75000"/>
                </a:schemeClr>
              </a:buClr>
              <a:buFont typeface="Arial"/>
              <a:buChar char="•"/>
            </a:pPr>
            <a:r>
              <a:rPr sz="1400" b="1" i="0">
                <a:solidFill>
                  <a:schemeClr val="tx2"/>
                </a:solidFill>
              </a:rPr>
              <a:t>Principle of least squares:</a:t>
            </a:r>
            <a:r>
              <a:rPr sz="1400" b="0" i="0">
                <a:solidFill>
                  <a:schemeClr val="tx2"/>
                </a:solidFill>
              </a:rPr>
              <a:t> minimise the sum of squared vertical gaps.</a:t>
            </a:r>
          </a:p>
          <a:p>
            <a:pPr algn="l" marL="219456" indent="-219456">
              <a:spcAft>
                <a:spcPts val="700"/>
              </a:spcAft>
              <a:buClr>
                <a:schemeClr val="accent2">
                  <a:lumMod val="75000"/>
                </a:schemeClr>
              </a:buClr>
              <a:buFont typeface="Arial"/>
              <a:buChar char="•"/>
            </a:pPr>
            <a:r>
              <a:rPr sz="1400" b="0" i="0">
                <a:solidFill>
                  <a:schemeClr val="tx2"/>
                </a:solidFill>
              </a:rPr>
              <a:t>The same method fits curves (y = a + bx + cx², etc.) — linear in the coefficients.</a:t>
            </a:r>
          </a:p>
          <a:p>
            <a:pPr algn="l" marL="219456" indent="-219456">
              <a:spcAft>
                <a:spcPts val="700"/>
              </a:spcAft>
              <a:buClr>
                <a:schemeClr val="accent2">
                  <a:lumMod val="75000"/>
                </a:schemeClr>
              </a:buClr>
              <a:buFont typeface="Arial"/>
              <a:buChar char="•"/>
            </a:pPr>
            <a:r>
              <a:rPr sz="1400" b="0" i="0">
                <a:solidFill>
                  <a:schemeClr val="tx2"/>
                </a:solidFill>
              </a:rPr>
              <a:t>The foundation of </a:t>
            </a:r>
            <a:r>
              <a:rPr sz="1400" b="1" i="0">
                <a:solidFill>
                  <a:schemeClr val="tx2"/>
                </a:solidFill>
              </a:rPr>
              <a:t>linear regression</a:t>
            </a:r>
            <a:r>
              <a:rPr sz="1400" b="0" i="0">
                <a:solidFill>
                  <a:schemeClr val="tx2"/>
                </a:solidFill>
              </a:rPr>
              <a:t> in data science.</a:t>
            </a:r>
          </a:p>
        </p:txBody>
      </p:sp>
      <p:sp>
        <p:nvSpPr>
          <p:cNvPr id="4" name="Visual panel"/>
          <p:cNvSpPr/>
          <p:nvPr/>
        </p:nvSpPr>
        <p:spPr>
          <a:xfrm>
            <a:off x="5120640" y="1371600"/>
            <a:ext cx="3657600" cy="274320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Least squares residuals"/>
          <p:cNvGraphicFramePr>
            <a:graphicFrameLocks noGrp="1"/>
          </p:cNvGraphicFramePr>
          <p:nvPr/>
        </p:nvGraphicFramePr>
        <p:xfrm>
          <a:off x="5166360" y="1417320"/>
          <a:ext cx="3566160" cy="2331720"/>
        </p:xfrm>
        <a:graphic>
          <a:graphicData uri="http://schemas.openxmlformats.org/drawingml/2006/chart">
            <c:chart xmlns:c="http://schemas.openxmlformats.org/drawingml/2006/chart" r:id="rId2"/>
          </a:graphicData>
        </a:graphic>
      </p:graphicFrame>
      <p:sp>
        <p:nvSpPr>
          <p:cNvPr id="6" name="Plot caption"/>
          <p:cNvSpPr txBox="1"/>
          <p:nvPr/>
        </p:nvSpPr>
        <p:spPr>
          <a:xfrm>
            <a:off x="5212080" y="3749039"/>
            <a:ext cx="3474720" cy="320040"/>
          </a:xfrm>
          <a:prstGeom prst="rect">
            <a:avLst/>
          </a:prstGeom>
          <a:noFill/>
        </p:spPr>
        <p:txBody>
          <a:bodyPr wrap="square" anchor="t" lIns="45720" rIns="45720" tIns="27432" bIns="27432">
            <a:noAutofit/>
          </a:bodyPr>
          <a:lstStyle/>
          <a:p>
            <a:pPr algn="ctr">
              <a:spcAft>
                <a:spcPts val="0"/>
              </a:spcAft>
            </a:pPr>
            <a:r>
              <a:rPr sz="1000" b="0" i="1">
                <a:solidFill>
                  <a:schemeClr val="accent2">
                    <a:lumMod val="75000"/>
                  </a:schemeClr>
                </a:solidFill>
              </a:rPr>
              <a:t>Fit: y = 1.25 + 0.86x  ·  red segments = residuals</a:t>
            </a:r>
          </a:p>
        </p:txBody>
      </p:sp>
      <p:sp>
        <p:nvSpPr>
          <p:cNvPr id="7" name="Formula strip"/>
          <p:cNvSpPr/>
          <p:nvPr/>
        </p:nvSpPr>
        <p:spPr>
          <a:xfrm>
            <a:off x="731520" y="4251960"/>
            <a:ext cx="8046720" cy="205740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Label min"/>
          <p:cNvSpPr txBox="1"/>
          <p:nvPr/>
        </p:nvSpPr>
        <p:spPr>
          <a:xfrm>
            <a:off x="868680" y="4297680"/>
            <a:ext cx="2468880" cy="274320"/>
          </a:xfrm>
          <a:prstGeom prst="rect">
            <a:avLst/>
          </a:prstGeom>
          <a:noFill/>
        </p:spPr>
        <p:txBody>
          <a:bodyPr wrap="square" anchor="t" lIns="45720" rIns="45720" tIns="27432" bIns="27432">
            <a:noAutofit/>
          </a:bodyPr>
          <a:lstStyle/>
          <a:p>
            <a:pPr algn="l">
              <a:spcAft>
                <a:spcPts val="0"/>
              </a:spcAft>
            </a:pPr>
            <a:r>
              <a:rPr sz="1200" b="1" i="0">
                <a:solidFill>
                  <a:schemeClr val="accent2">
                    <a:lumMod val="75000"/>
                  </a:schemeClr>
                </a:solidFill>
              </a:rPr>
              <a:t>Minimise</a:t>
            </a:r>
          </a:p>
        </p:txBody>
      </p:sp>
      <mc:AlternateContent xmlns:mc="http://schemas.openxmlformats.org/markup-compatibility/2006">
        <mc:Choice xmlns:a14="http://schemas.microsoft.com/office/drawing/2010/main" Requires="a14">
          <p:sp>
            <p:nvSpPr>
              <p:cNvPr id="9" name="Equation 9"/>
              <p:cNvSpPr txBox="1"/>
              <p:nvPr/>
            </p:nvSpPr>
            <p:spPr>
              <a:xfrm>
                <a:off x="822960" y="4572000"/>
                <a:ext cx="2560320" cy="548640"/>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sSup>
                            <m:sSupPr>
                              <m:ctrlPr>
                                <a:rPr lang="en-US" sz="1800" i="1">
                                  <a:solidFill>
                                    <a:srgbClr val="2C3C43"/>
                                  </a:solidFill>
                                  <a:latin typeface="Cambria Math" panose="02040503050406030204" pitchFamily="18" charset="0"/>
                                  <a:cs typeface="Cambria Math" panose="02040503050406030204" pitchFamily="18" charset="0"/>
                                </a:rPr>
                              </m:ctrlPr>
                            </m:sSupPr>
                            <m:e>
                              <m:d>
                                <m:dPr>
                                  <m:begChr m:val="("/>
                                  <m:endChr m:val=")"/>
                                  <m:ctrlPr>
                                    <a:rPr lang="en-US" sz="1800" i="1">
                                      <a:solidFill>
                                        <a:srgbClr val="2C3C43"/>
                                      </a:solidFill>
                                      <a:latin typeface="Cambria Math" panose="02040503050406030204" pitchFamily="18" charset="0"/>
                                      <a:cs typeface="Cambria Math" panose="02040503050406030204" pitchFamily="18" charset="0"/>
                                    </a:rPr>
                                  </m:ctrlPr>
                                </m:dPr>
                                <m:e>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y</m:t>
                                      </m:r>
                                    </m:e>
                                    <m:sub>
                                      <m:r>
                                        <a:rPr lang="en-US" sz="1800" i="1">
                                          <a:solidFill>
                                            <a:srgbClr val="2C3C43"/>
                                          </a:solidFill>
                                          <a:latin typeface="Cambria Math" panose="02040503050406030204" pitchFamily="18" charset="0"/>
                                          <a:cs typeface="Cambria Math" panose="02040503050406030204" pitchFamily="18" charset="0"/>
                                        </a:rPr>
                                        <m:t>i</m:t>
                                      </m:r>
                                    </m:sub>
                                  </m:sSub>
                                  <m:r>
                                    <a:rPr lang="en-US" sz="1800" i="1">
                                      <a:solidFill>
                                        <a:srgbClr val="2C3C43"/>
                                      </a:solidFill>
                                      <a:latin typeface="Cambria Math" panose="02040503050406030204" pitchFamily="18" charset="0"/>
                                      <a:cs typeface="Cambria Math" panose="02040503050406030204" pitchFamily="18" charset="0"/>
                                    </a:rPr>
                                    <m:t>−</m:t>
                                  </m:r>
                                  <m:r>
                                    <a:rPr lang="en-US" sz="1800" i="1">
                                      <a:solidFill>
                                        <a:srgbClr val="2C3C43"/>
                                      </a:solidFill>
                                      <a:latin typeface="Cambria Math" panose="02040503050406030204" pitchFamily="18" charset="0"/>
                                      <a:cs typeface="Cambria Math" panose="02040503050406030204" pitchFamily="18" charset="0"/>
                                    </a:rPr>
                                    <m:t>a</m:t>
                                  </m:r>
                                  <m:r>
                                    <a:rPr lang="en-US" sz="1800" i="1">
                                      <a:solidFill>
                                        <a:srgbClr val="2C3C43"/>
                                      </a:solidFill>
                                      <a:latin typeface="Cambria Math" panose="02040503050406030204" pitchFamily="18" charset="0"/>
                                      <a:cs typeface="Cambria Math" panose="02040503050406030204" pitchFamily="18" charset="0"/>
                                    </a:rPr>
                                    <m:t>−</m:t>
                                  </m:r>
                                  <m:r>
                                    <a:rPr lang="en-US" sz="1800" i="1">
                                      <a:solidFill>
                                        <a:srgbClr val="2C3C43"/>
                                      </a:solidFill>
                                      <a:latin typeface="Cambria Math" panose="02040503050406030204" pitchFamily="18" charset="0"/>
                                      <a:cs typeface="Cambria Math" panose="02040503050406030204" pitchFamily="18" charset="0"/>
                                    </a:rPr>
                                    <m:t>b</m:t>
                                  </m:r>
                                  <m:sSub>
                                    <m:sSubPr>
                                      <m:ctrlPr>
                                        <a:rPr lang="en-US" sz="1800" i="1">
                                          <a:solidFill>
                                            <a:srgbClr val="2C3C43"/>
                                          </a:solidFill>
                                          <a:latin typeface="Cambria Math" panose="02040503050406030204" pitchFamily="18" charset="0"/>
                                          <a:cs typeface="Cambria Math" panose="02040503050406030204" pitchFamily="18" charset="0"/>
                                        </a:rPr>
                                      </m:ctrlPr>
                                    </m:sSubPr>
                                    <m:e>
                                      <m:r>
                                        <a:rPr lang="en-US" sz="1800" i="1">
                                          <a:solidFill>
                                            <a:srgbClr val="2C3C43"/>
                                          </a:solidFill>
                                          <a:latin typeface="Cambria Math" panose="02040503050406030204" pitchFamily="18" charset="0"/>
                                          <a:cs typeface="Cambria Math" panose="02040503050406030204" pitchFamily="18" charset="0"/>
                                        </a:rPr>
                                        <m:t>x</m:t>
                                      </m:r>
                                    </m:e>
                                    <m:sub>
                                      <m:r>
                                        <a:rPr lang="en-US" sz="1800" i="1">
                                          <a:solidFill>
                                            <a:srgbClr val="2C3C43"/>
                                          </a:solidFill>
                                          <a:latin typeface="Cambria Math" panose="02040503050406030204" pitchFamily="18" charset="0"/>
                                          <a:cs typeface="Cambria Math" panose="02040503050406030204" pitchFamily="18" charset="0"/>
                                        </a:rPr>
                                        <m:t>i</m:t>
                                      </m:r>
                                    </m:sub>
                                  </m:sSub>
                                </m:e>
                              </m:d>
                            </m:e>
                            <m:sup>
                              <m:r>
                                <a:rPr lang="en-US" sz="1800" i="1">
                                  <a:solidFill>
                                    <a:srgbClr val="2C3C43"/>
                                  </a:solidFill>
                                  <a:latin typeface="Cambria Math" panose="02040503050406030204" pitchFamily="18" charset="0"/>
                                  <a:cs typeface="Cambria Math" panose="02040503050406030204" pitchFamily="18" charset="0"/>
                                </a:rPr>
                                <m:t>2</m:t>
                              </m:r>
                            </m:sup>
                          </m:sSup>
                        </m:e>
                      </m:nary>
                    </m:oMath>
                  </m:oMathPara>
                </a14:m>
                <a:endParaRPr lang="en-US" sz="1800"/>
              </a:p>
            </p:txBody>
          </p:sp>
        </mc:Choice>
        <mc:Fallback>
          <p:pic>
            <p:nvPicPr>
              <p:cNvPr id="10" name="Equation image 9" descr="Equation"/>
              <p:cNvPicPr>
                <a:picLocks noChangeAspect="1"/>
              </p:cNvPicPr>
              <p:nvPr/>
            </p:nvPicPr>
            <p:blipFill>
              <a:blip r:embed="rId3"/>
              <a:stretch>
                <a:fillRect/>
              </a:stretch>
            </p:blipFill>
            <p:spPr>
              <a:xfrm>
                <a:off x="822960" y="4668012"/>
                <a:ext cx="1675638" cy="356616"/>
              </a:xfrm>
              <a:prstGeom prst="rect">
                <a:avLst/>
              </a:prstGeom>
            </p:spPr>
          </p:pic>
        </mc:Fallback>
      </mc:AlternateContent>
      <p:sp>
        <p:nvSpPr>
          <p:cNvPr id="11" name="Label normal"/>
          <p:cNvSpPr txBox="1"/>
          <p:nvPr/>
        </p:nvSpPr>
        <p:spPr>
          <a:xfrm>
            <a:off x="868680" y="5138928"/>
            <a:ext cx="2468880" cy="274320"/>
          </a:xfrm>
          <a:prstGeom prst="rect">
            <a:avLst/>
          </a:prstGeom>
          <a:noFill/>
        </p:spPr>
        <p:txBody>
          <a:bodyPr wrap="square" anchor="t" lIns="45720" rIns="45720" tIns="27432" bIns="27432">
            <a:noAutofit/>
          </a:bodyPr>
          <a:lstStyle/>
          <a:p>
            <a:pPr algn="l">
              <a:spcAft>
                <a:spcPts val="0"/>
              </a:spcAft>
            </a:pPr>
            <a:r>
              <a:rPr sz="1200" b="1" i="0">
                <a:solidFill>
                  <a:schemeClr val="accent2">
                    <a:lumMod val="75000"/>
                  </a:schemeClr>
                </a:solidFill>
              </a:rPr>
              <a:t>Normal equations</a:t>
            </a:r>
          </a:p>
        </p:txBody>
      </p:sp>
      <mc:AlternateContent xmlns:mc="http://schemas.openxmlformats.org/markup-compatibility/2006">
        <mc:Choice xmlns:a14="http://schemas.microsoft.com/office/drawing/2010/main" Requires="a14">
          <p:sp>
            <p:nvSpPr>
              <p:cNvPr id="12" name="Equation 12"/>
              <p:cNvSpPr txBox="1"/>
              <p:nvPr/>
            </p:nvSpPr>
            <p:spPr>
              <a:xfrm>
                <a:off x="822960" y="5413248"/>
                <a:ext cx="2743200" cy="365760"/>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nary>
                        <m:naryPr>
                          <m:chr m:val="∑"/>
                          <m:limLoc m:val="undOvr"/>
                          <m:subHide m:val="1"/>
                          <m:supHide m:val="1"/>
                          <m:ctrlPr>
                            <a:rPr lang="en-US" sz="1500" i="1">
                              <a:solidFill>
                                <a:srgbClr val="2C3C43"/>
                              </a:solidFill>
                              <a:latin typeface="Cambria Math" panose="02040503050406030204" pitchFamily="18" charset="0"/>
                              <a:cs typeface="Cambria Math" panose="02040503050406030204" pitchFamily="18" charset="0"/>
                            </a:rPr>
                          </m:ctrlPr>
                        </m:naryPr>
                        <m:sub/>
                        <m:sup/>
                        <m:e>
                          <m:r>
                            <a:rPr lang="en-US" sz="1500" i="1">
                              <a:solidFill>
                                <a:srgbClr val="2C3C43"/>
                              </a:solidFill>
                              <a:latin typeface="Cambria Math" panose="02040503050406030204" pitchFamily="18" charset="0"/>
                              <a:cs typeface="Cambria Math" panose="02040503050406030204" pitchFamily="18" charset="0"/>
                            </a:rPr>
                            <m:t>y</m:t>
                          </m:r>
                        </m:e>
                      </m:nary>
                      <m:r>
                        <a:rPr lang="en-US" sz="1500" i="1">
                          <a:solidFill>
                            <a:srgbClr val="2C3C43"/>
                          </a:solidFill>
                          <a:latin typeface="Cambria Math" panose="02040503050406030204" pitchFamily="18" charset="0"/>
                          <a:cs typeface="Cambria Math" panose="02040503050406030204" pitchFamily="18" charset="0"/>
                        </a:rPr>
                        <m:t>=</m:t>
                      </m:r>
                      <m:r>
                        <a:rPr lang="en-US" sz="1500" i="1">
                          <a:solidFill>
                            <a:srgbClr val="2C3C43"/>
                          </a:solidFill>
                          <a:latin typeface="Cambria Math" panose="02040503050406030204" pitchFamily="18" charset="0"/>
                          <a:cs typeface="Cambria Math" panose="02040503050406030204" pitchFamily="18" charset="0"/>
                        </a:rPr>
                        <m:t>n</m:t>
                      </m:r>
                      <m:r>
                        <a:rPr lang="en-US" sz="1500" i="1">
                          <a:solidFill>
                            <a:srgbClr val="2C3C43"/>
                          </a:solidFill>
                          <a:latin typeface="Cambria Math" panose="02040503050406030204" pitchFamily="18" charset="0"/>
                          <a:cs typeface="Cambria Math" panose="02040503050406030204" pitchFamily="18" charset="0"/>
                        </a:rPr>
                        <m:t>a</m:t>
                      </m:r>
                      <m:r>
                        <a:rPr lang="en-US" sz="1500" i="1">
                          <a:solidFill>
                            <a:srgbClr val="2C3C43"/>
                          </a:solidFill>
                          <a:latin typeface="Cambria Math" panose="02040503050406030204" pitchFamily="18" charset="0"/>
                          <a:cs typeface="Cambria Math" panose="02040503050406030204" pitchFamily="18" charset="0"/>
                        </a:rPr>
                        <m:t>+</m:t>
                      </m:r>
                      <m:r>
                        <a:rPr lang="en-US" sz="1500" i="1">
                          <a:solidFill>
                            <a:srgbClr val="2C3C43"/>
                          </a:solidFill>
                          <a:latin typeface="Cambria Math" panose="02040503050406030204" pitchFamily="18" charset="0"/>
                          <a:cs typeface="Cambria Math" panose="02040503050406030204" pitchFamily="18" charset="0"/>
                        </a:rPr>
                        <m:t>b</m:t>
                      </m:r>
                      <m:nary>
                        <m:naryPr>
                          <m:chr m:val="∑"/>
                          <m:limLoc m:val="undOvr"/>
                          <m:subHide m:val="1"/>
                          <m:supHide m:val="1"/>
                          <m:ctrlPr>
                            <a:rPr lang="en-US" sz="1500" i="1">
                              <a:solidFill>
                                <a:srgbClr val="2C3C43"/>
                              </a:solidFill>
                              <a:latin typeface="Cambria Math" panose="02040503050406030204" pitchFamily="18" charset="0"/>
                              <a:cs typeface="Cambria Math" panose="02040503050406030204" pitchFamily="18" charset="0"/>
                            </a:rPr>
                          </m:ctrlPr>
                        </m:naryPr>
                        <m:sub/>
                        <m:sup/>
                        <m:e>
                          <m:r>
                            <a:rPr lang="en-US" sz="1500" i="1">
                              <a:solidFill>
                                <a:srgbClr val="2C3C43"/>
                              </a:solidFill>
                              <a:latin typeface="Cambria Math" panose="02040503050406030204" pitchFamily="18" charset="0"/>
                              <a:cs typeface="Cambria Math" panose="02040503050406030204" pitchFamily="18" charset="0"/>
                            </a:rPr>
                            <m:t>x</m:t>
                          </m:r>
                        </m:e>
                      </m:nary>
                    </m:oMath>
                  </m:oMathPara>
                </a14:m>
                <a:endParaRPr lang="en-US" sz="1500"/>
              </a:p>
            </p:txBody>
          </p:sp>
        </mc:Choice>
        <mc:Fallback>
          <p:pic>
            <p:nvPicPr>
              <p:cNvPr id="13" name="Equation image 12" descr="Equation"/>
              <p:cNvPicPr>
                <a:picLocks noChangeAspect="1"/>
              </p:cNvPicPr>
              <p:nvPr/>
            </p:nvPicPr>
            <p:blipFill>
              <a:blip r:embed="rId4"/>
              <a:stretch>
                <a:fillRect/>
              </a:stretch>
            </p:blipFill>
            <p:spPr>
              <a:xfrm>
                <a:off x="822960" y="5446395"/>
                <a:ext cx="1419606" cy="299466"/>
              </a:xfrm>
              <a:prstGeom prst="rect">
                <a:avLst/>
              </a:prstGeom>
            </p:spPr>
          </p:pic>
        </mc:Fallback>
      </mc:AlternateContent>
      <mc:AlternateContent xmlns:mc="http://schemas.openxmlformats.org/markup-compatibility/2006">
        <mc:Choice xmlns:a14="http://schemas.microsoft.com/office/drawing/2010/main" Requires="a14">
          <p:sp>
            <p:nvSpPr>
              <p:cNvPr id="14" name="Equation 14"/>
              <p:cNvSpPr txBox="1"/>
              <p:nvPr/>
            </p:nvSpPr>
            <p:spPr>
              <a:xfrm>
                <a:off x="822960" y="5806440"/>
                <a:ext cx="3017520" cy="365760"/>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nary>
                        <m:naryPr>
                          <m:chr m:val="∑"/>
                          <m:limLoc m:val="undOvr"/>
                          <m:subHide m:val="1"/>
                          <m:supHide m:val="1"/>
                          <m:ctrlPr>
                            <a:rPr lang="en-US" sz="1500" i="1">
                              <a:solidFill>
                                <a:srgbClr val="2C3C43"/>
                              </a:solidFill>
                              <a:latin typeface="Cambria Math" panose="02040503050406030204" pitchFamily="18" charset="0"/>
                              <a:cs typeface="Cambria Math" panose="02040503050406030204" pitchFamily="18" charset="0"/>
                            </a:rPr>
                          </m:ctrlPr>
                        </m:naryPr>
                        <m:sub/>
                        <m:sup/>
                        <m:e>
                          <m:r>
                            <a:rPr lang="en-US" sz="1500" i="1">
                              <a:solidFill>
                                <a:srgbClr val="2C3C43"/>
                              </a:solidFill>
                              <a:latin typeface="Cambria Math" panose="02040503050406030204" pitchFamily="18" charset="0"/>
                              <a:cs typeface="Cambria Math" panose="02040503050406030204" pitchFamily="18" charset="0"/>
                            </a:rPr>
                            <m:t>xy</m:t>
                          </m:r>
                        </m:e>
                      </m:nary>
                      <m:r>
                        <a:rPr lang="en-US" sz="1500" i="1">
                          <a:solidFill>
                            <a:srgbClr val="2C3C43"/>
                          </a:solidFill>
                          <a:latin typeface="Cambria Math" panose="02040503050406030204" pitchFamily="18" charset="0"/>
                          <a:cs typeface="Cambria Math" panose="02040503050406030204" pitchFamily="18" charset="0"/>
                        </a:rPr>
                        <m:t>=</m:t>
                      </m:r>
                      <m:r>
                        <a:rPr lang="en-US" sz="1500" i="1">
                          <a:solidFill>
                            <a:srgbClr val="2C3C43"/>
                          </a:solidFill>
                          <a:latin typeface="Cambria Math" panose="02040503050406030204" pitchFamily="18" charset="0"/>
                          <a:cs typeface="Cambria Math" panose="02040503050406030204" pitchFamily="18" charset="0"/>
                        </a:rPr>
                        <m:t>a</m:t>
                      </m:r>
                      <m:nary>
                        <m:naryPr>
                          <m:chr m:val="∑"/>
                          <m:limLoc m:val="undOvr"/>
                          <m:subHide m:val="1"/>
                          <m:supHide m:val="1"/>
                          <m:ctrlPr>
                            <a:rPr lang="en-US" sz="1500" i="1">
                              <a:solidFill>
                                <a:srgbClr val="2C3C43"/>
                              </a:solidFill>
                              <a:latin typeface="Cambria Math" panose="02040503050406030204" pitchFamily="18" charset="0"/>
                              <a:cs typeface="Cambria Math" panose="02040503050406030204" pitchFamily="18" charset="0"/>
                            </a:rPr>
                          </m:ctrlPr>
                        </m:naryPr>
                        <m:sub/>
                        <m:sup/>
                        <m:e>
                          <m:r>
                            <a:rPr lang="en-US" sz="1500" i="1">
                              <a:solidFill>
                                <a:srgbClr val="2C3C43"/>
                              </a:solidFill>
                              <a:latin typeface="Cambria Math" panose="02040503050406030204" pitchFamily="18" charset="0"/>
                              <a:cs typeface="Cambria Math" panose="02040503050406030204" pitchFamily="18" charset="0"/>
                            </a:rPr>
                            <m:t>x</m:t>
                          </m:r>
                        </m:e>
                      </m:nary>
                      <m:r>
                        <a:rPr lang="en-US" sz="1500" i="1">
                          <a:solidFill>
                            <a:srgbClr val="2C3C43"/>
                          </a:solidFill>
                          <a:latin typeface="Cambria Math" panose="02040503050406030204" pitchFamily="18" charset="0"/>
                          <a:cs typeface="Cambria Math" panose="02040503050406030204" pitchFamily="18" charset="0"/>
                        </a:rPr>
                        <m:t>+</m:t>
                      </m:r>
                      <m:r>
                        <a:rPr lang="en-US" sz="1500" i="1">
                          <a:solidFill>
                            <a:srgbClr val="2C3C43"/>
                          </a:solidFill>
                          <a:latin typeface="Cambria Math" panose="02040503050406030204" pitchFamily="18" charset="0"/>
                          <a:cs typeface="Cambria Math" panose="02040503050406030204" pitchFamily="18" charset="0"/>
                        </a:rPr>
                        <m:t>b</m:t>
                      </m:r>
                      <m:nary>
                        <m:naryPr>
                          <m:chr m:val="∑"/>
                          <m:limLoc m:val="undOvr"/>
                          <m:subHide m:val="1"/>
                          <m:supHide m:val="1"/>
                          <m:ctrlPr>
                            <a:rPr lang="en-US" sz="1500" i="1">
                              <a:solidFill>
                                <a:srgbClr val="2C3C43"/>
                              </a:solidFill>
                              <a:latin typeface="Cambria Math" panose="02040503050406030204" pitchFamily="18" charset="0"/>
                              <a:cs typeface="Cambria Math" panose="02040503050406030204" pitchFamily="18" charset="0"/>
                            </a:rPr>
                          </m:ctrlPr>
                        </m:naryPr>
                        <m:sub/>
                        <m:sup/>
                        <m:e>
                          <m:sSup>
                            <m:sSupPr>
                              <m:ctrlPr>
                                <a:rPr lang="en-US" sz="1500" i="1">
                                  <a:solidFill>
                                    <a:srgbClr val="2C3C43"/>
                                  </a:solidFill>
                                  <a:latin typeface="Cambria Math" panose="02040503050406030204" pitchFamily="18" charset="0"/>
                                  <a:cs typeface="Cambria Math" panose="02040503050406030204" pitchFamily="18" charset="0"/>
                                </a:rPr>
                              </m:ctrlPr>
                            </m:sSupPr>
                            <m:e>
                              <m:r>
                                <a:rPr lang="en-US" sz="1500" i="1">
                                  <a:solidFill>
                                    <a:srgbClr val="2C3C43"/>
                                  </a:solidFill>
                                  <a:latin typeface="Cambria Math" panose="02040503050406030204" pitchFamily="18" charset="0"/>
                                  <a:cs typeface="Cambria Math" panose="02040503050406030204" pitchFamily="18" charset="0"/>
                                </a:rPr>
                                <m:t>x</m:t>
                              </m:r>
                            </m:e>
                            <m:sup>
                              <m:r>
                                <a:rPr lang="en-US" sz="1500" i="1">
                                  <a:solidFill>
                                    <a:srgbClr val="2C3C43"/>
                                  </a:solidFill>
                                  <a:latin typeface="Cambria Math" panose="02040503050406030204" pitchFamily="18" charset="0"/>
                                  <a:cs typeface="Cambria Math" panose="02040503050406030204" pitchFamily="18" charset="0"/>
                                </a:rPr>
                                <m:t>2</m:t>
                              </m:r>
                            </m:sup>
                          </m:sSup>
                        </m:e>
                      </m:nary>
                    </m:oMath>
                  </m:oMathPara>
                </a14:m>
                <a:endParaRPr lang="en-US" sz="1500"/>
              </a:p>
            </p:txBody>
          </p:sp>
        </mc:Choice>
        <mc:Fallback>
          <p:pic>
            <p:nvPicPr>
              <p:cNvPr id="15" name="Equation image 14" descr="Equation"/>
              <p:cNvPicPr>
                <a:picLocks noChangeAspect="1"/>
              </p:cNvPicPr>
              <p:nvPr/>
            </p:nvPicPr>
            <p:blipFill>
              <a:blip r:embed="rId5"/>
              <a:stretch>
                <a:fillRect/>
              </a:stretch>
            </p:blipFill>
            <p:spPr>
              <a:xfrm>
                <a:off x="822960" y="5830443"/>
                <a:ext cx="1799082" cy="317754"/>
              </a:xfrm>
              <a:prstGeom prst="rect">
                <a:avLst/>
              </a:prstGeom>
            </p:spPr>
          </p:pic>
        </mc:Fallback>
      </mc:AlternateContent>
      <p:sp>
        <p:nvSpPr>
          <p:cNvPr id="16" name="Label solution"/>
          <p:cNvSpPr txBox="1"/>
          <p:nvPr/>
        </p:nvSpPr>
        <p:spPr>
          <a:xfrm>
            <a:off x="3977639" y="4297680"/>
            <a:ext cx="4663440" cy="274320"/>
          </a:xfrm>
          <a:prstGeom prst="rect">
            <a:avLst/>
          </a:prstGeom>
          <a:noFill/>
        </p:spPr>
        <p:txBody>
          <a:bodyPr wrap="square" anchor="t" lIns="45720" rIns="45720" tIns="27432" bIns="27432">
            <a:noAutofit/>
          </a:bodyPr>
          <a:lstStyle/>
          <a:p>
            <a:pPr algn="l">
              <a:spcAft>
                <a:spcPts val="0"/>
              </a:spcAft>
            </a:pPr>
            <a:r>
              <a:rPr sz="1200" b="1" i="0">
                <a:solidFill>
                  <a:schemeClr val="accent2">
                    <a:lumMod val="75000"/>
                  </a:schemeClr>
                </a:solidFill>
              </a:rPr>
              <a:t>Solution</a:t>
            </a:r>
          </a:p>
        </p:txBody>
      </p:sp>
      <mc:AlternateContent xmlns:mc="http://schemas.openxmlformats.org/markup-compatibility/2006">
        <mc:Choice xmlns:a14="http://schemas.microsoft.com/office/drawing/2010/main" Requires="a14">
          <p:sp>
            <p:nvSpPr>
              <p:cNvPr id="17" name="Equation 17"/>
              <p:cNvSpPr txBox="1"/>
              <p:nvPr/>
            </p:nvSpPr>
            <p:spPr>
              <a:xfrm>
                <a:off x="3931920" y="4572000"/>
                <a:ext cx="4754880" cy="1005840"/>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r>
                        <a:rPr lang="en-US" sz="1800" i="1">
                          <a:solidFill>
                            <a:srgbClr val="2C3C43"/>
                          </a:solidFill>
                          <a:latin typeface="Cambria Math" panose="02040503050406030204" pitchFamily="18" charset="0"/>
                          <a:cs typeface="Cambria Math" panose="02040503050406030204" pitchFamily="18" charset="0"/>
                        </a:rPr>
                        <m:t>b</m:t>
                      </m:r>
                      <m:r>
                        <a:rPr lang="en-US" sz="1800" i="1">
                          <a:solidFill>
                            <a:srgbClr val="2C3C43"/>
                          </a:solidFill>
                          <a:latin typeface="Cambria Math" panose="02040503050406030204" pitchFamily="18" charset="0"/>
                          <a:cs typeface="Cambria Math" panose="02040503050406030204" pitchFamily="18" charset="0"/>
                        </a:rPr>
                        <m:t>=</m:t>
                      </m:r>
                      <m:f>
                        <m:fPr>
                          <m:ctrlPr>
                            <a:rPr lang="en-US" sz="1800" i="1">
                              <a:solidFill>
                                <a:srgbClr val="2C3C43"/>
                              </a:solidFill>
                              <a:latin typeface="Cambria Math" panose="02040503050406030204" pitchFamily="18" charset="0"/>
                              <a:cs typeface="Cambria Math" panose="02040503050406030204" pitchFamily="18" charset="0"/>
                            </a:rPr>
                          </m:ctrlPr>
                        </m:fPr>
                        <m:num>
                          <m:r>
                            <a:rPr lang="en-US" sz="1800" i="1">
                              <a:solidFill>
                                <a:srgbClr val="2C3C43"/>
                              </a:solidFill>
                              <a:latin typeface="Cambria Math" panose="02040503050406030204" pitchFamily="18" charset="0"/>
                              <a:cs typeface="Cambria Math" panose="02040503050406030204" pitchFamily="18" charset="0"/>
                            </a:rPr>
                            <m:t>n</m:t>
                          </m:r>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r>
                                <a:rPr lang="en-US" sz="1800" i="1">
                                  <a:solidFill>
                                    <a:srgbClr val="2C3C43"/>
                                  </a:solidFill>
                                  <a:latin typeface="Cambria Math" panose="02040503050406030204" pitchFamily="18" charset="0"/>
                                  <a:cs typeface="Cambria Math" panose="02040503050406030204" pitchFamily="18" charset="0"/>
                                </a:rPr>
                                <m:t>xy</m:t>
                              </m:r>
                            </m:e>
                          </m:nary>
                          <m:r>
                            <a:rPr lang="en-US" sz="1800" i="1">
                              <a:solidFill>
                                <a:srgbClr val="2C3C43"/>
                              </a:solidFill>
                              <a:latin typeface="Cambria Math" panose="02040503050406030204" pitchFamily="18" charset="0"/>
                              <a:cs typeface="Cambria Math" panose="02040503050406030204" pitchFamily="18" charset="0"/>
                            </a:rPr>
                            <m:t>−</m:t>
                          </m:r>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r>
                                <a:rPr lang="en-US" sz="1800" i="1">
                                  <a:solidFill>
                                    <a:srgbClr val="2C3C43"/>
                                  </a:solidFill>
                                  <a:latin typeface="Cambria Math" panose="02040503050406030204" pitchFamily="18" charset="0"/>
                                  <a:cs typeface="Cambria Math" panose="02040503050406030204" pitchFamily="18" charset="0"/>
                                </a:rPr>
                                <m:t>x</m:t>
                              </m:r>
                            </m:e>
                          </m:nary>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r>
                                <a:rPr lang="en-US" sz="1800" i="1">
                                  <a:solidFill>
                                    <a:srgbClr val="2C3C43"/>
                                  </a:solidFill>
                                  <a:latin typeface="Cambria Math" panose="02040503050406030204" pitchFamily="18" charset="0"/>
                                  <a:cs typeface="Cambria Math" panose="02040503050406030204" pitchFamily="18" charset="0"/>
                                </a:rPr>
                                <m:t>y</m:t>
                              </m:r>
                            </m:e>
                          </m:nary>
                        </m:num>
                        <m:den>
                          <m:r>
                            <a:rPr lang="en-US" sz="1800" i="1">
                              <a:solidFill>
                                <a:srgbClr val="2C3C43"/>
                              </a:solidFill>
                              <a:latin typeface="Cambria Math" panose="02040503050406030204" pitchFamily="18" charset="0"/>
                              <a:cs typeface="Cambria Math" panose="02040503050406030204" pitchFamily="18" charset="0"/>
                            </a:rPr>
                            <m:t>n</m:t>
                          </m:r>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sSup>
                                <m:sSupPr>
                                  <m:ctrlPr>
                                    <a:rPr lang="en-US" sz="1800" i="1">
                                      <a:solidFill>
                                        <a:srgbClr val="2C3C43"/>
                                      </a:solidFill>
                                      <a:latin typeface="Cambria Math" panose="02040503050406030204" pitchFamily="18" charset="0"/>
                                      <a:cs typeface="Cambria Math" panose="02040503050406030204" pitchFamily="18" charset="0"/>
                                    </a:rPr>
                                  </m:ctrlPr>
                                </m:sSupPr>
                                <m:e>
                                  <m:r>
                                    <a:rPr lang="en-US" sz="1800" i="1">
                                      <a:solidFill>
                                        <a:srgbClr val="2C3C43"/>
                                      </a:solidFill>
                                      <a:latin typeface="Cambria Math" panose="02040503050406030204" pitchFamily="18" charset="0"/>
                                      <a:cs typeface="Cambria Math" panose="02040503050406030204" pitchFamily="18" charset="0"/>
                                    </a:rPr>
                                    <m:t>x</m:t>
                                  </m:r>
                                </m:e>
                                <m:sup>
                                  <m:r>
                                    <a:rPr lang="en-US" sz="1800" i="1">
                                      <a:solidFill>
                                        <a:srgbClr val="2C3C43"/>
                                      </a:solidFill>
                                      <a:latin typeface="Cambria Math" panose="02040503050406030204" pitchFamily="18" charset="0"/>
                                      <a:cs typeface="Cambria Math" panose="02040503050406030204" pitchFamily="18" charset="0"/>
                                    </a:rPr>
                                    <m:t>2</m:t>
                                  </m:r>
                                </m:sup>
                              </m:sSup>
                            </m:e>
                          </m:nary>
                          <m:r>
                            <a:rPr lang="en-US" sz="1800" i="1">
                              <a:solidFill>
                                <a:srgbClr val="2C3C43"/>
                              </a:solidFill>
                              <a:latin typeface="Cambria Math" panose="02040503050406030204" pitchFamily="18" charset="0"/>
                              <a:cs typeface="Cambria Math" panose="02040503050406030204" pitchFamily="18" charset="0"/>
                            </a:rPr>
                            <m:t>−</m:t>
                          </m:r>
                          <m:sSup>
                            <m:sSupPr>
                              <m:ctrlPr>
                                <a:rPr lang="en-US" sz="1800" i="1">
                                  <a:solidFill>
                                    <a:srgbClr val="2C3C43"/>
                                  </a:solidFill>
                                  <a:latin typeface="Cambria Math" panose="02040503050406030204" pitchFamily="18" charset="0"/>
                                  <a:cs typeface="Cambria Math" panose="02040503050406030204" pitchFamily="18" charset="0"/>
                                </a:rPr>
                              </m:ctrlPr>
                            </m:sSupPr>
                            <m:e>
                              <m:d>
                                <m:dPr>
                                  <m:begChr m:val="("/>
                                  <m:endChr m:val=")"/>
                                  <m:ctrlPr>
                                    <a:rPr lang="en-US" sz="1800" i="1">
                                      <a:solidFill>
                                        <a:srgbClr val="2C3C43"/>
                                      </a:solidFill>
                                      <a:latin typeface="Cambria Math" panose="02040503050406030204" pitchFamily="18" charset="0"/>
                                      <a:cs typeface="Cambria Math" panose="02040503050406030204" pitchFamily="18" charset="0"/>
                                    </a:rPr>
                                  </m:ctrlPr>
                                </m:dPr>
                                <m:e>
                                  <m:nary>
                                    <m:naryPr>
                                      <m:chr m:val="∑"/>
                                      <m:limLoc m:val="undOvr"/>
                                      <m:subHide m:val="1"/>
                                      <m:supHide m:val="1"/>
                                      <m:ctrlPr>
                                        <a:rPr lang="en-US" sz="1800" i="1">
                                          <a:solidFill>
                                            <a:srgbClr val="2C3C43"/>
                                          </a:solidFill>
                                          <a:latin typeface="Cambria Math" panose="02040503050406030204" pitchFamily="18" charset="0"/>
                                          <a:cs typeface="Cambria Math" panose="02040503050406030204" pitchFamily="18" charset="0"/>
                                        </a:rPr>
                                      </m:ctrlPr>
                                    </m:naryPr>
                                    <m:sub/>
                                    <m:sup/>
                                    <m:e>
                                      <m:r>
                                        <a:rPr lang="en-US" sz="1800" i="1">
                                          <a:solidFill>
                                            <a:srgbClr val="2C3C43"/>
                                          </a:solidFill>
                                          <a:latin typeface="Cambria Math" panose="02040503050406030204" pitchFamily="18" charset="0"/>
                                          <a:cs typeface="Cambria Math" panose="02040503050406030204" pitchFamily="18" charset="0"/>
                                        </a:rPr>
                                        <m:t>x</m:t>
                                      </m:r>
                                    </m:e>
                                  </m:nary>
                                </m:e>
                              </m:d>
                            </m:e>
                            <m:sup>
                              <m:r>
                                <a:rPr lang="en-US" sz="1800" i="1">
                                  <a:solidFill>
                                    <a:srgbClr val="2C3C43"/>
                                  </a:solidFill>
                                  <a:latin typeface="Cambria Math" panose="02040503050406030204" pitchFamily="18" charset="0"/>
                                  <a:cs typeface="Cambria Math" panose="02040503050406030204" pitchFamily="18" charset="0"/>
                                </a:rPr>
                                <m:t>2</m:t>
                              </m:r>
                            </m:sup>
                          </m:sSup>
                        </m:den>
                      </m:f>
                    </m:oMath>
                  </m:oMathPara>
                </a14:m>
                <a:endParaRPr lang="en-US" sz="1800"/>
              </a:p>
            </p:txBody>
          </p:sp>
        </mc:Choice>
        <mc:Fallback>
          <p:pic>
            <p:nvPicPr>
              <p:cNvPr id="18" name="Equation image 17" descr="Equation"/>
              <p:cNvPicPr>
                <a:picLocks noChangeAspect="1"/>
              </p:cNvPicPr>
              <p:nvPr/>
            </p:nvPicPr>
            <p:blipFill>
              <a:blip r:embed="rId6"/>
              <a:stretch>
                <a:fillRect/>
              </a:stretch>
            </p:blipFill>
            <p:spPr>
              <a:xfrm>
                <a:off x="3931920" y="4768596"/>
                <a:ext cx="1835658" cy="612648"/>
              </a:xfrm>
              <a:prstGeom prst="rect">
                <a:avLst/>
              </a:prstGeom>
            </p:spPr>
          </p:pic>
        </mc:Fallback>
      </mc:AlternateContent>
      <mc:AlternateContent xmlns:mc="http://schemas.openxmlformats.org/markup-compatibility/2006">
        <mc:Choice xmlns:a14="http://schemas.microsoft.com/office/drawing/2010/main" Requires="a14">
          <p:sp>
            <p:nvSpPr>
              <p:cNvPr id="19" name="Equation 19"/>
              <p:cNvSpPr txBox="1"/>
              <p:nvPr/>
            </p:nvSpPr>
            <p:spPr>
              <a:xfrm>
                <a:off x="3931920" y="5623560"/>
                <a:ext cx="2743200" cy="594360"/>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r>
                        <a:rPr lang="en-US" sz="1800" i="1">
                          <a:solidFill>
                            <a:srgbClr val="2C3C43"/>
                          </a:solidFill>
                          <a:latin typeface="Cambria Math" panose="02040503050406030204" pitchFamily="18" charset="0"/>
                          <a:cs typeface="Cambria Math" panose="02040503050406030204" pitchFamily="18" charset="0"/>
                        </a:rPr>
                        <m:t>a</m:t>
                      </m:r>
                      <m:r>
                        <a:rPr lang="en-US" sz="1800" i="1">
                          <a:solidFill>
                            <a:srgbClr val="2C3C43"/>
                          </a:solidFill>
                          <a:latin typeface="Cambria Math" panose="02040503050406030204" pitchFamily="18" charset="0"/>
                          <a:cs typeface="Cambria Math" panose="02040503050406030204" pitchFamily="18" charset="0"/>
                        </a:rPr>
                        <m:t>=</m:t>
                      </m:r>
                      <m:acc>
                        <m:accPr>
                          <m:chr m:val="̅"/>
                          <m:ctrlPr>
                            <a:rPr lang="en-US" sz="1800" i="1">
                              <a:solidFill>
                                <a:srgbClr val="2C3C43"/>
                              </a:solidFill>
                              <a:latin typeface="Cambria Math" panose="02040503050406030204" pitchFamily="18" charset="0"/>
                              <a:cs typeface="Cambria Math" panose="02040503050406030204" pitchFamily="18" charset="0"/>
                            </a:rPr>
                          </m:ctrlPr>
                        </m:accPr>
                        <m:e>
                          <m:r>
                            <a:rPr lang="en-US" sz="1800" i="1">
                              <a:solidFill>
                                <a:srgbClr val="2C3C43"/>
                              </a:solidFill>
                              <a:latin typeface="Cambria Math" panose="02040503050406030204" pitchFamily="18" charset="0"/>
                              <a:cs typeface="Cambria Math" panose="02040503050406030204" pitchFamily="18" charset="0"/>
                            </a:rPr>
                            <m:t>y</m:t>
                          </m:r>
                        </m:e>
                      </m:acc>
                      <m:r>
                        <a:rPr lang="en-US" sz="1800" i="1">
                          <a:solidFill>
                            <a:srgbClr val="2C3C43"/>
                          </a:solidFill>
                          <a:latin typeface="Cambria Math" panose="02040503050406030204" pitchFamily="18" charset="0"/>
                          <a:cs typeface="Cambria Math" panose="02040503050406030204" pitchFamily="18" charset="0"/>
                        </a:rPr>
                        <m:t>−</m:t>
                      </m:r>
                      <m:r>
                        <a:rPr lang="en-US" sz="1800" i="1">
                          <a:solidFill>
                            <a:srgbClr val="2C3C43"/>
                          </a:solidFill>
                          <a:latin typeface="Cambria Math" panose="02040503050406030204" pitchFamily="18" charset="0"/>
                          <a:cs typeface="Cambria Math" panose="02040503050406030204" pitchFamily="18" charset="0"/>
                        </a:rPr>
                        <m:t>b</m:t>
                      </m:r>
                      <m:acc>
                        <m:accPr>
                          <m:chr m:val="̅"/>
                          <m:ctrlPr>
                            <a:rPr lang="en-US" sz="1800" i="1">
                              <a:solidFill>
                                <a:srgbClr val="2C3C43"/>
                              </a:solidFill>
                              <a:latin typeface="Cambria Math" panose="02040503050406030204" pitchFamily="18" charset="0"/>
                              <a:cs typeface="Cambria Math" panose="02040503050406030204" pitchFamily="18" charset="0"/>
                            </a:rPr>
                          </m:ctrlPr>
                        </m:accPr>
                        <m:e>
                          <m:r>
                            <a:rPr lang="en-US" sz="1800" i="1">
                              <a:solidFill>
                                <a:srgbClr val="2C3C43"/>
                              </a:solidFill>
                              <a:latin typeface="Cambria Math" panose="02040503050406030204" pitchFamily="18" charset="0"/>
                              <a:cs typeface="Cambria Math" panose="02040503050406030204" pitchFamily="18" charset="0"/>
                            </a:rPr>
                            <m:t>x</m:t>
                          </m:r>
                        </m:e>
                      </m:acc>
                    </m:oMath>
                  </m:oMathPara>
                </a14:m>
                <a:endParaRPr lang="en-US" sz="1800"/>
              </a:p>
            </p:txBody>
          </p:sp>
        </mc:Choice>
        <mc:Fallback>
          <p:pic>
            <p:nvPicPr>
              <p:cNvPr id="20" name="Equation image 19" descr="Equation"/>
              <p:cNvPicPr>
                <a:picLocks noChangeAspect="1"/>
              </p:cNvPicPr>
              <p:nvPr/>
            </p:nvPicPr>
            <p:blipFill>
              <a:blip r:embed="rId7"/>
              <a:stretch>
                <a:fillRect/>
              </a:stretch>
            </p:blipFill>
            <p:spPr>
              <a:xfrm>
                <a:off x="3931920" y="5761863"/>
                <a:ext cx="1042416" cy="317754"/>
              </a:xfrm>
              <a:prstGeom prst="rect">
                <a:avLst/>
              </a:prstGeom>
            </p:spPr>
          </p:pic>
        </mc:Fallback>
      </mc:AlternateContent>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Worked Example — Correlation &amp; Regression</a:t>
            </a:r>
          </a:p>
        </p:txBody>
      </p:sp>
      <p:sp>
        <p:nvSpPr>
          <p:cNvPr id="3" name="Data heading"/>
          <p:cNvSpPr txBox="1"/>
          <p:nvPr/>
        </p:nvSpPr>
        <p:spPr>
          <a:xfrm>
            <a:off x="731520" y="1371600"/>
            <a:ext cx="4114800" cy="320040"/>
          </a:xfrm>
          <a:prstGeom prst="rect">
            <a:avLst/>
          </a:prstGeom>
          <a:noFill/>
        </p:spPr>
        <p:txBody>
          <a:bodyPr wrap="square" anchor="t" lIns="45720" rIns="45720" tIns="27432" bIns="27432">
            <a:noAutofit/>
          </a:bodyPr>
          <a:lstStyle/>
          <a:p>
            <a:pPr algn="l">
              <a:spcAft>
                <a:spcPts val="0"/>
              </a:spcAft>
            </a:pPr>
            <a:r>
              <a:rPr sz="1300" b="1" i="0">
                <a:solidFill>
                  <a:schemeClr val="accent2">
                    <a:lumMod val="75000"/>
                  </a:schemeClr>
                </a:solidFill>
              </a:rPr>
              <a:t>Data: x = study hours, y = marks, n = 5</a:t>
            </a:r>
          </a:p>
        </p:txBody>
      </p:sp>
      <p:graphicFrame>
        <p:nvGraphicFramePr>
          <p:cNvPr id="4" name="Worked example data"/>
          <p:cNvGraphicFramePr>
            <a:graphicFrameLocks noGrp="1"/>
          </p:cNvGraphicFramePr>
          <p:nvPr/>
        </p:nvGraphicFramePr>
        <p:xfrm>
          <a:off x="731520" y="1737360"/>
          <a:ext cx="3566160" cy="1984248"/>
        </p:xfrm>
        <a:graphic>
          <a:graphicData uri="http://schemas.openxmlformats.org/drawingml/2006/table">
            <a:tbl>
              <a:tblPr firstRow="1" bandRow="1">
                <a:tableStyleId>{5C22544A-7EE6-4342-B048-85BDC9FD1C3A}</a:tableStyleId>
              </a:tblPr>
              <a:tblGrid>
                <a:gridCol w="548640"/>
                <a:gridCol w="640080"/>
                <a:gridCol w="731520"/>
                <a:gridCol w="685800"/>
                <a:gridCol w="960120"/>
              </a:tblGrid>
              <a:tr h="283464">
                <a:tc>
                  <a:txBody>
                    <a:bodyPr/>
                    <a:lstStyle/>
                    <a:p>
                      <a:pPr algn="ctr"/>
                      <a:r>
                        <a:rPr sz="1200" b="1">
                          <a:solidFill>
                            <a:schemeClr val="bg1"/>
                          </a:solidFill>
                        </a:rPr>
                        <a:t>x</a:t>
                      </a:r>
                    </a:p>
                  </a:txBody>
                  <a:tcPr anchor="ctr" marL="45720" marR="45720" marT="18288" marB="18288">
                    <a:solidFill>
                      <a:schemeClr val="accent2">
                        <a:lumMod val="75000"/>
                      </a:schemeClr>
                    </a:solidFill>
                  </a:tcPr>
                </a:tc>
                <a:tc>
                  <a:txBody>
                    <a:bodyPr/>
                    <a:lstStyle/>
                    <a:p>
                      <a:pPr algn="ctr"/>
                      <a:r>
                        <a:rPr sz="1200" b="1">
                          <a:solidFill>
                            <a:schemeClr val="bg1"/>
                          </a:solidFill>
                        </a:rPr>
                        <a:t>y</a:t>
                      </a:r>
                    </a:p>
                  </a:txBody>
                  <a:tcPr anchor="ctr" marL="45720" marR="45720" marT="18288" marB="18288">
                    <a:solidFill>
                      <a:schemeClr val="accent2">
                        <a:lumMod val="75000"/>
                      </a:schemeClr>
                    </a:solidFill>
                  </a:tcPr>
                </a:tc>
                <a:tc>
                  <a:txBody>
                    <a:bodyPr/>
                    <a:lstStyle/>
                    <a:p>
                      <a:pPr algn="ctr"/>
                      <a:r>
                        <a:rPr sz="1200" b="1">
                          <a:solidFill>
                            <a:schemeClr val="bg1"/>
                          </a:solidFill>
                        </a:rPr>
                        <a:t>xy</a:t>
                      </a:r>
                    </a:p>
                  </a:txBody>
                  <a:tcPr anchor="ctr" marL="45720" marR="45720" marT="18288" marB="18288">
                    <a:solidFill>
                      <a:schemeClr val="accent2">
                        <a:lumMod val="75000"/>
                      </a:schemeClr>
                    </a:solidFill>
                  </a:tcPr>
                </a:tc>
                <a:tc>
                  <a:txBody>
                    <a:bodyPr/>
                    <a:lstStyle/>
                    <a:p>
                      <a:pPr algn="ctr"/>
                      <a:r>
                        <a:rPr sz="1200" b="1">
                          <a:solidFill>
                            <a:schemeClr val="bg1"/>
                          </a:solidFill>
                        </a:rPr>
                        <a:t>x²</a:t>
                      </a:r>
                    </a:p>
                  </a:txBody>
                  <a:tcPr anchor="ctr" marL="45720" marR="45720" marT="18288" marB="18288">
                    <a:solidFill>
                      <a:schemeClr val="accent2">
                        <a:lumMod val="75000"/>
                      </a:schemeClr>
                    </a:solidFill>
                  </a:tcPr>
                </a:tc>
                <a:tc>
                  <a:txBody>
                    <a:bodyPr/>
                    <a:lstStyle/>
                    <a:p>
                      <a:pPr algn="ctr"/>
                      <a:r>
                        <a:rPr sz="1200" b="1">
                          <a:solidFill>
                            <a:schemeClr val="bg1"/>
                          </a:solidFill>
                        </a:rPr>
                        <a:t>y²</a:t>
                      </a:r>
                    </a:p>
                  </a:txBody>
                  <a:tcPr anchor="ctr" marL="45720" marR="45720" marT="18288" marB="18288">
                    <a:solidFill>
                      <a:schemeClr val="accent2">
                        <a:lumMod val="75000"/>
                      </a:schemeClr>
                    </a:solidFill>
                  </a:tcPr>
                </a:tc>
              </a:tr>
              <a:tr h="283464">
                <a:tc>
                  <a:txBody>
                    <a:bodyPr/>
                    <a:lstStyle/>
                    <a:p>
                      <a:pPr algn="ctr"/>
                      <a:r>
                        <a:rPr sz="1200" b="0">
                          <a:solidFill>
                            <a:schemeClr val="tx2"/>
                          </a:solidFill>
                        </a:rPr>
                        <a:t>2</a:t>
                      </a:r>
                    </a:p>
                  </a:txBody>
                  <a:tcPr anchor="ctr" marL="45720" marR="45720" marT="18288" marB="18288">
                    <a:solidFill>
                      <a:schemeClr val="bg1"/>
                    </a:solidFill>
                  </a:tcPr>
                </a:tc>
                <a:tc>
                  <a:txBody>
                    <a:bodyPr/>
                    <a:lstStyle/>
                    <a:p>
                      <a:pPr algn="ctr"/>
                      <a:r>
                        <a:rPr sz="1200" b="0">
                          <a:solidFill>
                            <a:schemeClr val="tx2"/>
                          </a:solidFill>
                        </a:rPr>
                        <a:t>40</a:t>
                      </a:r>
                    </a:p>
                  </a:txBody>
                  <a:tcPr anchor="ctr" marL="45720" marR="45720" marT="18288" marB="18288">
                    <a:solidFill>
                      <a:schemeClr val="bg1"/>
                    </a:solidFill>
                  </a:tcPr>
                </a:tc>
                <a:tc>
                  <a:txBody>
                    <a:bodyPr/>
                    <a:lstStyle/>
                    <a:p>
                      <a:pPr algn="ctr"/>
                      <a:r>
                        <a:rPr sz="1200" b="0">
                          <a:solidFill>
                            <a:schemeClr val="tx2"/>
                          </a:solidFill>
                        </a:rPr>
                        <a:t>80</a:t>
                      </a:r>
                    </a:p>
                  </a:txBody>
                  <a:tcPr anchor="ctr" marL="45720" marR="45720" marT="18288" marB="18288">
                    <a:solidFill>
                      <a:schemeClr val="bg1"/>
                    </a:solidFill>
                  </a:tcPr>
                </a:tc>
                <a:tc>
                  <a:txBody>
                    <a:bodyPr/>
                    <a:lstStyle/>
                    <a:p>
                      <a:pPr algn="ctr"/>
                      <a:r>
                        <a:rPr sz="1200" b="0">
                          <a:solidFill>
                            <a:schemeClr val="tx2"/>
                          </a:solidFill>
                        </a:rPr>
                        <a:t>4</a:t>
                      </a:r>
                    </a:p>
                  </a:txBody>
                  <a:tcPr anchor="ctr" marL="45720" marR="45720" marT="18288" marB="18288">
                    <a:solidFill>
                      <a:schemeClr val="bg1"/>
                    </a:solidFill>
                  </a:tcPr>
                </a:tc>
                <a:tc>
                  <a:txBody>
                    <a:bodyPr/>
                    <a:lstStyle/>
                    <a:p>
                      <a:pPr algn="ctr"/>
                      <a:r>
                        <a:rPr sz="1200" b="0">
                          <a:solidFill>
                            <a:schemeClr val="tx2"/>
                          </a:solidFill>
                        </a:rPr>
                        <a:t>1600</a:t>
                      </a:r>
                    </a:p>
                  </a:txBody>
                  <a:tcPr anchor="ctr" marL="45720" marR="45720" marT="18288" marB="18288">
                    <a:solidFill>
                      <a:schemeClr val="bg1"/>
                    </a:solidFill>
                  </a:tcPr>
                </a:tc>
              </a:tr>
              <a:tr h="283464">
                <a:tc>
                  <a:txBody>
                    <a:bodyPr/>
                    <a:lstStyle/>
                    <a:p>
                      <a:pPr algn="ctr"/>
                      <a:r>
                        <a:rPr sz="1200" b="0">
                          <a:solidFill>
                            <a:schemeClr val="tx2"/>
                          </a:solidFill>
                        </a:rPr>
                        <a:t>4</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50</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200</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16</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2500</a:t>
                      </a:r>
                    </a:p>
                  </a:txBody>
                  <a:tcPr anchor="ctr" marL="45720" marR="45720" marT="18288" marB="18288">
                    <a:solidFill>
                      <a:schemeClr val="accent1">
                        <a:lumMod val="10000"/>
                        <a:lumOff val="90000"/>
                      </a:schemeClr>
                    </a:solidFill>
                  </a:tcPr>
                </a:tc>
              </a:tr>
              <a:tr h="283464">
                <a:tc>
                  <a:txBody>
                    <a:bodyPr/>
                    <a:lstStyle/>
                    <a:p>
                      <a:pPr algn="ctr"/>
                      <a:r>
                        <a:rPr sz="1200" b="0">
                          <a:solidFill>
                            <a:schemeClr val="tx2"/>
                          </a:solidFill>
                        </a:rPr>
                        <a:t>6</a:t>
                      </a:r>
                    </a:p>
                  </a:txBody>
                  <a:tcPr anchor="ctr" marL="45720" marR="45720" marT="18288" marB="18288">
                    <a:solidFill>
                      <a:schemeClr val="bg1"/>
                    </a:solidFill>
                  </a:tcPr>
                </a:tc>
                <a:tc>
                  <a:txBody>
                    <a:bodyPr/>
                    <a:lstStyle/>
                    <a:p>
                      <a:pPr algn="ctr"/>
                      <a:r>
                        <a:rPr sz="1200" b="0">
                          <a:solidFill>
                            <a:schemeClr val="tx2"/>
                          </a:solidFill>
                        </a:rPr>
                        <a:t>60</a:t>
                      </a:r>
                    </a:p>
                  </a:txBody>
                  <a:tcPr anchor="ctr" marL="45720" marR="45720" marT="18288" marB="18288">
                    <a:solidFill>
                      <a:schemeClr val="bg1"/>
                    </a:solidFill>
                  </a:tcPr>
                </a:tc>
                <a:tc>
                  <a:txBody>
                    <a:bodyPr/>
                    <a:lstStyle/>
                    <a:p>
                      <a:pPr algn="ctr"/>
                      <a:r>
                        <a:rPr sz="1200" b="0">
                          <a:solidFill>
                            <a:schemeClr val="tx2"/>
                          </a:solidFill>
                        </a:rPr>
                        <a:t>360</a:t>
                      </a:r>
                    </a:p>
                  </a:txBody>
                  <a:tcPr anchor="ctr" marL="45720" marR="45720" marT="18288" marB="18288">
                    <a:solidFill>
                      <a:schemeClr val="bg1"/>
                    </a:solidFill>
                  </a:tcPr>
                </a:tc>
                <a:tc>
                  <a:txBody>
                    <a:bodyPr/>
                    <a:lstStyle/>
                    <a:p>
                      <a:pPr algn="ctr"/>
                      <a:r>
                        <a:rPr sz="1200" b="0">
                          <a:solidFill>
                            <a:schemeClr val="tx2"/>
                          </a:solidFill>
                        </a:rPr>
                        <a:t>36</a:t>
                      </a:r>
                    </a:p>
                  </a:txBody>
                  <a:tcPr anchor="ctr" marL="45720" marR="45720" marT="18288" marB="18288">
                    <a:solidFill>
                      <a:schemeClr val="bg1"/>
                    </a:solidFill>
                  </a:tcPr>
                </a:tc>
                <a:tc>
                  <a:txBody>
                    <a:bodyPr/>
                    <a:lstStyle/>
                    <a:p>
                      <a:pPr algn="ctr"/>
                      <a:r>
                        <a:rPr sz="1200" b="0">
                          <a:solidFill>
                            <a:schemeClr val="tx2"/>
                          </a:solidFill>
                        </a:rPr>
                        <a:t>3600</a:t>
                      </a:r>
                    </a:p>
                  </a:txBody>
                  <a:tcPr anchor="ctr" marL="45720" marR="45720" marT="18288" marB="18288">
                    <a:solidFill>
                      <a:schemeClr val="bg1"/>
                    </a:solidFill>
                  </a:tcPr>
                </a:tc>
              </a:tr>
              <a:tr h="283464">
                <a:tc>
                  <a:txBody>
                    <a:bodyPr/>
                    <a:lstStyle/>
                    <a:p>
                      <a:pPr algn="ctr"/>
                      <a:r>
                        <a:rPr sz="1200" b="0">
                          <a:solidFill>
                            <a:schemeClr val="tx2"/>
                          </a:solidFill>
                        </a:rPr>
                        <a:t>8</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70</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560</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64</a:t>
                      </a:r>
                    </a:p>
                  </a:txBody>
                  <a:tcPr anchor="ctr" marL="45720" marR="45720" marT="18288" marB="18288">
                    <a:solidFill>
                      <a:schemeClr val="accent1">
                        <a:lumMod val="10000"/>
                        <a:lumOff val="90000"/>
                      </a:schemeClr>
                    </a:solidFill>
                  </a:tcPr>
                </a:tc>
                <a:tc>
                  <a:txBody>
                    <a:bodyPr/>
                    <a:lstStyle/>
                    <a:p>
                      <a:pPr algn="ctr"/>
                      <a:r>
                        <a:rPr sz="1200" b="0">
                          <a:solidFill>
                            <a:schemeClr val="tx2"/>
                          </a:solidFill>
                        </a:rPr>
                        <a:t>4900</a:t>
                      </a:r>
                    </a:p>
                  </a:txBody>
                  <a:tcPr anchor="ctr" marL="45720" marR="45720" marT="18288" marB="18288">
                    <a:solidFill>
                      <a:schemeClr val="accent1">
                        <a:lumMod val="10000"/>
                        <a:lumOff val="90000"/>
                      </a:schemeClr>
                    </a:solidFill>
                  </a:tcPr>
                </a:tc>
              </a:tr>
              <a:tr h="283464">
                <a:tc>
                  <a:txBody>
                    <a:bodyPr/>
                    <a:lstStyle/>
                    <a:p>
                      <a:pPr algn="ctr"/>
                      <a:r>
                        <a:rPr sz="1200" b="0">
                          <a:solidFill>
                            <a:schemeClr val="tx2"/>
                          </a:solidFill>
                        </a:rPr>
                        <a:t>10</a:t>
                      </a:r>
                    </a:p>
                  </a:txBody>
                  <a:tcPr anchor="ctr" marL="45720" marR="45720" marT="18288" marB="18288">
                    <a:solidFill>
                      <a:schemeClr val="bg1"/>
                    </a:solidFill>
                  </a:tcPr>
                </a:tc>
                <a:tc>
                  <a:txBody>
                    <a:bodyPr/>
                    <a:lstStyle/>
                    <a:p>
                      <a:pPr algn="ctr"/>
                      <a:r>
                        <a:rPr sz="1200" b="0">
                          <a:solidFill>
                            <a:schemeClr val="tx2"/>
                          </a:solidFill>
                        </a:rPr>
                        <a:t>80</a:t>
                      </a:r>
                    </a:p>
                  </a:txBody>
                  <a:tcPr anchor="ctr" marL="45720" marR="45720" marT="18288" marB="18288">
                    <a:solidFill>
                      <a:schemeClr val="bg1"/>
                    </a:solidFill>
                  </a:tcPr>
                </a:tc>
                <a:tc>
                  <a:txBody>
                    <a:bodyPr/>
                    <a:lstStyle/>
                    <a:p>
                      <a:pPr algn="ctr"/>
                      <a:r>
                        <a:rPr sz="1200" b="0">
                          <a:solidFill>
                            <a:schemeClr val="tx2"/>
                          </a:solidFill>
                        </a:rPr>
                        <a:t>800</a:t>
                      </a:r>
                    </a:p>
                  </a:txBody>
                  <a:tcPr anchor="ctr" marL="45720" marR="45720" marT="18288" marB="18288">
                    <a:solidFill>
                      <a:schemeClr val="bg1"/>
                    </a:solidFill>
                  </a:tcPr>
                </a:tc>
                <a:tc>
                  <a:txBody>
                    <a:bodyPr/>
                    <a:lstStyle/>
                    <a:p>
                      <a:pPr algn="ctr"/>
                      <a:r>
                        <a:rPr sz="1200" b="0">
                          <a:solidFill>
                            <a:schemeClr val="tx2"/>
                          </a:solidFill>
                        </a:rPr>
                        <a:t>100</a:t>
                      </a:r>
                    </a:p>
                  </a:txBody>
                  <a:tcPr anchor="ctr" marL="45720" marR="45720" marT="18288" marB="18288">
                    <a:solidFill>
                      <a:schemeClr val="bg1"/>
                    </a:solidFill>
                  </a:tcPr>
                </a:tc>
                <a:tc>
                  <a:txBody>
                    <a:bodyPr/>
                    <a:lstStyle/>
                    <a:p>
                      <a:pPr algn="ctr"/>
                      <a:r>
                        <a:rPr sz="1200" b="0">
                          <a:solidFill>
                            <a:schemeClr val="tx2"/>
                          </a:solidFill>
                        </a:rPr>
                        <a:t>6400</a:t>
                      </a:r>
                    </a:p>
                  </a:txBody>
                  <a:tcPr anchor="ctr" marL="45720" marR="45720" marT="18288" marB="18288">
                    <a:solidFill>
                      <a:schemeClr val="bg1"/>
                    </a:solidFill>
                  </a:tcPr>
                </a:tc>
              </a:tr>
              <a:tr h="283464">
                <a:tc>
                  <a:txBody>
                    <a:bodyPr/>
                    <a:lstStyle/>
                    <a:p>
                      <a:pPr algn="ctr"/>
                      <a:r>
                        <a:rPr sz="1200" b="1">
                          <a:solidFill>
                            <a:schemeClr val="tx2"/>
                          </a:solidFill>
                        </a:rPr>
                        <a:t>30</a:t>
                      </a:r>
                    </a:p>
                  </a:txBody>
                  <a:tcPr anchor="ctr" marL="45720" marR="45720" marT="18288" marB="18288">
                    <a:solidFill>
                      <a:schemeClr val="accent1">
                        <a:lumMod val="40000"/>
                        <a:lumOff val="60000"/>
                      </a:schemeClr>
                    </a:solidFill>
                  </a:tcPr>
                </a:tc>
                <a:tc>
                  <a:txBody>
                    <a:bodyPr/>
                    <a:lstStyle/>
                    <a:p>
                      <a:pPr algn="ctr"/>
                      <a:r>
                        <a:rPr sz="1200" b="1">
                          <a:solidFill>
                            <a:schemeClr val="tx2"/>
                          </a:solidFill>
                        </a:rPr>
                        <a:t>300</a:t>
                      </a:r>
                    </a:p>
                  </a:txBody>
                  <a:tcPr anchor="ctr" marL="45720" marR="45720" marT="18288" marB="18288">
                    <a:solidFill>
                      <a:schemeClr val="accent1">
                        <a:lumMod val="40000"/>
                        <a:lumOff val="60000"/>
                      </a:schemeClr>
                    </a:solidFill>
                  </a:tcPr>
                </a:tc>
                <a:tc>
                  <a:txBody>
                    <a:bodyPr/>
                    <a:lstStyle/>
                    <a:p>
                      <a:pPr algn="ctr"/>
                      <a:r>
                        <a:rPr sz="1200" b="1">
                          <a:solidFill>
                            <a:schemeClr val="tx2"/>
                          </a:solidFill>
                        </a:rPr>
                        <a:t>2000</a:t>
                      </a:r>
                    </a:p>
                  </a:txBody>
                  <a:tcPr anchor="ctr" marL="45720" marR="45720" marT="18288" marB="18288">
                    <a:solidFill>
                      <a:schemeClr val="accent1">
                        <a:lumMod val="40000"/>
                        <a:lumOff val="60000"/>
                      </a:schemeClr>
                    </a:solidFill>
                  </a:tcPr>
                </a:tc>
                <a:tc>
                  <a:txBody>
                    <a:bodyPr/>
                    <a:lstStyle/>
                    <a:p>
                      <a:pPr algn="ctr"/>
                      <a:r>
                        <a:rPr sz="1200" b="1">
                          <a:solidFill>
                            <a:schemeClr val="tx2"/>
                          </a:solidFill>
                        </a:rPr>
                        <a:t>220</a:t>
                      </a:r>
                    </a:p>
                  </a:txBody>
                  <a:tcPr anchor="ctr" marL="45720" marR="45720" marT="18288" marB="18288">
                    <a:solidFill>
                      <a:schemeClr val="accent1">
                        <a:lumMod val="40000"/>
                        <a:lumOff val="60000"/>
                      </a:schemeClr>
                    </a:solidFill>
                  </a:tcPr>
                </a:tc>
                <a:tc>
                  <a:txBody>
                    <a:bodyPr/>
                    <a:lstStyle/>
                    <a:p>
                      <a:pPr algn="ctr"/>
                      <a:r>
                        <a:rPr sz="1200" b="1">
                          <a:solidFill>
                            <a:schemeClr val="tx2"/>
                          </a:solidFill>
                        </a:rPr>
                        <a:t>19000</a:t>
                      </a:r>
                    </a:p>
                  </a:txBody>
                  <a:tcPr anchor="ctr" marL="45720" marR="45720" marT="18288" marB="18288">
                    <a:solidFill>
                      <a:schemeClr val="accent1">
                        <a:lumMod val="40000"/>
                        <a:lumOff val="60000"/>
                      </a:schemeClr>
                    </a:solidFill>
                  </a:tcPr>
                </a:tc>
              </a:tr>
            </a:tbl>
          </a:graphicData>
        </a:graphic>
      </p:graphicFrame>
      <p:sp>
        <p:nvSpPr>
          <p:cNvPr id="5" name="Sums line"/>
          <p:cNvSpPr txBox="1"/>
          <p:nvPr/>
        </p:nvSpPr>
        <p:spPr>
          <a:xfrm>
            <a:off x="731520" y="3767328"/>
            <a:ext cx="4114800" cy="274320"/>
          </a:xfrm>
          <a:prstGeom prst="rect">
            <a:avLst/>
          </a:prstGeom>
          <a:noFill/>
        </p:spPr>
        <p:txBody>
          <a:bodyPr wrap="square" anchor="t" lIns="45720" rIns="45720" tIns="27432" bIns="27432">
            <a:noAutofit/>
          </a:bodyPr>
          <a:lstStyle/>
          <a:p>
            <a:pPr algn="l">
              <a:spcAft>
                <a:spcPts val="0"/>
              </a:spcAft>
            </a:pPr>
            <a:r>
              <a:rPr sz="1100" b="0" i="1">
                <a:solidFill>
                  <a:schemeClr val="accent2">
                    <a:lumMod val="75000"/>
                  </a:schemeClr>
                </a:solidFill>
              </a:rPr>
              <a:t>Σx = 30, Σy = 300, Σxy = 2000, Σx² = 220, Σy² = 19000</a:t>
            </a:r>
          </a:p>
        </p:txBody>
      </p:sp>
      <p:sp>
        <p:nvSpPr>
          <p:cNvPr id="6" name="Calculation card"/>
          <p:cNvSpPr/>
          <p:nvPr/>
        </p:nvSpPr>
        <p:spPr>
          <a:xfrm>
            <a:off x="731520" y="4160520"/>
            <a:ext cx="4480560" cy="2148840"/>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7" name="Equation 7"/>
              <p:cNvSpPr txBox="1"/>
              <p:nvPr/>
            </p:nvSpPr>
            <p:spPr>
              <a:xfrm>
                <a:off x="777240" y="4206240"/>
                <a:ext cx="4389120" cy="868680"/>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r>
                        <a:rPr lang="en-US" sz="1500" i="1">
                          <a:solidFill>
                            <a:srgbClr val="2C3C43"/>
                          </a:solidFill>
                          <a:latin typeface="Cambria Math" panose="02040503050406030204" pitchFamily="18" charset="0"/>
                          <a:cs typeface="Cambria Math" panose="02040503050406030204" pitchFamily="18" charset="0"/>
                        </a:rPr>
                        <m:t>r</m:t>
                      </m:r>
                      <m:r>
                        <a:rPr lang="en-US" sz="1500" i="1">
                          <a:solidFill>
                            <a:srgbClr val="2C3C43"/>
                          </a:solidFill>
                          <a:latin typeface="Cambria Math" panose="02040503050406030204" pitchFamily="18" charset="0"/>
                          <a:cs typeface="Cambria Math" panose="02040503050406030204" pitchFamily="18" charset="0"/>
                        </a:rPr>
                        <m:t>=</m:t>
                      </m:r>
                      <m:f>
                        <m:fPr>
                          <m:ctrlPr>
                            <a:rPr lang="en-US" sz="1500" i="1">
                              <a:solidFill>
                                <a:srgbClr val="2C3C43"/>
                              </a:solidFill>
                              <a:latin typeface="Cambria Math" panose="02040503050406030204" pitchFamily="18" charset="0"/>
                              <a:cs typeface="Cambria Math" panose="02040503050406030204" pitchFamily="18" charset="0"/>
                            </a:rPr>
                          </m:ctrlPr>
                        </m:fPr>
                        <m:num>
                          <m:r>
                            <a:rPr lang="en-US" sz="1500" i="1">
                              <a:solidFill>
                                <a:srgbClr val="2C3C43"/>
                              </a:solidFill>
                              <a:latin typeface="Cambria Math" panose="02040503050406030204" pitchFamily="18" charset="0"/>
                              <a:cs typeface="Cambria Math" panose="02040503050406030204" pitchFamily="18" charset="0"/>
                            </a:rPr>
                            <m:t>5·2000−30·300</m:t>
                          </m:r>
                        </m:num>
                        <m:den>
                          <m:rad>
                            <m:radPr>
                              <m:degHide m:val="1"/>
                              <m:ctrlPr>
                                <a:rPr lang="en-US" sz="1500" i="1">
                                  <a:solidFill>
                                    <a:srgbClr val="2C3C43"/>
                                  </a:solidFill>
                                  <a:latin typeface="Cambria Math" panose="02040503050406030204" pitchFamily="18" charset="0"/>
                                  <a:cs typeface="Cambria Math" panose="02040503050406030204" pitchFamily="18" charset="0"/>
                                </a:rPr>
                              </m:ctrlPr>
                            </m:radPr>
                            <m:deg/>
                            <m:e>
                              <m:r>
                                <a:rPr lang="en-US" sz="1500" i="1">
                                  <a:solidFill>
                                    <a:srgbClr val="2C3C43"/>
                                  </a:solidFill>
                                  <a:latin typeface="Cambria Math" panose="02040503050406030204" pitchFamily="18" charset="0"/>
                                  <a:cs typeface="Cambria Math" panose="02040503050406030204" pitchFamily="18" charset="0"/>
                                </a:rPr>
                                <m:t>(5·220−900)(5·19000−90000)</m:t>
                              </m:r>
                            </m:e>
                          </m:rad>
                        </m:den>
                      </m:f>
                    </m:oMath>
                  </m:oMathPara>
                </a14:m>
                <a:endParaRPr lang="en-US" sz="1500"/>
              </a:p>
            </p:txBody>
          </p:sp>
        </mc:Choice>
        <mc:Fallback>
          <p:pic>
            <p:nvPicPr>
              <p:cNvPr id="8" name="Equation image 7" descr="Equation"/>
              <p:cNvPicPr>
                <a:picLocks noChangeAspect="1"/>
              </p:cNvPicPr>
              <p:nvPr/>
            </p:nvPicPr>
            <p:blipFill>
              <a:blip r:embed="rId2"/>
              <a:stretch>
                <a:fillRect/>
              </a:stretch>
            </p:blipFill>
            <p:spPr>
              <a:xfrm>
                <a:off x="777240" y="4386834"/>
                <a:ext cx="2946654" cy="507492"/>
              </a:xfrm>
              <a:prstGeom prst="rect">
                <a:avLst/>
              </a:prstGeom>
            </p:spPr>
          </p:pic>
        </mc:Fallback>
      </mc:AlternateContent>
      <mc:AlternateContent xmlns:mc="http://schemas.openxmlformats.org/markup-compatibility/2006">
        <mc:Choice xmlns:a14="http://schemas.microsoft.com/office/drawing/2010/main" Requires="a14">
          <p:sp>
            <p:nvSpPr>
              <p:cNvPr id="9" name="Equation 9"/>
              <p:cNvSpPr txBox="1"/>
              <p:nvPr/>
            </p:nvSpPr>
            <p:spPr>
              <a:xfrm>
                <a:off x="777240" y="5074920"/>
                <a:ext cx="2194560" cy="548640"/>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r>
                        <a:rPr lang="en-US" sz="1500" i="1">
                          <a:solidFill>
                            <a:srgbClr val="2C3C43"/>
                          </a:solidFill>
                          <a:latin typeface="Cambria Math" panose="02040503050406030204" pitchFamily="18" charset="0"/>
                          <a:cs typeface="Cambria Math" panose="02040503050406030204" pitchFamily="18" charset="0"/>
                        </a:rPr>
                        <m:t>=</m:t>
                      </m:r>
                      <m:f>
                        <m:fPr>
                          <m:ctrlPr>
                            <a:rPr lang="en-US" sz="1500" i="1">
                              <a:solidFill>
                                <a:srgbClr val="2C3C43"/>
                              </a:solidFill>
                              <a:latin typeface="Cambria Math" panose="02040503050406030204" pitchFamily="18" charset="0"/>
                              <a:cs typeface="Cambria Math" panose="02040503050406030204" pitchFamily="18" charset="0"/>
                            </a:rPr>
                          </m:ctrlPr>
                        </m:fPr>
                        <m:num>
                          <m:r>
                            <a:rPr lang="en-US" sz="1500" i="1">
                              <a:solidFill>
                                <a:srgbClr val="2C3C43"/>
                              </a:solidFill>
                              <a:latin typeface="Cambria Math" panose="02040503050406030204" pitchFamily="18" charset="0"/>
                              <a:cs typeface="Cambria Math" panose="02040503050406030204" pitchFamily="18" charset="0"/>
                            </a:rPr>
                            <m:t>1000</m:t>
                          </m:r>
                        </m:num>
                        <m:den>
                          <m:r>
                            <a:rPr lang="en-US" sz="1500" i="1">
                              <a:solidFill>
                                <a:srgbClr val="2C3C43"/>
                              </a:solidFill>
                              <a:latin typeface="Cambria Math" panose="02040503050406030204" pitchFamily="18" charset="0"/>
                              <a:cs typeface="Cambria Math" panose="02040503050406030204" pitchFamily="18" charset="0"/>
                            </a:rPr>
                            <m:t>1000</m:t>
                          </m:r>
                        </m:den>
                      </m:f>
                      <m:r>
                        <a:rPr lang="en-US" sz="1500" i="1">
                          <a:solidFill>
                            <a:srgbClr val="2C3C43"/>
                          </a:solidFill>
                          <a:latin typeface="Cambria Math" panose="02040503050406030204" pitchFamily="18" charset="0"/>
                          <a:cs typeface="Cambria Math" panose="02040503050406030204" pitchFamily="18" charset="0"/>
                        </a:rPr>
                        <m:t>=</m:t>
                      </m:r>
                      <m:r>
                        <a:rPr lang="en-US" sz="1500" i="1">
                          <a:solidFill>
                            <a:srgbClr val="2C3C43"/>
                          </a:solidFill>
                          <a:latin typeface="Cambria Math" panose="02040503050406030204" pitchFamily="18" charset="0"/>
                          <a:cs typeface="Cambria Math" panose="02040503050406030204" pitchFamily="18" charset="0"/>
                        </a:rPr>
                        <m:t>1</m:t>
                      </m:r>
                    </m:oMath>
                  </m:oMathPara>
                </a14:m>
                <a:endParaRPr lang="en-US" sz="1500"/>
              </a:p>
            </p:txBody>
          </p:sp>
        </mc:Choice>
        <mc:Fallback>
          <p:pic>
            <p:nvPicPr>
              <p:cNvPr id="10" name="Equation image 9" descr="Equation"/>
              <p:cNvPicPr>
                <a:picLocks noChangeAspect="1"/>
              </p:cNvPicPr>
              <p:nvPr/>
            </p:nvPicPr>
            <p:blipFill>
              <a:blip r:embed="rId3"/>
              <a:stretch>
                <a:fillRect/>
              </a:stretch>
            </p:blipFill>
            <p:spPr>
              <a:xfrm>
                <a:off x="777240" y="5149215"/>
                <a:ext cx="1033272" cy="400050"/>
              </a:xfrm>
              <a:prstGeom prst="rect">
                <a:avLst/>
              </a:prstGeom>
            </p:spPr>
          </p:pic>
        </mc:Fallback>
      </mc:AlternateContent>
      <p:sp>
        <p:nvSpPr>
          <p:cNvPr id="11" name="r note"/>
          <p:cNvSpPr txBox="1"/>
          <p:nvPr/>
        </p:nvSpPr>
        <p:spPr>
          <a:xfrm>
            <a:off x="2926080" y="5138928"/>
            <a:ext cx="2240280" cy="457200"/>
          </a:xfrm>
          <a:prstGeom prst="rect">
            <a:avLst/>
          </a:prstGeom>
          <a:noFill/>
        </p:spPr>
        <p:txBody>
          <a:bodyPr wrap="square" anchor="ctr" lIns="45720" rIns="45720" tIns="27432" bIns="27432">
            <a:noAutofit/>
          </a:bodyPr>
          <a:lstStyle/>
          <a:p>
            <a:pPr algn="l">
              <a:spcAft>
                <a:spcPts val="0"/>
              </a:spcAft>
            </a:pPr>
            <a:r>
              <a:rPr sz="1100" b="0" i="1">
                <a:solidFill>
                  <a:schemeClr val="accent2">
                    <a:lumMod val="75000"/>
                  </a:schemeClr>
                </a:solidFill>
              </a:rPr>
              <a:t>perfect positive correlation</a:t>
            </a:r>
          </a:p>
        </p:txBody>
      </p:sp>
      <mc:AlternateContent xmlns:mc="http://schemas.openxmlformats.org/markup-compatibility/2006">
        <mc:Choice xmlns:a14="http://schemas.microsoft.com/office/drawing/2010/main" Requires="a14">
          <p:sp>
            <p:nvSpPr>
              <p:cNvPr id="12" name="Equation 12"/>
              <p:cNvSpPr txBox="1"/>
              <p:nvPr/>
            </p:nvSpPr>
            <p:spPr>
              <a:xfrm>
                <a:off x="777240" y="5623560"/>
                <a:ext cx="4389120" cy="320040"/>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acc>
                        <m:accPr>
                          <m:chr m:val="̅"/>
                          <m:ctrlPr>
                            <a:rPr lang="en-US" sz="1400" i="1">
                              <a:solidFill>
                                <a:srgbClr val="2C3C43"/>
                              </a:solidFill>
                              <a:latin typeface="Cambria Math" panose="02040503050406030204" pitchFamily="18" charset="0"/>
                              <a:cs typeface="Cambria Math" panose="02040503050406030204" pitchFamily="18" charset="0"/>
                            </a:rPr>
                          </m:ctrlPr>
                        </m:accPr>
                        <m:e>
                          <m:r>
                            <a:rPr lang="en-US" sz="1400" i="1">
                              <a:solidFill>
                                <a:srgbClr val="2C3C43"/>
                              </a:solidFill>
                              <a:latin typeface="Cambria Math" panose="02040503050406030204" pitchFamily="18" charset="0"/>
                              <a:cs typeface="Cambria Math" panose="02040503050406030204" pitchFamily="18" charset="0"/>
                            </a:rPr>
                            <m:t>x</m:t>
                          </m:r>
                        </m:e>
                      </m:acc>
                      <m:r>
                        <a:rPr lang="en-US" sz="1400" i="1">
                          <a:solidFill>
                            <a:srgbClr val="2C3C43"/>
                          </a:solidFill>
                          <a:latin typeface="Cambria Math" panose="02040503050406030204" pitchFamily="18" charset="0"/>
                          <a:cs typeface="Cambria Math" panose="02040503050406030204" pitchFamily="18" charset="0"/>
                        </a:rPr>
                        <m:t>=</m:t>
                      </m:r>
                      <m:r>
                        <a:rPr lang="en-US" sz="1400" i="1">
                          <a:solidFill>
                            <a:srgbClr val="2C3C43"/>
                          </a:solidFill>
                          <a:latin typeface="Cambria Math" panose="02040503050406030204" pitchFamily="18" charset="0"/>
                          <a:cs typeface="Cambria Math" panose="02040503050406030204" pitchFamily="18" charset="0"/>
                        </a:rPr>
                        <m:t>6</m:t>
                      </m:r>
                      <m:r>
                        <a:rPr lang="en-US" sz="1400" i="1">
                          <a:solidFill>
                            <a:srgbClr val="2C3C43"/>
                          </a:solidFill>
                          <a:latin typeface="Cambria Math" panose="02040503050406030204" pitchFamily="18" charset="0"/>
                          <a:cs typeface="Cambria Math" panose="02040503050406030204" pitchFamily="18" charset="0"/>
                        </a:rPr>
                        <m:t>,  </m:t>
                      </m:r>
                      <m:acc>
                        <m:accPr>
                          <m:chr m:val="̅"/>
                          <m:ctrlPr>
                            <a:rPr lang="en-US" sz="1400" i="1">
                              <a:solidFill>
                                <a:srgbClr val="2C3C43"/>
                              </a:solidFill>
                              <a:latin typeface="Cambria Math" panose="02040503050406030204" pitchFamily="18" charset="0"/>
                              <a:cs typeface="Cambria Math" panose="02040503050406030204" pitchFamily="18" charset="0"/>
                            </a:rPr>
                          </m:ctrlPr>
                        </m:accPr>
                        <m:e>
                          <m:r>
                            <a:rPr lang="en-US" sz="1400" i="1">
                              <a:solidFill>
                                <a:srgbClr val="2C3C43"/>
                              </a:solidFill>
                              <a:latin typeface="Cambria Math" panose="02040503050406030204" pitchFamily="18" charset="0"/>
                              <a:cs typeface="Cambria Math" panose="02040503050406030204" pitchFamily="18" charset="0"/>
                            </a:rPr>
                            <m:t>y</m:t>
                          </m:r>
                        </m:e>
                      </m:acc>
                      <m:r>
                        <a:rPr lang="en-US" sz="1400" i="1">
                          <a:solidFill>
                            <a:srgbClr val="2C3C43"/>
                          </a:solidFill>
                          <a:latin typeface="Cambria Math" panose="02040503050406030204" pitchFamily="18" charset="0"/>
                          <a:cs typeface="Cambria Math" panose="02040503050406030204" pitchFamily="18" charset="0"/>
                        </a:rPr>
                        <m:t>=</m:t>
                      </m:r>
                      <m:r>
                        <a:rPr lang="en-US" sz="1400" i="1">
                          <a:solidFill>
                            <a:srgbClr val="2C3C43"/>
                          </a:solidFill>
                          <a:latin typeface="Cambria Math" panose="02040503050406030204" pitchFamily="18" charset="0"/>
                          <a:cs typeface="Cambria Math" panose="02040503050406030204" pitchFamily="18" charset="0"/>
                        </a:rPr>
                        <m:t>60</m:t>
                      </m:r>
                      <m:r>
                        <a:rPr lang="en-US" sz="1400" i="1">
                          <a:solidFill>
                            <a:srgbClr val="2C3C43"/>
                          </a:solidFill>
                          <a:latin typeface="Cambria Math" panose="02040503050406030204" pitchFamily="18" charset="0"/>
                          <a:cs typeface="Cambria Math" panose="02040503050406030204" pitchFamily="18" charset="0"/>
                        </a:rPr>
                        <m:t>,  </m:t>
                      </m:r>
                      <m:sSub>
                        <m:sSubPr>
                          <m:ctrlPr>
                            <a:rPr lang="en-US" sz="1400" i="1">
                              <a:solidFill>
                                <a:srgbClr val="2C3C43"/>
                              </a:solidFill>
                              <a:latin typeface="Cambria Math" panose="02040503050406030204" pitchFamily="18" charset="0"/>
                              <a:cs typeface="Cambria Math" panose="02040503050406030204" pitchFamily="18" charset="0"/>
                            </a:rPr>
                          </m:ctrlPr>
                        </m:sSubPr>
                        <m:e>
                          <m:r>
                            <a:rPr lang="en-US" sz="1400" i="1">
                              <a:solidFill>
                                <a:srgbClr val="2C3C43"/>
                              </a:solidFill>
                              <a:latin typeface="Cambria Math" panose="02040503050406030204" pitchFamily="18" charset="0"/>
                              <a:cs typeface="Cambria Math" panose="02040503050406030204" pitchFamily="18" charset="0"/>
                            </a:rPr>
                            <m:t>b</m:t>
                          </m:r>
                        </m:e>
                        <m:sub>
                          <m:r>
                            <a:rPr lang="en-US" sz="1400" i="1">
                              <a:solidFill>
                                <a:srgbClr val="2C3C43"/>
                              </a:solidFill>
                              <a:latin typeface="Cambria Math" panose="02040503050406030204" pitchFamily="18" charset="0"/>
                              <a:cs typeface="Cambria Math" panose="02040503050406030204" pitchFamily="18" charset="0"/>
                            </a:rPr>
                            <m:t>yx</m:t>
                          </m:r>
                        </m:sub>
                      </m:sSub>
                      <m:r>
                        <a:rPr lang="en-US" sz="1400" i="1">
                          <a:solidFill>
                            <a:srgbClr val="2C3C43"/>
                          </a:solidFill>
                          <a:latin typeface="Cambria Math" panose="02040503050406030204" pitchFamily="18" charset="0"/>
                          <a:cs typeface="Cambria Math" panose="02040503050406030204" pitchFamily="18" charset="0"/>
                        </a:rPr>
                        <m:t>=</m:t>
                      </m:r>
                      <m:r>
                        <a:rPr lang="en-US" sz="1400" i="1">
                          <a:solidFill>
                            <a:srgbClr val="2C3C43"/>
                          </a:solidFill>
                          <a:latin typeface="Cambria Math" panose="02040503050406030204" pitchFamily="18" charset="0"/>
                          <a:cs typeface="Cambria Math" panose="02040503050406030204" pitchFamily="18" charset="0"/>
                        </a:rPr>
                        <m:t>5</m:t>
                      </m:r>
                    </m:oMath>
                  </m:oMathPara>
                </a14:m>
                <a:endParaRPr lang="en-US" sz="1400"/>
              </a:p>
            </p:txBody>
          </p:sp>
        </mc:Choice>
        <mc:Fallback>
          <p:pic>
            <p:nvPicPr>
              <p:cNvPr id="13" name="Equation image 12" descr="Equation"/>
              <p:cNvPicPr>
                <a:picLocks noChangeAspect="1"/>
              </p:cNvPicPr>
              <p:nvPr/>
            </p:nvPicPr>
            <p:blipFill>
              <a:blip r:embed="rId4"/>
              <a:stretch>
                <a:fillRect/>
              </a:stretch>
            </p:blipFill>
            <p:spPr>
              <a:xfrm>
                <a:off x="777240" y="5645277"/>
                <a:ext cx="1586484" cy="276606"/>
              </a:xfrm>
              <a:prstGeom prst="rect">
                <a:avLst/>
              </a:prstGeom>
            </p:spPr>
          </p:pic>
        </mc:Fallback>
      </mc:AlternateContent>
      <mc:AlternateContent xmlns:mc="http://schemas.openxmlformats.org/markup-compatibility/2006">
        <mc:Choice xmlns:a14="http://schemas.microsoft.com/office/drawing/2010/main" Requires="a14">
          <p:sp>
            <p:nvSpPr>
              <p:cNvPr id="14" name="Equation 14"/>
              <p:cNvSpPr txBox="1"/>
              <p:nvPr/>
            </p:nvSpPr>
            <p:spPr>
              <a:xfrm>
                <a:off x="777240" y="5943600"/>
                <a:ext cx="2194560" cy="347472"/>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r>
                        <a:rPr lang="en-US" sz="1600" i="1">
                          <a:solidFill>
                            <a:srgbClr val="2C3C43"/>
                          </a:solidFill>
                          <a:latin typeface="Cambria Math" panose="02040503050406030204" pitchFamily="18" charset="0"/>
                          <a:cs typeface="Cambria Math" panose="02040503050406030204" pitchFamily="18" charset="0"/>
                        </a:rPr>
                        <m:t>y</m:t>
                      </m:r>
                      <m:r>
                        <a:rPr lang="en-US" sz="1600" i="1">
                          <a:solidFill>
                            <a:srgbClr val="2C3C43"/>
                          </a:solidFill>
                          <a:latin typeface="Cambria Math" panose="02040503050406030204" pitchFamily="18" charset="0"/>
                          <a:cs typeface="Cambria Math" panose="02040503050406030204" pitchFamily="18" charset="0"/>
                        </a:rPr>
                        <m:t>=</m:t>
                      </m:r>
                      <m:r>
                        <a:rPr lang="en-US" sz="1600" i="1">
                          <a:solidFill>
                            <a:srgbClr val="2C3C43"/>
                          </a:solidFill>
                          <a:latin typeface="Cambria Math" panose="02040503050406030204" pitchFamily="18" charset="0"/>
                          <a:cs typeface="Cambria Math" panose="02040503050406030204" pitchFamily="18" charset="0"/>
                        </a:rPr>
                        <m:t>5</m:t>
                      </m:r>
                      <m:r>
                        <a:rPr lang="en-US" sz="1600" i="1">
                          <a:solidFill>
                            <a:srgbClr val="2C3C43"/>
                          </a:solidFill>
                          <a:latin typeface="Cambria Math" panose="02040503050406030204" pitchFamily="18" charset="0"/>
                          <a:cs typeface="Cambria Math" panose="02040503050406030204" pitchFamily="18" charset="0"/>
                        </a:rPr>
                        <m:t>x</m:t>
                      </m:r>
                      <m:r>
                        <a:rPr lang="en-US" sz="1600" i="1">
                          <a:solidFill>
                            <a:srgbClr val="2C3C43"/>
                          </a:solidFill>
                          <a:latin typeface="Cambria Math" panose="02040503050406030204" pitchFamily="18" charset="0"/>
                          <a:cs typeface="Cambria Math" panose="02040503050406030204" pitchFamily="18" charset="0"/>
                        </a:rPr>
                        <m:t>+</m:t>
                      </m:r>
                      <m:r>
                        <a:rPr lang="en-US" sz="1600" i="1">
                          <a:solidFill>
                            <a:srgbClr val="2C3C43"/>
                          </a:solidFill>
                          <a:latin typeface="Cambria Math" panose="02040503050406030204" pitchFamily="18" charset="0"/>
                          <a:cs typeface="Cambria Math" panose="02040503050406030204" pitchFamily="18" charset="0"/>
                        </a:rPr>
                        <m:t>30</m:t>
                      </m:r>
                    </m:oMath>
                  </m:oMathPara>
                </a14:m>
                <a:endParaRPr lang="en-US" sz="1600"/>
              </a:p>
            </p:txBody>
          </p:sp>
        </mc:Choice>
        <mc:Fallback>
          <p:pic>
            <p:nvPicPr>
              <p:cNvPr id="15" name="Equation image 14" descr="Equation"/>
              <p:cNvPicPr>
                <a:picLocks noChangeAspect="1"/>
              </p:cNvPicPr>
              <p:nvPr/>
            </p:nvPicPr>
            <p:blipFill>
              <a:blip r:embed="rId5"/>
              <a:stretch>
                <a:fillRect/>
              </a:stretch>
            </p:blipFill>
            <p:spPr>
              <a:xfrm>
                <a:off x="777240" y="5972175"/>
                <a:ext cx="1044702" cy="290322"/>
              </a:xfrm>
              <a:prstGeom prst="rect">
                <a:avLst/>
              </a:prstGeom>
            </p:spPr>
          </p:pic>
        </mc:Fallback>
      </mc:AlternateContent>
      <p:sp>
        <p:nvSpPr>
          <p:cNvPr id="16" name="Chart panel"/>
          <p:cNvSpPr/>
          <p:nvPr/>
        </p:nvSpPr>
        <p:spPr>
          <a:xfrm>
            <a:off x="5394960" y="1325880"/>
            <a:ext cx="3383280" cy="361188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7" name="Fitted line with prediction"/>
          <p:cNvGraphicFramePr>
            <a:graphicFrameLocks noGrp="1"/>
          </p:cNvGraphicFramePr>
          <p:nvPr/>
        </p:nvGraphicFramePr>
        <p:xfrm>
          <a:off x="5440680" y="1371600"/>
          <a:ext cx="3291840" cy="3520440"/>
        </p:xfrm>
        <a:graphic>
          <a:graphicData uri="http://schemas.openxmlformats.org/drawingml/2006/chart">
            <c:chart xmlns:c="http://schemas.openxmlformats.org/drawingml/2006/chart" r:id="rId6"/>
          </a:graphicData>
        </a:graphic>
      </p:graphicFrame>
      <p:sp>
        <p:nvSpPr>
          <p:cNvPr id="18" name="Prediction callout"/>
          <p:cNvSpPr/>
          <p:nvPr/>
        </p:nvSpPr>
        <p:spPr>
          <a:xfrm>
            <a:off x="5394960" y="5074920"/>
            <a:ext cx="3383280" cy="1234440"/>
          </a:xfrm>
          <a:prstGeom prst="roundRect">
            <a:avLst>
              <a:gd name="adj" fmla="val 6000"/>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allout label"/>
          <p:cNvSpPr txBox="1"/>
          <p:nvPr/>
        </p:nvSpPr>
        <p:spPr>
          <a:xfrm>
            <a:off x="5532120" y="5120640"/>
            <a:ext cx="3108960" cy="320040"/>
          </a:xfrm>
          <a:prstGeom prst="rect">
            <a:avLst/>
          </a:prstGeom>
          <a:noFill/>
        </p:spPr>
        <p:txBody>
          <a:bodyPr wrap="square" anchor="t" lIns="45720" rIns="45720" tIns="27432" bIns="27432">
            <a:noAutofit/>
          </a:bodyPr>
          <a:lstStyle/>
          <a:p>
            <a:pPr algn="l">
              <a:spcAft>
                <a:spcPts val="0"/>
              </a:spcAft>
            </a:pPr>
            <a:r>
              <a:rPr sz="1200" b="1" i="0">
                <a:solidFill>
                  <a:schemeClr val="bg1"/>
                </a:solidFill>
              </a:rPr>
              <a:t>Predict for x = 7 hours</a:t>
            </a:r>
          </a:p>
        </p:txBody>
      </p:sp>
      <mc:AlternateContent xmlns:mc="http://schemas.openxmlformats.org/markup-compatibility/2006">
        <mc:Choice xmlns:a14="http://schemas.microsoft.com/office/drawing/2010/main" Requires="a14">
          <p:sp>
            <p:nvSpPr>
              <p:cNvPr id="20" name="Equation 20"/>
              <p:cNvSpPr txBox="1"/>
              <p:nvPr/>
            </p:nvSpPr>
            <p:spPr>
              <a:xfrm>
                <a:off x="5486400" y="5440680"/>
                <a:ext cx="3200400" cy="594360"/>
              </a:xfrm>
              <a:prstGeom prst="rect">
                <a:avLst/>
              </a:prstGeom>
              <a:noFill/>
            </p:spPr>
            <p:txBody>
              <a:bodyPr wrap="square" lIns="45720" tIns="0" rIns="45720" bIns="0" rtlCol="0" anchor="ctr">
                <a:noAutofit/>
              </a:bodyPr>
              <a:lstStyle/>
              <a:p>
                <a:pPr algn="l"/>
                <a14:m>
                  <m:oMathPara xmlns:m="http://schemas.openxmlformats.org/officeDocument/2006/math">
                    <m:oMathParaPr>
                      <m:jc m:val="left"/>
                    </m:oMathParaPr>
                    <m:oMath>
                      <m:r>
                        <a:rPr lang="en-US" sz="1800" i="1">
                          <a:solidFill>
                            <a:srgbClr val="FFFFFF"/>
                          </a:solidFill>
                          <a:latin typeface="Cambria Math" panose="02040503050406030204" pitchFamily="18" charset="0"/>
                          <a:cs typeface="Cambria Math" panose="02040503050406030204" pitchFamily="18" charset="0"/>
                        </a:rPr>
                        <m:t>y</m:t>
                      </m:r>
                      <m:r>
                        <a:rPr lang="en-US" sz="1800" i="1">
                          <a:solidFill>
                            <a:srgbClr val="FFFFFF"/>
                          </a:solidFill>
                          <a:latin typeface="Cambria Math" panose="02040503050406030204" pitchFamily="18" charset="0"/>
                          <a:cs typeface="Cambria Math" panose="02040503050406030204" pitchFamily="18" charset="0"/>
                        </a:rPr>
                        <m:t>=</m:t>
                      </m:r>
                      <m:r>
                        <a:rPr lang="en-US" sz="1800" i="1">
                          <a:solidFill>
                            <a:srgbClr val="FFFFFF"/>
                          </a:solidFill>
                          <a:latin typeface="Cambria Math" panose="02040503050406030204" pitchFamily="18" charset="0"/>
                          <a:cs typeface="Cambria Math" panose="02040503050406030204" pitchFamily="18" charset="0"/>
                        </a:rPr>
                        <m:t>5·7+30</m:t>
                      </m:r>
                      <m:r>
                        <a:rPr lang="en-US" sz="1800" i="1">
                          <a:solidFill>
                            <a:srgbClr val="FFFFFF"/>
                          </a:solidFill>
                          <a:latin typeface="Cambria Math" panose="02040503050406030204" pitchFamily="18" charset="0"/>
                          <a:cs typeface="Cambria Math" panose="02040503050406030204" pitchFamily="18" charset="0"/>
                        </a:rPr>
                        <m:t>=</m:t>
                      </m:r>
                      <m:r>
                        <a:rPr lang="en-US" sz="1800" i="1">
                          <a:solidFill>
                            <a:srgbClr val="FFFFFF"/>
                          </a:solidFill>
                          <a:latin typeface="Cambria Math" panose="02040503050406030204" pitchFamily="18" charset="0"/>
                          <a:cs typeface="Cambria Math" panose="02040503050406030204" pitchFamily="18" charset="0"/>
                        </a:rPr>
                        <m:t>65</m:t>
                      </m:r>
                      <m:r>
                        <m:rPr>
                          <m:sty m:val="p"/>
                        </m:rPr>
                        <a:rPr lang="en-US" sz="1800" i="0">
                          <a:solidFill>
                            <a:srgbClr val="FFFFFF"/>
                          </a:solidFill>
                          <a:latin typeface="Cambria Math" panose="02040503050406030204" pitchFamily="18" charset="0"/>
                          <a:cs typeface="Cambria Math" panose="02040503050406030204" pitchFamily="18" charset="0"/>
                        </a:rPr>
                        <m:t> marks</m:t>
                      </m:r>
                    </m:oMath>
                  </m:oMathPara>
                </a14:m>
                <a:endParaRPr lang="en-US" sz="1800"/>
              </a:p>
            </p:txBody>
          </p:sp>
        </mc:Choice>
        <mc:Fallback>
          <p:pic>
            <p:nvPicPr>
              <p:cNvPr id="21" name="Equation image 20" descr="Equation"/>
              <p:cNvPicPr>
                <a:picLocks noChangeAspect="1"/>
              </p:cNvPicPr>
              <p:nvPr/>
            </p:nvPicPr>
            <p:blipFill>
              <a:blip r:embed="rId7"/>
              <a:stretch>
                <a:fillRect/>
              </a:stretch>
            </p:blipFill>
            <p:spPr>
              <a:xfrm>
                <a:off x="5486400" y="5578983"/>
                <a:ext cx="2491740" cy="317754"/>
              </a:xfrm>
              <a:prstGeom prst="rect">
                <a:avLst/>
              </a:prstGeom>
            </p:spPr>
          </p:pic>
        </mc:Fallback>
      </mc:AlternateContent>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Meaning, Limitations &amp; Applications</a:t>
            </a:r>
          </a:p>
        </p:txBody>
      </p:sp>
      <p:sp>
        <p:nvSpPr>
          <p:cNvPr id="3" name="Bullets"/>
          <p:cNvSpPr txBox="1"/>
          <p:nvPr/>
        </p:nvSpPr>
        <p:spPr>
          <a:xfrm>
            <a:off x="731520" y="1417320"/>
            <a:ext cx="4206240" cy="4846320"/>
          </a:xfrm>
          <a:prstGeom prst="rect">
            <a:avLst/>
          </a:prstGeom>
          <a:noFill/>
        </p:spPr>
        <p:txBody>
          <a:bodyPr wrap="square" anchor="t" lIns="45720" rIns="45720" tIns="27432" bIns="27432">
            <a:noAutofit/>
          </a:bodyPr>
          <a:lstStyle/>
          <a:p>
            <a:pPr algn="l" marL="219456" indent="-219456">
              <a:spcAft>
                <a:spcPts val="800"/>
              </a:spcAft>
              <a:buClr>
                <a:schemeClr val="accent2">
                  <a:lumMod val="75000"/>
                </a:schemeClr>
              </a:buClr>
              <a:buFont typeface="Arial"/>
              <a:buChar char="•"/>
            </a:pPr>
            <a:r>
              <a:rPr sz="1400" b="1" i="0">
                <a:solidFill>
                  <a:schemeClr val="tx2"/>
                </a:solidFill>
              </a:rPr>
              <a:t>Coefficient of determination</a:t>
            </a:r>
            <a:r>
              <a:rPr sz="1400" b="0" i="0">
                <a:solidFill>
                  <a:schemeClr val="tx2"/>
                </a:solidFill>
              </a:rPr>
              <a:t> </a:t>
            </a:r>
            <a:r>
              <a:rPr sz="1400" b="0" i="1">
                <a:solidFill>
                  <a:schemeClr val="tx2"/>
                </a:solidFill>
                <a:latin typeface="Cambria Math"/>
              </a:rPr>
              <a:t>r²</a:t>
            </a:r>
            <a:r>
              <a:rPr sz="1400" b="0" i="0">
                <a:solidFill>
                  <a:schemeClr val="tx2"/>
                </a:solidFill>
              </a:rPr>
              <a:t> = fraction of variation in </a:t>
            </a:r>
            <a:r>
              <a:rPr sz="1400" b="0" i="1">
                <a:solidFill>
                  <a:schemeClr val="tx2"/>
                </a:solidFill>
                <a:latin typeface="Cambria Math"/>
              </a:rPr>
              <a:t>y</a:t>
            </a:r>
            <a:r>
              <a:rPr sz="1400" b="0" i="0">
                <a:solidFill>
                  <a:schemeClr val="tx2"/>
                </a:solidFill>
              </a:rPr>
              <a:t> explained by </a:t>
            </a:r>
            <a:r>
              <a:rPr sz="1400" b="0" i="1">
                <a:solidFill>
                  <a:schemeClr val="tx2"/>
                </a:solidFill>
                <a:latin typeface="Cambria Math"/>
              </a:rPr>
              <a:t>x</a:t>
            </a:r>
            <a:r>
              <a:rPr sz="1400" b="0" i="0">
                <a:solidFill>
                  <a:schemeClr val="tx2"/>
                </a:solidFill>
              </a:rPr>
              <a:t>.</a:t>
            </a:r>
          </a:p>
          <a:p>
            <a:pPr algn="l" marL="219456" indent="-219456">
              <a:spcAft>
                <a:spcPts val="800"/>
              </a:spcAft>
              <a:buClr>
                <a:schemeClr val="accent2">
                  <a:lumMod val="75000"/>
                </a:schemeClr>
              </a:buClr>
              <a:buFont typeface="Arial"/>
              <a:buChar char="•"/>
            </a:pPr>
            <a:r>
              <a:rPr sz="1400" b="0" i="0">
                <a:solidFill>
                  <a:schemeClr val="tx2"/>
                </a:solidFill>
              </a:rPr>
              <a:t>Example: </a:t>
            </a:r>
            <a:r>
              <a:rPr sz="1400" b="0" i="1">
                <a:solidFill>
                  <a:schemeClr val="tx2"/>
                </a:solidFill>
                <a:latin typeface="Cambria Math"/>
              </a:rPr>
              <a:t>r</a:t>
            </a:r>
            <a:r>
              <a:rPr sz="1400" b="0" i="0">
                <a:solidFill>
                  <a:schemeClr val="tx2"/>
                </a:solidFill>
              </a:rPr>
              <a:t> = 0.8 → </a:t>
            </a:r>
            <a:r>
              <a:rPr sz="1400" b="0" i="1">
                <a:solidFill>
                  <a:schemeClr val="tx2"/>
                </a:solidFill>
                <a:latin typeface="Cambria Math"/>
              </a:rPr>
              <a:t>r²</a:t>
            </a:r>
            <a:r>
              <a:rPr sz="1400" b="0" i="0">
                <a:solidFill>
                  <a:schemeClr val="tx2"/>
                </a:solidFill>
              </a:rPr>
              <a:t> = 0.64, i.e. 64% of variation explained.</a:t>
            </a:r>
          </a:p>
          <a:p>
            <a:pPr algn="l" marL="219456" indent="-219456">
              <a:spcAft>
                <a:spcPts val="800"/>
              </a:spcAft>
              <a:buClr>
                <a:schemeClr val="accent2">
                  <a:lumMod val="75000"/>
                </a:schemeClr>
              </a:buClr>
              <a:buFont typeface="Arial"/>
              <a:buChar char="•"/>
            </a:pPr>
            <a:r>
              <a:rPr sz="1400" b="1" i="0">
                <a:solidFill>
                  <a:schemeClr val="tx2"/>
                </a:solidFill>
              </a:rPr>
              <a:t>Limitations:</a:t>
            </a:r>
            <a:r>
              <a:rPr sz="1400" b="0" i="0">
                <a:solidFill>
                  <a:schemeClr val="tx2"/>
                </a:solidFill>
              </a:rPr>
              <a:t> assumes linearity; sensitive to outliers; correlation ≠ causation.</a:t>
            </a:r>
          </a:p>
          <a:p>
            <a:pPr algn="l" marL="219456" indent="-219456">
              <a:spcAft>
                <a:spcPts val="800"/>
              </a:spcAft>
              <a:buClr>
                <a:schemeClr val="accent2">
                  <a:lumMod val="75000"/>
                </a:schemeClr>
              </a:buClr>
              <a:buFont typeface="Arial"/>
              <a:buChar char="•"/>
            </a:pPr>
            <a:r>
              <a:rPr sz="1400" b="0" i="0">
                <a:solidFill>
                  <a:schemeClr val="tx2"/>
                </a:solidFill>
              </a:rPr>
              <a:t>Extrapolating beyond the observed </a:t>
            </a:r>
            <a:r>
              <a:rPr sz="1400" b="0" i="1">
                <a:solidFill>
                  <a:schemeClr val="tx2"/>
                </a:solidFill>
                <a:latin typeface="Cambria Math"/>
              </a:rPr>
              <a:t>x</a:t>
            </a:r>
            <a:r>
              <a:rPr sz="1400" b="0" i="0">
                <a:solidFill>
                  <a:schemeClr val="tx2"/>
                </a:solidFill>
              </a:rPr>
              <a:t>-range is risky.</a:t>
            </a:r>
          </a:p>
          <a:p>
            <a:pPr algn="l" marL="219456" indent="-219456">
              <a:spcAft>
                <a:spcPts val="800"/>
              </a:spcAft>
              <a:buClr>
                <a:schemeClr val="accent2">
                  <a:lumMod val="75000"/>
                </a:schemeClr>
              </a:buClr>
              <a:buFont typeface="Arial"/>
              <a:buChar char="•"/>
            </a:pPr>
            <a:r>
              <a:rPr sz="1400" b="1" i="0">
                <a:solidFill>
                  <a:schemeClr val="tx2"/>
                </a:solidFill>
              </a:rPr>
              <a:t>Applications:</a:t>
            </a:r>
            <a:r>
              <a:rPr sz="1400" b="0" i="0">
                <a:solidFill>
                  <a:schemeClr val="tx2"/>
                </a:solidFill>
              </a:rPr>
              <a:t> forecasting, economics, quality control, machine learning (linear &amp; logistic regression).</a:t>
            </a:r>
          </a:p>
          <a:p>
            <a:pPr algn="l" marL="219456" indent="-219456">
              <a:spcAft>
                <a:spcPts val="800"/>
              </a:spcAft>
              <a:buClr>
                <a:schemeClr val="accent2">
                  <a:lumMod val="75000"/>
                </a:schemeClr>
              </a:buClr>
              <a:buFont typeface="Arial"/>
              <a:buChar char="•"/>
            </a:pPr>
            <a:r>
              <a:rPr sz="1400" b="0" i="0">
                <a:solidFill>
                  <a:schemeClr val="tx2"/>
                </a:solidFill>
              </a:rPr>
              <a:t>Always report </a:t>
            </a:r>
            <a:r>
              <a:rPr sz="1400" b="0" i="1">
                <a:solidFill>
                  <a:schemeClr val="tx2"/>
                </a:solidFill>
                <a:latin typeface="Cambria Math"/>
              </a:rPr>
              <a:t>r</a:t>
            </a:r>
            <a:r>
              <a:rPr sz="1400" b="0" i="0">
                <a:solidFill>
                  <a:schemeClr val="tx2"/>
                </a:solidFill>
              </a:rPr>
              <a:t> or </a:t>
            </a:r>
            <a:r>
              <a:rPr sz="1400" b="0" i="1">
                <a:solidFill>
                  <a:schemeClr val="tx2"/>
                </a:solidFill>
                <a:latin typeface="Cambria Math"/>
              </a:rPr>
              <a:t>r²</a:t>
            </a:r>
            <a:r>
              <a:rPr sz="1400" b="0" i="0">
                <a:solidFill>
                  <a:schemeClr val="tx2"/>
                </a:solidFill>
              </a:rPr>
              <a:t> with the plot — never the number alone.</a:t>
            </a:r>
          </a:p>
        </p:txBody>
      </p:sp>
      <p:sp>
        <p:nvSpPr>
          <p:cNvPr id="4" name="Venn panel"/>
          <p:cNvSpPr/>
          <p:nvPr/>
        </p:nvSpPr>
        <p:spPr>
          <a:xfrm>
            <a:off x="5120640" y="1371600"/>
            <a:ext cx="3657600" cy="2697480"/>
          </a:xfrm>
          <a:prstGeom prst="roundRect">
            <a:avLst>
              <a:gd name="adj" fmla="val 6000"/>
            </a:avLst>
          </a:prstGeom>
          <a:solidFill>
            <a:schemeClr val="accent1">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Venn variation in y"/>
          <p:cNvSpPr/>
          <p:nvPr/>
        </p:nvSpPr>
        <p:spPr>
          <a:xfrm>
            <a:off x="5257800" y="1554480"/>
            <a:ext cx="2103120" cy="2103120"/>
          </a:xfrm>
          <a:prstGeom prst="ellipse">
            <a:avLst/>
          </a:prstGeom>
          <a:solidFill>
            <a:schemeClr val="accent4">
              <a:alpha val="5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Venn explained by x"/>
          <p:cNvSpPr/>
          <p:nvPr/>
        </p:nvSpPr>
        <p:spPr>
          <a:xfrm>
            <a:off x="6446520" y="1554480"/>
            <a:ext cx="2103120" cy="2103120"/>
          </a:xfrm>
          <a:prstGeom prst="ellipse">
            <a:avLst/>
          </a:prstGeom>
          <a:solidFill>
            <a:schemeClr val="accent2">
              <a:alpha val="5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Venn label y"/>
          <p:cNvSpPr txBox="1"/>
          <p:nvPr/>
        </p:nvSpPr>
        <p:spPr>
          <a:xfrm>
            <a:off x="5349240" y="2331720"/>
            <a:ext cx="1097280" cy="548640"/>
          </a:xfrm>
          <a:prstGeom prst="rect">
            <a:avLst/>
          </a:prstGeom>
          <a:noFill/>
        </p:spPr>
        <p:txBody>
          <a:bodyPr wrap="square" anchor="ctr" lIns="0" rIns="0" tIns="27432" bIns="27432">
            <a:noAutofit/>
          </a:bodyPr>
          <a:lstStyle/>
          <a:p>
            <a:pPr algn="ctr">
              <a:spcAft>
                <a:spcPts val="0"/>
              </a:spcAft>
            </a:pPr>
            <a:r>
              <a:rPr sz="1200" b="1" i="0">
                <a:solidFill>
                  <a:schemeClr val="tx2"/>
                </a:solidFill>
              </a:rPr>
              <a:t>Variation in y</a:t>
            </a:r>
          </a:p>
        </p:txBody>
      </p:sp>
      <p:sp>
        <p:nvSpPr>
          <p:cNvPr id="8" name="Venn label x"/>
          <p:cNvSpPr txBox="1"/>
          <p:nvPr/>
        </p:nvSpPr>
        <p:spPr>
          <a:xfrm>
            <a:off x="7452360" y="2331720"/>
            <a:ext cx="1051560" cy="548640"/>
          </a:xfrm>
          <a:prstGeom prst="rect">
            <a:avLst/>
          </a:prstGeom>
          <a:noFill/>
        </p:spPr>
        <p:txBody>
          <a:bodyPr wrap="square" anchor="ctr" lIns="0" rIns="0" tIns="27432" bIns="27432">
            <a:noAutofit/>
          </a:bodyPr>
          <a:lstStyle/>
          <a:p>
            <a:pPr algn="ctr">
              <a:spcAft>
                <a:spcPts val="0"/>
              </a:spcAft>
            </a:pPr>
            <a:r>
              <a:rPr sz="1200" b="1" i="0">
                <a:solidFill>
                  <a:schemeClr val="tx2"/>
                </a:solidFill>
              </a:rPr>
              <a:t>Explained by x</a:t>
            </a:r>
          </a:p>
        </p:txBody>
      </p:sp>
      <mc:AlternateContent xmlns:mc="http://schemas.openxmlformats.org/markup-compatibility/2006">
        <mc:Choice xmlns:a14="http://schemas.microsoft.com/office/drawing/2010/main" Requires="a14">
          <p:sp>
            <p:nvSpPr>
              <p:cNvPr id="9" name="Equation 9"/>
              <p:cNvSpPr txBox="1"/>
              <p:nvPr/>
            </p:nvSpPr>
            <p:spPr>
              <a:xfrm>
                <a:off x="6629400" y="2331720"/>
                <a:ext cx="548640" cy="548640"/>
              </a:xfrm>
              <a:prstGeom prst="rect">
                <a:avLst/>
              </a:prstGeom>
              <a:noFill/>
            </p:spPr>
            <p:txBody>
              <a:bodyPr wrap="square" lIns="45720" tIns="0" rIns="45720" bIns="0" rtlCol="0" anchor="ctr">
                <a:noAutofit/>
              </a:bodyPr>
              <a:lstStyle/>
              <a:p>
                <a:pPr algn="c"/>
                <a14:m>
                  <m:oMathPara xmlns:m="http://schemas.openxmlformats.org/officeDocument/2006/math">
                    <m:oMathParaPr>
                      <m:jc m:val="centerGroup"/>
                    </m:oMathParaPr>
                    <m:oMath>
                      <m:sSup>
                        <m:sSupPr>
                          <m:ctrlPr>
                            <a:rPr lang="en-US" sz="2000" i="1">
                              <a:solidFill>
                                <a:srgbClr val="2C3C43"/>
                              </a:solidFill>
                              <a:latin typeface="Cambria Math" panose="02040503050406030204" pitchFamily="18" charset="0"/>
                              <a:cs typeface="Cambria Math" panose="02040503050406030204" pitchFamily="18" charset="0"/>
                            </a:rPr>
                          </m:ctrlPr>
                        </m:sSupPr>
                        <m:e>
                          <m:r>
                            <a:rPr lang="en-US" sz="2000" i="1">
                              <a:solidFill>
                                <a:srgbClr val="2C3C43"/>
                              </a:solidFill>
                              <a:latin typeface="Cambria Math" panose="02040503050406030204" pitchFamily="18" charset="0"/>
                              <a:cs typeface="Cambria Math" panose="02040503050406030204" pitchFamily="18" charset="0"/>
                            </a:rPr>
                            <m:t>r</m:t>
                          </m:r>
                        </m:e>
                        <m:sup>
                          <m:r>
                            <a:rPr lang="en-US" sz="2000" i="1">
                              <a:solidFill>
                                <a:srgbClr val="2C3C43"/>
                              </a:solidFill>
                              <a:latin typeface="Cambria Math" panose="02040503050406030204" pitchFamily="18" charset="0"/>
                              <a:cs typeface="Cambria Math" panose="02040503050406030204" pitchFamily="18" charset="0"/>
                            </a:rPr>
                            <m:t>2</m:t>
                          </m:r>
                        </m:sup>
                      </m:sSup>
                    </m:oMath>
                  </m:oMathPara>
                </a14:m>
                <a:endParaRPr lang="en-US" sz="2000"/>
              </a:p>
            </p:txBody>
          </p:sp>
        </mc:Choice>
        <mc:Fallback>
          <p:pic>
            <p:nvPicPr>
              <p:cNvPr id="10" name="Equation image 9" descr="Equation"/>
              <p:cNvPicPr>
                <a:picLocks noChangeAspect="1"/>
              </p:cNvPicPr>
              <p:nvPr/>
            </p:nvPicPr>
            <p:blipFill>
              <a:blip r:embed="rId2"/>
              <a:stretch>
                <a:fillRect/>
              </a:stretch>
            </p:blipFill>
            <p:spPr>
              <a:xfrm>
                <a:off x="6756273" y="2435733"/>
                <a:ext cx="294894" cy="340614"/>
              </a:xfrm>
              <a:prstGeom prst="rect">
                <a:avLst/>
              </a:prstGeom>
            </p:spPr>
          </p:pic>
        </mc:Fallback>
      </mc:AlternateContent>
      <p:sp>
        <p:nvSpPr>
          <p:cNvPr id="11" name="Venn caption"/>
          <p:cNvSpPr txBox="1"/>
          <p:nvPr/>
        </p:nvSpPr>
        <p:spPr>
          <a:xfrm>
            <a:off x="5257800" y="3657600"/>
            <a:ext cx="3291840" cy="320040"/>
          </a:xfrm>
          <a:prstGeom prst="rect">
            <a:avLst/>
          </a:prstGeom>
          <a:noFill/>
        </p:spPr>
        <p:txBody>
          <a:bodyPr wrap="square" anchor="t" lIns="45720" rIns="45720" tIns="27432" bIns="27432">
            <a:noAutofit/>
          </a:bodyPr>
          <a:lstStyle/>
          <a:p>
            <a:pPr algn="ctr">
              <a:spcAft>
                <a:spcPts val="0"/>
              </a:spcAft>
            </a:pPr>
            <a:r>
              <a:rPr sz="1000" b="0" i="1">
                <a:solidFill>
                  <a:schemeClr val="accent2">
                    <a:lumMod val="75000"/>
                  </a:schemeClr>
                </a:solidFill>
              </a:rPr>
              <a:t>Overlap = r² (share of variation explained)</a:t>
            </a:r>
          </a:p>
        </p:txBody>
      </p:sp>
      <p:sp>
        <p:nvSpPr>
          <p:cNvPr id="12" name="Applications heading"/>
          <p:cNvSpPr txBox="1"/>
          <p:nvPr/>
        </p:nvSpPr>
        <p:spPr>
          <a:xfrm>
            <a:off x="5120640" y="4206240"/>
            <a:ext cx="3657600" cy="320040"/>
          </a:xfrm>
          <a:prstGeom prst="rect">
            <a:avLst/>
          </a:prstGeom>
          <a:noFill/>
        </p:spPr>
        <p:txBody>
          <a:bodyPr wrap="square" anchor="t" lIns="45720" rIns="45720" tIns="27432" bIns="27432">
            <a:noAutofit/>
          </a:bodyPr>
          <a:lstStyle/>
          <a:p>
            <a:pPr algn="l">
              <a:spcAft>
                <a:spcPts val="0"/>
              </a:spcAft>
            </a:pPr>
            <a:r>
              <a:rPr sz="1400" b="1" i="0">
                <a:solidFill>
                  <a:schemeClr val="accent2">
                    <a:lumMod val="75000"/>
                  </a:schemeClr>
                </a:solidFill>
              </a:rPr>
              <a:t>Applications</a:t>
            </a:r>
          </a:p>
        </p:txBody>
      </p:sp>
      <p:sp>
        <p:nvSpPr>
          <p:cNvPr id="13" name="Badge"/>
          <p:cNvSpPr/>
          <p:nvPr/>
        </p:nvSpPr>
        <p:spPr>
          <a:xfrm>
            <a:off x="5257800" y="4617720"/>
            <a:ext cx="640080" cy="640080"/>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Icon chart" descr="chart.png"/>
          <p:cNvPicPr>
            <a:picLocks noChangeAspect="1"/>
          </p:cNvPicPr>
          <p:nvPr/>
        </p:nvPicPr>
        <p:blipFill>
          <a:blip r:embed="rId3"/>
          <a:stretch>
            <a:fillRect/>
          </a:stretch>
        </p:blipFill>
        <p:spPr>
          <a:xfrm>
            <a:off x="5411419" y="4771339"/>
            <a:ext cx="332841" cy="332841"/>
          </a:xfrm>
          <a:prstGeom prst="rect">
            <a:avLst/>
          </a:prstGeom>
        </p:spPr>
      </p:pic>
      <p:sp>
        <p:nvSpPr>
          <p:cNvPr id="15" name="App Forecasting"/>
          <p:cNvSpPr txBox="1"/>
          <p:nvPr/>
        </p:nvSpPr>
        <p:spPr>
          <a:xfrm>
            <a:off x="5120640" y="5303520"/>
            <a:ext cx="914400" cy="548640"/>
          </a:xfrm>
          <a:prstGeom prst="rect">
            <a:avLst/>
          </a:prstGeom>
          <a:noFill/>
        </p:spPr>
        <p:txBody>
          <a:bodyPr wrap="square" anchor="t" lIns="0" rIns="0" tIns="27432" bIns="27432">
            <a:noAutofit/>
          </a:bodyPr>
          <a:lstStyle/>
          <a:p>
            <a:pPr algn="ctr">
              <a:spcAft>
                <a:spcPts val="0"/>
              </a:spcAft>
            </a:pPr>
            <a:r>
              <a:rPr sz="1100" b="0" i="0">
                <a:solidFill>
                  <a:schemeClr val="tx2"/>
                </a:solidFill>
              </a:rPr>
              <a:t>Forecasting</a:t>
            </a:r>
          </a:p>
        </p:txBody>
      </p:sp>
      <p:sp>
        <p:nvSpPr>
          <p:cNvPr id="16" name="Badge"/>
          <p:cNvSpPr/>
          <p:nvPr/>
        </p:nvSpPr>
        <p:spPr>
          <a:xfrm>
            <a:off x="6172200" y="4617720"/>
            <a:ext cx="640080" cy="640080"/>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Icon coins" descr="coins.png"/>
          <p:cNvPicPr>
            <a:picLocks noChangeAspect="1"/>
          </p:cNvPicPr>
          <p:nvPr/>
        </p:nvPicPr>
        <p:blipFill>
          <a:blip r:embed="rId4"/>
          <a:stretch>
            <a:fillRect/>
          </a:stretch>
        </p:blipFill>
        <p:spPr>
          <a:xfrm>
            <a:off x="6325819" y="4771339"/>
            <a:ext cx="332841" cy="332841"/>
          </a:xfrm>
          <a:prstGeom prst="rect">
            <a:avLst/>
          </a:prstGeom>
        </p:spPr>
      </p:pic>
      <p:sp>
        <p:nvSpPr>
          <p:cNvPr id="18" name="App Economics"/>
          <p:cNvSpPr txBox="1"/>
          <p:nvPr/>
        </p:nvSpPr>
        <p:spPr>
          <a:xfrm>
            <a:off x="6035040" y="5303520"/>
            <a:ext cx="914400" cy="548640"/>
          </a:xfrm>
          <a:prstGeom prst="rect">
            <a:avLst/>
          </a:prstGeom>
          <a:noFill/>
        </p:spPr>
        <p:txBody>
          <a:bodyPr wrap="square" anchor="t" lIns="0" rIns="0" tIns="27432" bIns="27432">
            <a:noAutofit/>
          </a:bodyPr>
          <a:lstStyle/>
          <a:p>
            <a:pPr algn="ctr">
              <a:spcAft>
                <a:spcPts val="0"/>
              </a:spcAft>
            </a:pPr>
            <a:r>
              <a:rPr sz="1100" b="0" i="0">
                <a:solidFill>
                  <a:schemeClr val="tx2"/>
                </a:solidFill>
              </a:rPr>
              <a:t>Economics</a:t>
            </a:r>
          </a:p>
        </p:txBody>
      </p:sp>
      <p:sp>
        <p:nvSpPr>
          <p:cNvPr id="19" name="Badge"/>
          <p:cNvSpPr/>
          <p:nvPr/>
        </p:nvSpPr>
        <p:spPr>
          <a:xfrm>
            <a:off x="7086600" y="4617720"/>
            <a:ext cx="640080" cy="640080"/>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Icon check" descr="check.png"/>
          <p:cNvPicPr>
            <a:picLocks noChangeAspect="1"/>
          </p:cNvPicPr>
          <p:nvPr/>
        </p:nvPicPr>
        <p:blipFill>
          <a:blip r:embed="rId5"/>
          <a:stretch>
            <a:fillRect/>
          </a:stretch>
        </p:blipFill>
        <p:spPr>
          <a:xfrm>
            <a:off x="7240219" y="4771339"/>
            <a:ext cx="332841" cy="332841"/>
          </a:xfrm>
          <a:prstGeom prst="rect">
            <a:avLst/>
          </a:prstGeom>
        </p:spPr>
      </p:pic>
      <p:sp>
        <p:nvSpPr>
          <p:cNvPr id="21" name="App Quality control"/>
          <p:cNvSpPr txBox="1"/>
          <p:nvPr/>
        </p:nvSpPr>
        <p:spPr>
          <a:xfrm>
            <a:off x="6949440" y="5303520"/>
            <a:ext cx="914400" cy="548640"/>
          </a:xfrm>
          <a:prstGeom prst="rect">
            <a:avLst/>
          </a:prstGeom>
          <a:noFill/>
        </p:spPr>
        <p:txBody>
          <a:bodyPr wrap="square" anchor="t" lIns="0" rIns="0" tIns="27432" bIns="27432">
            <a:noAutofit/>
          </a:bodyPr>
          <a:lstStyle/>
          <a:p>
            <a:pPr algn="ctr">
              <a:spcAft>
                <a:spcPts val="0"/>
              </a:spcAft>
            </a:pPr>
            <a:r>
              <a:rPr sz="1100" b="0" i="0">
                <a:solidFill>
                  <a:schemeClr val="tx2"/>
                </a:solidFill>
              </a:rPr>
              <a:t>Quality control</a:t>
            </a:r>
          </a:p>
        </p:txBody>
      </p:sp>
      <p:sp>
        <p:nvSpPr>
          <p:cNvPr id="22" name="Badge"/>
          <p:cNvSpPr/>
          <p:nvPr/>
        </p:nvSpPr>
        <p:spPr>
          <a:xfrm>
            <a:off x="8001000" y="4617720"/>
            <a:ext cx="640080" cy="640080"/>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Icon brain" descr="brain.png"/>
          <p:cNvPicPr>
            <a:picLocks noChangeAspect="1"/>
          </p:cNvPicPr>
          <p:nvPr/>
        </p:nvPicPr>
        <p:blipFill>
          <a:blip r:embed="rId6"/>
          <a:stretch>
            <a:fillRect/>
          </a:stretch>
        </p:blipFill>
        <p:spPr>
          <a:xfrm>
            <a:off x="8154619" y="4771339"/>
            <a:ext cx="332841" cy="332841"/>
          </a:xfrm>
          <a:prstGeom prst="rect">
            <a:avLst/>
          </a:prstGeom>
        </p:spPr>
      </p:pic>
      <p:sp>
        <p:nvSpPr>
          <p:cNvPr id="24" name="App Machine learning"/>
          <p:cNvSpPr txBox="1"/>
          <p:nvPr/>
        </p:nvSpPr>
        <p:spPr>
          <a:xfrm>
            <a:off x="7863840" y="5303520"/>
            <a:ext cx="914400" cy="548640"/>
          </a:xfrm>
          <a:prstGeom prst="rect">
            <a:avLst/>
          </a:prstGeom>
          <a:noFill/>
        </p:spPr>
        <p:txBody>
          <a:bodyPr wrap="square" anchor="t" lIns="0" rIns="0" tIns="27432" bIns="27432">
            <a:noAutofit/>
          </a:bodyPr>
          <a:lstStyle/>
          <a:p>
            <a:pPr algn="ctr">
              <a:spcAft>
                <a:spcPts val="0"/>
              </a:spcAft>
            </a:pPr>
            <a:r>
              <a:rPr sz="1100" b="0" i="0">
                <a:solidFill>
                  <a:schemeClr val="tx2"/>
                </a:solidFill>
              </a:rPr>
              <a:t>Machine learning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p:nvPr>
            <p:ph type="title"/>
          </p:nvPr>
        </p:nvSpPr>
        <p:spPr>
          <a:xfrm>
            <a:off x="731520" y="320040"/>
            <a:ext cx="8321040" cy="960120"/>
          </a:xfrm>
          <a:prstGeom prst="rect">
            <a:avLst/>
          </a:prstGeom>
          <a:noFill/>
        </p:spPr>
        <p:txBody>
          <a:bodyPr wrap="square" anchor="ctr" lIns="45720" rIns="45720" tIns="27432" bIns="27432">
            <a:noAutofit/>
          </a:bodyPr>
          <a:lstStyle/>
          <a:p>
            <a:pPr algn="l">
              <a:spcAft>
                <a:spcPts val="0"/>
              </a:spcAft>
            </a:pPr>
            <a:r>
              <a:rPr sz="2800" b="1" i="0">
                <a:solidFill>
                  <a:schemeClr val="tx2"/>
                </a:solidFill>
              </a:rPr>
              <a:t>References &amp; Thank You</a:t>
            </a:r>
          </a:p>
        </p:txBody>
      </p:sp>
      <p:sp>
        <p:nvSpPr>
          <p:cNvPr id="3" name="Badge"/>
          <p:cNvSpPr/>
          <p:nvPr/>
        </p:nvSpPr>
        <p:spPr>
          <a:xfrm>
            <a:off x="731520" y="1444752"/>
            <a:ext cx="457200" cy="457200"/>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Icon book" descr="book.png"/>
          <p:cNvPicPr>
            <a:picLocks noChangeAspect="1"/>
          </p:cNvPicPr>
          <p:nvPr/>
        </p:nvPicPr>
        <p:blipFill>
          <a:blip r:embed="rId2"/>
          <a:stretch>
            <a:fillRect/>
          </a:stretch>
        </p:blipFill>
        <p:spPr>
          <a:xfrm>
            <a:off x="841248" y="1554480"/>
            <a:ext cx="237744" cy="237744"/>
          </a:xfrm>
          <a:prstGeom prst="rect">
            <a:avLst/>
          </a:prstGeom>
        </p:spPr>
      </p:pic>
      <p:sp>
        <p:nvSpPr>
          <p:cNvPr id="5" name="Reference 1"/>
          <p:cNvSpPr txBox="1"/>
          <p:nvPr/>
        </p:nvSpPr>
        <p:spPr>
          <a:xfrm>
            <a:off x="1325880" y="1371600"/>
            <a:ext cx="7406640" cy="603504"/>
          </a:xfrm>
          <a:prstGeom prst="rect">
            <a:avLst/>
          </a:prstGeom>
          <a:noFill/>
        </p:spPr>
        <p:txBody>
          <a:bodyPr wrap="square" anchor="ctr" lIns="45720" rIns="45720" tIns="27432" bIns="27432">
            <a:noAutofit/>
          </a:bodyPr>
          <a:lstStyle/>
          <a:p>
            <a:pPr algn="l">
              <a:spcAft>
                <a:spcPts val="0"/>
              </a:spcAft>
            </a:pPr>
            <a:r>
              <a:rPr sz="1400" b="0" i="0">
                <a:solidFill>
                  <a:schemeClr val="tx2"/>
                </a:solidFill>
              </a:rPr>
              <a:t>S. C. Gupta &amp; V. K. Kapoor — </a:t>
            </a:r>
            <a:r>
              <a:rPr sz="1400" b="0" i="1">
                <a:solidFill>
                  <a:schemeClr val="tx2"/>
                </a:solidFill>
              </a:rPr>
              <a:t>Fundamentals of Mathematical Statistics</a:t>
            </a:r>
            <a:r>
              <a:rPr sz="1400" b="0" i="0">
                <a:solidFill>
                  <a:schemeClr val="tx2"/>
                </a:solidFill>
              </a:rPr>
              <a:t>, Sultan Chand &amp; Sons.</a:t>
            </a:r>
          </a:p>
        </p:txBody>
      </p:sp>
      <p:sp>
        <p:nvSpPr>
          <p:cNvPr id="6" name="Badge"/>
          <p:cNvSpPr/>
          <p:nvPr/>
        </p:nvSpPr>
        <p:spPr>
          <a:xfrm>
            <a:off x="731520" y="2103120"/>
            <a:ext cx="457200" cy="457200"/>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Icon book" descr="book.png"/>
          <p:cNvPicPr>
            <a:picLocks noChangeAspect="1"/>
          </p:cNvPicPr>
          <p:nvPr/>
        </p:nvPicPr>
        <p:blipFill>
          <a:blip r:embed="rId2"/>
          <a:stretch>
            <a:fillRect/>
          </a:stretch>
        </p:blipFill>
        <p:spPr>
          <a:xfrm>
            <a:off x="841248" y="2212848"/>
            <a:ext cx="237744" cy="237744"/>
          </a:xfrm>
          <a:prstGeom prst="rect">
            <a:avLst/>
          </a:prstGeom>
        </p:spPr>
      </p:pic>
      <p:sp>
        <p:nvSpPr>
          <p:cNvPr id="8" name="Reference 2"/>
          <p:cNvSpPr txBox="1"/>
          <p:nvPr/>
        </p:nvSpPr>
        <p:spPr>
          <a:xfrm>
            <a:off x="1325880" y="2029967"/>
            <a:ext cx="7406640" cy="603504"/>
          </a:xfrm>
          <a:prstGeom prst="rect">
            <a:avLst/>
          </a:prstGeom>
          <a:noFill/>
        </p:spPr>
        <p:txBody>
          <a:bodyPr wrap="square" anchor="ctr" lIns="45720" rIns="45720" tIns="27432" bIns="27432">
            <a:noAutofit/>
          </a:bodyPr>
          <a:lstStyle/>
          <a:p>
            <a:pPr algn="l">
              <a:spcAft>
                <a:spcPts val="0"/>
              </a:spcAft>
            </a:pPr>
            <a:r>
              <a:rPr sz="1400" b="0" i="0">
                <a:solidFill>
                  <a:schemeClr val="tx2"/>
                </a:solidFill>
              </a:rPr>
              <a:t>R. E. Walpole, R. H. Myers, S. L. Myers &amp; K. Ye — </a:t>
            </a:r>
            <a:r>
              <a:rPr sz="1400" b="0" i="1">
                <a:solidFill>
                  <a:schemeClr val="tx2"/>
                </a:solidFill>
              </a:rPr>
              <a:t>Probability and Statistics for Engineers and Scientists</a:t>
            </a:r>
            <a:r>
              <a:rPr sz="1400" b="0" i="0">
                <a:solidFill>
                  <a:schemeClr val="tx2"/>
                </a:solidFill>
              </a:rPr>
              <a:t>, Pearson.</a:t>
            </a:r>
          </a:p>
        </p:txBody>
      </p:sp>
      <p:sp>
        <p:nvSpPr>
          <p:cNvPr id="9" name="Badge"/>
          <p:cNvSpPr/>
          <p:nvPr/>
        </p:nvSpPr>
        <p:spPr>
          <a:xfrm>
            <a:off x="731520" y="2761488"/>
            <a:ext cx="457200" cy="457200"/>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Icon book" descr="book.png"/>
          <p:cNvPicPr>
            <a:picLocks noChangeAspect="1"/>
          </p:cNvPicPr>
          <p:nvPr/>
        </p:nvPicPr>
        <p:blipFill>
          <a:blip r:embed="rId2"/>
          <a:stretch>
            <a:fillRect/>
          </a:stretch>
        </p:blipFill>
        <p:spPr>
          <a:xfrm>
            <a:off x="841248" y="2871216"/>
            <a:ext cx="237744" cy="237744"/>
          </a:xfrm>
          <a:prstGeom prst="rect">
            <a:avLst/>
          </a:prstGeom>
        </p:spPr>
      </p:pic>
      <p:sp>
        <p:nvSpPr>
          <p:cNvPr id="11" name="Reference 3"/>
          <p:cNvSpPr txBox="1"/>
          <p:nvPr/>
        </p:nvSpPr>
        <p:spPr>
          <a:xfrm>
            <a:off x="1325880" y="2688336"/>
            <a:ext cx="7406640" cy="603504"/>
          </a:xfrm>
          <a:prstGeom prst="rect">
            <a:avLst/>
          </a:prstGeom>
          <a:noFill/>
        </p:spPr>
        <p:txBody>
          <a:bodyPr wrap="square" anchor="ctr" lIns="45720" rIns="45720" tIns="27432" bIns="27432">
            <a:noAutofit/>
          </a:bodyPr>
          <a:lstStyle/>
          <a:p>
            <a:pPr algn="l">
              <a:spcAft>
                <a:spcPts val="0"/>
              </a:spcAft>
            </a:pPr>
            <a:r>
              <a:rPr sz="1400" b="0" i="0">
                <a:solidFill>
                  <a:schemeClr val="tx2"/>
                </a:solidFill>
              </a:rPr>
              <a:t>S. M. Ross — </a:t>
            </a:r>
            <a:r>
              <a:rPr sz="1400" b="0" i="1">
                <a:solidFill>
                  <a:schemeClr val="tx2"/>
                </a:solidFill>
              </a:rPr>
              <a:t>Introduction to Probability and Statistics for Engineers and Scientists</a:t>
            </a:r>
            <a:r>
              <a:rPr sz="1400" b="0" i="0">
                <a:solidFill>
                  <a:schemeClr val="tx2"/>
                </a:solidFill>
              </a:rPr>
              <a:t>.</a:t>
            </a:r>
          </a:p>
        </p:txBody>
      </p:sp>
      <p:sp>
        <p:nvSpPr>
          <p:cNvPr id="12" name="Badge"/>
          <p:cNvSpPr/>
          <p:nvPr/>
        </p:nvSpPr>
        <p:spPr>
          <a:xfrm>
            <a:off x="731520" y="3419856"/>
            <a:ext cx="457200" cy="457200"/>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Icon book" descr="book.png"/>
          <p:cNvPicPr>
            <a:picLocks noChangeAspect="1"/>
          </p:cNvPicPr>
          <p:nvPr/>
        </p:nvPicPr>
        <p:blipFill>
          <a:blip r:embed="rId2"/>
          <a:stretch>
            <a:fillRect/>
          </a:stretch>
        </p:blipFill>
        <p:spPr>
          <a:xfrm>
            <a:off x="841248" y="3529584"/>
            <a:ext cx="237744" cy="237744"/>
          </a:xfrm>
          <a:prstGeom prst="rect">
            <a:avLst/>
          </a:prstGeom>
        </p:spPr>
      </p:pic>
      <p:sp>
        <p:nvSpPr>
          <p:cNvPr id="14" name="Reference 4"/>
          <p:cNvSpPr txBox="1"/>
          <p:nvPr/>
        </p:nvSpPr>
        <p:spPr>
          <a:xfrm>
            <a:off x="1325880" y="3346704"/>
            <a:ext cx="7406640" cy="603504"/>
          </a:xfrm>
          <a:prstGeom prst="rect">
            <a:avLst/>
          </a:prstGeom>
          <a:noFill/>
        </p:spPr>
        <p:txBody>
          <a:bodyPr wrap="square" anchor="ctr" lIns="45720" rIns="45720" tIns="27432" bIns="27432">
            <a:noAutofit/>
          </a:bodyPr>
          <a:lstStyle/>
          <a:p>
            <a:pPr algn="l">
              <a:spcAft>
                <a:spcPts val="0"/>
              </a:spcAft>
            </a:pPr>
            <a:r>
              <a:rPr sz="1400" b="0" i="0">
                <a:solidFill>
                  <a:schemeClr val="tx2"/>
                </a:solidFill>
              </a:rPr>
              <a:t>D. C. Montgomery — </a:t>
            </a:r>
            <a:r>
              <a:rPr sz="1400" b="0" i="1">
                <a:solidFill>
                  <a:schemeClr val="tx2"/>
                </a:solidFill>
              </a:rPr>
              <a:t>Applied Statistics and Probability for Engineers</a:t>
            </a:r>
            <a:r>
              <a:rPr sz="1400" b="0" i="0">
                <a:solidFill>
                  <a:schemeClr val="tx2"/>
                </a:solidFill>
              </a:rPr>
              <a:t>, Wiley.</a:t>
            </a:r>
          </a:p>
        </p:txBody>
      </p:sp>
      <p:sp>
        <p:nvSpPr>
          <p:cNvPr id="15" name="Badge"/>
          <p:cNvSpPr/>
          <p:nvPr/>
        </p:nvSpPr>
        <p:spPr>
          <a:xfrm>
            <a:off x="731520" y="4078224"/>
            <a:ext cx="457200" cy="457200"/>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Icon book" descr="book.png"/>
          <p:cNvPicPr>
            <a:picLocks noChangeAspect="1"/>
          </p:cNvPicPr>
          <p:nvPr/>
        </p:nvPicPr>
        <p:blipFill>
          <a:blip r:embed="rId2"/>
          <a:stretch>
            <a:fillRect/>
          </a:stretch>
        </p:blipFill>
        <p:spPr>
          <a:xfrm>
            <a:off x="841248" y="4187952"/>
            <a:ext cx="237744" cy="237744"/>
          </a:xfrm>
          <a:prstGeom prst="rect">
            <a:avLst/>
          </a:prstGeom>
        </p:spPr>
      </p:pic>
      <p:sp>
        <p:nvSpPr>
          <p:cNvPr id="17" name="Reference 5"/>
          <p:cNvSpPr txBox="1"/>
          <p:nvPr/>
        </p:nvSpPr>
        <p:spPr>
          <a:xfrm>
            <a:off x="1325880" y="4005072"/>
            <a:ext cx="7406640" cy="603504"/>
          </a:xfrm>
          <a:prstGeom prst="rect">
            <a:avLst/>
          </a:prstGeom>
          <a:noFill/>
        </p:spPr>
        <p:txBody>
          <a:bodyPr wrap="square" anchor="ctr" lIns="45720" rIns="45720" tIns="27432" bIns="27432">
            <a:noAutofit/>
          </a:bodyPr>
          <a:lstStyle/>
          <a:p>
            <a:pPr algn="l">
              <a:spcAft>
                <a:spcPts val="0"/>
              </a:spcAft>
            </a:pPr>
            <a:r>
              <a:rPr sz="1400" b="0" i="0">
                <a:solidFill>
                  <a:schemeClr val="tx2"/>
                </a:solidFill>
              </a:rPr>
              <a:t>Course lecture notes — Probability &amp; Statistics, Module 1 (Correlation, Regression, Curve Fitting).</a:t>
            </a:r>
          </a:p>
        </p:txBody>
      </p:sp>
      <p:sp>
        <p:nvSpPr>
          <p:cNvPr id="18" name="Thank-you card"/>
          <p:cNvSpPr/>
          <p:nvPr/>
        </p:nvSpPr>
        <p:spPr>
          <a:xfrm>
            <a:off x="731520" y="4800600"/>
            <a:ext cx="8046720" cy="1508760"/>
          </a:xfrm>
          <a:prstGeom prst="roundRect">
            <a:avLst>
              <a:gd name="adj" fmla="val 6000"/>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Q&amp;A icon" descr="qa.png"/>
          <p:cNvPicPr>
            <a:picLocks noChangeAspect="1"/>
          </p:cNvPicPr>
          <p:nvPr/>
        </p:nvPicPr>
        <p:blipFill>
          <a:blip r:embed="rId3"/>
          <a:stretch>
            <a:fillRect/>
          </a:stretch>
        </p:blipFill>
        <p:spPr>
          <a:xfrm>
            <a:off x="1051560" y="5166360"/>
            <a:ext cx="777240" cy="777240"/>
          </a:xfrm>
          <a:prstGeom prst="rect">
            <a:avLst/>
          </a:prstGeom>
        </p:spPr>
      </p:pic>
      <p:sp>
        <p:nvSpPr>
          <p:cNvPr id="20" name="Thank you"/>
          <p:cNvSpPr txBox="1"/>
          <p:nvPr/>
        </p:nvSpPr>
        <p:spPr>
          <a:xfrm>
            <a:off x="2011680" y="4919472"/>
            <a:ext cx="6583680" cy="713232"/>
          </a:xfrm>
          <a:prstGeom prst="rect">
            <a:avLst/>
          </a:prstGeom>
          <a:noFill/>
        </p:spPr>
        <p:txBody>
          <a:bodyPr wrap="square" anchor="ctr" lIns="45720" rIns="45720" tIns="27432" bIns="27432">
            <a:noAutofit/>
          </a:bodyPr>
          <a:lstStyle/>
          <a:p>
            <a:pPr algn="l">
              <a:spcAft>
                <a:spcPts val="0"/>
              </a:spcAft>
            </a:pPr>
            <a:r>
              <a:rPr sz="2000" b="1" i="0">
                <a:solidFill>
                  <a:schemeClr val="bg1"/>
                </a:solidFill>
              </a:rPr>
              <a:t>Thank you for your attention — Questions are welcome.</a:t>
            </a:r>
          </a:p>
        </p:txBody>
      </p:sp>
      <p:sp>
        <p:nvSpPr>
          <p:cNvPr id="21" name="Presenter"/>
          <p:cNvSpPr txBox="1"/>
          <p:nvPr/>
        </p:nvSpPr>
        <p:spPr>
          <a:xfrm>
            <a:off x="2011680" y="5623560"/>
            <a:ext cx="6583680" cy="411480"/>
          </a:xfrm>
          <a:prstGeom prst="rect">
            <a:avLst/>
          </a:prstGeom>
          <a:noFill/>
        </p:spPr>
        <p:txBody>
          <a:bodyPr wrap="square" anchor="ctr" lIns="45720" rIns="45720" tIns="27432" bIns="27432">
            <a:noAutofit/>
          </a:bodyPr>
          <a:lstStyle/>
          <a:p>
            <a:pPr algn="l">
              <a:spcAft>
                <a:spcPts val="0"/>
              </a:spcAft>
            </a:pPr>
            <a:r>
              <a:rPr sz="1400" b="0" i="0">
                <a:solidFill>
                  <a:schemeClr val="bg1"/>
                </a:solidFill>
              </a:rPr>
              <a:t>Sayantan Bharati  |  BWU/BTS/25/503  |  Section B</a:t>
            </a:r>
          </a:p>
        </p:txBody>
      </p:sp>
    </p:spTree>
  </p:cSld>
  <p:clrMapOvr>
    <a:masterClrMapping/>
  </p:clrMapOvr>
</p:sld>
</file>

<file path=ppt/theme/theme1.xml><?xml version="1.0" encoding="utf-8"?>
<a:theme xmlns:a="http://schemas.openxmlformats.org/drawingml/2006/main" name="Green Facet">
  <a:themeElements>
    <a:clrScheme name="Green 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6B9F25"/>
      </a:hlink>
      <a:folHlink>
        <a:srgbClr val="BA6906"/>
      </a:folHlink>
    </a:clrScheme>
    <a:fontScheme name="Green Facet">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buchet M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Bivariate Analysis: Correlation &amp; Regression</dc:title>
  <dc:subject>Probability &amp; Statistics (BBS00014)</dc:subject>
  <dc:creator>Sayantan Bharati</dc:creator>
  <cp:lastModifiedBy>PptxGenJS</cp:lastModifiedBy>
  <cp:revision>1</cp:revision>
  <dcterms:created xsi:type="dcterms:W3CDTF">2026-10-04T04:28:14Z</dcterms:created>
  <dcterms:modified xsi:type="dcterms:W3CDTF">2026-10-04T04:28:14Z</dcterms:modified>
  <cp:keywords>correlation, regression, least squares</cp:keywords>
</cp:coreProperties>
</file>