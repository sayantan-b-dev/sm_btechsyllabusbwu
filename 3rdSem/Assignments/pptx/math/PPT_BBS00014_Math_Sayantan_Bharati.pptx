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7" r:id="rId18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3.xml"/><Relationship Id="rId18" Type="http://schemas.openxmlformats.org/officeDocument/2006/relationships/slide" Target="slides/slide12.xml"/><Relationship Id="rId19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>
                <a:solidFill>
                  <a:srgbClr val="2C3C43"/>
                </a:solidFill>
              </a:rPr>
              <a:t>y on x: trend line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2.1</c:v>
                </c:pt>
                <c:pt idx="1">
                  <c:v>2.6</c:v>
                </c:pt>
                <c:pt idx="2">
                  <c:v>3.9</c:v>
                </c:pt>
                <c:pt idx="3">
                  <c:v>4.1</c:v>
                </c:pt>
                <c:pt idx="4">
                  <c:v>5.4</c:v>
                </c:pt>
                <c:pt idx="5">
                  <c:v>5.6</c:v>
                </c:pt>
                <c:pt idx="6">
                  <c:v>7.0</c:v>
                </c:pt>
                <c:pt idx="7">
                  <c:v>7.4</c:v>
                </c:pt>
                <c:pt idx="8">
                  <c:v>8.8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Fit</c:v>
                </c:pt>
              </c:strCache>
            </c:strRef>
          </c:tx>
          <c:spPr>
            <a:ln w="3175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Sheet1!$A$13:$A$14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1</c:v>
                </c:pt>
                <c:pt idx="1">
                  <c:v>9.6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Plot, then measure, then model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65</c:v>
                </c:pt>
                <c:pt idx="2">
                  <c:v>85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Hours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.0"/>
          <c:min val="2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Marks (y)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 b="1">
                <a:solidFill>
                  <a:srgbClr val="2C3C43"/>
                </a:solidFill>
              </a:rPr>
              <a:t>Strong +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 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0.63</c:v>
                </c:pt>
                <c:pt idx="1">
                  <c:v>1.42</c:v>
                </c:pt>
                <c:pt idx="2">
                  <c:v>2.73</c:v>
                </c:pt>
                <c:pt idx="3">
                  <c:v>3.39</c:v>
                </c:pt>
                <c:pt idx="4">
                  <c:v>4.23</c:v>
                </c:pt>
                <c:pt idx="5">
                  <c:v>5.58</c:v>
                </c:pt>
                <c:pt idx="6">
                  <c:v>7.15</c:v>
                </c:pt>
                <c:pt idx="7">
                  <c:v>7.96</c:v>
                </c:pt>
                <c:pt idx="8">
                  <c:v>8.87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 b="1">
                <a:solidFill>
                  <a:srgbClr val="2C3C43"/>
                </a:solidFill>
              </a:rPr>
              <a:t>Weak +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Weak 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90C226"/>
              </a:solidFill>
              <a:ln>
                <a:solidFill>
                  <a:srgbClr val="90C226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1.9</c:v>
                </c:pt>
                <c:pt idx="1">
                  <c:v>3.89</c:v>
                </c:pt>
                <c:pt idx="2">
                  <c:v>2.89</c:v>
                </c:pt>
                <c:pt idx="3">
                  <c:v>2.7</c:v>
                </c:pt>
                <c:pt idx="4">
                  <c:v>2.7</c:v>
                </c:pt>
                <c:pt idx="5">
                  <c:v>3.61</c:v>
                </c:pt>
                <c:pt idx="6">
                  <c:v>7.67</c:v>
                </c:pt>
                <c:pt idx="7">
                  <c:v>7.51</c:v>
                </c:pt>
                <c:pt idx="8">
                  <c:v>7.74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 b="1">
                <a:solidFill>
                  <a:srgbClr val="2C3C43"/>
                </a:solidFill>
              </a:rPr>
              <a:t>Negative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E76618"/>
              </a:solidFill>
              <a:ln>
                <a:solidFill>
                  <a:srgbClr val="E76618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9.41</c:v>
                </c:pt>
                <c:pt idx="1">
                  <c:v>7.73</c:v>
                </c:pt>
                <c:pt idx="2">
                  <c:v>6.92</c:v>
                </c:pt>
                <c:pt idx="3">
                  <c:v>6.35</c:v>
                </c:pt>
                <c:pt idx="4">
                  <c:v>5.53</c:v>
                </c:pt>
                <c:pt idx="5">
                  <c:v>4.73</c:v>
                </c:pt>
                <c:pt idx="6">
                  <c:v>3.81</c:v>
                </c:pt>
                <c:pt idx="7">
                  <c:v>1.9</c:v>
                </c:pt>
                <c:pt idx="8">
                  <c:v>1.58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 b="1">
                <a:solidFill>
                  <a:srgbClr val="2C3C43"/>
                </a:solidFill>
              </a:rPr>
              <a:t>None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6.37</c:v>
                </c:pt>
                <c:pt idx="1">
                  <c:v>2.42</c:v>
                </c:pt>
                <c:pt idx="2">
                  <c:v>1.71</c:v>
                </c:pt>
                <c:pt idx="3">
                  <c:v>7.92</c:v>
                </c:pt>
                <c:pt idx="4">
                  <c:v>3.4</c:v>
                </c:pt>
                <c:pt idx="5">
                  <c:v>5.58</c:v>
                </c:pt>
                <c:pt idx="6">
                  <c:v>7.78</c:v>
                </c:pt>
                <c:pt idx="7">
                  <c:v>4.31</c:v>
                </c:pt>
                <c:pt idx="8">
                  <c:v>4.45</c:v>
                </c:pt>
                <c:pt idx="9">
                  <c:v>3.44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5.05</c:v>
                </c:pt>
                <c:pt idx="1">
                  <c:v>4.79</c:v>
                </c:pt>
                <c:pt idx="2">
                  <c:v>8.48</c:v>
                </c:pt>
                <c:pt idx="3">
                  <c:v>5.38</c:v>
                </c:pt>
                <c:pt idx="4">
                  <c:v>8.27</c:v>
                </c:pt>
                <c:pt idx="5">
                  <c:v>8.06</c:v>
                </c:pt>
                <c:pt idx="6">
                  <c:v>5.07</c:v>
                </c:pt>
                <c:pt idx="7">
                  <c:v>5.79</c:v>
                </c:pt>
                <c:pt idx="8">
                  <c:v>2.29</c:v>
                </c:pt>
                <c:pt idx="9">
                  <c:v>7.5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900" b="1">
                <a:solidFill>
                  <a:srgbClr val="2C3C43"/>
                </a:solidFill>
              </a:rPr>
              <a:t>Non-linear: patterned, yet r ≈ 0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Curved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C42F1A"/>
              </a:solidFill>
              <a:ln>
                <a:solidFill>
                  <a:srgbClr val="C42F1A"/>
                </a:solidFill>
              </a:ln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</c:v>
                </c:pt>
                <c:pt idx="1">
                  <c:v>1.7</c:v>
                </c:pt>
                <c:pt idx="2">
                  <c:v>2.4</c:v>
                </c:pt>
                <c:pt idx="3">
                  <c:v>3</c:v>
                </c:pt>
                <c:pt idx="4">
                  <c:v>3.6</c:v>
                </c:pt>
                <c:pt idx="5">
                  <c:v>4.2</c:v>
                </c:pt>
                <c:pt idx="6">
                  <c:v>5</c:v>
                </c:pt>
                <c:pt idx="7">
                  <c:v>5.8</c:v>
                </c:pt>
                <c:pt idx="8">
                  <c:v>6.4</c:v>
                </c:pt>
                <c:pt idx="9">
                  <c:v>7</c:v>
                </c:pt>
                <c:pt idx="10">
                  <c:v>7.6</c:v>
                </c:pt>
                <c:pt idx="11">
                  <c:v>8.3</c:v>
                </c:pt>
                <c:pt idx="12">
                  <c:v>9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2.03</c:v>
                </c:pt>
                <c:pt idx="1">
                  <c:v>3.83</c:v>
                </c:pt>
                <c:pt idx="2">
                  <c:v>5.74</c:v>
                </c:pt>
                <c:pt idx="3">
                  <c:v>6.42</c:v>
                </c:pt>
                <c:pt idx="4">
                  <c:v>7.34</c:v>
                </c:pt>
                <c:pt idx="5">
                  <c:v>7.75</c:v>
                </c:pt>
                <c:pt idx="6">
                  <c:v>7.87</c:v>
                </c:pt>
                <c:pt idx="7">
                  <c:v>8.17</c:v>
                </c:pt>
                <c:pt idx="8">
                  <c:v>7.07</c:v>
                </c:pt>
                <c:pt idx="9">
                  <c:v>6.53</c:v>
                </c:pt>
                <c:pt idx="10">
                  <c:v>5.4</c:v>
                </c:pt>
                <c:pt idx="11">
                  <c:v>4.29</c:v>
                </c:pt>
                <c:pt idx="12">
                  <c:v>2.22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Straight-ish cloud: r ≈ +0.95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2.5</c:v>
                </c:pt>
                <c:pt idx="3">
                  <c:v>3.5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6.5</c:v>
                </c:pt>
                <c:pt idx="8">
                  <c:v>7.5</c:v>
                </c:pt>
                <c:pt idx="9">
                  <c:v>8.5</c:v>
                </c:pt>
                <c:pt idx="10">
                  <c:v>9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0.8</c:v>
                </c:pt>
                <c:pt idx="1">
                  <c:v>1.47</c:v>
                </c:pt>
                <c:pt idx="2">
                  <c:v>1.31</c:v>
                </c:pt>
                <c:pt idx="3">
                  <c:v>4.1</c:v>
                </c:pt>
                <c:pt idx="4">
                  <c:v>2.32</c:v>
                </c:pt>
                <c:pt idx="5">
                  <c:v>4.51</c:v>
                </c:pt>
                <c:pt idx="6">
                  <c:v>6.44</c:v>
                </c:pt>
                <c:pt idx="7">
                  <c:v>4.76</c:v>
                </c:pt>
                <c:pt idx="8">
                  <c:v>6.89</c:v>
                </c:pt>
                <c:pt idx="9">
                  <c:v>7.95</c:v>
                </c:pt>
                <c:pt idx="10">
                  <c:v>6.91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Trend</c:v>
                </c:pt>
              </c:strCache>
            </c:strRef>
          </c:tx>
          <c:spPr>
            <a:ln w="2540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Sheet1!$A$15:$A$16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xVal>
          <c:yVal>
            <c:numRef>
              <c:f>Sheet1!$B$15:$B$16</c:f>
              <c:numCache>
                <c:formatCode>General</c:formatCode>
                <c:ptCount val="2"/>
                <c:pt idx="0">
                  <c:v>0.2</c:v>
                </c:pt>
                <c:pt idx="1">
                  <c:v>9.2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Both lines cross at the means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2.0</c:v>
                </c:pt>
                <c:pt idx="1">
                  <c:v>4.6</c:v>
                </c:pt>
                <c:pt idx="2">
                  <c:v>3.6</c:v>
                </c:pt>
                <c:pt idx="3">
                  <c:v>6.6</c:v>
                </c:pt>
                <c:pt idx="4">
                  <c:v>5.4</c:v>
                </c:pt>
                <c:pt idx="5">
                  <c:v>8.2</c:v>
                </c:pt>
                <c:pt idx="6">
                  <c:v>7.0</c:v>
                </c:pt>
                <c:pt idx="7">
                  <c:v>9.4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y on x</c:v>
                </c:pt>
              </c:strCache>
            </c:strRef>
          </c:tx>
          <c:spPr>
            <a:ln w="31750">
              <a:solidFill>
                <a:srgbClr val="54A021"/>
              </a:solidFill>
            </a:ln>
          </c:spPr>
          <c:marker>
            <c:symbol val="none"/>
          </c:marker>
          <c:xVal>
            <c:numRef>
              <c:f>Sheet1!$A$12:$A$13</c:f>
              <c:numCache>
                <c:formatCode>General</c:formatCode>
                <c:ptCount val="2"/>
                <c:pt idx="0">
                  <c:v>0.5</c:v>
                </c:pt>
                <c:pt idx="1">
                  <c:v>9</c:v>
                </c:pt>
              </c:numCache>
            </c:numRef>
          </c:xVal>
          <c:yVal>
            <c:numRef>
              <c:f>Sheet1!$B$12:$B$13</c:f>
              <c:numCache>
                <c:formatCode>General</c:formatCode>
                <c:ptCount val="2"/>
                <c:pt idx="0">
                  <c:v>2.211904761904761</c:v>
                </c:pt>
                <c:pt idx="1">
                  <c:v>9.942857142857143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Sheet1!$B$15</c:f>
              <c:strCache>
                <c:ptCount val="1"/>
                <c:pt idx="0">
                  <c:v>x on y</c:v>
                </c:pt>
              </c:strCache>
            </c:strRef>
          </c:tx>
          <c:spPr>
            <a:ln w="3175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Sheet1!$A$16:$A$17</c:f>
              <c:numCache>
                <c:formatCode>General</c:formatCode>
                <c:ptCount val="2"/>
                <c:pt idx="0">
                  <c:v>0.5</c:v>
                </c:pt>
                <c:pt idx="1">
                  <c:v>9</c:v>
                </c:pt>
              </c:numCache>
            </c:numRef>
          </c:xVal>
          <c:yVal>
            <c:numRef>
              <c:f>Sheet1!$B$16:$B$17</c:f>
              <c:numCache>
                <c:formatCode>General</c:formatCode>
                <c:ptCount val="2"/>
                <c:pt idx="0">
                  <c:v>1.4876963350785344</c:v>
                </c:pt>
                <c:pt idx="1">
                  <c:v>10.757591623036648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Sheet1!$B$19</c:f>
              <c:strCache>
                <c:ptCount val="1"/>
                <c:pt idx="0">
                  <c:v>res0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Sheet1!$A$20:$A$21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Sheet1!$B$20:$B$21</c:f>
              <c:numCache>
                <c:formatCode>General</c:formatCode>
                <c:ptCount val="2"/>
                <c:pt idx="0">
                  <c:v>2.0</c:v>
                </c:pt>
                <c:pt idx="1">
                  <c:v>2.666666666666666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Sheet1!$B$23</c:f>
              <c:strCache>
                <c:ptCount val="1"/>
                <c:pt idx="0">
                  <c:v>res1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Sheet1!$A$24:$A$25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Sheet1!$B$24:$B$25</c:f>
              <c:numCache>
                <c:formatCode>General</c:formatCode>
                <c:ptCount val="2"/>
                <c:pt idx="0">
                  <c:v>4.6</c:v>
                </c:pt>
                <c:pt idx="1">
                  <c:v>3.5761904761904755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Sheet1!$B$27</c:f>
              <c:strCache>
                <c:ptCount val="1"/>
                <c:pt idx="0">
                  <c:v>res2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Sheet1!$A$28:$A$29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xVal>
          <c:yVal>
            <c:numRef>
              <c:f>Sheet1!$B$28:$B$29</c:f>
              <c:numCache>
                <c:formatCode>General</c:formatCode>
                <c:ptCount val="2"/>
                <c:pt idx="0">
                  <c:v>3.6</c:v>
                </c:pt>
                <c:pt idx="1">
                  <c:v>4.485714285714286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Sheet1!$B$31</c:f>
              <c:strCache>
                <c:ptCount val="1"/>
                <c:pt idx="0">
                  <c:v>res3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6.6</c:v>
                </c:pt>
                <c:pt idx="1">
                  <c:v>5.395238095238095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Sheet1!$B$35</c:f>
              <c:strCache>
                <c:ptCount val="1"/>
                <c:pt idx="0">
                  <c:v>res4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Sheet1!$A$36:$A$37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xVal>
          <c:yVal>
            <c:numRef>
              <c:f>Sheet1!$B$36:$B$37</c:f>
              <c:numCache>
                <c:formatCode>General</c:formatCode>
                <c:ptCount val="2"/>
                <c:pt idx="0">
                  <c:v>5.4</c:v>
                </c:pt>
                <c:pt idx="1">
                  <c:v>6.304761904761905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Sheet1!$B$39</c:f>
              <c:strCache>
                <c:ptCount val="1"/>
                <c:pt idx="0">
                  <c:v>res5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Sheet1!$A$40:$A$41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xVal>
          <c:yVal>
            <c:numRef>
              <c:f>Sheet1!$B$40:$B$41</c:f>
              <c:numCache>
                <c:formatCode>General</c:formatCode>
                <c:ptCount val="2"/>
                <c:pt idx="0">
                  <c:v>8.2</c:v>
                </c:pt>
                <c:pt idx="1">
                  <c:v>7.2142857142857135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Sheet1!$B$43</c:f>
              <c:strCache>
                <c:ptCount val="1"/>
                <c:pt idx="0">
                  <c:v>res6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Sheet1!$A$44:$A$45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xVal>
          <c:yVal>
            <c:numRef>
              <c:f>Sheet1!$B$44:$B$45</c:f>
              <c:numCache>
                <c:formatCode>General</c:formatCode>
                <c:ptCount val="2"/>
                <c:pt idx="0">
                  <c:v>7.0</c:v>
                </c:pt>
                <c:pt idx="1">
                  <c:v>8.123809523809523</c:v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Sheet1!$B$47</c:f>
              <c:strCache>
                <c:ptCount val="1"/>
                <c:pt idx="0">
                  <c:v>res7</c:v>
                </c:pt>
              </c:strCache>
            </c:strRef>
          </c:tx>
          <c:spPr>
            <a:ln w="12700">
              <a:solidFill>
                <a:srgbClr val="C42F1A"/>
              </a:solidFill>
              <a:prstDash val="dash"/>
            </a:ln>
          </c:spPr>
          <c:marker>
            <c:symbol val="none"/>
          </c:marker>
          <c:xVal>
            <c:numRef>
              <c:f>Sheet1!$A$48:$A$49</c:f>
              <c:numCache>
                <c:formatCode>General</c:formatCode>
                <c:ptCount val="2"/>
                <c:pt idx="0">
                  <c:v>8</c:v>
                </c:pt>
                <c:pt idx="1">
                  <c:v>8</c:v>
                </c:pt>
              </c:numCache>
            </c:numRef>
          </c:xVal>
          <c:yVal>
            <c:numRef>
              <c:f>Sheet1!$B$48:$B$49</c:f>
              <c:numCache>
                <c:formatCode>General</c:formatCode>
                <c:ptCount val="2"/>
                <c:pt idx="0">
                  <c:v>9.4</c:v>
                </c:pt>
                <c:pt idx="1">
                  <c:v>9.033333333333333</c:v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Sheet1!$B$51</c:f>
              <c:strCache>
                <c:ptCount val="1"/>
                <c:pt idx="0">
                  <c:v>(x̄, ȳ)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1"/>
            <c:spPr>
              <a:solidFill>
                <a:srgbClr val="2C3C43"/>
              </a:solidFill>
              <a:ln>
                <a:solidFill>
                  <a:srgbClr val="2C3C43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C3C43"/>
                        </a:solidFill>
                      </a:rPr>
                      <a:t>(x̄, ȳ)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Sheet1!$A$52:$A$52</c:f>
              <c:numCache>
                <c:formatCode>General</c:formatCode>
                <c:ptCount val="1"/>
                <c:pt idx="0">
                  <c:v>4.5</c:v>
                </c:pt>
              </c:numCache>
            </c:numRef>
          </c:xVal>
          <c:yVal>
            <c:numRef>
              <c:f>Sheet1!$B$52:$B$52</c:f>
              <c:numCache>
                <c:formatCode>General</c:formatCode>
                <c:ptCount val="1"/>
                <c:pt idx="0">
                  <c:v>5.85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2.0"/>
          <c:min val="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r = +1: all points on one line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Fit</c:v>
                </c:pt>
              </c:strCache>
            </c:strRef>
          </c:tx>
          <c:spPr>
            <a:ln w="2540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Sheet1!$A$9:$A$10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xVal>
          <c:yVal>
            <c:numRef>
              <c:f>Sheet1!$B$9:$B$10</c:f>
              <c:numCache>
                <c:formatCode>General</c:formatCode>
                <c:ptCount val="2"/>
                <c:pt idx="0">
                  <c:v>30</c:v>
                </c:pt>
                <c:pt idx="1">
                  <c:v>90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Hours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.0"/>
          <c:min val="2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Marks (y)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Both lines cross at (6, 60)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y = 5x + 30  (= x on y)</c:v>
                </c:pt>
              </c:strCache>
            </c:strRef>
          </c:tx>
          <c:spPr>
            <a:ln w="3175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Sheet1!$A$9:$A$10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xVal>
          <c:yVal>
            <c:numRef>
              <c:f>Sheet1!$B$9:$B$10</c:f>
              <c:numCache>
                <c:formatCode>General</c:formatCode>
                <c:ptCount val="2"/>
                <c:pt idx="0">
                  <c:v>30</c:v>
                </c:pt>
                <c:pt idx="1">
                  <c:v>90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(6, 60)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2"/>
            <c:spPr>
              <a:solidFill>
                <a:srgbClr val="2C3C43"/>
              </a:solidFill>
              <a:ln>
                <a:solidFill>
                  <a:srgbClr val="2C3C43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C3C43"/>
                        </a:solidFill>
                      </a:rPr>
                      <a:t>(6, 60)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6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60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Hours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.0"/>
          <c:min val="2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Marks (y)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0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Fitted line with predictions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y = 30 + 5x</c:v>
                </c:pt>
              </c:strCache>
            </c:strRef>
          </c:tx>
          <c:spPr>
            <a:ln w="31750">
              <a:solidFill>
                <a:srgbClr val="E76618"/>
              </a:solidFill>
            </a:ln>
          </c:spPr>
          <c:marker>
            <c:symbol val="none"/>
          </c:marker>
          <c:xVal>
            <c:numRef>
              <c:f>Sheet1!$A$9:$A$10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xVal>
          <c:yVal>
            <c:numRef>
              <c:f>Sheet1!$B$9:$B$10</c:f>
              <c:numCache>
                <c:formatCode>General</c:formatCode>
                <c:ptCount val="2"/>
                <c:pt idx="0">
                  <c:v>30</c:v>
                </c:pt>
                <c:pt idx="1">
                  <c:v>80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Extrapolation</c:v>
                </c:pt>
              </c:strCache>
            </c:strRef>
          </c:tx>
          <c:spPr>
            <a:ln w="31750">
              <a:solidFill>
                <a:srgbClr val="A6A6A6"/>
              </a:solidFill>
              <a:prstDash val="dash"/>
            </a:ln>
          </c:spPr>
          <c:marker>
            <c:symbol val="none"/>
          </c:marker>
          <c:xVal>
            <c:numRef>
              <c:f>Sheet1!$A$13:$A$14</c:f>
              <c:numCache>
                <c:formatCode>General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80</c:v>
                </c:pt>
                <c:pt idx="1">
                  <c:v>90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Sheet1!$B$16</c:f>
              <c:strCache>
                <c:ptCount val="1"/>
                <c:pt idx="0">
                  <c:v>Predict (7, 65)</c:v>
                </c:pt>
              </c:strCache>
            </c:strRef>
          </c:tx>
          <c:spPr>
            <a:ln w="47625">
              <a:noFill/>
            </a:ln>
          </c:spPr>
          <c:marker>
            <c:symbol val="star"/>
            <c:size val="13"/>
            <c:spPr>
              <a:solidFill>
                <a:srgbClr val="2C3C43"/>
              </a:solidFill>
              <a:ln>
                <a:solidFill>
                  <a:srgbClr val="2C3C43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C3C43"/>
                        </a:solidFill>
                      </a:rPr>
                      <a:t>(7, 65)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65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Sheet1!$B$19</c:f>
              <c:strCache>
                <c:ptCount val="1"/>
                <c:pt idx="0">
                  <c:v>Risky (12, 90)</c:v>
                </c:pt>
              </c:strCache>
            </c:strRef>
          </c:tx>
          <c:spPr>
            <a:ln w="47625">
              <a:noFill/>
            </a:ln>
          </c:spPr>
          <c:marker>
            <c:symbol val="x"/>
            <c:size val="9"/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A6A6A6"/>
                        </a:solidFill>
                      </a:rPr>
                      <a:t>(12, 90) risky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Sheet1!$A$20:$A$20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Sheet1!$B$20:$B$20</c:f>
              <c:numCache>
                <c:formatCode>General</c:formatCode>
                <c:ptCount val="1"/>
                <c:pt idx="0">
                  <c:v>90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Hours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.0"/>
          <c:min val="2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Marks (y)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2C3C43"/>
                </a:solidFill>
              </a:rPr>
              <a:t>One outlier: r falls to ≈ 0.19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data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54A021"/>
              </a:solidFill>
              <a:ln>
                <a:solidFill>
                  <a:srgbClr val="54A021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Fit</c:v>
                </c:pt>
              </c:strCache>
            </c:strRef>
          </c:tx>
          <c:spPr>
            <a:ln w="25400">
              <a:solidFill>
                <a:srgbClr val="90C226"/>
              </a:solidFill>
            </a:ln>
          </c:spPr>
          <c:marker>
            <c:symbol val="none"/>
          </c:marker>
          <c:xVal>
            <c:numRef>
              <c:f>Sheet1!$A$9:$A$10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xVal>
          <c:yVal>
            <c:numRef>
              <c:f>Sheet1!$B$9:$B$10</c:f>
              <c:numCache>
                <c:formatCode>General</c:formatCode>
                <c:ptCount val="2"/>
                <c:pt idx="0">
                  <c:v>30</c:v>
                </c:pt>
                <c:pt idx="1">
                  <c:v>90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Outlier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1"/>
            <c:spPr>
              <a:solidFill>
                <a:srgbClr val="C42F1A"/>
              </a:solidFill>
              <a:ln>
                <a:solidFill>
                  <a:srgbClr val="C42F1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C42F1A"/>
                        </a:solidFill>
                      </a:rPr>
                      <a:t>outlier (10, 20)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Hours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</a:rPr>
                  <a:t>Marks (y)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 I am Sayantan Bharati. This deck has four concept pages and five worked example pages: first how we measure a relationship with correlation, then how we model it for prediction with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today is about paired data. Correlation gives a number for how tightly the pair moves; regression turns that into a line we can predict with. The first half of the deck builds the formulas, the second half computes them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page 4 we build theory in four steps — scatter, Pearson, Spearman plus properties, then regression and least squares. From page 8 we compute: one Pearson, one Spearman, one two-line regression, one least-squares prediction, and one interpretation page that examiners love to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any formula, plot. The eye judges direction, straightness and outliers instantly. A curved relationship can look strong yet give a near-zero linear correlation — that is why the scatter is mandatory, and why correlation must never be read as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Pearson standardises joint variation by the two spreads, forcing the result into minus one to plus one. For exams use the raw-sums form — it needs only n, Σx, Σy, Σxy, Σx² and Σy². Remember its conditions: numeric data, a straight-ish cloud, and no single outlier driving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Spearman is Pearson on ranks — fast, needing only rank gaps, and ideal for judges’ scores or surveys. The two memorised properties are origin/scale freedom and symmetry. And the strength guide examiners expect: about 0.7-plus strong, 0.4 to 0.7 moderate, below 0.4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always two regression lines — one per prediction direction — crossing at the means. Least squares is what makes a line best: smallest total squared vertical gap. Solve the two normal equations for slope then intercept; the same recipe extends to curves and to machine-learning linear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clean dataset is chosen to give plus one, so every step is checkable: build the five sums, plug into the shortcut form, and the numerator equals the denominator. In an exam, always show the sums table first — it earns step marks even if arithmetic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Rank, subtract, square, sum — four columns and one substitution. Point-eight means the judges largely agree. Mention ties proactively: average the tied positions before differencing, otherwise the short formula overstates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favourite exam question: given means, spreads and r, write both lines. Compute each slope as r times the spread ratio, anchor each line at the means, then verify with the product rule and the crossing point. Emphasise direction: use y-on-x only to predict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Solve the normal equations in two lines: slope first, intercept from the means. Seven hours sits inside the data so sixty-five is trustworthy; twelve hours goes beyond it, so report ninety with a warning. That interpolation-versus-extrapolation distinction is a guaranteed viva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numerical arc with interpretation. R-squared translates correlation into explained percentage. Then the two traps examiners probe: a single outlier can wreck r, and a strong r never proves cause. End by modelling good practice — plot, number, and squared number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standard references plus the module-1 lecture notes. Thank you — happy to take questions on any of the five examples or the concept pages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0"/>
            <a:ext cx="838200" cy="5667375"/>
          </a:xfrm>
          <a:custGeom>
            <a:avLst/>
            <a:gdLst/>
            <a:ahLst/>
            <a:cxnLst/>
            <a:rect l="l" t="t" r="r" b="b"/>
            <a:pathLst>
              <a:path w="838200" h="5667375">
                <a:moveTo>
                  <a:pt x="838200" y="0"/>
                </a:move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2847975"/>
                </a:moveTo>
                <a:lnTo>
                  <a:pt x="0" y="0"/>
                </a:lnTo>
                <a:lnTo>
                  <a:pt x="447675" y="2847975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97280" y="685800"/>
            <a:ext cx="65836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C3C43"/>
                </a:solidFill>
              </a:rPr>
              <a:t>Bivariate Analysis: Correlation &amp; Regression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097280" y="224028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4A021"/>
                </a:solidFill>
              </a:rPr>
              <a:t>Measuring and Modelling the Relationship Between Two Variables</a:t>
            </a:r>
          </a:p>
        </p:txBody>
      </p:sp>
      <p:sp>
        <p:nvSpPr>
          <p:cNvPr id="4" name="Details"/>
          <p:cNvSpPr txBox="1"/>
          <p:nvPr/>
        </p:nvSpPr>
        <p:spPr>
          <a:xfrm>
            <a:off x="1097280" y="3108960"/>
            <a:ext cx="484632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C3C43"/>
                </a:solidFill>
              </a:rPr>
              <a:t>Course:</a:t>
            </a:r>
            <a:r>
              <a:rPr sz="1400" b="0">
                <a:solidFill>
                  <a:srgbClr val="2C3C43"/>
                </a:solidFill>
              </a:rPr>
              <a:t> Probability &amp; Statistics (BBS00014)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C3C43"/>
                </a:solidFill>
              </a:rPr>
              <a:t>Presented by:</a:t>
            </a:r>
            <a:r>
              <a:rPr sz="1400" b="0">
                <a:solidFill>
                  <a:srgbClr val="2C3C43"/>
                </a:solidFill>
              </a:rPr>
              <a:t> Sayantan Bharati | BWU/BTS/25/503 | Section B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C3C43"/>
                </a:solidFill>
              </a:rPr>
              <a:t>Programme:</a:t>
            </a:r>
            <a:r>
              <a:rPr sz="1400" b="0">
                <a:solidFill>
                  <a:srgbClr val="2C3C43"/>
                </a:solidFill>
              </a:rPr>
              <a:t> B.Tech (CSE), Batch 2025, AY 2026-27 (Odd Semester 3)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C3C43"/>
                </a:solidFill>
              </a:rPr>
              <a:t>Faculty:</a:t>
            </a:r>
            <a:r>
              <a:rPr sz="1400" b="0">
                <a:solidFill>
                  <a:srgbClr val="2C3C43"/>
                </a:solidFill>
              </a:rPr>
              <a:t> Mrs. Rittika Bhattacharya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C3C43"/>
                </a:solidFill>
              </a:rPr>
              <a:t>Department of Mathematics, Brainware University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C3C43"/>
                </a:solidFill>
              </a:rPr>
              <a:t>Date:</a:t>
            </a:r>
            <a:r>
              <a:rPr sz="1400" b="0">
                <a:solidFill>
                  <a:srgbClr val="2C3C43"/>
                </a:solidFill>
              </a:rPr>
              <a:t> 14-10-2026</a:t>
            </a:r>
          </a:p>
        </p:txBody>
      </p:sp>
      <p:sp>
        <p:nvSpPr>
          <p:cNvPr id="5" name="Hero card"/>
          <p:cNvSpPr/>
          <p:nvPr/>
        </p:nvSpPr>
        <p:spPr>
          <a:xfrm>
            <a:off x="6172200" y="3154680"/>
            <a:ext cx="25146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Hero scatter"/>
          <p:cNvGraphicFramePr>
            <a:graphicFrameLocks noGrp="1"/>
          </p:cNvGraphicFramePr>
          <p:nvPr/>
        </p:nvGraphicFramePr>
        <p:xfrm>
          <a:off x="6217920" y="3200400"/>
          <a:ext cx="24231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Introduction — Two Variables, Two Questions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2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Bivariate data</a:t>
            </a:r>
            <a:r>
              <a:rPr sz="1400" b="0">
                <a:solidFill>
                  <a:srgbClr val="2C3C43"/>
                </a:solidFill>
              </a:rPr>
              <a:t> = pairs (x, y) on the same subject: hours–marks, price–demand.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Question 1: Do they move together? → </a:t>
            </a:r>
            <a:r>
              <a:rPr sz="1400" b="1">
                <a:solidFill>
                  <a:srgbClr val="2C3C43"/>
                </a:solidFill>
              </a:rPr>
              <a:t>Correlation</a:t>
            </a:r>
            <a:r>
              <a:rPr sz="1400" b="0">
                <a:solidFill>
                  <a:srgbClr val="2C3C43"/>
                </a:solidFill>
              </a:rPr>
              <a:t> (strength + direction).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Question 2: Can we predict one from the other? → </a:t>
            </a:r>
            <a:r>
              <a:rPr sz="1400" b="1">
                <a:solidFill>
                  <a:srgbClr val="2C3C43"/>
                </a:solidFill>
              </a:rPr>
              <a:t>Regression</a:t>
            </a:r>
            <a:r>
              <a:rPr sz="1400" b="0">
                <a:solidFill>
                  <a:srgbClr val="2C3C43"/>
                </a:solidFill>
              </a:rPr>
              <a:t> (model).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Plan: 4 concept pages (pp. 4–7), then 5 example pages (pp. 8–12).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Tools assumed: mean (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x̄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ȳ</a:t>
            </a:r>
            <a:r>
              <a:rPr sz="1400" b="0">
                <a:solidFill>
                  <a:srgbClr val="2C3C43"/>
                </a:solidFill>
              </a:rPr>
              <a:t>), variance, standard deviation (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</a:t>
            </a:r>
            <a:r>
              <a:rPr sz="1400" b="0">
                <a:solidFill>
                  <a:srgbClr val="2C3C43"/>
                </a:solidFill>
              </a:rPr>
              <a:t>).</a:t>
            </a:r>
          </a:p>
        </p:txBody>
      </p:sp>
      <p:graphicFrame>
        <p:nvGraphicFramePr>
          <p:cNvPr id="6" name="Paired table"/>
          <p:cNvGraphicFramePr>
            <a:graphicFrameLocks noGrp="1"/>
          </p:cNvGraphicFramePr>
          <p:nvPr/>
        </p:nvGraphicFramePr>
        <p:xfrm>
          <a:off x="5303520" y="1371600"/>
          <a:ext cx="356616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23444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Student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Hours (x)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Marks (y)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Intro scatter"/>
          <p:cNvGraphicFramePr>
            <a:graphicFrameLocks noGrp="1"/>
          </p:cNvGraphicFramePr>
          <p:nvPr/>
        </p:nvGraphicFramePr>
        <p:xfrm>
          <a:off x="5303520" y="2606040"/>
          <a:ext cx="35661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Badge 1"/>
          <p:cNvSpPr/>
          <p:nvPr/>
        </p:nvSpPr>
        <p:spPr>
          <a:xfrm>
            <a:off x="5303520" y="52120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Move together?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→ Correlation</a:t>
            </a:r>
          </a:p>
        </p:txBody>
      </p:sp>
      <p:sp>
        <p:nvSpPr>
          <p:cNvPr id="9" name="Badge 2"/>
          <p:cNvSpPr/>
          <p:nvPr/>
        </p:nvSpPr>
        <p:spPr>
          <a:xfrm>
            <a:off x="7132320" y="52120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Predict?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→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Presentation Outline — What Is on Which Page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3</a:t>
            </a:r>
          </a:p>
        </p:txBody>
      </p:sp>
      <p:sp>
        <p:nvSpPr>
          <p:cNvPr id="5" name="Badge p4"/>
          <p:cNvSpPr/>
          <p:nvPr/>
        </p:nvSpPr>
        <p:spPr>
          <a:xfrm>
            <a:off x="731520" y="1371600"/>
            <a:ext cx="402336" cy="402336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Row p4"/>
          <p:cNvSpPr/>
          <p:nvPr/>
        </p:nvSpPr>
        <p:spPr>
          <a:xfrm>
            <a:off x="1280160" y="1371600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w text p4"/>
          <p:cNvSpPr txBox="1"/>
          <p:nvPr/>
        </p:nvSpPr>
        <p:spPr>
          <a:xfrm>
            <a:off x="1371600" y="1371600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4 — Concept 1: Scatter Diagrams &amp; Types of Correlation</a:t>
            </a:r>
          </a:p>
        </p:txBody>
      </p:sp>
      <p:sp>
        <p:nvSpPr>
          <p:cNvPr id="8" name="Badge p5"/>
          <p:cNvSpPr/>
          <p:nvPr/>
        </p:nvSpPr>
        <p:spPr>
          <a:xfrm>
            <a:off x="731520" y="1883664"/>
            <a:ext cx="402336" cy="402336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Row p5"/>
          <p:cNvSpPr/>
          <p:nvPr/>
        </p:nvSpPr>
        <p:spPr>
          <a:xfrm>
            <a:off x="1280160" y="1883664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w text p5"/>
          <p:cNvSpPr txBox="1"/>
          <p:nvPr/>
        </p:nvSpPr>
        <p:spPr>
          <a:xfrm>
            <a:off x="1371600" y="1883664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5 — Concept 2: Karl Pearson's r (formula + meaning)</a:t>
            </a:r>
          </a:p>
        </p:txBody>
      </p:sp>
      <p:sp>
        <p:nvSpPr>
          <p:cNvPr id="11" name="Badge p6"/>
          <p:cNvSpPr/>
          <p:nvPr/>
        </p:nvSpPr>
        <p:spPr>
          <a:xfrm>
            <a:off x="731520" y="2395728"/>
            <a:ext cx="402336" cy="402336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" name="Row p6"/>
          <p:cNvSpPr/>
          <p:nvPr/>
        </p:nvSpPr>
        <p:spPr>
          <a:xfrm>
            <a:off x="1280160" y="2395728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text p6"/>
          <p:cNvSpPr txBox="1"/>
          <p:nvPr/>
        </p:nvSpPr>
        <p:spPr>
          <a:xfrm>
            <a:off x="1371600" y="2395728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6 — Concept 3: Spearman's Rank ρ + Properties of r</a:t>
            </a:r>
          </a:p>
        </p:txBody>
      </p:sp>
      <p:sp>
        <p:nvSpPr>
          <p:cNvPr id="14" name="Badge p7"/>
          <p:cNvSpPr/>
          <p:nvPr/>
        </p:nvSpPr>
        <p:spPr>
          <a:xfrm>
            <a:off x="731520" y="2907792"/>
            <a:ext cx="402336" cy="402336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Row p7"/>
          <p:cNvSpPr/>
          <p:nvPr/>
        </p:nvSpPr>
        <p:spPr>
          <a:xfrm>
            <a:off x="1280160" y="2907792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text p7"/>
          <p:cNvSpPr txBox="1"/>
          <p:nvPr/>
        </p:nvSpPr>
        <p:spPr>
          <a:xfrm>
            <a:off x="1371600" y="2907792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7 — Concept 4: Regression Lines + Least Squares Principle</a:t>
            </a:r>
          </a:p>
        </p:txBody>
      </p:sp>
      <p:sp>
        <p:nvSpPr>
          <p:cNvPr id="17" name="Badge p8"/>
          <p:cNvSpPr/>
          <p:nvPr/>
        </p:nvSpPr>
        <p:spPr>
          <a:xfrm>
            <a:off x="731520" y="3419856"/>
            <a:ext cx="402336" cy="402336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8" name="Row p8"/>
          <p:cNvSpPr/>
          <p:nvPr/>
        </p:nvSpPr>
        <p:spPr>
          <a:xfrm>
            <a:off x="1280160" y="3419856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text p8"/>
          <p:cNvSpPr txBox="1"/>
          <p:nvPr/>
        </p:nvSpPr>
        <p:spPr>
          <a:xfrm>
            <a:off x="1371600" y="3419856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8 — Example 1: Pearson r — Full Calculation</a:t>
            </a:r>
          </a:p>
        </p:txBody>
      </p:sp>
      <p:sp>
        <p:nvSpPr>
          <p:cNvPr id="20" name="Badge p9"/>
          <p:cNvSpPr/>
          <p:nvPr/>
        </p:nvSpPr>
        <p:spPr>
          <a:xfrm>
            <a:off x="731520" y="3931920"/>
            <a:ext cx="402336" cy="402336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" name="Row p9"/>
          <p:cNvSpPr/>
          <p:nvPr/>
        </p:nvSpPr>
        <p:spPr>
          <a:xfrm>
            <a:off x="1280160" y="3931920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text p9"/>
          <p:cNvSpPr txBox="1"/>
          <p:nvPr/>
        </p:nvSpPr>
        <p:spPr>
          <a:xfrm>
            <a:off x="1371600" y="3931920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9 — Example 2: Spearman Rank — Full Calculation</a:t>
            </a:r>
          </a:p>
        </p:txBody>
      </p:sp>
      <p:sp>
        <p:nvSpPr>
          <p:cNvPr id="23" name="Badge p10"/>
          <p:cNvSpPr/>
          <p:nvPr/>
        </p:nvSpPr>
        <p:spPr>
          <a:xfrm>
            <a:off x="731520" y="4443984"/>
            <a:ext cx="402336" cy="402336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4" name="Row p10"/>
          <p:cNvSpPr/>
          <p:nvPr/>
        </p:nvSpPr>
        <p:spPr>
          <a:xfrm>
            <a:off x="1280160" y="4443984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text p10"/>
          <p:cNvSpPr txBox="1"/>
          <p:nvPr/>
        </p:nvSpPr>
        <p:spPr>
          <a:xfrm>
            <a:off x="1371600" y="4443984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10 — Example 3: Both Regression Lines + r from Slopes</a:t>
            </a:r>
          </a:p>
        </p:txBody>
      </p:sp>
      <p:sp>
        <p:nvSpPr>
          <p:cNvPr id="26" name="Badge p11"/>
          <p:cNvSpPr/>
          <p:nvPr/>
        </p:nvSpPr>
        <p:spPr>
          <a:xfrm>
            <a:off x="731520" y="4956048"/>
            <a:ext cx="402336" cy="402336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7" name="Row p11"/>
          <p:cNvSpPr/>
          <p:nvPr/>
        </p:nvSpPr>
        <p:spPr>
          <a:xfrm>
            <a:off x="1280160" y="4956048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text p11"/>
          <p:cNvSpPr txBox="1"/>
          <p:nvPr/>
        </p:nvSpPr>
        <p:spPr>
          <a:xfrm>
            <a:off x="1371600" y="4956048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11 — Example 4: Least-Squares Fit &amp; Prediction</a:t>
            </a:r>
          </a:p>
        </p:txBody>
      </p:sp>
      <p:sp>
        <p:nvSpPr>
          <p:cNvPr id="29" name="Badge p12"/>
          <p:cNvSpPr/>
          <p:nvPr/>
        </p:nvSpPr>
        <p:spPr>
          <a:xfrm>
            <a:off x="731520" y="5468112"/>
            <a:ext cx="402336" cy="402336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0" name="Row p12"/>
          <p:cNvSpPr/>
          <p:nvPr/>
        </p:nvSpPr>
        <p:spPr>
          <a:xfrm>
            <a:off x="1280160" y="5468112"/>
            <a:ext cx="6217920" cy="4023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text p12"/>
          <p:cNvSpPr txBox="1"/>
          <p:nvPr/>
        </p:nvSpPr>
        <p:spPr>
          <a:xfrm>
            <a:off x="1371600" y="5468112"/>
            <a:ext cx="603504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</a:rPr>
              <a:t>Page 12 — Example 5: r² Meaning, Outlier Trap &amp; Viva Points</a:t>
            </a:r>
          </a:p>
        </p:txBody>
      </p:sp>
      <p:sp>
        <p:nvSpPr>
          <p:cNvPr id="32" name="Legend concepts"/>
          <p:cNvSpPr/>
          <p:nvPr/>
        </p:nvSpPr>
        <p:spPr>
          <a:xfrm>
            <a:off x="7635240" y="1371600"/>
            <a:ext cx="1234440" cy="402336"/>
          </a:xfrm>
          <a:prstGeom prst="roundRect">
            <a:avLst>
              <a:gd name="adj" fmla="val 8000"/>
            </a:avLst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Concepts</a:t>
            </a:r>
          </a:p>
        </p:txBody>
      </p:sp>
      <p:sp>
        <p:nvSpPr>
          <p:cNvPr id="33" name="Legend examples"/>
          <p:cNvSpPr/>
          <p:nvPr/>
        </p:nvSpPr>
        <p:spPr>
          <a:xfrm>
            <a:off x="7635240" y="1874519"/>
            <a:ext cx="1234440" cy="402336"/>
          </a:xfrm>
          <a:prstGeom prst="roundRect">
            <a:avLst>
              <a:gd name="adj" fmla="val 8000"/>
            </a:avLst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CONCEPT 1 OF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Concept 1 — Seeing the Relationship First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4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Scatter diagram:</a:t>
            </a:r>
            <a:r>
              <a:rPr sz="1400" b="0">
                <a:solidFill>
                  <a:srgbClr val="2C3C43"/>
                </a:solidFill>
              </a:rPr>
              <a:t> plot each (x, y) as a point; shape shows the relationship.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Positive:</a:t>
            </a:r>
            <a:r>
              <a:rPr sz="1400" b="0">
                <a:solidFill>
                  <a:srgbClr val="2C3C43"/>
                </a:solidFill>
              </a:rPr>
              <a:t> both rise (height–weight). </a:t>
            </a:r>
            <a:r>
              <a:rPr sz="1400" b="1">
                <a:solidFill>
                  <a:srgbClr val="2C3C43"/>
                </a:solidFill>
              </a:rPr>
              <a:t>Negative:</a:t>
            </a:r>
            <a:r>
              <a:rPr sz="1400" b="0">
                <a:solidFill>
                  <a:srgbClr val="2C3C43"/>
                </a:solidFill>
              </a:rPr>
              <a:t> one falls as the other rises (price–demand).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No correlation:</a:t>
            </a:r>
            <a:r>
              <a:rPr sz="1400" b="0">
                <a:solidFill>
                  <a:srgbClr val="2C3C43"/>
                </a:solidFill>
              </a:rPr>
              <a:t> formless cloud. </a:t>
            </a:r>
            <a:r>
              <a:rPr sz="1400" b="1">
                <a:solidFill>
                  <a:srgbClr val="2C3C43"/>
                </a:solidFill>
              </a:rPr>
              <a:t>Non-linear:</a:t>
            </a:r>
            <a:r>
              <a:rPr sz="1400" b="0">
                <a:solidFill>
                  <a:srgbClr val="2C3C43"/>
                </a:solidFill>
              </a:rPr>
              <a:t> curved band (patterned, but r ≈ 0).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Nearer to a straight line → stronger </a:t>
            </a:r>
            <a:r>
              <a:rPr sz="1400" b="1">
                <a:solidFill>
                  <a:srgbClr val="2C3C43"/>
                </a:solidFill>
              </a:rPr>
              <a:t>linear</a:t>
            </a:r>
            <a:r>
              <a:rPr sz="1400" b="0">
                <a:solidFill>
                  <a:srgbClr val="2C3C43"/>
                </a:solidFill>
              </a:rPr>
              <a:t> association.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Always plot first: reveals </a:t>
            </a:r>
            <a:r>
              <a:rPr sz="1400" b="1">
                <a:solidFill>
                  <a:srgbClr val="2C3C43"/>
                </a:solidFill>
              </a:rPr>
              <a:t>outliers</a:t>
            </a:r>
            <a:r>
              <a:rPr sz="1400" b="0">
                <a:solidFill>
                  <a:srgbClr val="2C3C43"/>
                </a:solidFill>
              </a:rPr>
              <a:t> and curvature numbers hide.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Correlation = </a:t>
            </a:r>
            <a:r>
              <a:rPr sz="1400" b="1">
                <a:solidFill>
                  <a:srgbClr val="2C3C43"/>
                </a:solidFill>
              </a:rPr>
              <a:t>association</a:t>
            </a:r>
            <a:r>
              <a:rPr sz="1400" b="0">
                <a:solidFill>
                  <a:srgbClr val="2C3C43"/>
                </a:solidFill>
              </a:rPr>
              <a:t>, not proof of </a:t>
            </a:r>
            <a:r>
              <a:rPr sz="1400" b="1">
                <a:solidFill>
                  <a:srgbClr val="2C3C43"/>
                </a:solidFill>
              </a:rPr>
              <a:t>causation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</p:txBody>
      </p:sp>
      <p:graphicFrame>
        <p:nvGraphicFramePr>
          <p:cNvPr id="6" name="Mini Strong +"/>
          <p:cNvGraphicFramePr>
            <a:graphicFrameLocks noGrp="1"/>
          </p:cNvGraphicFramePr>
          <p:nvPr/>
        </p:nvGraphicFramePr>
        <p:xfrm>
          <a:off x="5166360" y="1371600"/>
          <a:ext cx="1810512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Mini Weak +"/>
          <p:cNvGraphicFramePr>
            <a:graphicFrameLocks noGrp="1"/>
          </p:cNvGraphicFramePr>
          <p:nvPr/>
        </p:nvGraphicFramePr>
        <p:xfrm>
          <a:off x="7040880" y="1371600"/>
          <a:ext cx="1810512" cy="187451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Mini Negative"/>
          <p:cNvGraphicFramePr>
            <a:graphicFrameLocks noGrp="1"/>
          </p:cNvGraphicFramePr>
          <p:nvPr/>
        </p:nvGraphicFramePr>
        <p:xfrm>
          <a:off x="5166360" y="3291840"/>
          <a:ext cx="1810512" cy="187451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Mini None"/>
          <p:cNvGraphicFramePr>
            <a:graphicFrameLocks noGrp="1"/>
          </p:cNvGraphicFramePr>
          <p:nvPr/>
        </p:nvGraphicFramePr>
        <p:xfrm>
          <a:off x="7040880" y="3291840"/>
          <a:ext cx="1810512" cy="187451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Mini curve"/>
          <p:cNvGraphicFramePr>
            <a:graphicFrameLocks noGrp="1"/>
          </p:cNvGraphicFramePr>
          <p:nvPr/>
        </p:nvGraphicFramePr>
        <p:xfrm>
          <a:off x="5166360" y="5212080"/>
          <a:ext cx="3657600" cy="11430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CONCEPT 2 OF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Concept 2 — Karl Pearson's Coefficient r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5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Measures </a:t>
            </a:r>
            <a:r>
              <a:rPr sz="1400" b="1">
                <a:solidFill>
                  <a:srgbClr val="2C3C43"/>
                </a:solidFill>
              </a:rPr>
              <a:t>linear</a:t>
            </a:r>
            <a:r>
              <a:rPr sz="1400" b="0">
                <a:solidFill>
                  <a:srgbClr val="2C3C43"/>
                </a:solidFill>
              </a:rPr>
              <a:t> strength + direction for numeric x, y.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Definition: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Σ(x−x̄)(y−ȳ) / √[Σ(x−x̄)² · Σ(y−ȳ)²]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Hand form: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[nΣxy − ΣxΣy] / √[(nΣx²−(Σx)²)(nΣy²−(Σy)²)]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Range </a:t>
            </a:r>
            <a:r>
              <a:rPr sz="1400" b="1">
                <a:solidFill>
                  <a:srgbClr val="2C3C43"/>
                </a:solidFill>
              </a:rPr>
              <a:t>−1 ≤ r ≤ 1</a:t>
            </a:r>
            <a:r>
              <a:rPr sz="1400" b="0">
                <a:solidFill>
                  <a:srgbClr val="2C3C43"/>
                </a:solidFill>
              </a:rPr>
              <a:t>: +1 perfect rise, −1 perfect fall, 0 no linear link.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Also called </a:t>
            </a:r>
            <a:r>
              <a:rPr sz="1400" b="1">
                <a:solidFill>
                  <a:srgbClr val="2C3C43"/>
                </a:solidFill>
              </a:rPr>
              <a:t>product-moment</a:t>
            </a:r>
            <a:r>
              <a:rPr sz="1400" b="0">
                <a:solidFill>
                  <a:srgbClr val="2C3C43"/>
                </a:solidFill>
              </a:rPr>
              <a:t> coefficient; needs only 5 sums.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Needs interval data, roughly linear cloud, no dominant outlier.</a:t>
            </a:r>
          </a:p>
        </p:txBody>
      </p:sp>
      <p:sp>
        <p:nvSpPr>
          <p:cNvPr id="6" name="Formula card"/>
          <p:cNvSpPr/>
          <p:nvPr/>
        </p:nvSpPr>
        <p:spPr>
          <a:xfrm>
            <a:off x="525780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4A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label"/>
          <p:cNvSpPr txBox="1"/>
          <p:nvPr/>
        </p:nvSpPr>
        <p:spPr>
          <a:xfrm>
            <a:off x="5349240" y="1417320"/>
            <a:ext cx="3383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Karl Pearson’s coefficient</a:t>
            </a:r>
          </a:p>
        </p:txBody>
      </p:sp>
      <p:sp>
        <p:nvSpPr>
          <p:cNvPr id="8" name="r equals"/>
          <p:cNvSpPr txBox="1"/>
          <p:nvPr/>
        </p:nvSpPr>
        <p:spPr>
          <a:xfrm>
            <a:off x="5349240" y="214884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C3C43"/>
                </a:solidFill>
                <a:latin typeface="Cambria Math"/>
              </a:rPr>
              <a:t>r =</a:t>
            </a:r>
          </a:p>
        </p:txBody>
      </p:sp>
      <p:sp>
        <p:nvSpPr>
          <p:cNvPr id="9" name="Numerator"/>
          <p:cNvSpPr txBox="1"/>
          <p:nvPr/>
        </p:nvSpPr>
        <p:spPr>
          <a:xfrm>
            <a:off x="5989320" y="178308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C3C43"/>
                </a:solidFill>
                <a:latin typeface="Cambria Math"/>
              </a:rPr>
              <a:t>Σ(x − x̄)(y − ȳ)</a:t>
            </a:r>
          </a:p>
        </p:txBody>
      </p:sp>
      <p:cxnSp>
        <p:nvCxnSpPr>
          <p:cNvPr id="10" name="Fraction bar"/>
          <p:cNvCxnSpPr/>
          <p:nvPr/>
        </p:nvCxnSpPr>
        <p:spPr>
          <a:xfrm>
            <a:off x="6035040" y="2377440"/>
            <a:ext cx="2743200" cy="0"/>
          </a:xfrm>
          <a:prstGeom prst="line">
            <a:avLst/>
          </a:prstGeom>
          <a:ln w="19050">
            <a:solidFill>
              <a:srgbClr val="2C3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enominator"/>
          <p:cNvSpPr txBox="1"/>
          <p:nvPr/>
        </p:nvSpPr>
        <p:spPr>
          <a:xfrm>
            <a:off x="5989320" y="246888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C3C43"/>
                </a:solidFill>
                <a:latin typeface="Cambria Math"/>
              </a:rPr>
              <a:t>√[ Σ(x − x̄)² · Σ(y − ȳ)² ]</a:t>
            </a:r>
          </a:p>
        </p:txBody>
      </p:sp>
      <p:sp>
        <p:nvSpPr>
          <p:cNvPr id="12" name="Range note"/>
          <p:cNvSpPr txBox="1"/>
          <p:nvPr/>
        </p:nvSpPr>
        <p:spPr>
          <a:xfrm>
            <a:off x="5349240" y="2971800"/>
            <a:ext cx="3383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</a:rPr>
              <a:t>−1 ≤ r ≤ +1</a:t>
            </a:r>
          </a:p>
        </p:txBody>
      </p:sp>
      <p:graphicFrame>
        <p:nvGraphicFramePr>
          <p:cNvPr id="13" name="Pearson scatter"/>
          <p:cNvGraphicFramePr>
            <a:graphicFrameLocks noGrp="1"/>
          </p:cNvGraphicFramePr>
          <p:nvPr/>
        </p:nvGraphicFramePr>
        <p:xfrm>
          <a:off x="5257800" y="3429000"/>
          <a:ext cx="361188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CONCEPT 3 OF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Concept 3 — Spearman’s ρ and Properties of r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6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When:</a:t>
            </a:r>
            <a:r>
              <a:rPr sz="1400" b="0">
                <a:solidFill>
                  <a:srgbClr val="2C3C43"/>
                </a:solidFill>
              </a:rPr>
              <a:t> ranks / ordered judgments, or curved-but-monotone relation; robust to outliers.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Rank x and y as 1…n;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d = R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− R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</a:t>
            </a:r>
            <a:r>
              <a:rPr sz="1400" b="0">
                <a:solidFill>
                  <a:srgbClr val="2C3C43"/>
                </a:solidFill>
              </a:rPr>
              <a:t>; then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ρ = 1 − 6Σd² / n(n²−1)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Tied ranks: give average rank, use tie-corrected formula.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Range again </a:t>
            </a:r>
            <a:r>
              <a:rPr sz="1400" b="1">
                <a:solidFill>
                  <a:srgbClr val="2C3C43"/>
                </a:solidFill>
              </a:rPr>
              <a:t>−1 ≤ ρ ≤ 1</a:t>
            </a:r>
            <a:r>
              <a:rPr sz="1400" b="0">
                <a:solidFill>
                  <a:srgbClr val="2C3C43"/>
                </a:solidFill>
              </a:rPr>
              <a:t>, read exactly like r.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Properties of r: </a:t>
            </a:r>
            <a:r>
              <a:rPr sz="1400" b="1">
                <a:solidFill>
                  <a:srgbClr val="2C3C43"/>
                </a:solidFill>
              </a:rPr>
              <a:t>independent of origin &amp; scale</a:t>
            </a:r>
            <a:r>
              <a:rPr sz="1400" b="0">
                <a:solidFill>
                  <a:srgbClr val="2C3C43"/>
                </a:solidFill>
              </a:rPr>
              <a:t>; symmetric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r(x,y) = r(y,x)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Same sign as regression slopes;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0</a:t>
            </a:r>
            <a:r>
              <a:rPr sz="1400" b="0">
                <a:solidFill>
                  <a:srgbClr val="2C3C43"/>
                </a:solidFill>
              </a:rPr>
              <a:t> kills the linear link only, not all pattern.</a:t>
            </a:r>
          </a:p>
        </p:txBody>
      </p:sp>
      <p:graphicFrame>
        <p:nvGraphicFramePr>
          <p:cNvPr id="6" name="Rank table"/>
          <p:cNvGraphicFramePr>
            <a:graphicFrameLocks noGrp="1"/>
          </p:cNvGraphicFramePr>
          <p:nvPr/>
        </p:nvGraphicFramePr>
        <p:xfrm>
          <a:off x="5303520" y="1371600"/>
          <a:ext cx="356616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0080"/>
                <a:gridCol w="548640"/>
                <a:gridCol w="548640"/>
                <a:gridCol w="5486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Rₓ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Rᵧ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d²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+1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−2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+1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3C43"/>
                          </a:solidFill>
                        </a:rPr>
                        <a:t>Σ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3C43"/>
                          </a:solidFill>
                        </a:rPr>
                        <a:t>Σd² = 6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</a:tr>
            </a:tbl>
          </a:graphicData>
        </a:graphic>
      </p:graphicFrame>
      <p:sp>
        <p:nvSpPr>
          <p:cNvPr id="7" name="Gauge title"/>
          <p:cNvSpPr txBox="1"/>
          <p:nvPr/>
        </p:nvSpPr>
        <p:spPr>
          <a:xfrm>
            <a:off x="5303520" y="301752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3C43"/>
                </a:solidFill>
              </a:rPr>
              <a:t>Strength guide for |r| or |ρ|</a:t>
            </a:r>
          </a:p>
        </p:txBody>
      </p:sp>
      <p:sp>
        <p:nvSpPr>
          <p:cNvPr id="8" name="Gauge strong"/>
          <p:cNvSpPr/>
          <p:nvPr/>
        </p:nvSpPr>
        <p:spPr>
          <a:xfrm>
            <a:off x="5303520" y="3520440"/>
            <a:ext cx="534924" cy="457200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9" name="Gauge moderate"/>
          <p:cNvSpPr/>
          <p:nvPr/>
        </p:nvSpPr>
        <p:spPr>
          <a:xfrm>
            <a:off x="5838444" y="3520440"/>
            <a:ext cx="534924" cy="457200"/>
          </a:xfrm>
          <a:prstGeom prst="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800" b="0">
                <a:solidFill>
                  <a:srgbClr val="2C3C43"/>
                </a:solidFill>
              </a:rPr>
              <a:t>moderate</a:t>
            </a:r>
          </a:p>
        </p:txBody>
      </p:sp>
      <p:sp>
        <p:nvSpPr>
          <p:cNvPr id="10" name="Gauge weak"/>
          <p:cNvSpPr/>
          <p:nvPr/>
        </p:nvSpPr>
        <p:spPr>
          <a:xfrm>
            <a:off x="6373368" y="3520440"/>
            <a:ext cx="1426464" cy="4572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900" b="0">
                <a:solidFill>
                  <a:srgbClr val="2C3C43"/>
                </a:solidFill>
              </a:rPr>
              <a:t>weak</a:t>
            </a:r>
          </a:p>
        </p:txBody>
      </p:sp>
      <p:sp>
        <p:nvSpPr>
          <p:cNvPr id="11" name="Gauge moderate"/>
          <p:cNvSpPr/>
          <p:nvPr/>
        </p:nvSpPr>
        <p:spPr>
          <a:xfrm>
            <a:off x="7799831" y="3520440"/>
            <a:ext cx="534924" cy="457200"/>
          </a:xfrm>
          <a:prstGeom prst="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800" b="0">
                <a:solidFill>
                  <a:srgbClr val="2C3C43"/>
                </a:solidFill>
              </a:rPr>
              <a:t>moderate</a:t>
            </a:r>
          </a:p>
        </p:txBody>
      </p:sp>
      <p:sp>
        <p:nvSpPr>
          <p:cNvPr id="12" name="Gauge strong"/>
          <p:cNvSpPr/>
          <p:nvPr/>
        </p:nvSpPr>
        <p:spPr>
          <a:xfrm>
            <a:off x="8334755" y="3520440"/>
            <a:ext cx="534924" cy="457200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13" name="Tick −1"/>
          <p:cNvSpPr txBox="1"/>
          <p:nvPr/>
        </p:nvSpPr>
        <p:spPr>
          <a:xfrm>
            <a:off x="5029200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−1</a:t>
            </a:r>
          </a:p>
        </p:txBody>
      </p:sp>
      <p:sp>
        <p:nvSpPr>
          <p:cNvPr id="14" name="Tick −0.7"/>
          <p:cNvSpPr txBox="1"/>
          <p:nvPr/>
        </p:nvSpPr>
        <p:spPr>
          <a:xfrm>
            <a:off x="5564124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−0.7</a:t>
            </a:r>
          </a:p>
        </p:txBody>
      </p:sp>
      <p:sp>
        <p:nvSpPr>
          <p:cNvPr id="15" name="Tick −0.4"/>
          <p:cNvSpPr txBox="1"/>
          <p:nvPr/>
        </p:nvSpPr>
        <p:spPr>
          <a:xfrm>
            <a:off x="6099048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−0.4</a:t>
            </a:r>
          </a:p>
        </p:txBody>
      </p:sp>
      <p:sp>
        <p:nvSpPr>
          <p:cNvPr id="16" name="Tick 0"/>
          <p:cNvSpPr txBox="1"/>
          <p:nvPr/>
        </p:nvSpPr>
        <p:spPr>
          <a:xfrm>
            <a:off x="6812280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17" name="Tick 0.4"/>
          <p:cNvSpPr txBox="1"/>
          <p:nvPr/>
        </p:nvSpPr>
        <p:spPr>
          <a:xfrm>
            <a:off x="7525511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0.4</a:t>
            </a:r>
          </a:p>
        </p:txBody>
      </p:sp>
      <p:sp>
        <p:nvSpPr>
          <p:cNvPr id="18" name="Tick 0.7"/>
          <p:cNvSpPr txBox="1"/>
          <p:nvPr/>
        </p:nvSpPr>
        <p:spPr>
          <a:xfrm>
            <a:off x="8060436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0.7</a:t>
            </a:r>
          </a:p>
        </p:txBody>
      </p:sp>
      <p:sp>
        <p:nvSpPr>
          <p:cNvPr id="19" name="Tick +1"/>
          <p:cNvSpPr txBox="1"/>
          <p:nvPr/>
        </p:nvSpPr>
        <p:spPr>
          <a:xfrm>
            <a:off x="8595359" y="402336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+1</a:t>
            </a:r>
          </a:p>
        </p:txBody>
      </p:sp>
      <p:sp>
        <p:nvSpPr>
          <p:cNvPr id="20" name="Gauge note"/>
          <p:cNvSpPr txBox="1"/>
          <p:nvPr/>
        </p:nvSpPr>
        <p:spPr>
          <a:xfrm>
            <a:off x="5303520" y="44348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</a:rPr>
              <a:t>Read the sign for direction, the size for strength.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</a:rPr>
              <a:t>Spearman needs only order, not exact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CONCEPT 4 OF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Concept 4 — Regression &amp; Least Squares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7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25880"/>
            <a:ext cx="45262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Correlation measures; </a:t>
            </a:r>
            <a:r>
              <a:rPr sz="1400" b="1">
                <a:solidFill>
                  <a:srgbClr val="2C3C43"/>
                </a:solidFill>
              </a:rPr>
              <a:t>regression predicts</a:t>
            </a:r>
            <a:r>
              <a:rPr sz="1400" b="0">
                <a:solidFill>
                  <a:srgbClr val="2C3C43"/>
                </a:solidFill>
              </a:rPr>
              <a:t>: y on x predicts y; x on y predicts x.</a:t>
            </a:r>
          </a:p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Slopes: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r·(σ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/σ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)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r·(σ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/σ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)</a:t>
            </a:r>
            <a:r>
              <a:rPr sz="1400" b="0">
                <a:solidFill>
                  <a:srgbClr val="2C3C43"/>
                </a:solidFill>
              </a:rPr>
              <a:t> — same sign as r.</a:t>
            </a:r>
          </a:p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Lines: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(y−ȳ) = 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(x−x̄)</a:t>
            </a:r>
            <a:r>
              <a:rPr sz="1400" b="0">
                <a:solidFill>
                  <a:srgbClr val="2C3C43"/>
                </a:solidFill>
              </a:rPr>
              <a:t> and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(x−x̄) = 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(y−ȳ)</a:t>
            </a:r>
            <a:r>
              <a:rPr sz="1400" b="0">
                <a:solidFill>
                  <a:srgbClr val="2C3C43"/>
                </a:solidFill>
              </a:rPr>
              <a:t>; meet at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(x̄, ȳ)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Link: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±√(b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·b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)</a:t>
            </a:r>
            <a:r>
              <a:rPr sz="1400" b="0">
                <a:solidFill>
                  <a:srgbClr val="2C3C43"/>
                </a:solidFill>
              </a:rPr>
              <a:t>; lines coincide only if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|r| = 1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Least squares:</a:t>
            </a:r>
            <a:r>
              <a:rPr sz="1400" b="0">
                <a:solidFill>
                  <a:srgbClr val="2C3C43"/>
                </a:solidFill>
              </a:rPr>
              <a:t> fit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y = a + bx</a:t>
            </a:r>
            <a:r>
              <a:rPr sz="1400" b="0">
                <a:solidFill>
                  <a:srgbClr val="2C3C43"/>
                </a:solidFill>
              </a:rPr>
              <a:t> by minimising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Σ(yᵢ−a−bxᵢ)²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7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Normal equations: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Σy = na + bΣx</a:t>
            </a:r>
            <a:r>
              <a:rPr sz="1400" b="0">
                <a:solidFill>
                  <a:srgbClr val="2C3C43"/>
                </a:solidFill>
              </a:rPr>
              <a:t>;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Σxy = aΣx + bΣx²</a:t>
            </a:r>
            <a:r>
              <a:rPr sz="1400" b="0">
                <a:solidFill>
                  <a:srgbClr val="2C3C43"/>
                </a:solidFill>
              </a:rPr>
              <a:t> → b, then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a = ȳ − bx̄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</p:txBody>
      </p:sp>
      <p:graphicFrame>
        <p:nvGraphicFramePr>
          <p:cNvPr id="6" name="Regression plot"/>
          <p:cNvGraphicFramePr>
            <a:graphicFrameLocks noGrp="1"/>
          </p:cNvGraphicFramePr>
          <p:nvPr/>
        </p:nvGraphicFramePr>
        <p:xfrm>
          <a:off x="5257800" y="1325880"/>
          <a:ext cx="36118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Plot key"/>
          <p:cNvSpPr txBox="1"/>
          <p:nvPr/>
        </p:nvSpPr>
        <p:spPr>
          <a:xfrm>
            <a:off x="5257800" y="5394960"/>
            <a:ext cx="3611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</a:rPr>
              <a:t>Green:</a:t>
            </a:r>
            <a:r>
              <a:rPr sz="1100" b="0">
                <a:solidFill>
                  <a:srgbClr val="595959"/>
                </a:solidFill>
              </a:rPr>
              <a:t> y on x   </a:t>
            </a:r>
            <a:r>
              <a:rPr sz="1100" b="1">
                <a:solidFill>
                  <a:srgbClr val="595959"/>
                </a:solidFill>
              </a:rPr>
              <a:t>Orange:</a:t>
            </a:r>
            <a:r>
              <a:rPr sz="1100" b="0">
                <a:solidFill>
                  <a:srgbClr val="595959"/>
                </a:solidFill>
              </a:rPr>
              <a:t> x on y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</a:rPr>
              <a:t>Red dashes:</a:t>
            </a:r>
            <a:r>
              <a:rPr sz="1100" b="0">
                <a:solidFill>
                  <a:srgbClr val="595959"/>
                </a:solidFill>
              </a:rPr>
              <a:t> residuals — vertical gaps that least squares minimises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EXAMPLE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Example 1 — Pearson r Step by Step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8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Data (hours x, marks y): (2,40), (4,50), (6,60), (8,70), (10,80); n = 5.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Sums: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 = 30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Σy = 300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Σxy = 2000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Σx² = 220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Σy² = 19000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Numerator: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nΣxy − ΣxΣy = 5·2000 − 30·300 = 1000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Denominator: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√[(1100−900)(95000−90000)] = √(200·5000) = 1000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Result: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1000/1000 = +1</a:t>
            </a:r>
            <a:r>
              <a:rPr sz="1400" b="0">
                <a:solidFill>
                  <a:srgbClr val="2C3C43"/>
                </a:solidFill>
              </a:rPr>
              <a:t> — perfect positive linear.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Read: points lie exactly on a line; the scatter is a straight rise.</a:t>
            </a:r>
          </a:p>
        </p:txBody>
      </p:sp>
      <p:graphicFrame>
        <p:nvGraphicFramePr>
          <p:cNvPr id="6" name="Sums table"/>
          <p:cNvGraphicFramePr>
            <a:graphicFrameLocks noGrp="1"/>
          </p:cNvGraphicFramePr>
          <p:nvPr/>
        </p:nvGraphicFramePr>
        <p:xfrm>
          <a:off x="5303520" y="1371600"/>
          <a:ext cx="356616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640080"/>
                <a:gridCol w="731520"/>
                <a:gridCol w="73152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xy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x²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y²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1600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200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16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2500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360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3600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560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4900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6400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3C43"/>
                          </a:solidFill>
                        </a:rPr>
                        <a:t>30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3C43"/>
                          </a:solidFill>
                        </a:rPr>
                        <a:t>300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3C43"/>
                          </a:solidFill>
                        </a:rPr>
                        <a:t>2000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3C43"/>
                          </a:solidFill>
                        </a:rPr>
                        <a:t>220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C3C43"/>
                          </a:solidFill>
                        </a:rPr>
                        <a:t>19000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Example 1 scatter"/>
          <p:cNvGraphicFramePr>
            <a:graphicFrameLocks noGrp="1"/>
          </p:cNvGraphicFramePr>
          <p:nvPr/>
        </p:nvGraphicFramePr>
        <p:xfrm>
          <a:off x="5303520" y="3383280"/>
          <a:ext cx="356616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EXAMPLE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Example 2 — Spearman ρ Step by Step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9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Data: 5 students ranked by two judges — Rx: 1,2,3,4,5; Ry: 2,1,4,3,5.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Gaps: d = −1,+1,−1,+1,0 → d² = 1,1,1,1,0 → </a:t>
            </a:r>
            <a:r>
              <a:rPr sz="1400" b="1">
                <a:solidFill>
                  <a:srgbClr val="2C3C43"/>
                </a:solidFill>
              </a:rPr>
              <a:t>Σd² = 4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  <a:latin typeface="Cambria Math"/>
              </a:rPr>
              <a:t>ρ = 1 − 6·4 / 5(25−1) = 1 − 24/120 = 0.8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Result: </a:t>
            </a:r>
            <a:r>
              <a:rPr sz="1400" b="1">
                <a:solidFill>
                  <a:srgbClr val="2C3C43"/>
                </a:solidFill>
              </a:rPr>
              <a:t>strong positive agreement</a:t>
            </a:r>
            <a:r>
              <a:rPr sz="1400" b="0">
                <a:solidFill>
                  <a:srgbClr val="2C3C43"/>
                </a:solidFill>
              </a:rPr>
              <a:t> between judges.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If a tie occurred: average the tied ranks, apply tie correction.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Contrast: Pearson needs marks; Spearman needs only order.</a:t>
            </a:r>
          </a:p>
        </p:txBody>
      </p:sp>
      <p:graphicFrame>
        <p:nvGraphicFramePr>
          <p:cNvPr id="6" name="Rank table"/>
          <p:cNvGraphicFramePr>
            <a:graphicFrameLocks noGrp="1"/>
          </p:cNvGraphicFramePr>
          <p:nvPr/>
        </p:nvGraphicFramePr>
        <p:xfrm>
          <a:off x="5303520" y="1371600"/>
          <a:ext cx="3566160" cy="21122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640080"/>
                <a:gridCol w="640080"/>
                <a:gridCol w="731520"/>
                <a:gridCol w="64008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Student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Rₓ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Rᵧ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d²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−1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+1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−1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+1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3C43"/>
                          </a:solidFill>
                        </a:rPr>
                        <a:t>Σd² =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E6F0C8"/>
                    </a:solidFill>
                  </a:tcPr>
                </a:tc>
              </a:tr>
            </a:tbl>
          </a:graphicData>
        </a:graphic>
      </p:graphicFrame>
      <p:sp>
        <p:nvSpPr>
          <p:cNvPr id="7" name="Result card"/>
          <p:cNvSpPr/>
          <p:nvPr/>
        </p:nvSpPr>
        <p:spPr>
          <a:xfrm>
            <a:off x="5303520" y="38404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6F0C8"/>
          </a:solidFill>
          <a:ln w="19050">
            <a:solidFill>
              <a:srgbClr val="54A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label"/>
          <p:cNvSpPr txBox="1"/>
          <p:nvPr/>
        </p:nvSpPr>
        <p:spPr>
          <a:xfrm>
            <a:off x="5394960" y="388620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4A021"/>
                </a:solidFill>
              </a:rPr>
              <a:t>Substitute into the formula</a:t>
            </a:r>
          </a:p>
        </p:txBody>
      </p:sp>
      <p:sp>
        <p:nvSpPr>
          <p:cNvPr id="9" name="Card formula"/>
          <p:cNvSpPr txBox="1"/>
          <p:nvPr/>
        </p:nvSpPr>
        <p:spPr>
          <a:xfrm>
            <a:off x="5394960" y="4251960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C3C43"/>
                </a:solidFill>
                <a:latin typeface="Cambria Math"/>
              </a:rPr>
              <a:t>ρ = 1 − 6(4) / [5(25−1)]</a:t>
            </a:r>
          </a:p>
        </p:txBody>
      </p:sp>
      <p:sp>
        <p:nvSpPr>
          <p:cNvPr id="10" name="Card result"/>
          <p:cNvSpPr txBox="1"/>
          <p:nvPr/>
        </p:nvSpPr>
        <p:spPr>
          <a:xfrm>
            <a:off x="5394960" y="4754880"/>
            <a:ext cx="3383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2C3C43"/>
                </a:solidFill>
                <a:latin typeface="Cambria Math"/>
              </a:rPr>
              <a:t>ρ = 0.8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EXAMPLE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Example 3 — Finding Both Regression Lines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10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25880"/>
            <a:ext cx="45262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Given: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x̄ = 6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ȳ = 60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2.83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14.14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+1</a:t>
            </a:r>
            <a:r>
              <a:rPr sz="1400" b="0">
                <a:solidFill>
                  <a:srgbClr val="2C3C43"/>
                </a:solidFill>
              </a:rPr>
              <a:t> (Example 1).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  <a:latin typeface="Cambria Math"/>
              </a:rPr>
              <a:t>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yx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1·(14.14/2.83) = 5.0</a:t>
            </a:r>
            <a:r>
              <a:rPr sz="1400" b="0">
                <a:solidFill>
                  <a:srgbClr val="2C3C43"/>
                </a:solidFill>
              </a:rPr>
              <a:t> →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(y−60) = 5(x−6)</a:t>
            </a:r>
            <a:r>
              <a:rPr sz="1400" b="0">
                <a:solidFill>
                  <a:srgbClr val="2C3C43"/>
                </a:solidFill>
              </a:rPr>
              <a:t> → </a:t>
            </a:r>
            <a:r>
              <a:rPr sz="1400" b="1">
                <a:solidFill>
                  <a:srgbClr val="2C3C43"/>
                </a:solidFill>
                <a:latin typeface="Cambria Math"/>
              </a:rPr>
              <a:t>y = 5x + 30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  <a:latin typeface="Cambria Math"/>
              </a:rPr>
              <a:t>b</a:t>
            </a:r>
            <a:r>
              <a:rPr sz="1400" b="0" baseline="-25000">
                <a:solidFill>
                  <a:srgbClr val="2C3C43"/>
                </a:solidFill>
                <a:latin typeface="Cambria Math"/>
              </a:rPr>
              <a:t>xy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 = 1·(2.83/14.14) = 0.2</a:t>
            </a:r>
            <a:r>
              <a:rPr sz="1400" b="0">
                <a:solidFill>
                  <a:srgbClr val="2C3C43"/>
                </a:solidFill>
              </a:rPr>
              <a:t> →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(x−6) = 0.2(y−60)</a:t>
            </a:r>
            <a:r>
              <a:rPr sz="1400" b="0">
                <a:solidFill>
                  <a:srgbClr val="2C3C43"/>
                </a:solidFill>
              </a:rPr>
              <a:t> → </a:t>
            </a:r>
            <a:r>
              <a:rPr sz="1400" b="1">
                <a:solidFill>
                  <a:srgbClr val="2C3C43"/>
                </a:solidFill>
                <a:latin typeface="Cambria Math"/>
              </a:rPr>
              <a:t>x = 0.2y − 6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Check: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√(5·0.2) = √1 = 1 = r</a:t>
            </a:r>
            <a:r>
              <a:rPr sz="1400" b="0">
                <a:solidFill>
                  <a:srgbClr val="2C3C43"/>
                </a:solidFill>
              </a:rPr>
              <a:t> — identity holds, sign positive.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Both lines cross at </a:t>
            </a:r>
            <a:r>
              <a:rPr sz="1400" b="1">
                <a:solidFill>
                  <a:srgbClr val="2C3C43"/>
                </a:solidFill>
              </a:rPr>
              <a:t>(6, 60)</a:t>
            </a:r>
            <a:r>
              <a:rPr sz="1400" b="0">
                <a:solidFill>
                  <a:srgbClr val="2C3C43"/>
                </a:solidFill>
              </a:rPr>
              <a:t> — always verify this point.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y on x predicts marks; x on y predicts hours for a target mark.</a:t>
            </a:r>
          </a:p>
        </p:txBody>
      </p:sp>
      <p:graphicFrame>
        <p:nvGraphicFramePr>
          <p:cNvPr id="6" name="Example 3 plot"/>
          <p:cNvGraphicFramePr>
            <a:graphicFrameLocks noGrp="1"/>
          </p:cNvGraphicFramePr>
          <p:nvPr/>
        </p:nvGraphicFramePr>
        <p:xfrm>
          <a:off x="5257800" y="1371600"/>
          <a:ext cx="36118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Plot note"/>
          <p:cNvSpPr txBox="1"/>
          <p:nvPr/>
        </p:nvSpPr>
        <p:spPr>
          <a:xfrm>
            <a:off x="5257800" y="5303520"/>
            <a:ext cx="36118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Here r = 1, so the y-on-x and x-on-y lines coincide — the two sloped forms are the same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EXAMPLE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Example 4 — Least-Squares Line &amp; Forecast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11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25880"/>
            <a:ext cx="45262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Same data: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n=5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Σx=30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Σy=300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Σxy=2000</a:t>
            </a:r>
            <a:r>
              <a:rPr sz="1400" b="0">
                <a:solidFill>
                  <a:srgbClr val="2C3C43"/>
                </a:solidFill>
              </a:rPr>
              <a:t>,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Σx²=220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Slope: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b = [5·2000 − 30·300]/[5·220 − 900] = 1000/200 = 5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Intercept: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a = ȳ − bx̄ = 60 − 5·6 = 30</a:t>
            </a:r>
            <a:r>
              <a:rPr sz="1400" b="0">
                <a:solidFill>
                  <a:srgbClr val="2C3C43"/>
                </a:solidFill>
              </a:rPr>
              <a:t> → </a:t>
            </a:r>
            <a:r>
              <a:rPr sz="1400" b="1">
                <a:solidFill>
                  <a:srgbClr val="2C3C43"/>
                </a:solidFill>
                <a:latin typeface="Cambria Math"/>
              </a:rPr>
              <a:t>y = 30 + 5x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Predict x = 7 hrs: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y = 30 + 35 = 65</a:t>
            </a:r>
            <a:r>
              <a:rPr sz="1400" b="0">
                <a:solidFill>
                  <a:srgbClr val="2C3C43"/>
                </a:solidFill>
              </a:rPr>
              <a:t> marks (interpolation — safe).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Predict x = 12 hrs: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y = 90</a:t>
            </a:r>
            <a:r>
              <a:rPr sz="1400" b="0">
                <a:solidFill>
                  <a:srgbClr val="2C3C43"/>
                </a:solidFill>
              </a:rPr>
              <a:t> — extrapolation, flag as risky.</a:t>
            </a:r>
          </a:p>
          <a:p>
            <a:pPr algn="l" marL="228600" indent="-228600">
              <a:spcAft>
                <a:spcPts val="8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Same line as regression y on x — least squares is its engine.</a:t>
            </a:r>
          </a:p>
        </p:txBody>
      </p:sp>
      <p:graphicFrame>
        <p:nvGraphicFramePr>
          <p:cNvPr id="6" name="Fit table"/>
          <p:cNvGraphicFramePr>
            <a:graphicFrameLocks noGrp="1"/>
          </p:cNvGraphicFramePr>
          <p:nvPr/>
        </p:nvGraphicFramePr>
        <p:xfrm>
          <a:off x="5257800" y="1325880"/>
          <a:ext cx="3611880" cy="14813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914400"/>
                <a:gridCol w="10058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x (hrs)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 (marks)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ŷ = 30+5x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Residual</a:t>
                      </a:r>
                    </a:p>
                  </a:txBody>
                  <a:tcPr marL="45720" marR="45720" marT="18288" marB="18288" anchor="ctr">
                    <a:solidFill>
                      <a:srgbClr val="2C3C4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C43"/>
                          </a:solidFill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Example 4 plot"/>
          <p:cNvGraphicFramePr>
            <a:graphicFrameLocks noGrp="1"/>
          </p:cNvGraphicFramePr>
          <p:nvPr/>
        </p:nvGraphicFramePr>
        <p:xfrm>
          <a:off x="5257800" y="2926080"/>
          <a:ext cx="36118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EXAMPLE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Example 5 — Reading r Correctly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12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640080" y="1371600"/>
            <a:ext cx="44805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r² (determination):</a:t>
            </a:r>
            <a:r>
              <a:rPr sz="1400" b="0">
                <a:solidFill>
                  <a:srgbClr val="2C3C43"/>
                </a:solidFill>
              </a:rPr>
              <a:t> share of y-variation explained —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0.8 → r² = 0.64 = 64%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Example 1: </a:t>
            </a:r>
            <a:r>
              <a:rPr sz="1400" b="0">
                <a:solidFill>
                  <a:srgbClr val="2C3C43"/>
                </a:solidFill>
                <a:latin typeface="Cambria Math"/>
              </a:rPr>
              <a:t>r = 1 → r² = 1</a:t>
            </a:r>
            <a:r>
              <a:rPr sz="1400" b="0">
                <a:solidFill>
                  <a:srgbClr val="2C3C43"/>
                </a:solidFill>
              </a:rPr>
              <a:t> — 100% explained (idealised classroom data).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Outlier trap:</a:t>
            </a:r>
            <a:r>
              <a:rPr sz="1400" b="0">
                <a:solidFill>
                  <a:srgbClr val="2C3C43"/>
                </a:solidFill>
              </a:rPr>
              <a:t> adding one stray point (10, 20) drops r from 1.00 to ≈ 0.19 — always plot.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1">
                <a:solidFill>
                  <a:srgbClr val="2C3C43"/>
                </a:solidFill>
              </a:rPr>
              <a:t>Causation trap:</a:t>
            </a:r>
            <a:r>
              <a:rPr sz="1400" b="0">
                <a:solidFill>
                  <a:srgbClr val="2C3C43"/>
                </a:solidFill>
              </a:rPr>
              <a:t> ice-cream vs drowning correlate via heat — a hidden third variable.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Exam checklist: report </a:t>
            </a:r>
            <a:r>
              <a:rPr sz="1400" b="1">
                <a:solidFill>
                  <a:srgbClr val="2C3C43"/>
                </a:solidFill>
              </a:rPr>
              <a:t>plot + r + r²</a:t>
            </a:r>
            <a:r>
              <a:rPr sz="1400" b="0">
                <a:solidFill>
                  <a:srgbClr val="2C3C43"/>
                </a:solidFill>
              </a:rPr>
              <a:t>; state direction; never extrapolate silently.</a:t>
            </a:r>
          </a:p>
        </p:txBody>
      </p:sp>
      <p:sp>
        <p:nvSpPr>
          <p:cNvPr id="6" name="Bar title"/>
          <p:cNvSpPr txBox="1"/>
          <p:nvPr/>
        </p:nvSpPr>
        <p:spPr>
          <a:xfrm>
            <a:off x="5303520" y="137160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3C43"/>
                </a:solidFill>
              </a:rPr>
              <a:t>Variation in y when r = 0.8</a:t>
            </a:r>
          </a:p>
        </p:txBody>
      </p:sp>
      <p:sp>
        <p:nvSpPr>
          <p:cNvPr id="7" name="Explained"/>
          <p:cNvSpPr/>
          <p:nvPr/>
        </p:nvSpPr>
        <p:spPr>
          <a:xfrm>
            <a:off x="5303520" y="1691640"/>
            <a:ext cx="2286000" cy="548640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Explained r² = 64%</a:t>
            </a:r>
          </a:p>
        </p:txBody>
      </p:sp>
      <p:sp>
        <p:nvSpPr>
          <p:cNvPr id="8" name="Unexplained"/>
          <p:cNvSpPr/>
          <p:nvPr/>
        </p:nvSpPr>
        <p:spPr>
          <a:xfrm>
            <a:off x="7589520" y="1691640"/>
            <a:ext cx="1280160" cy="548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2C3C43"/>
                </a:solidFill>
              </a:rPr>
              <a:t>Unexplained 36%</a:t>
            </a:r>
          </a:p>
        </p:txBody>
      </p:sp>
      <p:graphicFrame>
        <p:nvGraphicFramePr>
          <p:cNvPr id="9" name="Outlier plot"/>
          <p:cNvGraphicFramePr>
            <a:graphicFrameLocks noGrp="1"/>
          </p:cNvGraphicFramePr>
          <p:nvPr/>
        </p:nvGraphicFramePr>
        <p:xfrm>
          <a:off x="5303520" y="2423160"/>
          <a:ext cx="356616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Caution outlier"/>
          <p:cNvSpPr/>
          <p:nvPr/>
        </p:nvSpPr>
        <p:spPr>
          <a:xfrm>
            <a:off x="5303520" y="548640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2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C42F1A"/>
                </a:solidFill>
              </a:rPr>
              <a:t>⚠ Outlier:</a:t>
            </a:r>
          </a:p>
          <a:p>
            <a:pPr algn="ctr"/>
            <a:r>
              <a:rPr sz="1100" b="1">
                <a:solidFill>
                  <a:srgbClr val="C42F1A"/>
                </a:solidFill>
              </a:rPr>
              <a:t>always plot</a:t>
            </a:r>
          </a:p>
        </p:txBody>
      </p:sp>
      <p:sp>
        <p:nvSpPr>
          <p:cNvPr id="11" name="Caution third variable"/>
          <p:cNvSpPr/>
          <p:nvPr/>
        </p:nvSpPr>
        <p:spPr>
          <a:xfrm>
            <a:off x="7132320" y="548640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66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E76618"/>
                </a:solidFill>
              </a:rPr>
              <a:t>⚠ Third variable:</a:t>
            </a:r>
          </a:p>
          <a:p>
            <a:pPr algn="ctr"/>
            <a:r>
              <a:rPr sz="1100" b="1">
                <a:solidFill>
                  <a:srgbClr val="E76618"/>
                </a:solidFill>
              </a:rPr>
              <a:t>heat → both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640080" y="256032"/>
            <a:ext cx="8138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4A021"/>
                </a:solidFill>
              </a:rPr>
              <a:t>REFERENCES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C3C43"/>
                </a:solidFill>
              </a:rPr>
              <a:t>References &amp; Thank You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40080" y="6446520"/>
            <a:ext cx="78638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</a:rPr>
              <a:t>Sayantan Bharati | BWU/BTS/25/503 | Probability &amp; Statistics (BBS00014) | 13</a:t>
            </a:r>
          </a:p>
        </p:txBody>
      </p:sp>
      <p:sp>
        <p:nvSpPr>
          <p:cNvPr id="5" name="References"/>
          <p:cNvSpPr txBox="1"/>
          <p:nvPr/>
        </p:nvSpPr>
        <p:spPr>
          <a:xfrm>
            <a:off x="640080" y="1371600"/>
            <a:ext cx="512064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S. C. Gupta &amp; V. K. Kapoor — </a:t>
            </a:r>
            <a:r>
              <a:rPr sz="1400" b="1">
                <a:solidFill>
                  <a:srgbClr val="2C3C43"/>
                </a:solidFill>
              </a:rPr>
              <a:t>Fundamentals of Mathematical Statistics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Walpole et al. — </a:t>
            </a:r>
            <a:r>
              <a:rPr sz="1400" b="1">
                <a:solidFill>
                  <a:srgbClr val="2C3C43"/>
                </a:solidFill>
              </a:rPr>
              <a:t>Probability and Statistics for Engineers and Scientists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S. M. Ross — </a:t>
            </a:r>
            <a:r>
              <a:rPr sz="1400" b="1">
                <a:solidFill>
                  <a:srgbClr val="2C3C43"/>
                </a:solidFill>
              </a:rPr>
              <a:t>Introduction to Probability and Statistics for Engineers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Montgomery — </a:t>
            </a:r>
            <a:r>
              <a:rPr sz="1400" b="1">
                <a:solidFill>
                  <a:srgbClr val="2C3C43"/>
                </a:solidFill>
              </a:rPr>
              <a:t>Applied Statistics and Probability for Engineers</a:t>
            </a:r>
            <a:r>
              <a:rPr sz="1400" b="0">
                <a:solidFill>
                  <a:srgbClr val="2C3C43"/>
                </a:solidFill>
              </a:rPr>
              <a:t>.</a:t>
            </a:r>
          </a:p>
          <a:p>
            <a:pPr algn="l" marL="228600" indent="-228600">
              <a:spcAft>
                <a:spcPts val="900"/>
              </a:spcAft>
              <a:buClr>
                <a:srgbClr val="54A021"/>
              </a:buClr>
              <a:buFont typeface="Arial"/>
              <a:buChar char="•"/>
            </a:pPr>
            <a:r>
              <a:rPr sz="1400" b="0">
                <a:solidFill>
                  <a:srgbClr val="2C3C43"/>
                </a:solidFill>
              </a:rPr>
              <a:t>Course notes — Module 1 (Correlation, Regression, Curve Fitting).</a:t>
            </a:r>
          </a:p>
        </p:txBody>
      </p:sp>
      <p:sp>
        <p:nvSpPr>
          <p:cNvPr id="6" name="Book 1"/>
          <p:cNvSpPr/>
          <p:nvPr/>
        </p:nvSpPr>
        <p:spPr>
          <a:xfrm>
            <a:off x="5943600" y="1371600"/>
            <a:ext cx="640080" cy="1371600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Gupta &amp;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Kapoor</a:t>
            </a:r>
          </a:p>
        </p:txBody>
      </p:sp>
      <p:sp>
        <p:nvSpPr>
          <p:cNvPr id="7" name="Book 2"/>
          <p:cNvSpPr/>
          <p:nvPr/>
        </p:nvSpPr>
        <p:spPr>
          <a:xfrm>
            <a:off x="6675120" y="1371600"/>
            <a:ext cx="640080" cy="1371600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Walpole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et al.</a:t>
            </a:r>
          </a:p>
        </p:txBody>
      </p:sp>
      <p:sp>
        <p:nvSpPr>
          <p:cNvPr id="8" name="Book 3"/>
          <p:cNvSpPr/>
          <p:nvPr/>
        </p:nvSpPr>
        <p:spPr>
          <a:xfrm>
            <a:off x="7406640" y="1371600"/>
            <a:ext cx="640080" cy="1371600"/>
          </a:xfrm>
          <a:prstGeom prst="rect">
            <a:avLst/>
          </a:prstGeom>
          <a:solidFill>
            <a:srgbClr val="E7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Ross</a:t>
            </a:r>
          </a:p>
        </p:txBody>
      </p:sp>
      <p:sp>
        <p:nvSpPr>
          <p:cNvPr id="9" name="Book 4"/>
          <p:cNvSpPr/>
          <p:nvPr/>
        </p:nvSpPr>
        <p:spPr>
          <a:xfrm>
            <a:off x="8138160" y="1371600"/>
            <a:ext cx="640080" cy="1371600"/>
          </a:xfrm>
          <a:prstGeom prst="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C3C43"/>
                </a:solidFill>
              </a:rPr>
              <a:t>Mont-</a:t>
            </a:r>
          </a:p>
          <a:p>
            <a:pPr algn="ctr"/>
            <a:r>
              <a:rPr sz="900" b="1">
                <a:solidFill>
                  <a:srgbClr val="2C3C43"/>
                </a:solidFill>
              </a:rPr>
              <a:t>gomery</a:t>
            </a:r>
          </a:p>
        </p:txBody>
      </p:sp>
      <p:sp>
        <p:nvSpPr>
          <p:cNvPr id="10" name="Q&amp;A icon"/>
          <p:cNvSpPr/>
          <p:nvPr/>
        </p:nvSpPr>
        <p:spPr>
          <a:xfrm>
            <a:off x="6583680" y="3017520"/>
            <a:ext cx="1554480" cy="15544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11" name="Thank you"/>
          <p:cNvSpPr txBox="1"/>
          <p:nvPr/>
        </p:nvSpPr>
        <p:spPr>
          <a:xfrm>
            <a:off x="640080" y="5029200"/>
            <a:ext cx="81381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C3C43"/>
                </a:solidFill>
              </a:rPr>
              <a:t>Thank you for your attention — Questions are welcome.</a:t>
            </a:r>
          </a:p>
        </p:txBody>
      </p:sp>
      <p:sp>
        <p:nvSpPr>
          <p:cNvPr id="12" name="Presenter"/>
          <p:cNvSpPr txBox="1"/>
          <p:nvPr/>
        </p:nvSpPr>
        <p:spPr>
          <a:xfrm>
            <a:off x="640080" y="5577840"/>
            <a:ext cx="8138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Sayantan Bharati | BWU/BTS/25/503 | Section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Facet">
  <a:themeElements>
    <a:clrScheme name="Green 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6B9F25"/>
      </a:hlink>
      <a:folHlink>
        <a:srgbClr val="BA6906"/>
      </a:folHlink>
    </a:clrScheme>
    <a:fontScheme name="Green Face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2026-10-04T04:28:14Z</dcterms:created>
  <dcterms:modified xsi:type="dcterms:W3CDTF">2026-10-04T04:28:14Z</dcterms:modified>
</cp:coreProperties>
</file>