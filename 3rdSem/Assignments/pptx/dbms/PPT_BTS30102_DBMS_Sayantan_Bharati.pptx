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  <p:sldId id="266" r:id="rId17"/>
    <p:sldId id="267" r:id="rId18"/>
    <p:sldId id="268" r:id="rId19"/>
    <p:sldId id="269" r:id="rId20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I am Sayantan Bharati. My topic is Temporal Databases — how a database can store not just the current value of data, but its entire history over time, and why that matters in the real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 is simple: a normal database only shows today. The moment we update a salary, the previous salary is gone forever. Temporal databases fix this by keeping every version with a time stamp, so historical questions can still be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will start with the motivation, define the two kinds of time, survey the models and the SQL standard, look at real applications, then show implementation, a worked example, and finally the challenges and future of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defining anything, it is worth seeing the gap. Normal updates erase history. People patch this with manual history tables, but those are clumsy and error-prone. A temporal database treats time as a natural part of the schema instead of an afterthought.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single most important idea today is that there are two different clocks. Valid time says when something was true in the real world; transaction time says when our database learned it. A bitemporal system keeps both, which lets us ask questions like "what did we believe last month, and what was actually true then?"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a ladder of models. A snapshot database remembers nothing. A rollback database remembers when data was written. A valid-time database remembers when data was true. Bitemporal combines both. SQL 2011 gave us standard syntax for the first and third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databases are not academic. Every time you see a bank statement, an insurance policy history, or a patient record that shows changes over time, you are seeing temporal data. Regulators increasingly require that this history is retained and queryable.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beauty of SQL 2011 is that it hides all the complexity behind familiar syntax. `FOR SYSTEM_TIME AS OF` gives you the database as it looked on any past date. Application-time periods let updates affect only a slice of history. So the developer writes ordinary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time is a period rather than a point, comparisons multiply. Allen's algebra enumerates all thirteen ways two intervals can relate — before, overlaps, contains and so on. Temporal query languages embed these so that "overlapping" queries become one predicate instead of a tangle of greater-than and less-than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Implementation choices matter. The simplest is to store every version as its own row with a start and end time. That makes writes append-only and fast, and it links naturally to MVCC and transaction logging from the concurrency chapter. The tricky part is indexing ranges efficiently, which is why interval-aware trees are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idea we just discussed, made concrete. Each salary change becomes a new row with a validity period instead of an overwrite. Finding the salary on any date is now just a range check, and the full raise history is simply all the rows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Temporal databases are not a completely separate world. Transaction time is essentially the story a transaction log already tells, and multi-version concurrency control already stores several versions of a row. Temporal storage simply promotes that internal mechanism to a first-class, user-queryable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powerful idea has a cost. Keeping all history means storage grows forever, interval queries are slower than point queries, and privacy law can clash with immutability. The practical answer is a clear retention policy and the right model, and the field is moving toward cloud-hosted temporal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standard references behind this presentation. Thank you for listening — I am happy to take any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0"/>
            <a:ext cx="838200" cy="5667375"/>
          </a:xfrm>
          <a:custGeom>
            <a:avLst/>
            <a:gdLst/>
            <a:ahLst/>
            <a:cxnLst/>
            <a:rect l="l" t="t" r="r" b="b"/>
            <a:pathLst>
              <a:path w="838200" h="5667375">
                <a:moveTo>
                  <a:pt x="838200" y="0"/>
                </a:moveTo>
                <a:lnTo>
                  <a:pt x="0" y="5667375"/>
                </a:lnTo>
                <a:lnTo>
                  <a:pt x="0" y="0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ayout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eco line 1"/>
          <p:cNvSpPr/>
          <p:nvPr/>
        </p:nvSpPr>
        <p:spPr>
          <a:xfrm>
            <a:off x="9377680" y="0"/>
            <a:ext cx="1219200" cy="685800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deco line 2"/>
          <p:cNvSpPr/>
          <p:nvPr/>
        </p:nvSpPr>
        <p:spPr>
          <a:xfrm flipV="1">
            <a:off x="7434580" y="3690620"/>
            <a:ext cx="4763770" cy="316738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5" name="deco r1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2047240" y="0"/>
                </a:moveTo>
                <a:lnTo>
                  <a:pt x="3009900" y="0"/>
                </a:lnTo>
                <a:lnTo>
                  <a:pt x="30099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90C226">
              <a:alpha val="30000"/>
            </a:srgbClr>
          </a:solidFill>
          <a:ln/>
        </p:spPr>
      </p:sp>
      <p:sp>
        <p:nvSpPr>
          <p:cNvPr id="6" name="deco r2"/>
          <p:cNvSpPr/>
          <p:nvPr/>
        </p:nvSpPr>
        <p:spPr>
          <a:xfrm>
            <a:off x="9601200" y="0"/>
            <a:ext cx="2590800" cy="6858000"/>
          </a:xfrm>
          <a:custGeom>
            <a:avLst/>
            <a:gdLst/>
            <a:ahLst/>
            <a:cxnLst/>
            <a:rect l="l" t="t" r="r" b="b"/>
            <a:pathLst>
              <a:path w="2590800" h="6858000">
                <a:moveTo>
                  <a:pt x="0" y="0"/>
                </a:moveTo>
                <a:lnTo>
                  <a:pt x="2590800" y="0"/>
                </a:lnTo>
                <a:lnTo>
                  <a:pt x="2590800" y="6858000"/>
                </a:lnTo>
                <a:lnTo>
                  <a:pt x="1210310" y="6858000"/>
                </a:lnTo>
                <a:close/>
              </a:path>
            </a:pathLst>
          </a:custGeom>
          <a:solidFill>
            <a:srgbClr val="90C226">
              <a:alpha val="20000"/>
            </a:srgbClr>
          </a:solidFill>
          <a:ln/>
        </p:spPr>
      </p:sp>
      <p:sp>
        <p:nvSpPr>
          <p:cNvPr id="7" name="deco r3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0" y="3810000"/>
                </a:moveTo>
                <a:lnTo>
                  <a:pt x="3257550" y="0"/>
                </a:lnTo>
                <a:lnTo>
                  <a:pt x="3257550" y="3810000"/>
                </a:lnTo>
                <a:close/>
              </a:path>
            </a:pathLst>
          </a:custGeom>
          <a:solidFill>
            <a:srgbClr val="54A021">
              <a:alpha val="72000"/>
            </a:srgbClr>
          </a:solidFill>
          <a:ln/>
        </p:spPr>
      </p:sp>
      <p:sp>
        <p:nvSpPr>
          <p:cNvPr id="8" name="deco r4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2473960" y="6858000"/>
                </a:lnTo>
                <a:close/>
              </a:path>
            </a:pathLst>
          </a:custGeom>
          <a:solidFill>
            <a:srgbClr val="3F7819">
              <a:alpha val="70000"/>
            </a:srgbClr>
          </a:solidFill>
          <a:ln/>
        </p:spPr>
      </p:sp>
      <p:sp>
        <p:nvSpPr>
          <p:cNvPr id="9" name="deco r5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023620" y="0"/>
                </a:moveTo>
                <a:lnTo>
                  <a:pt x="1295400" y="0"/>
                </a:lnTo>
                <a:lnTo>
                  <a:pt x="1295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C0E474">
              <a:alpha val="70000"/>
            </a:srgbClr>
          </a:solidFill>
          <a:ln/>
        </p:spPr>
      </p:sp>
      <p:sp>
        <p:nvSpPr>
          <p:cNvPr id="10" name="deco r6"/>
          <p:cNvSpPr/>
          <p:nvPr/>
        </p:nvSpPr>
        <p:spPr>
          <a:xfrm>
            <a:off x="10934700" y="0"/>
            <a:ext cx="1257300" cy="6858000"/>
          </a:xfrm>
          <a:custGeom>
            <a:avLst/>
            <a:gdLst/>
            <a:ahLst/>
            <a:cxnLst/>
            <a:rect l="l" t="t" r="r" b="b"/>
            <a:pathLst>
              <a:path w="1257300" h="6858000">
                <a:moveTo>
                  <a:pt x="0" y="0"/>
                </a:moveTo>
                <a:lnTo>
                  <a:pt x="1257300" y="0"/>
                </a:lnTo>
                <a:lnTo>
                  <a:pt x="1257300" y="6858000"/>
                </a:lnTo>
                <a:lnTo>
                  <a:pt x="1116330" y="6858000"/>
                </a:lnTo>
                <a:close/>
              </a:path>
            </a:pathLst>
          </a:custGeom>
          <a:solidFill>
            <a:srgbClr val="90C226">
              <a:alpha val="65000"/>
            </a:srgbClr>
          </a:solidFill>
          <a:ln/>
        </p:spPr>
      </p:sp>
      <p:sp>
        <p:nvSpPr>
          <p:cNvPr id="11" name="deco r7"/>
          <p:cNvSpPr/>
          <p:nvPr/>
        </p:nvSpPr>
        <p:spPr>
          <a:xfrm>
            <a:off x="10373360" y="3591560"/>
            <a:ext cx="1818640" cy="3266440"/>
          </a:xfrm>
          <a:custGeom>
            <a:avLst/>
            <a:gdLst/>
            <a:ahLst/>
            <a:cxnLst/>
            <a:rect l="l" t="t" r="r" b="b"/>
            <a:pathLst>
              <a:path w="1818640" h="3266440">
                <a:moveTo>
                  <a:pt x="0" y="3266440"/>
                </a:moveTo>
                <a:lnTo>
                  <a:pt x="1818640" y="0"/>
                </a:lnTo>
                <a:lnTo>
                  <a:pt x="1818640" y="3266440"/>
                </a:lnTo>
                <a:close/>
              </a:path>
            </a:pathLst>
          </a:custGeom>
          <a:solidFill>
            <a:srgbClr val="90C226">
              <a:alpha val="80000"/>
            </a:srgbClr>
          </a:solidFill>
          <a:ln/>
        </p:spPr>
      </p:sp>
      <p:sp>
        <p:nvSpPr>
          <p:cNvPr id="12" name="deco left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2847975"/>
                </a:moveTo>
                <a:lnTo>
                  <a:pt x="0" y="0"/>
                </a:lnTo>
                <a:lnTo>
                  <a:pt x="447675" y="2847975"/>
                </a:lnTo>
                <a:close/>
              </a:path>
            </a:pathLst>
          </a:custGeom>
          <a:solidFill>
            <a:srgbClr val="90C226">
              <a:alpha val="8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88720" y="822960"/>
            <a:ext cx="585216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3600" b="1" i="0">
                <a:solidFill>
                  <a:srgbClr val="2C3C43"/>
                </a:solidFill>
              </a:rPr>
              <a:t>Temporal Databases: Concepts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651760"/>
            <a:ext cx="5852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000" b="0" i="0">
                <a:solidFill>
                  <a:srgbClr val="54A021"/>
                </a:solidFill>
              </a:rPr>
              <a:t>Managing Data That Changes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383280"/>
            <a:ext cx="7498079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Course:</a:t>
            </a:r>
            <a:r>
              <a:rPr sz="1400" b="0" i="0">
                <a:solidFill>
                  <a:srgbClr val="2C3C43"/>
                </a:solidFill>
              </a:rPr>
              <a:t> Database Management Systems (BTS30102)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Presented by:</a:t>
            </a:r>
            <a:r>
              <a:rPr sz="1400" b="0" i="0">
                <a:solidFill>
                  <a:srgbClr val="2C3C43"/>
                </a:solidFill>
              </a:rPr>
              <a:t> Sayantan Bharati | BWU/BTS/25/503 | Section B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Programme:</a:t>
            </a:r>
            <a:r>
              <a:rPr sz="1400" b="0" i="0">
                <a:solidFill>
                  <a:srgbClr val="2C3C43"/>
                </a:solidFill>
              </a:rPr>
              <a:t> B.Tech (CSE), Batch 2025, AY 2026-27 (Odd Semester 3)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Faculty:</a:t>
            </a:r>
            <a:r>
              <a:rPr sz="1400" b="0" i="0">
                <a:solidFill>
                  <a:srgbClr val="2C3C43"/>
                </a:solidFill>
              </a:rPr>
              <a:t> Ataul Hoque Mandal</a:t>
            </a:r>
          </a:p>
          <a:p>
            <a:pPr>
              <a:spcAft>
                <a:spcPts val="600"/>
              </a:spcAft>
            </a:pPr>
            <a:r>
              <a:rPr sz="1400" b="0" i="0">
                <a:solidFill>
                  <a:srgbClr val="2C3C43"/>
                </a:solidFill>
              </a:rPr>
              <a:t>Department of Computer Science &amp; Engineering, Brainware University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2C3C43"/>
                </a:solidFill>
              </a:rPr>
              <a:t>Date:</a:t>
            </a:r>
            <a:r>
              <a:rPr sz="1400" b="0" i="0">
                <a:solidFill>
                  <a:srgbClr val="2C3C43"/>
                </a:solidFill>
              </a:rPr>
              <a:t> 13-10-2026</a:t>
            </a:r>
          </a:p>
        </p:txBody>
      </p:sp>
      <p:sp>
        <p:nvSpPr>
          <p:cNvPr id="5" name="Can 4"/>
          <p:cNvSpPr/>
          <p:nvPr/>
        </p:nvSpPr>
        <p:spPr>
          <a:xfrm>
            <a:off x="7223760" y="914400"/>
            <a:ext cx="1371600" cy="1554480"/>
          </a:xfrm>
          <a:prstGeom prst="can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79" y="1920240"/>
            <a:ext cx="914400" cy="914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C3C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8412480" y="2075688"/>
            <a:ext cx="0" cy="301752"/>
          </a:xfrm>
          <a:prstGeom prst="line">
            <a:avLst/>
          </a:prstGeom>
          <a:ln w="38100">
            <a:solidFill>
              <a:srgbClr val="2C3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12480" y="2377440"/>
            <a:ext cx="228600" cy="0"/>
          </a:xfrm>
          <a:prstGeom prst="line">
            <a:avLst/>
          </a:prstGeom>
          <a:ln w="38100">
            <a:solidFill>
              <a:srgbClr val="2C3C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Introduction — Why Do We Need Time in Databases?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976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A conventional DBMS keeps only the </a:t>
            </a:r>
            <a:r>
              <a:rPr sz="1400" b="1" i="0">
                <a:solidFill>
                  <a:srgbClr val="2C3C43"/>
                </a:solidFill>
              </a:rPr>
              <a:t>current state</a:t>
            </a:r>
            <a:r>
              <a:rPr sz="1400" b="0" i="0">
                <a:solidFill>
                  <a:srgbClr val="2C3C43"/>
                </a:solidFill>
              </a:rPr>
              <a:t> — the old value is overwritten.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But many questions are about the </a:t>
            </a:r>
            <a:r>
              <a:rPr sz="1400" b="1" i="0">
                <a:solidFill>
                  <a:srgbClr val="2C3C43"/>
                </a:solidFill>
              </a:rPr>
              <a:t>past</a:t>
            </a:r>
            <a:r>
              <a:rPr sz="1400" b="0" i="0">
                <a:solidFill>
                  <a:srgbClr val="2C3C43"/>
                </a:solidFill>
              </a:rPr>
              <a:t>: "What was the salary in 2023?"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Overwriting data destroys the </a:t>
            </a:r>
            <a:r>
              <a:rPr sz="1400" b="1" i="0">
                <a:solidFill>
                  <a:srgbClr val="2C3C43"/>
                </a:solidFill>
              </a:rPr>
              <a:t>audit trail</a:t>
            </a:r>
            <a:r>
              <a:rPr sz="1400" b="0" i="0">
                <a:solidFill>
                  <a:srgbClr val="2C3C43"/>
                </a:solidFill>
              </a:rPr>
              <a:t> and the ability to reproduce past decisions.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Temporal databases</a:t>
            </a:r>
            <a:r>
              <a:rPr sz="1400" b="0" i="0">
                <a:solidFill>
                  <a:srgbClr val="2C3C43"/>
                </a:solidFill>
              </a:rPr>
              <a:t> store time as a first-class part of every fact.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They answer </a:t>
            </a:r>
            <a:r>
              <a:rPr sz="1400" b="0" i="1">
                <a:solidFill>
                  <a:srgbClr val="2C3C43"/>
                </a:solidFill>
              </a:rPr>
              <a:t>when</a:t>
            </a:r>
            <a:r>
              <a:rPr sz="1400" b="0" i="0">
                <a:solidFill>
                  <a:srgbClr val="2C3C43"/>
                </a:solidFill>
              </a:rPr>
              <a:t> a fact was true and </a:t>
            </a:r>
            <a:r>
              <a:rPr sz="1400" b="0" i="1">
                <a:solidFill>
                  <a:srgbClr val="2C3C43"/>
                </a:solidFill>
              </a:rPr>
              <a:t>when</a:t>
            </a:r>
            <a:r>
              <a:rPr sz="1400" b="0" i="0">
                <a:solidFill>
                  <a:srgbClr val="2C3C43"/>
                </a:solidFill>
              </a:rPr>
              <a:t> the database believed it was true.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Built on standard DBMS ideas — schema, keys, transactions, indexing — extended with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Conventional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3657600" cy="50292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Salary = 70000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4231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C42F1A"/>
                </a:solidFill>
              </a:rPr>
              <a:t>old value GONE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0175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Temporal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3337560"/>
            <a:ext cx="3657600" cy="50292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50000 | 2020–2023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3931920"/>
            <a:ext cx="3657600" cy="50292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Emp101 | 70000 | 2023–now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44805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54A021"/>
                </a:solidFill>
              </a:rPr>
              <a:t>history kept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00200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The Need for Time in Data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96312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96312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Core Concepts &amp; Time Dimensions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392424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392424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Data Models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4288536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288536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Real-World Applications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184648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5184648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SQL:2011 Temporal Features</a:t>
            </a:r>
          </a:p>
        </p:txBody>
      </p:sp>
      <p:sp>
        <p:nvSpPr>
          <p:cNvPr id="15" name="Oval 14"/>
          <p:cNvSpPr/>
          <p:nvPr/>
        </p:nvSpPr>
        <p:spPr>
          <a:xfrm>
            <a:off x="4937759" y="1600200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59" y="1600200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Querying &amp; Interval Algebra</a:t>
            </a:r>
          </a:p>
        </p:txBody>
      </p:sp>
      <p:sp>
        <p:nvSpPr>
          <p:cNvPr id="17" name="Oval 16"/>
          <p:cNvSpPr/>
          <p:nvPr/>
        </p:nvSpPr>
        <p:spPr>
          <a:xfrm>
            <a:off x="4937759" y="2496312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59" y="2496312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Implementation &amp; Indexing</a:t>
            </a:r>
          </a:p>
        </p:txBody>
      </p:sp>
      <p:sp>
        <p:nvSpPr>
          <p:cNvPr id="19" name="Oval 18"/>
          <p:cNvSpPr/>
          <p:nvPr/>
        </p:nvSpPr>
        <p:spPr>
          <a:xfrm>
            <a:off x="4937759" y="3392424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59" y="3392424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Worked Example — Salary History</a:t>
            </a:r>
          </a:p>
        </p:txBody>
      </p:sp>
      <p:sp>
        <p:nvSpPr>
          <p:cNvPr id="21" name="Oval 20"/>
          <p:cNvSpPr/>
          <p:nvPr/>
        </p:nvSpPr>
        <p:spPr>
          <a:xfrm>
            <a:off x="4937759" y="4288536"/>
            <a:ext cx="548640" cy="54864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59" y="4288536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Temporal Databases &amp; Transactions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937759" y="5184648"/>
            <a:ext cx="548640" cy="54864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59" y="5184648"/>
            <a:ext cx="3429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0" i="0">
                <a:solidFill>
                  <a:srgbClr val="2C3C43"/>
                </a:solidFill>
              </a:rPr>
              <a:t>Challenges, Best Practices &amp; Future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Why Conventional Databases Fall Short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976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Conventional DBMS = </a:t>
            </a:r>
            <a:r>
              <a:rPr sz="1400" b="1" i="0">
                <a:solidFill>
                  <a:srgbClr val="2C3C43"/>
                </a:solidFill>
              </a:rPr>
              <a:t>snapshot database</a:t>
            </a:r>
            <a:r>
              <a:rPr sz="1400" b="0" i="0">
                <a:solidFill>
                  <a:srgbClr val="2C3C43"/>
                </a:solidFill>
              </a:rPr>
              <a:t>: only the current moment is stored.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An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UPDATE</a:t>
            </a:r>
            <a:r>
              <a:rPr sz="1400" b="0" i="0">
                <a:solidFill>
                  <a:srgbClr val="2C3C43"/>
                </a:solidFill>
              </a:rPr>
              <a:t> or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DELETE</a:t>
            </a:r>
            <a:r>
              <a:rPr sz="1400" b="0" i="0">
                <a:solidFill>
                  <a:srgbClr val="2C3C43"/>
                </a:solidFill>
              </a:rPr>
              <a:t> </a:t>
            </a:r>
            <a:r>
              <a:rPr sz="1400" b="1" i="0">
                <a:solidFill>
                  <a:srgbClr val="2C3C43"/>
                </a:solidFill>
              </a:rPr>
              <a:t>physically destroys</a:t>
            </a:r>
            <a:r>
              <a:rPr sz="1400" b="0" i="0">
                <a:solidFill>
                  <a:srgbClr val="2C3C43"/>
                </a:solidFill>
              </a:rPr>
              <a:t> the previous value.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Audit, legal and analytical questions then become impossible or costly.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Common workarounds are weak: history tables, shadow copies, log mining.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History tables duplicate schema, drift over time and are hard to query uniformly.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A temporal DBMS makes history a </a:t>
            </a:r>
            <a:r>
              <a:rPr sz="1400" b="1" i="0">
                <a:solidFill>
                  <a:srgbClr val="2C3C43"/>
                </a:solidFill>
              </a:rPr>
              <a:t>built-in, queryable dimension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55448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Snapshot DBMS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874519"/>
            <a:ext cx="1371600" cy="64008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8" name="Multiply 7"/>
          <p:cNvSpPr/>
          <p:nvPr/>
        </p:nvSpPr>
        <p:spPr>
          <a:xfrm>
            <a:off x="5394960" y="1783080"/>
            <a:ext cx="1188720" cy="822960"/>
          </a:xfrm>
          <a:prstGeom prst="mathMultiply">
            <a:avLst/>
          </a:prstGeom>
          <a:solidFill>
            <a:srgbClr val="C42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6766560" y="2194560"/>
            <a:ext cx="548640" cy="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874519"/>
            <a:ext cx="1645920" cy="64008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70000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65176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C42F1A"/>
                </a:solidFill>
              </a:rPr>
              <a:t>old value overwritten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246120"/>
            <a:ext cx="3657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Temporal DBMS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3566160"/>
            <a:ext cx="1737360" cy="54864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3566160"/>
            <a:ext cx="1737360" cy="54864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 i="0">
                <a:solidFill>
                  <a:srgbClr val="2C3C43"/>
                </a:solidFill>
              </a:rPr>
              <a:t>70000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03520" y="4434840"/>
            <a:ext cx="3657600" cy="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448056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448056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48056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2C3C43"/>
                </a:solidFill>
              </a:rPr>
              <a:t>now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The Two Kinds of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Valid time</a:t>
            </a:r>
            <a:r>
              <a:rPr sz="1400" b="0" i="0">
                <a:solidFill>
                  <a:srgbClr val="2C3C43"/>
                </a:solidFill>
              </a:rPr>
              <a:t> (application time): when the fact is true in the real world.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Transaction time</a:t>
            </a:r>
            <a:r>
              <a:rPr sz="1400" b="0" i="0">
                <a:solidFill>
                  <a:srgbClr val="2C3C43"/>
                </a:solidFill>
              </a:rPr>
              <a:t> (system time): when the fact was stored/believed by the DBMS.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Bitemporal</a:t>
            </a:r>
            <a:r>
              <a:rPr sz="1400" b="0" i="0">
                <a:solidFill>
                  <a:srgbClr val="2C3C43"/>
                </a:solidFill>
              </a:rPr>
              <a:t> databases track </a:t>
            </a:r>
            <a:r>
              <a:rPr sz="1400" b="0" i="1">
                <a:solidFill>
                  <a:srgbClr val="2C3C43"/>
                </a:solidFill>
              </a:rPr>
              <a:t>both</a:t>
            </a:r>
            <a:r>
              <a:rPr sz="1400" b="0" i="0">
                <a:solidFill>
                  <a:srgbClr val="2C3C43"/>
                </a:solidFill>
              </a:rPr>
              <a:t> at once.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Examples: "the price </a:t>
            </a:r>
            <a:r>
              <a:rPr sz="1400" b="0" i="1">
                <a:solidFill>
                  <a:srgbClr val="2C3C43"/>
                </a:solidFill>
              </a:rPr>
              <a:t>was</a:t>
            </a:r>
            <a:r>
              <a:rPr sz="1400" b="0" i="0">
                <a:solidFill>
                  <a:srgbClr val="2C3C43"/>
                </a:solidFill>
              </a:rPr>
              <a:t> valid in March" vs "the price </a:t>
            </a:r>
            <a:r>
              <a:rPr sz="1400" b="0" i="1">
                <a:solidFill>
                  <a:srgbClr val="2C3C43"/>
                </a:solidFill>
              </a:rPr>
              <a:t>was recorded</a:t>
            </a:r>
            <a:r>
              <a:rPr sz="1400" b="0" i="0">
                <a:solidFill>
                  <a:srgbClr val="2C3C43"/>
                </a:solidFill>
              </a:rPr>
              <a:t> on 2 April".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Timestamp</a:t>
            </a:r>
            <a:r>
              <a:rPr sz="1400" b="0" i="0">
                <a:solidFill>
                  <a:srgbClr val="2C3C43"/>
                </a:solidFill>
              </a:rPr>
              <a:t> = a single instant; </a:t>
            </a:r>
            <a:r>
              <a:rPr sz="1400" b="1" i="0">
                <a:solidFill>
                  <a:srgbClr val="2C3C43"/>
                </a:solidFill>
              </a:rPr>
              <a:t>interval/period</a:t>
            </a:r>
            <a:r>
              <a:rPr sz="1400" b="0" i="0">
                <a:solidFill>
                  <a:srgbClr val="2C3C43"/>
                </a:solidFill>
              </a:rPr>
              <a:t> = a start and end.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These dimensions give rise to the </a:t>
            </a:r>
            <a:r>
              <a:rPr sz="1400" b="1" i="0">
                <a:solidFill>
                  <a:srgbClr val="2C3C43"/>
                </a:solidFill>
              </a:rPr>
              <a:t>bitemporal cube</a:t>
            </a:r>
            <a:r>
              <a:rPr sz="1400" b="0" i="0">
                <a:solidFill>
                  <a:srgbClr val="2C3C43"/>
                </a:solidFill>
              </a:rPr>
              <a:t> of possible questions.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5669280" y="1783080"/>
            <a:ext cx="0" cy="370332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0" y="5486400"/>
            <a:ext cx="3200400" cy="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20640" y="146304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transaction time (belief)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57784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1" i="0">
                <a:solidFill>
                  <a:srgbClr val="2C3C43"/>
                </a:solidFill>
              </a:rPr>
              <a:t>valid time (truth)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931920"/>
            <a:ext cx="1463040" cy="137160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43200"/>
            <a:ext cx="1463040" cy="256032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70000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011680"/>
            <a:ext cx="1463040" cy="1920240"/>
          </a:xfrm>
          <a:prstGeom prst="roundRect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 i="0">
                <a:solidFill>
                  <a:srgbClr val="2C3C43"/>
                </a:solidFill>
              </a:rPr>
              <a:t>55000 (corrected)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28800"/>
            <a:ext cx="16459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1" i="0">
                <a:solidFill>
                  <a:srgbClr val="C42F1A"/>
                </a:solidFill>
              </a:rPr>
              <a:t>recorded later, but valid earlier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Temporal Data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822960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Snapshot model</a:t>
            </a:r>
            <a:r>
              <a:rPr sz="1400" b="0" i="0">
                <a:solidFill>
                  <a:srgbClr val="2C3C43"/>
                </a:solidFill>
              </a:rPr>
              <a:t> — no time; classic DBMS.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Rollback / transaction-time model</a:t>
            </a:r>
            <a:r>
              <a:rPr sz="1400" b="0" i="0">
                <a:solidFill>
                  <a:srgbClr val="2C3C43"/>
                </a:solidFill>
              </a:rPr>
              <a:t> — versions by when they were stored.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Valid-time (historical) model</a:t>
            </a:r>
            <a:r>
              <a:rPr sz="1400" b="0" i="0">
                <a:solidFill>
                  <a:srgbClr val="2C3C43"/>
                </a:solidFill>
              </a:rPr>
              <a:t> — versions by real-world validity.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Bitemporal model</a:t>
            </a:r>
            <a:r>
              <a:rPr sz="1400" b="0" i="0">
                <a:solidFill>
                  <a:srgbClr val="2C3C43"/>
                </a:solidFill>
              </a:rPr>
              <a:t> — both valid and transaction time.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SQL:2011</a:t>
            </a:r>
            <a:r>
              <a:rPr sz="1400" b="0" i="0">
                <a:solidFill>
                  <a:srgbClr val="2C3C43"/>
                </a:solidFill>
              </a:rPr>
              <a:t> standardised these as </a:t>
            </a:r>
            <a:r>
              <a:rPr sz="1400" b="1" i="0">
                <a:solidFill>
                  <a:srgbClr val="2C3C43"/>
                </a:solidFill>
              </a:rPr>
              <a:t>system-versioned</a:t>
            </a:r>
            <a:r>
              <a:rPr sz="1400" b="0" i="0">
                <a:solidFill>
                  <a:srgbClr val="2C3C43"/>
                </a:solidFill>
              </a:rPr>
              <a:t> and </a:t>
            </a:r>
            <a:r>
              <a:rPr sz="1400" b="1" i="0">
                <a:solidFill>
                  <a:srgbClr val="2C3C43"/>
                </a:solidFill>
              </a:rPr>
              <a:t>application-time period</a:t>
            </a:r>
            <a:r>
              <a:rPr sz="1400" b="0" i="0">
                <a:solidFill>
                  <a:srgbClr val="2C3C43"/>
                </a:solidFill>
              </a:rPr>
              <a:t> tables.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Each model trades storage and complexity for richer history.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41148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554480"/>
                <a:gridCol w="320040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Valid time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Trans. time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54A02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Snapshot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Current-only apps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Rollback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Auditing, recovery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Valid-time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Contract / price history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C3C43"/>
                          </a:solidFill>
                        </a:rPr>
                        <a:t>Bitemporal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C3C43"/>
                          </a:solidFill>
                        </a:rPr>
                        <a:t>Regulatory, finance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Where Temporal Databases Are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892807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4592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Banking &amp; finance</a:t>
            </a:r>
          </a:p>
          <a:p>
            <a:r>
              <a:rPr sz="1400" b="0" i="0">
                <a:solidFill>
                  <a:srgbClr val="2C3C43"/>
                </a:solidFill>
              </a:rPr>
              <a:t>balances, interest rates and transaction histories.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83480" y="155448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166360" y="1892807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Insurance</a:t>
            </a:r>
          </a:p>
          <a:p>
            <a:r>
              <a:rPr sz="1400" b="0" i="0">
                <a:solidFill>
                  <a:srgbClr val="2C3C43"/>
                </a:solidFill>
              </a:rPr>
              <a:t>policies valid over ranges; claims recorded later.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447288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0040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Healthcare</a:t>
            </a:r>
          </a:p>
          <a:p>
            <a:r>
              <a:rPr sz="1400" b="0" i="0">
                <a:solidFill>
                  <a:srgbClr val="2C3C43"/>
                </a:solidFill>
              </a:rPr>
              <a:t>patient conditions valid over time vs when entered.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310896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66360" y="3447288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200400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Audit &amp; compliance</a:t>
            </a:r>
          </a:p>
          <a:p>
            <a:r>
              <a:rPr sz="1400" b="0" i="0">
                <a:solidFill>
                  <a:srgbClr val="2C3C43"/>
                </a:solidFill>
              </a:rPr>
              <a:t>immutable, queryable audit trails.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01768"/>
            <a:ext cx="640080" cy="64008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754879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Supply chain &amp; telecom</a:t>
            </a:r>
          </a:p>
          <a:p>
            <a:r>
              <a:rPr sz="1400" b="0" i="0">
                <a:solidFill>
                  <a:srgbClr val="2C3C43"/>
                </a:solidFill>
              </a:rPr>
              <a:t>pricing, inventory and billing history.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4663440"/>
            <a:ext cx="3977639" cy="13258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60" y="5001768"/>
            <a:ext cx="640080" cy="640080"/>
          </a:xfrm>
          <a:prstGeom prst="ellipse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754879"/>
            <a:ext cx="2926080" cy="11430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1400" b="1" i="0">
                <a:solidFill>
                  <a:srgbClr val="2C3C43"/>
                </a:solidFill>
              </a:rPr>
              <a:t>Data warehousing</a:t>
            </a:r>
          </a:p>
          <a:p>
            <a:r>
              <a:rPr sz="1400" b="0" i="0">
                <a:solidFill>
                  <a:srgbClr val="2C3C43"/>
                </a:solidFill>
              </a:rPr>
              <a:t>type-2 slowly changing dimensions are temporal by nature.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Querying Time with SQL:2011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35661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System-versioned tables</a:t>
            </a:r>
            <a:r>
              <a:rPr sz="1400" b="0" i="0">
                <a:solidFill>
                  <a:srgbClr val="2C3C43"/>
                </a:solidFill>
              </a:rPr>
              <a:t> start with: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WITH SYSTEM VERSIONING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Application-time period tables</a:t>
            </a:r>
            <a:r>
              <a:rPr sz="1400" b="0" i="0">
                <a:solidFill>
                  <a:srgbClr val="2C3C43"/>
                </a:solidFill>
              </a:rPr>
              <a:t> declare: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PERIOD FOR valid_time (start_date, end_date)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a past state: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SELECT ... FOR SYSTEM_TIME AS OF TIMESTAMP '2023-06-01'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Update only a portion of history: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UPDATE ... FOR PORTION OF valid_time FROM ... TO ...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Temporal primary keys prevent overlapping valid periods.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This turns history queries into normal SQL instead of hand-written joins.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4572000" cy="3200400"/>
          </a:xfrm>
          <a:prstGeom prst="roundRect">
            <a:avLst/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0" y="1664207"/>
            <a:ext cx="548640" cy="237744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965960"/>
            <a:ext cx="4297680" cy="2697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1" i="0">
                <a:solidFill>
                  <a:srgbClr val="90C226"/>
                </a:solidFill>
                <a:latin typeface="Courier New"/>
              </a:rPr>
              <a:t>CREATE TABLE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salary (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emp_id    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INT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,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amount    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DECIMAL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(</a:t>
            </a:r>
            <a:r>
              <a:rPr sz="1100" b="0" i="0">
                <a:solidFill>
                  <a:srgbClr val="F2A15F"/>
                </a:solidFill>
                <a:latin typeface="Courier New"/>
              </a:rPr>
              <a:t>10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,</a:t>
            </a:r>
            <a:r>
              <a:rPr sz="1100" b="0" i="0">
                <a:solidFill>
                  <a:srgbClr val="F2A15F"/>
                </a:solidFill>
                <a:latin typeface="Courier New"/>
              </a:rPr>
              <a:t>2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),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valid_time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PERIOD FOR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valid_time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  (from_date, to_date),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PRIMARY KEY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(emp_id,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  valid_time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WITHOUT OVERLAPS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)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)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WITH SYSTEM VERSIONING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;</a:t>
            </a:r>
          </a:p>
          <a:p>
            <a:r>
              <a:rPr sz="11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100" b="0" i="1">
                <a:solidFill>
                  <a:srgbClr val="8FA6B0"/>
                </a:solidFill>
                <a:latin typeface="Courier New"/>
              </a:rPr>
              <a:t>-- What did the system store on 1 June 2023?</a:t>
            </a:r>
          </a:p>
          <a:p>
            <a:r>
              <a:rPr sz="1100" b="1" i="0">
                <a:solidFill>
                  <a:srgbClr val="90C226"/>
                </a:solidFill>
                <a:latin typeface="Courier New"/>
              </a:rPr>
              <a:t>SELECT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*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FROM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salary</a:t>
            </a:r>
          </a:p>
          <a:p>
            <a:r>
              <a:rPr sz="11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FOR SYSTEM_TIME AS OF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1" i="0">
                <a:solidFill>
                  <a:srgbClr val="90C226"/>
                </a:solidFill>
                <a:latin typeface="Courier New"/>
              </a:rPr>
              <a:t>TIMESTAMP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100" b="0" i="0">
                <a:solidFill>
                  <a:srgbClr val="E6B91E"/>
                </a:solidFill>
                <a:latin typeface="Courier New"/>
              </a:rPr>
              <a:t>'2023-06-01'</a:t>
            </a:r>
            <a:r>
              <a:rPr sz="1100" b="0" i="0">
                <a:solidFill>
                  <a:srgbClr val="E8EEF0"/>
                </a:solidFill>
                <a:latin typeface="Courier New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892040"/>
            <a:ext cx="45720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AS OF = the database exactly as it looked on any past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Asking Questions About Intervals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02336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Time can be an </a:t>
            </a:r>
            <a:r>
              <a:rPr sz="1400" b="1" i="0">
                <a:solidFill>
                  <a:srgbClr val="2C3C43"/>
                </a:solidFill>
              </a:rPr>
              <a:t>instant</a:t>
            </a:r>
            <a:r>
              <a:rPr sz="1400" b="0" i="0">
                <a:solidFill>
                  <a:srgbClr val="2C3C43"/>
                </a:solidFill>
              </a:rPr>
              <a:t> (timestamp) or an </a:t>
            </a:r>
            <a:r>
              <a:rPr sz="1400" b="1" i="0">
                <a:solidFill>
                  <a:srgbClr val="2C3C43"/>
                </a:solidFill>
              </a:rPr>
              <a:t>interval/period</a:t>
            </a:r>
            <a:r>
              <a:rPr sz="1400" b="0" i="0">
                <a:solidFill>
                  <a:srgbClr val="2C3C43"/>
                </a:solidFill>
              </a:rPr>
              <a:t> (start, end).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Allen's interval algebra</a:t>
            </a:r>
            <a:r>
              <a:rPr sz="1400" b="0" i="0">
                <a:solidFill>
                  <a:srgbClr val="2C3C43"/>
                </a:solidFill>
              </a:rPr>
              <a:t> defines 13 possible relations between two intervals.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Examples: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before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after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meets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overlaps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contains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during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equals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Temporal SQL extends joins and predicates with these relations.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Finding overlaps is the most common operation (e.g., "who held the role then?").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Efficient interval logic is what separates temporal query languages from plain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463040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Allen's 13 relations:  A (green) vs B (dark)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847088"/>
            <a:ext cx="6858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8160" y="1975104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2112264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after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157984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66560" y="2286000"/>
            <a:ext cx="6858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42316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meets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468880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2596896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734056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met-by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0" y="2779776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66560" y="2907792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3044952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overlaps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090672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3218688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355848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overlapped-by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80960" y="3401568"/>
            <a:ext cx="13716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3529584"/>
            <a:ext cx="13716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0" y="3666744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starts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712463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66560" y="3840480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9776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started-by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4023360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766560" y="4151376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4288536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during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4334256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66560" y="4462272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4599432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contains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645152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23760" y="4773168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4910328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finishes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4956048"/>
            <a:ext cx="9144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6560" y="5084064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5221224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finished-by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266944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5394960"/>
            <a:ext cx="9144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553212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100" b="0" i="0">
                <a:solidFill>
                  <a:srgbClr val="2C3C43"/>
                </a:solidFill>
              </a:rPr>
              <a:t>equals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66560" y="5577840"/>
            <a:ext cx="2286000" cy="100584"/>
          </a:xfrm>
          <a:prstGeom prst="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66560" y="5705856"/>
            <a:ext cx="2286000" cy="100584"/>
          </a:xfrm>
          <a:prstGeom prst="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How Temporal Databases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Tuple versioning:</a:t>
            </a:r>
            <a:r>
              <a:rPr sz="1400" b="0" i="0">
                <a:solidFill>
                  <a:srgbClr val="2C3C43"/>
                </a:solidFill>
              </a:rPr>
              <a:t> store one row per version, each with start/end timestamps.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Attribute-level timestamping:</a:t>
            </a:r>
            <a:r>
              <a:rPr sz="1400" b="0" i="0">
                <a:solidFill>
                  <a:srgbClr val="2C3C43"/>
                </a:solidFill>
              </a:rPr>
              <a:t> timestamp individual changed columns (saves space).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Transaction-time</a:t>
            </a:r>
            <a:r>
              <a:rPr sz="1400" b="0" i="0">
                <a:solidFill>
                  <a:srgbClr val="2C3C43"/>
                </a:solidFill>
              </a:rPr>
              <a:t> gives an append-only, immutable store — high write throughput.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Indexing must handle </a:t>
            </a:r>
            <a:r>
              <a:rPr sz="1400" b="1" i="0">
                <a:solidFill>
                  <a:srgbClr val="2C3C43"/>
                </a:solidFill>
              </a:rPr>
              <a:t>ranges</a:t>
            </a:r>
            <a:r>
              <a:rPr sz="1400" b="0" i="0">
                <a:solidFill>
                  <a:srgbClr val="2C3C43"/>
                </a:solidFill>
              </a:rPr>
              <a:t>, not just points — e.g., interval / temporal B+ trees.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Common structures: R-trees for intervals, temporal B+ trees, append-only LSM stores.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MVCC and timestamping (from the concurrency unit) are close cousins of temporal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50876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B+ tree keyed on (id, 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874519"/>
            <a:ext cx="1463040" cy="4572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(101, 2022)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2926080"/>
            <a:ext cx="128016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index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217920" y="2331720"/>
            <a:ext cx="777240" cy="59436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2926080"/>
            <a:ext cx="128016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index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95160" y="2331720"/>
            <a:ext cx="960119" cy="59436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4023360"/>
            <a:ext cx="841248" cy="45720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101|t1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5541264" y="3383280"/>
            <a:ext cx="676656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99048" y="4023360"/>
            <a:ext cx="841248" cy="457200"/>
          </a:xfrm>
          <a:prstGeom prst="roundRect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17920" y="3383280"/>
            <a:ext cx="301752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77456" y="4023360"/>
            <a:ext cx="841248" cy="457200"/>
          </a:xfrm>
          <a:prstGeom prst="roundRect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101|t3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7498080" y="3383280"/>
            <a:ext cx="457199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55863" y="4023360"/>
            <a:ext cx="841248" cy="457200"/>
          </a:xfrm>
          <a:prstGeom prst="roundRect">
            <a:avLst/>
          </a:prstGeom>
          <a:solidFill>
            <a:srgbClr val="E4E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 i="0">
                <a:solidFill>
                  <a:srgbClr val="2C3C43"/>
                </a:solidFill>
              </a:rPr>
              <a:t>101|t4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55279" y="3383280"/>
            <a:ext cx="521209" cy="64008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20640" y="4572000"/>
            <a:ext cx="38404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interval scan over highlighted leaves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5120640"/>
            <a:ext cx="3840480" cy="64008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 i="0">
                <a:solidFill>
                  <a:srgbClr val="2C3C43"/>
                </a:solidFill>
              </a:rPr>
              <a:t>One row per version: id | value | start | end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Worked Example — Tracking 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Scenario: an employee's salary changes over time; we must answer past questions.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Store each version with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from_date</a:t>
            </a:r>
            <a:r>
              <a:rPr sz="1400" b="0" i="0">
                <a:solidFill>
                  <a:srgbClr val="2C3C43"/>
                </a:solidFill>
              </a:rPr>
              <a:t>,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to_date</a:t>
            </a:r>
            <a:r>
              <a:rPr sz="1400" b="0" i="0">
                <a:solidFill>
                  <a:srgbClr val="2C3C43"/>
                </a:solidFill>
              </a:rPr>
              <a:t> (</a:t>
            </a:r>
            <a:r>
              <a:rPr sz="1400" b="1" i="0">
                <a:solidFill>
                  <a:srgbClr val="2C3C43"/>
                </a:solidFill>
              </a:rPr>
              <a:t>valid time</a:t>
            </a:r>
            <a:r>
              <a:rPr sz="1400" b="0" i="0">
                <a:solidFill>
                  <a:srgbClr val="2C3C43"/>
                </a:solidFill>
              </a:rPr>
              <a:t>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1: salary on a given date → select the row whose period contains it.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2: full raise history → order rows by </a:t>
            </a:r>
            <a:r>
              <a:rPr sz="1400" b="0" i="0">
                <a:solidFill>
                  <a:srgbClr val="A8470A"/>
                </a:solidFill>
                <a:latin typeface="Courier New"/>
              </a:rPr>
              <a:t>from_date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Query 3: total cost over a period → join with interval overlap.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With system versioning, also ask "what did the DB believe on date X?".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645920"/>
            <a:ext cx="1645920" cy="502920"/>
          </a:xfrm>
          <a:prstGeom prst="roundRect">
            <a:avLst/>
          </a:prstGeom>
          <a:solidFill>
            <a:srgbClr val="90C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0" i="0">
                <a:solidFill>
                  <a:srgbClr val="2C3C43"/>
                </a:solidFill>
              </a:rPr>
              <a:t>50000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45920"/>
            <a:ext cx="2194560" cy="50292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70000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0" i="0">
                <a:solidFill>
                  <a:srgbClr val="2C3C43"/>
                </a:solidFill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9456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200" b="0" i="0">
                <a:solidFill>
                  <a:srgbClr val="2C3C43"/>
                </a:solidFill>
              </a:rPr>
              <a:t>9999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06040"/>
            <a:ext cx="384048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200" b="1" i="0">
                <a:solidFill>
                  <a:srgbClr val="2C3C43"/>
                </a:solidFill>
              </a:rPr>
              <a:t>Q1 date lookup · Q2 raise history · Q3 cost by overlap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3200400"/>
            <a:ext cx="3840480" cy="2468880"/>
          </a:xfrm>
          <a:prstGeom prst="roundRect">
            <a:avLst/>
          </a:prstGeom>
          <a:solidFill>
            <a:srgbClr val="1F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3310128"/>
            <a:ext cx="548640" cy="237744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3611880"/>
            <a:ext cx="356616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 i="0">
                <a:solidFill>
                  <a:srgbClr val="E8EEF0"/>
                </a:solidFill>
                <a:latin typeface="Courier New"/>
              </a:rPr>
              <a:t>emp_id  amount  from_date   to_date</a:t>
            </a:r>
          </a:p>
          <a:p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50000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2020-01-01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2023-01-01</a:t>
            </a:r>
          </a:p>
          <a:p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70000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2023-01-01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9999-12-31</a:t>
            </a:r>
          </a:p>
          <a:p>
            <a:r>
              <a:rPr sz="1000" b="0" i="0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000" b="0" i="1">
                <a:solidFill>
                  <a:srgbClr val="8FA6B0"/>
                </a:solidFill>
                <a:latin typeface="Courier New"/>
              </a:rPr>
              <a:t>-- salary on 2021-05-10</a:t>
            </a:r>
          </a:p>
          <a:p>
            <a:r>
              <a:rPr sz="1000" b="1" i="0">
                <a:solidFill>
                  <a:srgbClr val="90C226"/>
                </a:solidFill>
                <a:latin typeface="Courier New"/>
              </a:rPr>
              <a:t>SELECT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amount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FROM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salary</a:t>
            </a:r>
          </a:p>
          <a:p>
            <a:r>
              <a:rPr sz="1000" b="1" i="0">
                <a:solidFill>
                  <a:srgbClr val="90C226"/>
                </a:solidFill>
                <a:latin typeface="Courier New"/>
              </a:rPr>
              <a:t>WHERE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emp_id = </a:t>
            </a:r>
            <a:r>
              <a:rPr sz="1000" b="0" i="0">
                <a:solidFill>
                  <a:srgbClr val="F2A15F"/>
                </a:solidFill>
                <a:latin typeface="Courier New"/>
              </a:rPr>
              <a:t>101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AND</a:t>
            </a:r>
          </a:p>
          <a:p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DATE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</a:t>
            </a:r>
            <a:r>
              <a:rPr sz="1000" b="0" i="0">
                <a:solidFill>
                  <a:srgbClr val="E6B91E"/>
                </a:solidFill>
                <a:latin typeface="Courier New"/>
              </a:rPr>
              <a:t>'2021-05-10'</a:t>
            </a:r>
          </a:p>
          <a:p>
            <a:r>
              <a:rPr sz="1000" b="0" i="0">
                <a:solidFill>
                  <a:srgbClr val="E8EEF0"/>
                </a:solidFill>
                <a:latin typeface="Courier New"/>
              </a:rPr>
              <a:t> 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BETWEEN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from_date </a:t>
            </a:r>
            <a:r>
              <a:rPr sz="1000" b="1" i="0">
                <a:solidFill>
                  <a:srgbClr val="90C226"/>
                </a:solidFill>
                <a:latin typeface="Courier New"/>
              </a:rPr>
              <a:t>AND</a:t>
            </a:r>
            <a:r>
              <a:rPr sz="1000" b="0" i="0">
                <a:solidFill>
                  <a:srgbClr val="E8EEF0"/>
                </a:solidFill>
                <a:latin typeface="Courier New"/>
              </a:rPr>
              <a:t> to_date;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Ties to Transactions &amp; Concurrency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Transaction time is exactly what a </a:t>
            </a:r>
            <a:r>
              <a:rPr sz="1400" b="1" i="0">
                <a:solidFill>
                  <a:srgbClr val="2C3C43"/>
                </a:solidFill>
              </a:rPr>
              <a:t>transaction log / recovery</a:t>
            </a:r>
            <a:r>
              <a:rPr sz="1400" b="0" i="0">
                <a:solidFill>
                  <a:srgbClr val="2C3C43"/>
                </a:solidFill>
              </a:rPr>
              <a:t> already records.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MVCC</a:t>
            </a:r>
            <a:r>
              <a:rPr sz="1400" b="0" i="0">
                <a:solidFill>
                  <a:srgbClr val="2C3C43"/>
                </a:solidFill>
              </a:rPr>
              <a:t> keeps multiple versions of a row — the same versioning idea.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Timestamp-based schedulers already order operations by time.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Temporal storage is naturally </a:t>
            </a:r>
            <a:r>
              <a:rPr sz="1400" b="1" i="0">
                <a:solidFill>
                  <a:srgbClr val="2C3C43"/>
                </a:solidFill>
              </a:rPr>
              <a:t>append-only</a:t>
            </a:r>
            <a:r>
              <a:rPr sz="1400" b="0" i="0">
                <a:solidFill>
                  <a:srgbClr val="2C3C43"/>
                </a:solidFill>
              </a:rPr>
              <a:t>, so it is rollback-friendly.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Serializability still applies: history must reflect a consistent order of transactions.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This connects directly to the course's transaction, ACID and recovery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45920"/>
            <a:ext cx="3108960" cy="6858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Transaction 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49440" y="2331720"/>
            <a:ext cx="0" cy="50292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394960" y="2834640"/>
            <a:ext cx="3108960" cy="6858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MVCC versions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49440" y="3520440"/>
            <a:ext cx="0" cy="502920"/>
          </a:xfrm>
          <a:prstGeom prst="line">
            <a:avLst/>
          </a:prstGeom>
          <a:ln w="22225">
            <a:solidFill>
              <a:srgbClr val="2C3C4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94960" y="4023360"/>
            <a:ext cx="3108960" cy="6858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Bitemporal store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A</a:t>
            </a:r>
          </a:p>
        </p:txBody>
      </p:sp>
      <p:sp>
        <p:nvSpPr>
          <p:cNvPr id="12" name="Oval 11"/>
          <p:cNvSpPr/>
          <p:nvPr/>
        </p:nvSpPr>
        <p:spPr>
          <a:xfrm>
            <a:off x="626364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C</a:t>
            </a:r>
          </a:p>
        </p:txBody>
      </p:sp>
      <p:sp>
        <p:nvSpPr>
          <p:cNvPr id="13" name="Oval 12"/>
          <p:cNvSpPr/>
          <p:nvPr/>
        </p:nvSpPr>
        <p:spPr>
          <a:xfrm>
            <a:off x="704088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I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5257800"/>
            <a:ext cx="594360" cy="594360"/>
          </a:xfrm>
          <a:prstGeom prst="ellipse">
            <a:avLst/>
          </a:prstGeom>
          <a:solidFill>
            <a:srgbClr val="E6B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600" b="1" i="0">
                <a:solidFill>
                  <a:srgbClr val="2C3C43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Challenges, Best Practices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20624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Storage growth</a:t>
            </a:r>
            <a:r>
              <a:rPr sz="1400" b="0" i="0">
                <a:solidFill>
                  <a:srgbClr val="2C3C43"/>
                </a:solidFill>
              </a:rPr>
              <a:t> — every change becomes a permanent version.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Performance</a:t>
            </a:r>
            <a:r>
              <a:rPr sz="1400" b="0" i="0">
                <a:solidFill>
                  <a:srgbClr val="2C3C43"/>
                </a:solidFill>
              </a:rPr>
              <a:t> — range/interval indexes are costlier than point indexes.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Complexity</a:t>
            </a:r>
            <a:r>
              <a:rPr sz="1400" b="0" i="0">
                <a:solidFill>
                  <a:srgbClr val="2C3C43"/>
                </a:solidFill>
              </a:rPr>
              <a:t> — developers must reason about two timelines.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Privacy</a:t>
            </a:r>
            <a:r>
              <a:rPr sz="1400" b="0" i="0">
                <a:solidFill>
                  <a:srgbClr val="2C3C43"/>
                </a:solidFill>
              </a:rPr>
              <a:t> — "right to be forgotten" conflicts with immutable history; needs crypto-shredding.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Best practices:</a:t>
            </a:r>
            <a:r>
              <a:rPr sz="1400" b="0" i="0">
                <a:solidFill>
                  <a:srgbClr val="2C3C43"/>
                </a:solidFill>
              </a:rPr>
              <a:t> define retention policy, choose the right model, index intervals, separate hot/cold data.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1" i="0">
                <a:solidFill>
                  <a:srgbClr val="2C3C43"/>
                </a:solidFill>
              </a:rPr>
              <a:t>Future:</a:t>
            </a:r>
            <a:r>
              <a:rPr sz="1400" b="0" i="0">
                <a:solidFill>
                  <a:srgbClr val="2C3C43"/>
                </a:solidFill>
              </a:rPr>
              <a:t> cloud temporal services, ML on history, blockchain-anchored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1554480"/>
            <a:ext cx="1828800" cy="4572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554480"/>
            <a:ext cx="1828800" cy="457200"/>
          </a:xfrm>
          <a:prstGeom prst="roundRect">
            <a:avLst/>
          </a:prstGeom>
          <a:solidFill>
            <a:srgbClr val="C42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2103120"/>
            <a:ext cx="1828800" cy="219456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59" y="219456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Full audit trail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Time-travel queries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Regulatory ready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0" y="2103120"/>
            <a:ext cx="1828800" cy="2194560"/>
          </a:xfrm>
          <a:prstGeom prst="roundRect">
            <a:avLst/>
          </a:prstGeom>
          <a:solidFill>
            <a:srgbClr val="F1F7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2194560"/>
            <a:ext cx="1737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Storage growth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Costlier indexes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Two timelines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300" b="0" i="0">
                <a:solidFill>
                  <a:srgbClr val="2C3C43"/>
                </a:solidFill>
              </a:rPr>
              <a:t>Privacy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572000"/>
            <a:ext cx="3840480" cy="100584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Future →  cloud temporal services, ML on history, blockchain-anchored audit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822960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2800" b="1" i="0">
                <a:solidFill>
                  <a:srgbClr val="2C3C43"/>
                </a:solidFill>
              </a:rPr>
              <a:t>References &amp;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7680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00" b="0" i="0">
                <a:solidFill>
                  <a:srgbClr val="5A6B73"/>
                </a:solidFill>
              </a:rPr>
              <a:t>Temporal Databases: Concepts and Applications  |  Sayantan Bharati  |  BWU/BTS/25/503  |  Section B  |  BTS30102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5A6B73"/>
                </a:solidFill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512064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A. Silberschatz, H. Korth, S. Sudarshan — </a:t>
            </a:r>
            <a:r>
              <a:rPr sz="1400" b="0" i="1">
                <a:solidFill>
                  <a:srgbClr val="2C3C43"/>
                </a:solidFill>
              </a:rPr>
              <a:t>Database System Concepts</a:t>
            </a:r>
            <a:r>
              <a:rPr sz="1400" b="0" i="0">
                <a:solidFill>
                  <a:srgbClr val="2C3C43"/>
                </a:solidFill>
              </a:rPr>
              <a:t> (7th ed.), McGraw Hill.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R. Elmasri &amp; S. Navathe — </a:t>
            </a:r>
            <a:r>
              <a:rPr sz="1400" b="0" i="1">
                <a:solidFill>
                  <a:srgbClr val="2C3C43"/>
                </a:solidFill>
              </a:rPr>
              <a:t>Fundamentals of Database Systems</a:t>
            </a:r>
            <a:r>
              <a:rPr sz="1400" b="0" i="0">
                <a:solidFill>
                  <a:srgbClr val="2C3C43"/>
                </a:solidFill>
              </a:rPr>
              <a:t>, Addison-Wesley.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ISO/IEC 9075 — </a:t>
            </a:r>
            <a:r>
              <a:rPr sz="1400" b="1" i="0">
                <a:solidFill>
                  <a:srgbClr val="2C3C43"/>
                </a:solidFill>
              </a:rPr>
              <a:t>SQL:2011</a:t>
            </a:r>
            <a:r>
              <a:rPr sz="1400" b="0" i="0">
                <a:solidFill>
                  <a:srgbClr val="2C3C43"/>
                </a:solidFill>
              </a:rPr>
              <a:t> temporal features (system-versioned &amp; application-time tables).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R. T. Snodgrass — </a:t>
            </a:r>
            <a:r>
              <a:rPr sz="1400" b="0" i="1">
                <a:solidFill>
                  <a:srgbClr val="2C3C43"/>
                </a:solidFill>
              </a:rPr>
              <a:t>Developing Time-Oriented Database Applications in SQL</a:t>
            </a:r>
            <a:r>
              <a:rPr sz="1400" b="0" i="0">
                <a:solidFill>
                  <a:srgbClr val="2C3C43"/>
                </a:solidFill>
              </a:rPr>
              <a:t>.</a:t>
            </a:r>
          </a:p>
          <a:p>
            <a:pPr marL="285750" indent="-285750">
              <a:spcAft>
                <a:spcPts val="700"/>
              </a:spcAft>
              <a:buClr>
                <a:srgbClr val="54A021"/>
              </a:buClr>
              <a:buChar char="•"/>
            </a:pPr>
            <a:r>
              <a:rPr sz="1400" b="0" i="0">
                <a:solidFill>
                  <a:srgbClr val="2C3C43"/>
                </a:solidFill>
              </a:rPr>
              <a:t>Course lecture notes — DBMS Modules 1–3 (data models, transactions, storage).</a:t>
            </a:r>
          </a:p>
        </p:txBody>
      </p:sp>
      <p:sp>
        <p:nvSpPr>
          <p:cNvPr id="6" name="Oval 5"/>
          <p:cNvSpPr/>
          <p:nvPr/>
        </p:nvSpPr>
        <p:spPr>
          <a:xfrm>
            <a:off x="6949440" y="1554480"/>
            <a:ext cx="1828800" cy="1828800"/>
          </a:xfrm>
          <a:prstGeom prst="ellipse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3657600"/>
            <a:ext cx="1371600" cy="13716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Database System Concepts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3657600"/>
            <a:ext cx="1554480" cy="1371600"/>
          </a:xfrm>
          <a:prstGeom prst="roundRect">
            <a:avLst/>
          </a:prstGeom>
          <a:solidFill>
            <a:srgbClr val="54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Fundamentals of Database Systems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8229600" cy="914400"/>
          </a:xfrm>
          <a:prstGeom prst="roundRect">
            <a:avLst/>
          </a:prstGeom>
          <a:solidFill>
            <a:srgbClr val="2C3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Thank you for your attention — Questions are welcome.</a:t>
            </a:r>
          </a:p>
          <a:p>
            <a:pPr algn="ctr"/>
            <a:r>
              <a:rPr sz="1300" b="0" i="0">
                <a:solidFill>
                  <a:srgbClr val="FFFFFF"/>
                </a:solidFill>
              </a:rPr>
              <a:t>Sayantan Bharati  |  BWU/BTS/25/503  |  Section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Facet">
  <a:themeElements>
    <a:clrScheme name="Green 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6B9F25"/>
      </a:hlink>
      <a:folHlink>
        <a:srgbClr val="BA6906"/>
      </a:folHlink>
    </a:clrScheme>
    <a:fontScheme name="Green Facet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2026-10-04T04:28:14Z</dcterms:created>
  <dcterms:modified xsi:type="dcterms:W3CDTF">2026-10-04T04:28:14Z</dcterms:modified>
</cp:coreProperties>
</file>