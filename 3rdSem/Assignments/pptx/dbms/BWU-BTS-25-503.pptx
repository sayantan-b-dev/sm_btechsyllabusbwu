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3778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morning. I am Sayantan Bharati. My topic is Temporal Databases </a:t>
            </a:r>
            <a:r>
              <a:rPr lang="en-IN"/>
              <a:t>:</a:t>
            </a:r>
            <a:r>
              <a:t> how a database can store not just the current value of data, but its entire history over time, and why that matters in the real world.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core problem is simple: a normal database only shows today. The moment we update a salary, the previous salary is gone forever. Temporal databases fix this by keeping every version with a time stamp, so historical questions can still be answered.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will start with the motivation, define the two kinds of time, survey the models and the SQL standard, look at real applications, then show implementation, a worked example, and finally the challenges and future of the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Before defining anything, it is worth seeing the gap. Normal updates erase history. People patch this with manual history tables, but those are clumsy and error-prone. A temporal database treats time as a natural part of the schema instead of an afterthought.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single most important idea today is that there are two different clocks. Valid time says when something was true in the real world; transaction time says when our database learned it. A bitemporal system keeps both, which lets us ask questions like "what did we believe last month, and what was actually true then?"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There is a ladder of models. A snapshot database remembers nothing. A rollback database remembers when data was written. A valid-time database remembers when data was true. Bitemporal combines both. SQL 2011 gave us standard syntax for the first and third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Temporal databases are not academic. Every time you see a bank statement, an insurance policy history, or a patient record that shows changes over time, you are seeing temporal data. Regulators increasingly require that this history is retained and queryable.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beauty of SQL 2011 is that it hides all the complexity behind familiar syntax. `FOR SYSTEM_TIME AS OF` gives you the database as it looked on any past date. Application-time periods let updates affect only a slice of history. So the developer writes ordinary 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Once time is a period rather than a point, comparisons multiply. Allen's algebra enumerates all thirteen ways two intervals can relate </a:t>
            </a:r>
            <a:r>
              <a:rPr lang="en-IN"/>
              <a:t>:</a:t>
            </a:r>
            <a:r>
              <a:t> before, overlaps, contains and so on. Temporal query languages embed these so that "overlapping" queries become one predicate instead of a tangle of greater-than and less-than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Implementation choices matter. The simplest is to store every version as its own row with a start and end time. That makes writes append-only and fast, and it links naturally to MVCC and transaction logging from the concurrency chapter. The tricky part is indexing ranges efficiently, which is why interval-aware trees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same idea we just discussed, made concrete. Each salary change becomes a new row with a validity period instead of an overwrite. Finding the salary on any date is now just a range check, and the full raise history is simply all the rows in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Temporal databases are not a completely separate world. Transaction time is essentially the story a transaction log already tells, and multi-version concurrency control already stores several versions of a row. Temporal storage simply promotes that internal mechanism to a first-class, user-queryable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 powerful idea has a cost. Keeping all history means storage grows forever, interval queries are slower than point queries, and privacy law can clash with immutability. The practical answer is a clear retention policy and the right model, and the field is moving toward cloud-hosted temporal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are the standard references behind this presentation. Thank you for listening </a:t>
            </a:r>
            <a:r>
              <a:rPr lang="en-IN"/>
              <a:t>:</a:t>
            </a:r>
            <a:r>
              <a:t> I am happy to take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co line 1"/>
          <p:cNvSpPr/>
          <p:nvPr/>
        </p:nvSpPr>
        <p:spPr>
          <a:xfrm>
            <a:off x="9377680" y="0"/>
            <a:ext cx="1219200" cy="685800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deco line 2"/>
          <p:cNvSpPr/>
          <p:nvPr/>
        </p:nvSpPr>
        <p:spPr>
          <a:xfrm flipV="1">
            <a:off x="7434580" y="3690620"/>
            <a:ext cx="4763770" cy="316738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deco r1"/>
          <p:cNvSpPr/>
          <p:nvPr/>
        </p:nvSpPr>
        <p:spPr>
          <a:xfrm>
            <a:off x="9182100" y="0"/>
            <a:ext cx="3009900" cy="6858000"/>
          </a:xfrm>
          <a:custGeom>
            <a:avLst/>
            <a:gdLst/>
            <a:ahLst/>
            <a:cxnLst/>
            <a:rect l="l" t="t" r="r" b="b"/>
            <a:pathLst>
              <a:path w="3009900" h="6858000">
                <a:moveTo>
                  <a:pt x="2047240" y="0"/>
                </a:moveTo>
                <a:lnTo>
                  <a:pt x="3009900" y="0"/>
                </a:lnTo>
                <a:lnTo>
                  <a:pt x="30099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90C226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deco r2"/>
          <p:cNvSpPr/>
          <p:nvPr/>
        </p:nvSpPr>
        <p:spPr>
          <a:xfrm>
            <a:off x="9601200" y="0"/>
            <a:ext cx="2590800" cy="6858000"/>
          </a:xfrm>
          <a:custGeom>
            <a:avLst/>
            <a:gdLst/>
            <a:ahLst/>
            <a:cxnLst/>
            <a:rect l="l" t="t" r="r" b="b"/>
            <a:pathLst>
              <a:path w="2590800" h="6858000">
                <a:moveTo>
                  <a:pt x="0" y="0"/>
                </a:moveTo>
                <a:lnTo>
                  <a:pt x="2590800" y="0"/>
                </a:lnTo>
                <a:lnTo>
                  <a:pt x="2590800" y="6858000"/>
                </a:lnTo>
                <a:lnTo>
                  <a:pt x="1210310" y="6858000"/>
                </a:lnTo>
                <a:close/>
              </a:path>
            </a:pathLst>
          </a:custGeom>
          <a:solidFill>
            <a:srgbClr val="90C22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deco r3"/>
          <p:cNvSpPr/>
          <p:nvPr/>
        </p:nvSpPr>
        <p:spPr>
          <a:xfrm>
            <a:off x="8934450" y="3048000"/>
            <a:ext cx="3257550" cy="3810000"/>
          </a:xfrm>
          <a:custGeom>
            <a:avLst/>
            <a:gdLst/>
            <a:ahLst/>
            <a:cxnLst/>
            <a:rect l="l" t="t" r="r" b="b"/>
            <a:pathLst>
              <a:path w="3257550" h="3810000">
                <a:moveTo>
                  <a:pt x="0" y="3810000"/>
                </a:moveTo>
                <a:lnTo>
                  <a:pt x="3257550" y="0"/>
                </a:lnTo>
                <a:lnTo>
                  <a:pt x="3257550" y="3810000"/>
                </a:lnTo>
                <a:close/>
              </a:path>
            </a:pathLst>
          </a:custGeom>
          <a:solidFill>
            <a:srgbClr val="54A021">
              <a:alpha val="7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deco r4"/>
          <p:cNvSpPr/>
          <p:nvPr/>
        </p:nvSpPr>
        <p:spPr>
          <a:xfrm>
            <a:off x="9334500" y="0"/>
            <a:ext cx="2857500" cy="6858000"/>
          </a:xfrm>
          <a:custGeom>
            <a:avLst/>
            <a:gdLst/>
            <a:ahLst/>
            <a:cxnLst/>
            <a:rect l="l" t="t" r="r" b="b"/>
            <a:pathLst>
              <a:path w="2857500" h="6858000">
                <a:moveTo>
                  <a:pt x="0" y="0"/>
                </a:moveTo>
                <a:lnTo>
                  <a:pt x="2857500" y="0"/>
                </a:lnTo>
                <a:lnTo>
                  <a:pt x="2857500" y="6858000"/>
                </a:lnTo>
                <a:lnTo>
                  <a:pt x="2473960" y="6858000"/>
                </a:lnTo>
                <a:close/>
              </a:path>
            </a:pathLst>
          </a:custGeom>
          <a:solidFill>
            <a:srgbClr val="3F7819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deco r5"/>
          <p:cNvSpPr/>
          <p:nvPr/>
        </p:nvSpPr>
        <p:spPr>
          <a:xfrm>
            <a:off x="10896600" y="0"/>
            <a:ext cx="1295400" cy="6858000"/>
          </a:xfrm>
          <a:custGeom>
            <a:avLst/>
            <a:gdLst/>
            <a:ahLst/>
            <a:cxnLst/>
            <a:rect l="l" t="t" r="r" b="b"/>
            <a:pathLst>
              <a:path w="1295400" h="6858000">
                <a:moveTo>
                  <a:pt x="1023620" y="0"/>
                </a:moveTo>
                <a:lnTo>
                  <a:pt x="1295400" y="0"/>
                </a:lnTo>
                <a:lnTo>
                  <a:pt x="1295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C0E474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deco r6"/>
          <p:cNvSpPr/>
          <p:nvPr/>
        </p:nvSpPr>
        <p:spPr>
          <a:xfrm>
            <a:off x="10934700" y="0"/>
            <a:ext cx="1257300" cy="6858000"/>
          </a:xfrm>
          <a:custGeom>
            <a:avLst/>
            <a:gdLst/>
            <a:ahLst/>
            <a:cxnLst/>
            <a:rect l="l" t="t" r="r" b="b"/>
            <a:pathLst>
              <a:path w="1257300" h="6858000">
                <a:moveTo>
                  <a:pt x="0" y="0"/>
                </a:moveTo>
                <a:lnTo>
                  <a:pt x="1257300" y="0"/>
                </a:lnTo>
                <a:lnTo>
                  <a:pt x="1257300" y="6858000"/>
                </a:lnTo>
                <a:lnTo>
                  <a:pt x="1116330" y="6858000"/>
                </a:lnTo>
                <a:close/>
              </a:path>
            </a:pathLst>
          </a:custGeom>
          <a:solidFill>
            <a:srgbClr val="90C226">
              <a:alpha val="6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deco r7"/>
          <p:cNvSpPr/>
          <p:nvPr/>
        </p:nvSpPr>
        <p:spPr>
          <a:xfrm>
            <a:off x="10373360" y="3591560"/>
            <a:ext cx="1818640" cy="3266440"/>
          </a:xfrm>
          <a:custGeom>
            <a:avLst/>
            <a:gdLst/>
            <a:ahLst/>
            <a:cxnLst/>
            <a:rect l="l" t="t" r="r" b="b"/>
            <a:pathLst>
              <a:path w="1818640" h="3266440">
                <a:moveTo>
                  <a:pt x="0" y="3266440"/>
                </a:moveTo>
                <a:lnTo>
                  <a:pt x="1818640" y="0"/>
                </a:lnTo>
                <a:lnTo>
                  <a:pt x="1818640" y="3266440"/>
                </a:lnTo>
                <a:close/>
              </a:path>
            </a:pathLst>
          </a:custGeom>
          <a:solidFill>
            <a:srgbClr val="90C226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deco left"/>
          <p:cNvSpPr/>
          <p:nvPr/>
        </p:nvSpPr>
        <p:spPr>
          <a:xfrm>
            <a:off x="0" y="0"/>
            <a:ext cx="838200" cy="5667375"/>
          </a:xfrm>
          <a:custGeom>
            <a:avLst/>
            <a:gdLst/>
            <a:ahLst/>
            <a:cxnLst/>
            <a:rect l="l" t="t" r="r" b="b"/>
            <a:pathLst>
              <a:path w="838200" h="5667375">
                <a:moveTo>
                  <a:pt x="838200" y="0"/>
                </a:moveTo>
                <a:lnTo>
                  <a:pt x="0" y="5667375"/>
                </a:lnTo>
                <a:lnTo>
                  <a:pt x="0" y="0"/>
                </a:lnTo>
                <a:close/>
              </a:path>
            </a:pathLst>
          </a:custGeom>
          <a:solidFill>
            <a:srgbClr val="90C226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co line 1"/>
          <p:cNvSpPr/>
          <p:nvPr/>
        </p:nvSpPr>
        <p:spPr>
          <a:xfrm>
            <a:off x="9377680" y="0"/>
            <a:ext cx="1219200" cy="685800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deco line 2"/>
          <p:cNvSpPr/>
          <p:nvPr/>
        </p:nvSpPr>
        <p:spPr>
          <a:xfrm flipV="1">
            <a:off x="7434580" y="3690620"/>
            <a:ext cx="4763770" cy="316738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deco r1"/>
          <p:cNvSpPr/>
          <p:nvPr/>
        </p:nvSpPr>
        <p:spPr>
          <a:xfrm>
            <a:off x="9182100" y="0"/>
            <a:ext cx="3009900" cy="6858000"/>
          </a:xfrm>
          <a:custGeom>
            <a:avLst/>
            <a:gdLst/>
            <a:ahLst/>
            <a:cxnLst/>
            <a:rect l="l" t="t" r="r" b="b"/>
            <a:pathLst>
              <a:path w="3009900" h="6858000">
                <a:moveTo>
                  <a:pt x="2047240" y="0"/>
                </a:moveTo>
                <a:lnTo>
                  <a:pt x="3009900" y="0"/>
                </a:lnTo>
                <a:lnTo>
                  <a:pt x="30099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90C226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deco r2"/>
          <p:cNvSpPr/>
          <p:nvPr/>
        </p:nvSpPr>
        <p:spPr>
          <a:xfrm>
            <a:off x="9601200" y="0"/>
            <a:ext cx="2590800" cy="6858000"/>
          </a:xfrm>
          <a:custGeom>
            <a:avLst/>
            <a:gdLst/>
            <a:ahLst/>
            <a:cxnLst/>
            <a:rect l="l" t="t" r="r" b="b"/>
            <a:pathLst>
              <a:path w="2590800" h="6858000">
                <a:moveTo>
                  <a:pt x="0" y="0"/>
                </a:moveTo>
                <a:lnTo>
                  <a:pt x="2590800" y="0"/>
                </a:lnTo>
                <a:lnTo>
                  <a:pt x="2590800" y="6858000"/>
                </a:lnTo>
                <a:lnTo>
                  <a:pt x="1210310" y="6858000"/>
                </a:lnTo>
                <a:close/>
              </a:path>
            </a:pathLst>
          </a:custGeom>
          <a:solidFill>
            <a:srgbClr val="90C22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deco r3"/>
          <p:cNvSpPr/>
          <p:nvPr/>
        </p:nvSpPr>
        <p:spPr>
          <a:xfrm>
            <a:off x="8934450" y="3048000"/>
            <a:ext cx="3257550" cy="3810000"/>
          </a:xfrm>
          <a:custGeom>
            <a:avLst/>
            <a:gdLst/>
            <a:ahLst/>
            <a:cxnLst/>
            <a:rect l="l" t="t" r="r" b="b"/>
            <a:pathLst>
              <a:path w="3257550" h="3810000">
                <a:moveTo>
                  <a:pt x="0" y="3810000"/>
                </a:moveTo>
                <a:lnTo>
                  <a:pt x="3257550" y="0"/>
                </a:lnTo>
                <a:lnTo>
                  <a:pt x="3257550" y="3810000"/>
                </a:lnTo>
                <a:close/>
              </a:path>
            </a:pathLst>
          </a:custGeom>
          <a:solidFill>
            <a:srgbClr val="54A021">
              <a:alpha val="7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deco r4"/>
          <p:cNvSpPr/>
          <p:nvPr/>
        </p:nvSpPr>
        <p:spPr>
          <a:xfrm>
            <a:off x="9334500" y="0"/>
            <a:ext cx="2857500" cy="6858000"/>
          </a:xfrm>
          <a:custGeom>
            <a:avLst/>
            <a:gdLst/>
            <a:ahLst/>
            <a:cxnLst/>
            <a:rect l="l" t="t" r="r" b="b"/>
            <a:pathLst>
              <a:path w="2857500" h="6858000">
                <a:moveTo>
                  <a:pt x="0" y="0"/>
                </a:moveTo>
                <a:lnTo>
                  <a:pt x="2857500" y="0"/>
                </a:lnTo>
                <a:lnTo>
                  <a:pt x="2857500" y="6858000"/>
                </a:lnTo>
                <a:lnTo>
                  <a:pt x="2473960" y="6858000"/>
                </a:lnTo>
                <a:close/>
              </a:path>
            </a:pathLst>
          </a:custGeom>
          <a:solidFill>
            <a:srgbClr val="3F7819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deco r5"/>
          <p:cNvSpPr/>
          <p:nvPr/>
        </p:nvSpPr>
        <p:spPr>
          <a:xfrm>
            <a:off x="10896600" y="0"/>
            <a:ext cx="1295400" cy="6858000"/>
          </a:xfrm>
          <a:custGeom>
            <a:avLst/>
            <a:gdLst/>
            <a:ahLst/>
            <a:cxnLst/>
            <a:rect l="l" t="t" r="r" b="b"/>
            <a:pathLst>
              <a:path w="1295400" h="6858000">
                <a:moveTo>
                  <a:pt x="1023620" y="0"/>
                </a:moveTo>
                <a:lnTo>
                  <a:pt x="1295400" y="0"/>
                </a:lnTo>
                <a:lnTo>
                  <a:pt x="1295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C0E474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deco r6"/>
          <p:cNvSpPr/>
          <p:nvPr/>
        </p:nvSpPr>
        <p:spPr>
          <a:xfrm>
            <a:off x="10934700" y="0"/>
            <a:ext cx="1257300" cy="6858000"/>
          </a:xfrm>
          <a:custGeom>
            <a:avLst/>
            <a:gdLst/>
            <a:ahLst/>
            <a:cxnLst/>
            <a:rect l="l" t="t" r="r" b="b"/>
            <a:pathLst>
              <a:path w="1257300" h="6858000">
                <a:moveTo>
                  <a:pt x="0" y="0"/>
                </a:moveTo>
                <a:lnTo>
                  <a:pt x="1257300" y="0"/>
                </a:lnTo>
                <a:lnTo>
                  <a:pt x="1257300" y="6858000"/>
                </a:lnTo>
                <a:lnTo>
                  <a:pt x="1116330" y="6858000"/>
                </a:lnTo>
                <a:close/>
              </a:path>
            </a:pathLst>
          </a:custGeom>
          <a:solidFill>
            <a:srgbClr val="90C226">
              <a:alpha val="6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deco r7"/>
          <p:cNvSpPr/>
          <p:nvPr/>
        </p:nvSpPr>
        <p:spPr>
          <a:xfrm>
            <a:off x="10373360" y="3591560"/>
            <a:ext cx="1818640" cy="3266440"/>
          </a:xfrm>
          <a:custGeom>
            <a:avLst/>
            <a:gdLst/>
            <a:ahLst/>
            <a:cxnLst/>
            <a:rect l="l" t="t" r="r" b="b"/>
            <a:pathLst>
              <a:path w="1818640" h="3266440">
                <a:moveTo>
                  <a:pt x="0" y="3266440"/>
                </a:moveTo>
                <a:lnTo>
                  <a:pt x="1818640" y="0"/>
                </a:lnTo>
                <a:lnTo>
                  <a:pt x="1818640" y="3266440"/>
                </a:lnTo>
                <a:close/>
              </a:path>
            </a:pathLst>
          </a:custGeom>
          <a:solidFill>
            <a:srgbClr val="90C226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deco left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2847975"/>
                </a:moveTo>
                <a:lnTo>
                  <a:pt x="0" y="0"/>
                </a:lnTo>
                <a:lnTo>
                  <a:pt x="447675" y="2847975"/>
                </a:lnTo>
                <a:close/>
              </a:path>
            </a:pathLst>
          </a:custGeom>
          <a:solidFill>
            <a:srgbClr val="90C226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1772F8-26C6-50AD-13CA-7BD0AA2A0DB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20000"/>
          </a:blip>
          <a:stretch>
            <a:fillRect/>
          </a:stretch>
        </p:blipFill>
        <p:spPr>
          <a:xfrm>
            <a:off x="1764463" y="0"/>
            <a:ext cx="7024053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1FB970-2852-FD2A-F585-60E392247C7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184" y="92015"/>
            <a:ext cx="524227" cy="51183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88720" y="822960"/>
            <a:ext cx="5852160" cy="1737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3600" b="1" i="0" dirty="0">
                <a:solidFill>
                  <a:srgbClr val="2C3C43"/>
                </a:solidFill>
              </a:rPr>
              <a:t>Temporal Databases: Concepts and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651760"/>
            <a:ext cx="58521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000" b="0" i="0">
                <a:solidFill>
                  <a:srgbClr val="54A021"/>
                </a:solidFill>
              </a:rPr>
              <a:t>Managing Data That Changes Over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383280"/>
            <a:ext cx="749807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C3C43"/>
                </a:solidFill>
              </a:rPr>
              <a:t>Course:</a:t>
            </a:r>
            <a:r>
              <a:rPr sz="1400" b="0" i="0">
                <a:solidFill>
                  <a:srgbClr val="2C3C43"/>
                </a:solidFill>
              </a:rPr>
              <a:t> Database Management Systems (BTS30102)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C3C43"/>
                </a:solidFill>
              </a:rPr>
              <a:t>Presented by:</a:t>
            </a:r>
            <a:r>
              <a:rPr sz="1400" b="0" i="0">
                <a:solidFill>
                  <a:srgbClr val="2C3C43"/>
                </a:solidFill>
              </a:rPr>
              <a:t> Sayantan Bharati | BWU/BTS/25/503 | Section B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C3C43"/>
                </a:solidFill>
              </a:rPr>
              <a:t>Programme:</a:t>
            </a:r>
            <a:r>
              <a:rPr sz="1400" b="0" i="0">
                <a:solidFill>
                  <a:srgbClr val="2C3C43"/>
                </a:solidFill>
              </a:rPr>
              <a:t> B.Tech (CSE), Batch 2025, AY 2026-27 (Odd Semester 3)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C3C43"/>
                </a:solidFill>
              </a:rPr>
              <a:t>Faculty:</a:t>
            </a:r>
            <a:r>
              <a:rPr sz="1400" b="0" i="0">
                <a:solidFill>
                  <a:srgbClr val="2C3C43"/>
                </a:solidFill>
              </a:rPr>
              <a:t> Ataul Hoque Mandal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2C3C43"/>
                </a:solidFill>
              </a:rPr>
              <a:t>Department of Computer Science &amp; Engineering, Brainware University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C3C43"/>
                </a:solidFill>
              </a:rPr>
              <a:t>Date:</a:t>
            </a:r>
            <a:r>
              <a:rPr sz="1400" b="0" i="0">
                <a:solidFill>
                  <a:srgbClr val="2C3C43"/>
                </a:solidFill>
              </a:rPr>
              <a:t> 13-10-2026</a:t>
            </a:r>
          </a:p>
        </p:txBody>
      </p:sp>
      <p:sp>
        <p:nvSpPr>
          <p:cNvPr id="5" name="Can 4"/>
          <p:cNvSpPr/>
          <p:nvPr/>
        </p:nvSpPr>
        <p:spPr>
          <a:xfrm>
            <a:off x="7223760" y="914400"/>
            <a:ext cx="1371600" cy="1554480"/>
          </a:xfrm>
          <a:prstGeom prst="can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955279" y="192024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3C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 flipV="1">
            <a:off x="8412480" y="2075688"/>
            <a:ext cx="0" cy="301752"/>
          </a:xfrm>
          <a:prstGeom prst="line">
            <a:avLst/>
          </a:prstGeom>
          <a:ln w="38100">
            <a:solidFill>
              <a:srgbClr val="2C3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412480" y="2377440"/>
            <a:ext cx="228600" cy="0"/>
          </a:xfrm>
          <a:prstGeom prst="line">
            <a:avLst/>
          </a:prstGeom>
          <a:ln w="38100">
            <a:solidFill>
              <a:srgbClr val="2C3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229600" cy="91717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800" b="1" i="0" dirty="0">
                <a:solidFill>
                  <a:srgbClr val="2C3C43"/>
                </a:solidFill>
              </a:rPr>
              <a:t>Introduction </a:t>
            </a:r>
            <a:r>
              <a:rPr lang="en-IN" sz="2800" b="1" i="0" dirty="0">
                <a:solidFill>
                  <a:srgbClr val="2C3C43"/>
                </a:solidFill>
              </a:rPr>
              <a:t>:</a:t>
            </a:r>
            <a:r>
              <a:rPr sz="2800" b="1" i="0" dirty="0">
                <a:solidFill>
                  <a:srgbClr val="2C3C43"/>
                </a:solidFill>
              </a:rPr>
              <a:t> Why Do We Need Time in Databases?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7680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000" b="0" i="0">
                <a:solidFill>
                  <a:srgbClr val="5A6B73"/>
                </a:solidFill>
              </a:rPr>
              <a:t>Temporal Databases: Concepts and Applications  |  Sayantan Bharati  |  BWU/BTS/25/503  |  Section B  |  BTS30102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A6B73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4297680" cy="31264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 dirty="0">
                <a:solidFill>
                  <a:srgbClr val="2C3C43"/>
                </a:solidFill>
              </a:rPr>
              <a:t>A conventional DBMS keeps only the </a:t>
            </a:r>
            <a:r>
              <a:rPr sz="1400" b="1" i="0" dirty="0">
                <a:solidFill>
                  <a:srgbClr val="2C3C43"/>
                </a:solidFill>
              </a:rPr>
              <a:t>current state</a:t>
            </a:r>
            <a:r>
              <a:rPr sz="1400" b="0" i="0" dirty="0">
                <a:solidFill>
                  <a:srgbClr val="2C3C43"/>
                </a:solidFill>
              </a:rPr>
              <a:t> </a:t>
            </a:r>
            <a:r>
              <a:rPr lang="en-IN" sz="1400" b="0" i="0" dirty="0">
                <a:solidFill>
                  <a:srgbClr val="2C3C43"/>
                </a:solidFill>
              </a:rPr>
              <a:t>:</a:t>
            </a:r>
            <a:r>
              <a:rPr sz="1400" b="0" i="0" dirty="0">
                <a:solidFill>
                  <a:srgbClr val="2C3C43"/>
                </a:solidFill>
              </a:rPr>
              <a:t> the old value is overwritten.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 dirty="0">
                <a:solidFill>
                  <a:srgbClr val="2C3C43"/>
                </a:solidFill>
              </a:rPr>
              <a:t>But many questions are about the </a:t>
            </a:r>
            <a:r>
              <a:rPr sz="1400" b="1" i="0" dirty="0">
                <a:solidFill>
                  <a:srgbClr val="2C3C43"/>
                </a:solidFill>
              </a:rPr>
              <a:t>past</a:t>
            </a:r>
            <a:r>
              <a:rPr sz="1400" b="0" i="0" dirty="0">
                <a:solidFill>
                  <a:srgbClr val="2C3C43"/>
                </a:solidFill>
              </a:rPr>
              <a:t>: "What was the salary in 2023?"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 dirty="0">
                <a:solidFill>
                  <a:srgbClr val="2C3C43"/>
                </a:solidFill>
              </a:rPr>
              <a:t>Overwriting data destroys the </a:t>
            </a:r>
            <a:r>
              <a:rPr sz="1400" b="1" i="0" dirty="0">
                <a:solidFill>
                  <a:srgbClr val="2C3C43"/>
                </a:solidFill>
              </a:rPr>
              <a:t>audit trail</a:t>
            </a:r>
            <a:r>
              <a:rPr sz="1400" b="0" i="0" dirty="0">
                <a:solidFill>
                  <a:srgbClr val="2C3C43"/>
                </a:solidFill>
              </a:rPr>
              <a:t> and the ability to reproduce past decisions.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 dirty="0">
                <a:solidFill>
                  <a:srgbClr val="2C3C43"/>
                </a:solidFill>
              </a:rPr>
              <a:t>Temporal databases</a:t>
            </a:r>
            <a:r>
              <a:rPr sz="1400" b="0" i="0" dirty="0">
                <a:solidFill>
                  <a:srgbClr val="2C3C43"/>
                </a:solidFill>
              </a:rPr>
              <a:t> store time as a first-class part of every fact.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 dirty="0">
                <a:solidFill>
                  <a:srgbClr val="2C3C43"/>
                </a:solidFill>
              </a:rPr>
              <a:t>They answer </a:t>
            </a:r>
            <a:r>
              <a:rPr sz="1400" b="0" i="1" dirty="0">
                <a:solidFill>
                  <a:srgbClr val="2C3C43"/>
                </a:solidFill>
              </a:rPr>
              <a:t>when</a:t>
            </a:r>
            <a:r>
              <a:rPr sz="1400" b="0" i="0" dirty="0">
                <a:solidFill>
                  <a:srgbClr val="2C3C43"/>
                </a:solidFill>
              </a:rPr>
              <a:t> a fact was true and </a:t>
            </a:r>
            <a:r>
              <a:rPr sz="1400" b="0" i="1" dirty="0">
                <a:solidFill>
                  <a:srgbClr val="2C3C43"/>
                </a:solidFill>
              </a:rPr>
              <a:t>when</a:t>
            </a:r>
            <a:r>
              <a:rPr sz="1400" b="0" i="0" dirty="0">
                <a:solidFill>
                  <a:srgbClr val="2C3C43"/>
                </a:solidFill>
              </a:rPr>
              <a:t> the database believed it was true.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 dirty="0">
                <a:solidFill>
                  <a:srgbClr val="2C3C43"/>
                </a:solidFill>
              </a:rPr>
              <a:t>Built on standard DBMS ideas </a:t>
            </a:r>
            <a:r>
              <a:rPr lang="en-IN" sz="1400" b="0" i="0" dirty="0">
                <a:solidFill>
                  <a:srgbClr val="2C3C43"/>
                </a:solidFill>
              </a:rPr>
              <a:t>:</a:t>
            </a:r>
            <a:r>
              <a:rPr sz="1400" b="0" i="0" dirty="0">
                <a:solidFill>
                  <a:srgbClr val="2C3C43"/>
                </a:solidFill>
              </a:rPr>
              <a:t> schema, keys, transactions, indexing </a:t>
            </a:r>
            <a:r>
              <a:rPr lang="en-IN" sz="1400" b="0" i="0" dirty="0">
                <a:solidFill>
                  <a:srgbClr val="2C3C43"/>
                </a:solidFill>
              </a:rPr>
              <a:t>:</a:t>
            </a:r>
            <a:r>
              <a:rPr sz="1400" b="0" i="0" dirty="0">
                <a:solidFill>
                  <a:srgbClr val="2C3C43"/>
                </a:solidFill>
              </a:rPr>
              <a:t> extended with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554480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200" b="1" i="0">
                <a:solidFill>
                  <a:srgbClr val="2C3C43"/>
                </a:solidFill>
              </a:rPr>
              <a:t>Conventional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874519"/>
            <a:ext cx="3657600" cy="502920"/>
          </a:xfrm>
          <a:prstGeom prst="roundRect">
            <a:avLst/>
          </a:prstGeom>
          <a:solidFill>
            <a:srgbClr val="E4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0" i="0">
                <a:solidFill>
                  <a:srgbClr val="2C3C43"/>
                </a:solidFill>
              </a:rPr>
              <a:t>Emp101 | Salary = 70000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2423160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200" b="1" i="0">
                <a:solidFill>
                  <a:srgbClr val="C42F1A"/>
                </a:solidFill>
              </a:rPr>
              <a:t>old value GONE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3017520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200" b="1" i="0">
                <a:solidFill>
                  <a:srgbClr val="2C3C43"/>
                </a:solidFill>
              </a:rPr>
              <a:t>Temporal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3337560"/>
            <a:ext cx="3657600" cy="502920"/>
          </a:xfrm>
          <a:prstGeom prst="roundRect">
            <a:avLst/>
          </a:prstGeom>
          <a:solidFill>
            <a:srgbClr val="E4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0" i="0">
                <a:solidFill>
                  <a:srgbClr val="2C3C43"/>
                </a:solidFill>
              </a:rPr>
              <a:t>Emp101 | 50000 | 2020–2023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3931920"/>
            <a:ext cx="3657600" cy="502920"/>
          </a:xfrm>
          <a:prstGeom prst="roundRect">
            <a:avLst/>
          </a:prstGeom>
          <a:solidFill>
            <a:srgbClr val="90C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0" i="0">
                <a:solidFill>
                  <a:srgbClr val="2C3C43"/>
                </a:solidFill>
              </a:rPr>
              <a:t>Emp101 | 70000 | 2023–now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4480560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200" b="1" i="0">
                <a:solidFill>
                  <a:srgbClr val="54A021"/>
                </a:solidFill>
              </a:rPr>
              <a:t>history kept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22960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800" b="1" i="0">
                <a:solidFill>
                  <a:srgbClr val="2C3C43"/>
                </a:solidFill>
              </a:rPr>
              <a:t>Presentation 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7680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000" b="0" i="0">
                <a:solidFill>
                  <a:srgbClr val="5A6B73"/>
                </a:solidFill>
              </a:rPr>
              <a:t>Temporal Databases: Concepts and Applications  |  Sayantan Bharati  |  BWU/BTS/25/503  |  Section B  |  BTS30102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A6B73"/>
                </a:solidFill>
              </a:rPr>
              <a:t>3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600200"/>
            <a:ext cx="548640" cy="548640"/>
          </a:xfrm>
          <a:prstGeom prst="ellipse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600200"/>
            <a:ext cx="342900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sz="1400" b="0" i="0">
                <a:solidFill>
                  <a:srgbClr val="2C3C43"/>
                </a:solidFill>
              </a:rPr>
              <a:t>The Need for Time in Data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496312"/>
            <a:ext cx="548640" cy="548640"/>
          </a:xfrm>
          <a:prstGeom prst="ellipse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496312"/>
            <a:ext cx="342900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sz="1400" b="0" i="0">
                <a:solidFill>
                  <a:srgbClr val="2C3C43"/>
                </a:solidFill>
              </a:rPr>
              <a:t>Core Concepts &amp; Time Dimensions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392424"/>
            <a:ext cx="548640" cy="548640"/>
          </a:xfrm>
          <a:prstGeom prst="ellipse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392424"/>
            <a:ext cx="342900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sz="1400" b="0" i="0">
                <a:solidFill>
                  <a:srgbClr val="2C3C43"/>
                </a:solidFill>
              </a:rPr>
              <a:t>Temporal Data Models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288536"/>
            <a:ext cx="548640" cy="548640"/>
          </a:xfrm>
          <a:prstGeom prst="ellipse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288536"/>
            <a:ext cx="342900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sz="1400" b="0" i="0">
                <a:solidFill>
                  <a:srgbClr val="2C3C43"/>
                </a:solidFill>
              </a:rPr>
              <a:t>Real-World Applications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5184648"/>
            <a:ext cx="548640" cy="548640"/>
          </a:xfrm>
          <a:prstGeom prst="ellipse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5184648"/>
            <a:ext cx="342900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sz="1400" b="0" i="0">
                <a:solidFill>
                  <a:srgbClr val="2C3C43"/>
                </a:solidFill>
              </a:rPr>
              <a:t>SQL:2011 Temporal Features</a:t>
            </a:r>
          </a:p>
        </p:txBody>
      </p:sp>
      <p:sp>
        <p:nvSpPr>
          <p:cNvPr id="15" name="Oval 14"/>
          <p:cNvSpPr/>
          <p:nvPr/>
        </p:nvSpPr>
        <p:spPr>
          <a:xfrm>
            <a:off x="4937759" y="1600200"/>
            <a:ext cx="548640" cy="548640"/>
          </a:xfrm>
          <a:prstGeom prst="ellipse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59" y="1600200"/>
            <a:ext cx="342900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sz="1400" b="0" i="0">
                <a:solidFill>
                  <a:srgbClr val="2C3C43"/>
                </a:solidFill>
              </a:rPr>
              <a:t>Temporal Querying &amp; Interval Algebra</a:t>
            </a:r>
          </a:p>
        </p:txBody>
      </p:sp>
      <p:sp>
        <p:nvSpPr>
          <p:cNvPr id="17" name="Oval 16"/>
          <p:cNvSpPr/>
          <p:nvPr/>
        </p:nvSpPr>
        <p:spPr>
          <a:xfrm>
            <a:off x="4937759" y="2496312"/>
            <a:ext cx="548640" cy="548640"/>
          </a:xfrm>
          <a:prstGeom prst="ellipse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59" y="2496312"/>
            <a:ext cx="342900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sz="1400" b="0" i="0">
                <a:solidFill>
                  <a:srgbClr val="2C3C43"/>
                </a:solidFill>
              </a:rPr>
              <a:t>Implementation &amp; Indexing</a:t>
            </a:r>
          </a:p>
        </p:txBody>
      </p:sp>
      <p:sp>
        <p:nvSpPr>
          <p:cNvPr id="19" name="Oval 18"/>
          <p:cNvSpPr/>
          <p:nvPr/>
        </p:nvSpPr>
        <p:spPr>
          <a:xfrm>
            <a:off x="4937759" y="3392424"/>
            <a:ext cx="548640" cy="548640"/>
          </a:xfrm>
          <a:prstGeom prst="ellipse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59" y="3531322"/>
            <a:ext cx="3429000" cy="270843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sz="1400" b="0" i="0" dirty="0">
                <a:solidFill>
                  <a:srgbClr val="2C3C43"/>
                </a:solidFill>
              </a:rPr>
              <a:t>Worked Example </a:t>
            </a:r>
            <a:r>
              <a:rPr lang="en-IN" sz="1400" b="0" i="0" dirty="0">
                <a:solidFill>
                  <a:srgbClr val="2C3C43"/>
                </a:solidFill>
              </a:rPr>
              <a:t>:</a:t>
            </a:r>
            <a:r>
              <a:rPr sz="1400" b="0" i="0" dirty="0">
                <a:solidFill>
                  <a:srgbClr val="2C3C43"/>
                </a:solidFill>
              </a:rPr>
              <a:t> Salary History</a:t>
            </a:r>
          </a:p>
        </p:txBody>
      </p:sp>
      <p:sp>
        <p:nvSpPr>
          <p:cNvPr id="21" name="Oval 20"/>
          <p:cNvSpPr/>
          <p:nvPr/>
        </p:nvSpPr>
        <p:spPr>
          <a:xfrm>
            <a:off x="4937759" y="4288536"/>
            <a:ext cx="548640" cy="548640"/>
          </a:xfrm>
          <a:prstGeom prst="ellipse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59" y="4288536"/>
            <a:ext cx="342900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sz="1400" b="0" i="0">
                <a:solidFill>
                  <a:srgbClr val="2C3C43"/>
                </a:solidFill>
              </a:rPr>
              <a:t>Temporal Databases &amp; Transactions</a:t>
            </a:r>
          </a:p>
        </p:txBody>
      </p:sp>
      <p:sp>
        <p:nvSpPr>
          <p:cNvPr id="23" name="Oval 22"/>
          <p:cNvSpPr/>
          <p:nvPr/>
        </p:nvSpPr>
        <p:spPr>
          <a:xfrm>
            <a:off x="4937759" y="5184648"/>
            <a:ext cx="548640" cy="548640"/>
          </a:xfrm>
          <a:prstGeom prst="ellipse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59" y="5184648"/>
            <a:ext cx="342900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sz="1400" b="0" i="0">
                <a:solidFill>
                  <a:srgbClr val="2C3C43"/>
                </a:solidFill>
              </a:rPr>
              <a:t>Challenges, Best Practices &amp; Future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22960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800" b="1" i="0">
                <a:solidFill>
                  <a:srgbClr val="2C3C43"/>
                </a:solidFill>
              </a:rPr>
              <a:t>Why Conventional Databases Fall Short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7680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000" b="0" i="0">
                <a:solidFill>
                  <a:srgbClr val="5A6B73"/>
                </a:solidFill>
              </a:rPr>
              <a:t>Temporal Databases: Concepts and Applications  |  Sayantan Bharati  |  BWU/BTS/25/503  |  Section B  |  BTS30102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A6B73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429768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 dirty="0">
                <a:solidFill>
                  <a:srgbClr val="2C3C43"/>
                </a:solidFill>
              </a:rPr>
              <a:t>Conventional DBMS = </a:t>
            </a:r>
            <a:r>
              <a:rPr sz="1400" b="1" i="0" dirty="0">
                <a:solidFill>
                  <a:srgbClr val="2C3C43"/>
                </a:solidFill>
              </a:rPr>
              <a:t>snapshot database</a:t>
            </a:r>
            <a:r>
              <a:rPr sz="1400" b="0" i="0" dirty="0">
                <a:solidFill>
                  <a:srgbClr val="2C3C43"/>
                </a:solidFill>
              </a:rPr>
              <a:t>: only the current moment is stored.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 dirty="0">
                <a:solidFill>
                  <a:srgbClr val="2C3C43"/>
                </a:solidFill>
              </a:rPr>
              <a:t>An </a:t>
            </a:r>
            <a:r>
              <a:rPr sz="1400" b="0" i="0" dirty="0">
                <a:solidFill>
                  <a:srgbClr val="A8470A"/>
                </a:solidFill>
                <a:latin typeface="Courier New"/>
              </a:rPr>
              <a:t>UPDATE</a:t>
            </a:r>
            <a:r>
              <a:rPr sz="1400" b="0" i="0" dirty="0">
                <a:solidFill>
                  <a:srgbClr val="2C3C43"/>
                </a:solidFill>
              </a:rPr>
              <a:t> or </a:t>
            </a:r>
            <a:r>
              <a:rPr sz="1400" b="0" i="0" dirty="0">
                <a:solidFill>
                  <a:srgbClr val="A8470A"/>
                </a:solidFill>
                <a:latin typeface="Courier New"/>
              </a:rPr>
              <a:t>DELETE</a:t>
            </a:r>
            <a:r>
              <a:rPr sz="1400" b="0" i="0" dirty="0">
                <a:solidFill>
                  <a:srgbClr val="2C3C43"/>
                </a:solidFill>
              </a:rPr>
              <a:t> </a:t>
            </a:r>
            <a:r>
              <a:rPr sz="1400" b="1" i="0" dirty="0">
                <a:solidFill>
                  <a:srgbClr val="2C3C43"/>
                </a:solidFill>
              </a:rPr>
              <a:t>physically destroys</a:t>
            </a:r>
            <a:r>
              <a:rPr sz="1400" b="0" i="0" dirty="0">
                <a:solidFill>
                  <a:srgbClr val="2C3C43"/>
                </a:solidFill>
              </a:rPr>
              <a:t> the previous value.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 dirty="0">
                <a:solidFill>
                  <a:srgbClr val="2C3C43"/>
                </a:solidFill>
              </a:rPr>
              <a:t>Audit, legal and analytical questions then become impossible or costly.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 dirty="0">
                <a:solidFill>
                  <a:srgbClr val="2C3C43"/>
                </a:solidFill>
              </a:rPr>
              <a:t>Common workarounds are weak: history tables, shadow copies, log mining.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 dirty="0">
                <a:solidFill>
                  <a:srgbClr val="2C3C43"/>
                </a:solidFill>
              </a:rPr>
              <a:t>History tables duplicate schema, drift over time and are hard to query uniformly.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 dirty="0">
                <a:solidFill>
                  <a:srgbClr val="2C3C43"/>
                </a:solidFill>
              </a:rPr>
              <a:t>A temporal DBMS makes history a </a:t>
            </a:r>
            <a:r>
              <a:rPr sz="1400" b="1" i="0" dirty="0">
                <a:solidFill>
                  <a:srgbClr val="2C3C43"/>
                </a:solidFill>
              </a:rPr>
              <a:t>built-in, </a:t>
            </a:r>
            <a:r>
              <a:rPr sz="1400" b="1" i="0" dirty="0" err="1">
                <a:solidFill>
                  <a:srgbClr val="2C3C43"/>
                </a:solidFill>
              </a:rPr>
              <a:t>queryable</a:t>
            </a:r>
            <a:r>
              <a:rPr sz="1400" b="1" i="0" dirty="0">
                <a:solidFill>
                  <a:srgbClr val="2C3C43"/>
                </a:solidFill>
              </a:rPr>
              <a:t> dimension</a:t>
            </a:r>
            <a:r>
              <a:rPr sz="1400" b="0" i="0" dirty="0">
                <a:solidFill>
                  <a:srgbClr val="2C3C43"/>
                </a:solidFill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554480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200" b="1" i="0">
                <a:solidFill>
                  <a:srgbClr val="2C3C43"/>
                </a:solidFill>
              </a:rPr>
              <a:t>Snapshot DBMS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874519"/>
            <a:ext cx="1371600" cy="640080"/>
          </a:xfrm>
          <a:prstGeom prst="roundRect">
            <a:avLst/>
          </a:prstGeom>
          <a:solidFill>
            <a:srgbClr val="E4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0" i="0">
                <a:solidFill>
                  <a:srgbClr val="2C3C43"/>
                </a:solidFill>
              </a:rPr>
              <a:t>50000</a:t>
            </a:r>
          </a:p>
        </p:txBody>
      </p:sp>
      <p:sp>
        <p:nvSpPr>
          <p:cNvPr id="8" name="Multiply 7"/>
          <p:cNvSpPr/>
          <p:nvPr/>
        </p:nvSpPr>
        <p:spPr>
          <a:xfrm>
            <a:off x="5394960" y="1783080"/>
            <a:ext cx="1188720" cy="822960"/>
          </a:xfrm>
          <a:prstGeom prst="mathMultiply">
            <a:avLst/>
          </a:prstGeom>
          <a:solidFill>
            <a:srgbClr val="C42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6766560" y="2194560"/>
            <a:ext cx="548640" cy="0"/>
          </a:xfrm>
          <a:prstGeom prst="line">
            <a:avLst/>
          </a:prstGeom>
          <a:ln w="22225">
            <a:solidFill>
              <a:srgbClr val="2C3C4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15200" y="1874519"/>
            <a:ext cx="1645920" cy="640080"/>
          </a:xfrm>
          <a:prstGeom prst="roundRect">
            <a:avLst/>
          </a:prstGeom>
          <a:solidFill>
            <a:srgbClr val="90C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0" i="0">
                <a:solidFill>
                  <a:srgbClr val="2C3C43"/>
                </a:solidFill>
              </a:rPr>
              <a:t>70000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651760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200" b="1" i="0">
                <a:solidFill>
                  <a:srgbClr val="C42F1A"/>
                </a:solidFill>
              </a:rPr>
              <a:t>old value overwritten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3246120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200" b="1" i="0">
                <a:solidFill>
                  <a:srgbClr val="2C3C43"/>
                </a:solidFill>
              </a:rPr>
              <a:t>Temporal DBMS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3566160"/>
            <a:ext cx="1737360" cy="548640"/>
          </a:xfrm>
          <a:prstGeom prst="roundRect">
            <a:avLst/>
          </a:prstGeom>
          <a:solidFill>
            <a:srgbClr val="E4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0" i="0">
                <a:solidFill>
                  <a:srgbClr val="2C3C43"/>
                </a:solidFill>
              </a:rPr>
              <a:t>50000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3566160"/>
            <a:ext cx="1737360" cy="548640"/>
          </a:xfrm>
          <a:prstGeom prst="roundRect">
            <a:avLst/>
          </a:prstGeom>
          <a:solidFill>
            <a:srgbClr val="90C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0" i="0">
                <a:solidFill>
                  <a:srgbClr val="2C3C43"/>
                </a:solidFill>
              </a:rPr>
              <a:t>70000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03520" y="4434840"/>
            <a:ext cx="3657600" cy="0"/>
          </a:xfrm>
          <a:prstGeom prst="line">
            <a:avLst/>
          </a:prstGeom>
          <a:ln w="22225">
            <a:solidFill>
              <a:srgbClr val="2C3C4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303520" y="448056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200" b="0" i="0">
                <a:solidFill>
                  <a:srgbClr val="2C3C43"/>
                </a:solidFill>
              </a:rPr>
              <a:t>2020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448056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200" b="0" i="0">
                <a:solidFill>
                  <a:srgbClr val="2C3C43"/>
                </a:solidFill>
              </a:rPr>
              <a:t>2023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48056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0" i="0">
                <a:solidFill>
                  <a:srgbClr val="2C3C43"/>
                </a:solidFill>
              </a:rPr>
              <a:t>now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22960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800" b="1" i="0">
                <a:solidFill>
                  <a:srgbClr val="2C3C43"/>
                </a:solidFill>
              </a:rPr>
              <a:t>The Two Kinds of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7680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000" b="0" i="0">
                <a:solidFill>
                  <a:srgbClr val="5A6B73"/>
                </a:solidFill>
              </a:rPr>
              <a:t>Temporal Databases: Concepts and Applications  |  Sayantan Bharati  |  BWU/BTS/25/503  |  Section B  |  BTS30102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A6B73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420624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 dirty="0">
                <a:solidFill>
                  <a:srgbClr val="2C3C43"/>
                </a:solidFill>
              </a:rPr>
              <a:t>Valid time</a:t>
            </a:r>
            <a:r>
              <a:rPr sz="1400" b="0" i="0" dirty="0">
                <a:solidFill>
                  <a:srgbClr val="2C3C43"/>
                </a:solidFill>
              </a:rPr>
              <a:t> (application time): when the fact is true in the real world.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 dirty="0">
                <a:solidFill>
                  <a:srgbClr val="2C3C43"/>
                </a:solidFill>
              </a:rPr>
              <a:t>Transaction time</a:t>
            </a:r>
            <a:r>
              <a:rPr sz="1400" b="0" i="0" dirty="0">
                <a:solidFill>
                  <a:srgbClr val="2C3C43"/>
                </a:solidFill>
              </a:rPr>
              <a:t> (system time): when the fact was stored/believed by the DBMS.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 dirty="0">
                <a:solidFill>
                  <a:srgbClr val="2C3C43"/>
                </a:solidFill>
              </a:rPr>
              <a:t>Bitemporal</a:t>
            </a:r>
            <a:r>
              <a:rPr sz="1400" b="0" i="0" dirty="0">
                <a:solidFill>
                  <a:srgbClr val="2C3C43"/>
                </a:solidFill>
              </a:rPr>
              <a:t> databases track </a:t>
            </a:r>
            <a:r>
              <a:rPr sz="1400" b="0" i="1" dirty="0">
                <a:solidFill>
                  <a:srgbClr val="2C3C43"/>
                </a:solidFill>
              </a:rPr>
              <a:t>both</a:t>
            </a:r>
            <a:r>
              <a:rPr sz="1400" b="0" i="0" dirty="0">
                <a:solidFill>
                  <a:srgbClr val="2C3C43"/>
                </a:solidFill>
              </a:rPr>
              <a:t> at once.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 dirty="0">
                <a:solidFill>
                  <a:srgbClr val="2C3C43"/>
                </a:solidFill>
              </a:rPr>
              <a:t>Examples: "the price </a:t>
            </a:r>
            <a:r>
              <a:rPr sz="1400" b="0" i="1" dirty="0">
                <a:solidFill>
                  <a:srgbClr val="2C3C43"/>
                </a:solidFill>
              </a:rPr>
              <a:t>was</a:t>
            </a:r>
            <a:r>
              <a:rPr sz="1400" b="0" i="0" dirty="0">
                <a:solidFill>
                  <a:srgbClr val="2C3C43"/>
                </a:solidFill>
              </a:rPr>
              <a:t> valid in March" vs "the price </a:t>
            </a:r>
            <a:r>
              <a:rPr sz="1400" b="0" i="1" dirty="0">
                <a:solidFill>
                  <a:srgbClr val="2C3C43"/>
                </a:solidFill>
              </a:rPr>
              <a:t>was recorded</a:t>
            </a:r>
            <a:r>
              <a:rPr sz="1400" b="0" i="0" dirty="0">
                <a:solidFill>
                  <a:srgbClr val="2C3C43"/>
                </a:solidFill>
              </a:rPr>
              <a:t> on 2 April".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 dirty="0">
                <a:solidFill>
                  <a:srgbClr val="2C3C43"/>
                </a:solidFill>
              </a:rPr>
              <a:t>Timestamp</a:t>
            </a:r>
            <a:r>
              <a:rPr sz="1400" b="0" i="0" dirty="0">
                <a:solidFill>
                  <a:srgbClr val="2C3C43"/>
                </a:solidFill>
              </a:rPr>
              <a:t> = a single instant; </a:t>
            </a:r>
            <a:r>
              <a:rPr sz="1400" b="1" i="0" dirty="0">
                <a:solidFill>
                  <a:srgbClr val="2C3C43"/>
                </a:solidFill>
              </a:rPr>
              <a:t>interval/period</a:t>
            </a:r>
            <a:r>
              <a:rPr sz="1400" b="0" i="0" dirty="0">
                <a:solidFill>
                  <a:srgbClr val="2C3C43"/>
                </a:solidFill>
              </a:rPr>
              <a:t> = a start and end.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 dirty="0">
                <a:solidFill>
                  <a:srgbClr val="2C3C43"/>
                </a:solidFill>
              </a:rPr>
              <a:t>These dimensions give rise to the </a:t>
            </a:r>
            <a:r>
              <a:rPr sz="1400" b="1" i="0" dirty="0">
                <a:solidFill>
                  <a:srgbClr val="2C3C43"/>
                </a:solidFill>
              </a:rPr>
              <a:t>bitemporal cube</a:t>
            </a:r>
            <a:r>
              <a:rPr sz="1400" b="0" i="0" dirty="0">
                <a:solidFill>
                  <a:srgbClr val="2C3C43"/>
                </a:solidFill>
              </a:rPr>
              <a:t> of possible questions.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3414E06-DFDF-24F2-3603-E9A54494EB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37711"/>
          <a:stretch>
            <a:fillRect/>
          </a:stretch>
        </p:blipFill>
        <p:spPr>
          <a:xfrm>
            <a:off x="5184762" y="3496286"/>
            <a:ext cx="5330549" cy="23090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8C91D1C-2ED0-E291-6FBB-F939102B59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796" y="365760"/>
            <a:ext cx="3840480" cy="28803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22960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800" b="1" i="0">
                <a:solidFill>
                  <a:srgbClr val="2C3C43"/>
                </a:solidFill>
              </a:rPr>
              <a:t>Temporal Data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7680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000" b="0" i="0">
                <a:solidFill>
                  <a:srgbClr val="5A6B73"/>
                </a:solidFill>
              </a:rPr>
              <a:t>Temporal Databases: Concepts and Applications  |  Sayantan Bharati  |  BWU/BTS/25/503  |  Section B  |  BTS30102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A6B73"/>
                </a:solidFill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8229600" cy="183383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 dirty="0">
                <a:solidFill>
                  <a:srgbClr val="2C3C43"/>
                </a:solidFill>
              </a:rPr>
              <a:t>Snapshot model</a:t>
            </a:r>
            <a:r>
              <a:rPr sz="1400" b="0" i="0" dirty="0">
                <a:solidFill>
                  <a:srgbClr val="2C3C43"/>
                </a:solidFill>
              </a:rPr>
              <a:t> </a:t>
            </a:r>
            <a:r>
              <a:rPr lang="en-IN" sz="1400" b="0" i="0" dirty="0">
                <a:solidFill>
                  <a:srgbClr val="2C3C43"/>
                </a:solidFill>
              </a:rPr>
              <a:t>:</a:t>
            </a:r>
            <a:r>
              <a:rPr sz="1400" b="0" i="0" dirty="0">
                <a:solidFill>
                  <a:srgbClr val="2C3C43"/>
                </a:solidFill>
              </a:rPr>
              <a:t> no time; classic DBMS.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 dirty="0">
                <a:solidFill>
                  <a:srgbClr val="2C3C43"/>
                </a:solidFill>
              </a:rPr>
              <a:t>Rollback / transaction-time model</a:t>
            </a:r>
            <a:r>
              <a:rPr sz="1400" b="0" i="0" dirty="0">
                <a:solidFill>
                  <a:srgbClr val="2C3C43"/>
                </a:solidFill>
              </a:rPr>
              <a:t> </a:t>
            </a:r>
            <a:r>
              <a:rPr lang="en-IN" sz="1400" b="0" i="0" dirty="0">
                <a:solidFill>
                  <a:srgbClr val="2C3C43"/>
                </a:solidFill>
              </a:rPr>
              <a:t>:</a:t>
            </a:r>
            <a:r>
              <a:rPr sz="1400" b="0" i="0" dirty="0">
                <a:solidFill>
                  <a:srgbClr val="2C3C43"/>
                </a:solidFill>
              </a:rPr>
              <a:t> versions by when they were stored.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 dirty="0">
                <a:solidFill>
                  <a:srgbClr val="2C3C43"/>
                </a:solidFill>
              </a:rPr>
              <a:t>Valid-time (historical) model</a:t>
            </a:r>
            <a:r>
              <a:rPr sz="1400" b="0" i="0" dirty="0">
                <a:solidFill>
                  <a:srgbClr val="2C3C43"/>
                </a:solidFill>
              </a:rPr>
              <a:t> </a:t>
            </a:r>
            <a:r>
              <a:rPr lang="en-IN" sz="1400" b="0" i="0" dirty="0">
                <a:solidFill>
                  <a:srgbClr val="2C3C43"/>
                </a:solidFill>
              </a:rPr>
              <a:t>:</a:t>
            </a:r>
            <a:r>
              <a:rPr sz="1400" b="0" i="0" dirty="0">
                <a:solidFill>
                  <a:srgbClr val="2C3C43"/>
                </a:solidFill>
              </a:rPr>
              <a:t> versions by real-world validity.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 dirty="0">
                <a:solidFill>
                  <a:srgbClr val="2C3C43"/>
                </a:solidFill>
              </a:rPr>
              <a:t>Bitemporal model</a:t>
            </a:r>
            <a:r>
              <a:rPr sz="1400" b="0" i="0" dirty="0">
                <a:solidFill>
                  <a:srgbClr val="2C3C43"/>
                </a:solidFill>
              </a:rPr>
              <a:t> </a:t>
            </a:r>
            <a:r>
              <a:rPr lang="en-IN" sz="1400" b="0" i="0" dirty="0">
                <a:solidFill>
                  <a:srgbClr val="2C3C43"/>
                </a:solidFill>
              </a:rPr>
              <a:t>:</a:t>
            </a:r>
            <a:r>
              <a:rPr sz="1400" b="0" i="0" dirty="0">
                <a:solidFill>
                  <a:srgbClr val="2C3C43"/>
                </a:solidFill>
              </a:rPr>
              <a:t> both valid and transaction time.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 dirty="0">
                <a:solidFill>
                  <a:srgbClr val="2C3C43"/>
                </a:solidFill>
              </a:rPr>
              <a:t>SQL:2011</a:t>
            </a:r>
            <a:r>
              <a:rPr sz="1400" b="0" i="0" dirty="0">
                <a:solidFill>
                  <a:srgbClr val="2C3C43"/>
                </a:solidFill>
              </a:rPr>
              <a:t> standardized these as </a:t>
            </a:r>
            <a:r>
              <a:rPr sz="1400" b="1" i="0" dirty="0">
                <a:solidFill>
                  <a:srgbClr val="2C3C43"/>
                </a:solidFill>
              </a:rPr>
              <a:t>system-versioned</a:t>
            </a:r>
            <a:r>
              <a:rPr sz="1400" b="0" i="0" dirty="0">
                <a:solidFill>
                  <a:srgbClr val="2C3C43"/>
                </a:solidFill>
              </a:rPr>
              <a:t> and </a:t>
            </a:r>
            <a:r>
              <a:rPr sz="1400" b="1" i="0" dirty="0">
                <a:solidFill>
                  <a:srgbClr val="2C3C43"/>
                </a:solidFill>
              </a:rPr>
              <a:t>application-time period</a:t>
            </a:r>
            <a:r>
              <a:rPr sz="1400" b="0" i="0" dirty="0">
                <a:solidFill>
                  <a:srgbClr val="2C3C43"/>
                </a:solidFill>
              </a:rPr>
              <a:t> tables.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 dirty="0">
                <a:solidFill>
                  <a:srgbClr val="2C3C43"/>
                </a:solidFill>
              </a:rPr>
              <a:t>Each model trades storage and complexity for richer history.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114800"/>
          <a:ext cx="8229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anchor="ctr">
                    <a:solidFill>
                      <a:srgbClr val="54A0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Valid time</a:t>
                      </a:r>
                    </a:p>
                  </a:txBody>
                  <a:tcPr anchor="ctr">
                    <a:solidFill>
                      <a:srgbClr val="54A0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Trans. time</a:t>
                      </a:r>
                    </a:p>
                  </a:txBody>
                  <a:tcPr anchor="ctr">
                    <a:solidFill>
                      <a:srgbClr val="54A0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Typical use</a:t>
                      </a:r>
                    </a:p>
                  </a:txBody>
                  <a:tcPr anchor="ctr">
                    <a:solidFill>
                      <a:srgbClr val="54A0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C3C43"/>
                          </a:solidFill>
                        </a:rPr>
                        <a:t>Snapshot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2C3C43"/>
                          </a:solidFill>
                        </a:rPr>
                        <a:t>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2C3C43"/>
                          </a:solidFill>
                        </a:rPr>
                        <a:t>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C3C43"/>
                          </a:solidFill>
                        </a:rPr>
                        <a:t>Current-only apps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C3C43"/>
                          </a:solidFill>
                        </a:rPr>
                        <a:t>Rollback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C3C43"/>
                          </a:solidFill>
                        </a:rPr>
                        <a:t>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2C3C43"/>
                          </a:solidFill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2C3C43"/>
                          </a:solidFill>
                        </a:rPr>
                        <a:t>Auditing, recovery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C3C43"/>
                          </a:solidFill>
                        </a:rPr>
                        <a:t>Valid-time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C3C43"/>
                          </a:solidFill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2C3C43"/>
                          </a:solidFill>
                        </a:rPr>
                        <a:t>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C3C43"/>
                          </a:solidFill>
                        </a:rPr>
                        <a:t>Contract / price history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C3C43"/>
                          </a:solidFill>
                        </a:rPr>
                        <a:t>Bitemporal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C3C43"/>
                          </a:solidFill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C3C43"/>
                          </a:solidFill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2C3C43"/>
                          </a:solidFill>
                        </a:rPr>
                        <a:t>Regulatory, finance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22960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800" b="1" i="0">
                <a:solidFill>
                  <a:srgbClr val="2C3C43"/>
                </a:solidFill>
              </a:rPr>
              <a:t>Where Temporal Databases Are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7680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000" b="0" i="0">
                <a:solidFill>
                  <a:srgbClr val="5A6B73"/>
                </a:solidFill>
              </a:rPr>
              <a:t>Temporal Databases: Concepts and Applications  |  Sayantan Bharati  |  BWU/BTS/25/503  |  Section B  |  BTS30102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A6B73"/>
                </a:solidFill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892807"/>
            <a:ext cx="640080" cy="640080"/>
          </a:xfrm>
          <a:prstGeom prst="ellipse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645920"/>
            <a:ext cx="2926080" cy="1143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sz="1400" b="1" i="0">
                <a:solidFill>
                  <a:srgbClr val="2C3C43"/>
                </a:solidFill>
              </a:rPr>
              <a:t>Banking &amp; finance</a:t>
            </a:r>
          </a:p>
          <a:p>
            <a:r>
              <a:rPr sz="1400" b="0" i="0">
                <a:solidFill>
                  <a:srgbClr val="2C3C43"/>
                </a:solidFill>
              </a:rPr>
              <a:t>balances, interest rates and transaction histories.</a:t>
            </a:r>
          </a:p>
        </p:txBody>
      </p:sp>
      <p:sp>
        <p:nvSpPr>
          <p:cNvPr id="9" name="Oval 8"/>
          <p:cNvSpPr/>
          <p:nvPr/>
        </p:nvSpPr>
        <p:spPr>
          <a:xfrm>
            <a:off x="5166360" y="1892807"/>
            <a:ext cx="640080" cy="640080"/>
          </a:xfrm>
          <a:prstGeom prst="ellipse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645920"/>
            <a:ext cx="2926080" cy="1143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sz="1400" b="1" i="0">
                <a:solidFill>
                  <a:srgbClr val="2C3C43"/>
                </a:solidFill>
              </a:rPr>
              <a:t>Insurance</a:t>
            </a:r>
          </a:p>
          <a:p>
            <a:r>
              <a:rPr sz="1400" b="0" i="0">
                <a:solidFill>
                  <a:srgbClr val="2C3C43"/>
                </a:solidFill>
              </a:rPr>
              <a:t>policies valid over ranges; claims recorded later.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447288"/>
            <a:ext cx="640080" cy="640080"/>
          </a:xfrm>
          <a:prstGeom prst="ellipse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200400"/>
            <a:ext cx="2926080" cy="1143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sz="1400" b="1" i="0">
                <a:solidFill>
                  <a:srgbClr val="2C3C43"/>
                </a:solidFill>
              </a:rPr>
              <a:t>Healthcare</a:t>
            </a:r>
          </a:p>
          <a:p>
            <a:r>
              <a:rPr sz="1400" b="0" i="0">
                <a:solidFill>
                  <a:srgbClr val="2C3C43"/>
                </a:solidFill>
              </a:rPr>
              <a:t>patient conditions valid over time vs when entered.</a:t>
            </a:r>
          </a:p>
        </p:txBody>
      </p:sp>
      <p:sp>
        <p:nvSpPr>
          <p:cNvPr id="15" name="Oval 14"/>
          <p:cNvSpPr/>
          <p:nvPr/>
        </p:nvSpPr>
        <p:spPr>
          <a:xfrm>
            <a:off x="5166360" y="3447288"/>
            <a:ext cx="640080" cy="640080"/>
          </a:xfrm>
          <a:prstGeom prst="ellipse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200400"/>
            <a:ext cx="2926080" cy="1143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sz="1400" b="1" i="0">
                <a:solidFill>
                  <a:srgbClr val="2C3C43"/>
                </a:solidFill>
              </a:rPr>
              <a:t>Audit &amp; compliance</a:t>
            </a:r>
          </a:p>
          <a:p>
            <a:r>
              <a:rPr sz="1400" b="0" i="0">
                <a:solidFill>
                  <a:srgbClr val="2C3C43"/>
                </a:solidFill>
              </a:rPr>
              <a:t>immutable, queryable audit trails.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001768"/>
            <a:ext cx="640080" cy="640080"/>
          </a:xfrm>
          <a:prstGeom prst="ellipse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754879"/>
            <a:ext cx="2926080" cy="1143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sz="1400" b="1" i="0">
                <a:solidFill>
                  <a:srgbClr val="2C3C43"/>
                </a:solidFill>
              </a:rPr>
              <a:t>Supply chain &amp; telecom</a:t>
            </a:r>
          </a:p>
          <a:p>
            <a:r>
              <a:rPr sz="1400" b="0" i="0">
                <a:solidFill>
                  <a:srgbClr val="2C3C43"/>
                </a:solidFill>
              </a:rPr>
              <a:t>pricing, inventory and billing history.</a:t>
            </a:r>
          </a:p>
        </p:txBody>
      </p:sp>
      <p:sp>
        <p:nvSpPr>
          <p:cNvPr id="21" name="Oval 20"/>
          <p:cNvSpPr/>
          <p:nvPr/>
        </p:nvSpPr>
        <p:spPr>
          <a:xfrm>
            <a:off x="5166360" y="5001768"/>
            <a:ext cx="640080" cy="640080"/>
          </a:xfrm>
          <a:prstGeom prst="ellipse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754879"/>
            <a:ext cx="2926080" cy="1143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sz="1400" b="1" i="0">
                <a:solidFill>
                  <a:srgbClr val="2C3C43"/>
                </a:solidFill>
              </a:rPr>
              <a:t>Data warehousing</a:t>
            </a:r>
          </a:p>
          <a:p>
            <a:r>
              <a:rPr sz="1400" b="0" i="0">
                <a:solidFill>
                  <a:srgbClr val="2C3C43"/>
                </a:solidFill>
              </a:rPr>
              <a:t>type-2 slowly changing dimensions are temporal by nature.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22960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800" b="1" i="0">
                <a:solidFill>
                  <a:srgbClr val="2C3C43"/>
                </a:solidFill>
              </a:rPr>
              <a:t>Querying Time with SQL:2011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7680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000" b="0" i="0">
                <a:solidFill>
                  <a:srgbClr val="5A6B73"/>
                </a:solidFill>
              </a:rPr>
              <a:t>Temporal Databases: Concepts and Applications  |  Sayantan Bharati  |  BWU/BTS/25/503  |  Section B  |  BTS30102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A6B73"/>
                </a:solidFill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356616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>
                <a:solidFill>
                  <a:srgbClr val="2C3C43"/>
                </a:solidFill>
              </a:rPr>
              <a:t>System-versioned tables</a:t>
            </a:r>
            <a:r>
              <a:rPr sz="1400" b="0" i="0">
                <a:solidFill>
                  <a:srgbClr val="2C3C43"/>
                </a:solidFill>
              </a:rPr>
              <a:t> start with: </a:t>
            </a:r>
            <a:r>
              <a:rPr sz="1400" b="0" i="0">
                <a:solidFill>
                  <a:srgbClr val="A8470A"/>
                </a:solidFill>
                <a:latin typeface="Courier New"/>
              </a:rPr>
              <a:t>WITH SYSTEM VERSIONING</a:t>
            </a:r>
            <a:r>
              <a:rPr sz="1400" b="0" i="0">
                <a:solidFill>
                  <a:srgbClr val="2C3C43"/>
                </a:solidFill>
              </a:rPr>
              <a:t>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>
                <a:solidFill>
                  <a:srgbClr val="2C3C43"/>
                </a:solidFill>
              </a:rPr>
              <a:t>Application-time period tables</a:t>
            </a:r>
            <a:r>
              <a:rPr sz="1400" b="0" i="0">
                <a:solidFill>
                  <a:srgbClr val="2C3C43"/>
                </a:solidFill>
              </a:rPr>
              <a:t> declare: </a:t>
            </a:r>
            <a:r>
              <a:rPr sz="1400" b="0" i="0">
                <a:solidFill>
                  <a:srgbClr val="A8470A"/>
                </a:solidFill>
                <a:latin typeface="Courier New"/>
              </a:rPr>
              <a:t>PERIOD FOR valid_time (start_date, end_date)</a:t>
            </a:r>
            <a:r>
              <a:rPr sz="1400" b="0" i="0">
                <a:solidFill>
                  <a:srgbClr val="2C3C43"/>
                </a:solidFill>
              </a:rPr>
              <a:t>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Query a past state: </a:t>
            </a:r>
            <a:r>
              <a:rPr sz="1400" b="0" i="0">
                <a:solidFill>
                  <a:srgbClr val="A8470A"/>
                </a:solidFill>
                <a:latin typeface="Courier New"/>
              </a:rPr>
              <a:t>SELECT ... FOR SYSTEM_TIME AS OF TIMESTAMP '2023-06-01'</a:t>
            </a:r>
            <a:r>
              <a:rPr sz="1400" b="0" i="0">
                <a:solidFill>
                  <a:srgbClr val="2C3C43"/>
                </a:solidFill>
              </a:rPr>
              <a:t>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Update only a portion of history: </a:t>
            </a:r>
            <a:r>
              <a:rPr sz="1400" b="0" i="0">
                <a:solidFill>
                  <a:srgbClr val="A8470A"/>
                </a:solidFill>
                <a:latin typeface="Courier New"/>
              </a:rPr>
              <a:t>UPDATE ... FOR PORTION OF valid_time FROM ... TO ...</a:t>
            </a:r>
            <a:r>
              <a:rPr sz="1400" b="0" i="0">
                <a:solidFill>
                  <a:srgbClr val="2C3C43"/>
                </a:solidFill>
              </a:rPr>
              <a:t>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Temporal primary keys prevent overlapping valid periods.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This turns history queries into normal SQL instead of hand-written joins.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05642" y="1965097"/>
            <a:ext cx="5005047" cy="2310154"/>
          </a:xfrm>
          <a:prstGeom prst="roundRect">
            <a:avLst/>
          </a:prstGeom>
          <a:solidFill>
            <a:srgbClr val="1F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629003" y="2058176"/>
            <a:ext cx="548640" cy="237744"/>
          </a:xfrm>
          <a:prstGeom prst="round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i="0" dirty="0">
                <a:solidFill>
                  <a:srgbClr val="FFFFFF"/>
                </a:solidFill>
              </a:rPr>
              <a:t>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802" y="2376577"/>
            <a:ext cx="5169811" cy="17851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 i="0" dirty="0">
                <a:solidFill>
                  <a:srgbClr val="90C226"/>
                </a:solidFill>
                <a:latin typeface="Courier New"/>
              </a:rPr>
              <a:t>CREATE TABLE</a:t>
            </a:r>
            <a:r>
              <a:rPr sz="1100" b="0" i="0" dirty="0">
                <a:solidFill>
                  <a:srgbClr val="E8EEF0"/>
                </a:solidFill>
                <a:latin typeface="Courier New"/>
              </a:rPr>
              <a:t> salary (</a:t>
            </a:r>
          </a:p>
          <a:p>
            <a:r>
              <a:rPr sz="1100" b="0" i="0" dirty="0">
                <a:solidFill>
                  <a:srgbClr val="E8EEF0"/>
                </a:solidFill>
                <a:latin typeface="Courier New"/>
              </a:rPr>
              <a:t>  </a:t>
            </a:r>
            <a:r>
              <a:rPr sz="1100" b="0" i="0" dirty="0" err="1">
                <a:solidFill>
                  <a:srgbClr val="E8EEF0"/>
                </a:solidFill>
                <a:latin typeface="Courier New"/>
              </a:rPr>
              <a:t>emp_id</a:t>
            </a:r>
            <a:r>
              <a:rPr sz="1100" b="0" i="0" dirty="0">
                <a:solidFill>
                  <a:srgbClr val="E8EEF0"/>
                </a:solidFill>
                <a:latin typeface="Courier New"/>
              </a:rPr>
              <a:t>     </a:t>
            </a:r>
            <a:r>
              <a:rPr sz="1100" b="1" i="0" dirty="0">
                <a:solidFill>
                  <a:srgbClr val="90C226"/>
                </a:solidFill>
                <a:latin typeface="Courier New"/>
              </a:rPr>
              <a:t>INT</a:t>
            </a:r>
            <a:r>
              <a:rPr sz="1100" b="0" i="0" dirty="0">
                <a:solidFill>
                  <a:srgbClr val="E8EEF0"/>
                </a:solidFill>
                <a:latin typeface="Courier New"/>
              </a:rPr>
              <a:t>,</a:t>
            </a:r>
          </a:p>
          <a:p>
            <a:r>
              <a:rPr sz="1100" b="0" i="0" dirty="0">
                <a:solidFill>
                  <a:srgbClr val="E8EEF0"/>
                </a:solidFill>
                <a:latin typeface="Courier New"/>
              </a:rPr>
              <a:t>  amount     </a:t>
            </a:r>
            <a:r>
              <a:rPr sz="1100" b="1" i="0" dirty="0">
                <a:solidFill>
                  <a:srgbClr val="90C226"/>
                </a:solidFill>
                <a:latin typeface="Courier New"/>
              </a:rPr>
              <a:t>DECIMAL</a:t>
            </a:r>
            <a:r>
              <a:rPr sz="1100" b="0" i="0" dirty="0">
                <a:solidFill>
                  <a:srgbClr val="E8EEF0"/>
                </a:solidFill>
                <a:latin typeface="Courier New"/>
              </a:rPr>
              <a:t>(</a:t>
            </a:r>
            <a:r>
              <a:rPr sz="1100" b="0" i="0" dirty="0">
                <a:solidFill>
                  <a:srgbClr val="F2A15F"/>
                </a:solidFill>
                <a:latin typeface="Courier New"/>
              </a:rPr>
              <a:t>10</a:t>
            </a:r>
            <a:r>
              <a:rPr sz="1100" b="0" i="0" dirty="0">
                <a:solidFill>
                  <a:srgbClr val="E8EEF0"/>
                </a:solidFill>
                <a:latin typeface="Courier New"/>
              </a:rPr>
              <a:t>,</a:t>
            </a:r>
            <a:r>
              <a:rPr sz="1100" b="0" i="0" dirty="0">
                <a:solidFill>
                  <a:srgbClr val="F2A15F"/>
                </a:solidFill>
                <a:latin typeface="Courier New"/>
              </a:rPr>
              <a:t>2</a:t>
            </a:r>
            <a:r>
              <a:rPr sz="1100" b="0" i="0" dirty="0">
                <a:solidFill>
                  <a:srgbClr val="E8EEF0"/>
                </a:solidFill>
                <a:latin typeface="Courier New"/>
              </a:rPr>
              <a:t>),</a:t>
            </a:r>
          </a:p>
          <a:p>
            <a:r>
              <a:rPr sz="1100" b="0" i="0" dirty="0">
                <a:solidFill>
                  <a:srgbClr val="E8EEF0"/>
                </a:solidFill>
                <a:latin typeface="Courier New"/>
              </a:rPr>
              <a:t>  </a:t>
            </a:r>
            <a:r>
              <a:rPr sz="1100" b="0" i="0" dirty="0" err="1">
                <a:solidFill>
                  <a:srgbClr val="E8EEF0"/>
                </a:solidFill>
                <a:latin typeface="Courier New"/>
              </a:rPr>
              <a:t>valid_time</a:t>
            </a:r>
            <a:r>
              <a:rPr sz="1100" b="0" i="0" dirty="0">
                <a:solidFill>
                  <a:srgbClr val="E8EEF0"/>
                </a:solidFill>
                <a:latin typeface="Courier New"/>
              </a:rPr>
              <a:t> </a:t>
            </a:r>
            <a:r>
              <a:rPr sz="1100" b="1" i="0" dirty="0">
                <a:solidFill>
                  <a:srgbClr val="90C226"/>
                </a:solidFill>
                <a:latin typeface="Courier New"/>
              </a:rPr>
              <a:t>PERIOD FOR</a:t>
            </a:r>
            <a:r>
              <a:rPr sz="1100" b="0" i="0" dirty="0">
                <a:solidFill>
                  <a:srgbClr val="E8EEF0"/>
                </a:solidFill>
                <a:latin typeface="Courier New"/>
              </a:rPr>
              <a:t> </a:t>
            </a:r>
            <a:r>
              <a:rPr sz="1100" b="0" i="0" dirty="0" err="1">
                <a:solidFill>
                  <a:srgbClr val="E8EEF0"/>
                </a:solidFill>
                <a:latin typeface="Courier New"/>
              </a:rPr>
              <a:t>valid_time</a:t>
            </a:r>
            <a:r>
              <a:rPr sz="1100" b="0" i="0" dirty="0">
                <a:solidFill>
                  <a:srgbClr val="E8EEF0"/>
                </a:solidFill>
                <a:latin typeface="Courier New"/>
              </a:rPr>
              <a:t>(</a:t>
            </a:r>
            <a:r>
              <a:rPr sz="1100" b="0" i="0" dirty="0" err="1">
                <a:solidFill>
                  <a:srgbClr val="E8EEF0"/>
                </a:solidFill>
                <a:latin typeface="Courier New"/>
              </a:rPr>
              <a:t>from_date</a:t>
            </a:r>
            <a:r>
              <a:rPr sz="1100" b="0" i="0" dirty="0">
                <a:solidFill>
                  <a:srgbClr val="E8EEF0"/>
                </a:solidFill>
                <a:latin typeface="Courier New"/>
              </a:rPr>
              <a:t>, </a:t>
            </a:r>
            <a:r>
              <a:rPr sz="1100" b="0" i="0" dirty="0" err="1">
                <a:solidFill>
                  <a:srgbClr val="E8EEF0"/>
                </a:solidFill>
                <a:latin typeface="Courier New"/>
              </a:rPr>
              <a:t>to_date</a:t>
            </a:r>
            <a:r>
              <a:rPr sz="1100" b="0" i="0" dirty="0">
                <a:solidFill>
                  <a:srgbClr val="E8EEF0"/>
                </a:solidFill>
                <a:latin typeface="Courier New"/>
              </a:rPr>
              <a:t>),</a:t>
            </a:r>
          </a:p>
          <a:p>
            <a:r>
              <a:rPr sz="1100" b="0" i="0" dirty="0">
                <a:solidFill>
                  <a:srgbClr val="E8EEF0"/>
                </a:solidFill>
                <a:latin typeface="Courier New"/>
              </a:rPr>
              <a:t>  </a:t>
            </a:r>
            <a:r>
              <a:rPr sz="1100" b="1" i="0" dirty="0">
                <a:solidFill>
                  <a:srgbClr val="90C226"/>
                </a:solidFill>
                <a:latin typeface="Courier New"/>
              </a:rPr>
              <a:t>PRIMARY KEY</a:t>
            </a:r>
            <a:r>
              <a:rPr sz="1100" b="0" i="0" dirty="0">
                <a:solidFill>
                  <a:srgbClr val="E8EEF0"/>
                </a:solidFill>
                <a:latin typeface="Courier New"/>
              </a:rPr>
              <a:t> (</a:t>
            </a:r>
            <a:r>
              <a:rPr sz="1100" b="0" i="0" dirty="0" err="1">
                <a:solidFill>
                  <a:srgbClr val="E8EEF0"/>
                </a:solidFill>
                <a:latin typeface="Courier New"/>
              </a:rPr>
              <a:t>emp_id,valid_time</a:t>
            </a:r>
            <a:r>
              <a:rPr sz="1100" b="0" i="0" dirty="0">
                <a:solidFill>
                  <a:srgbClr val="E8EEF0"/>
                </a:solidFill>
                <a:latin typeface="Courier New"/>
              </a:rPr>
              <a:t> </a:t>
            </a:r>
            <a:r>
              <a:rPr sz="1100" b="1" i="0" dirty="0">
                <a:solidFill>
                  <a:srgbClr val="90C226"/>
                </a:solidFill>
                <a:latin typeface="Courier New"/>
              </a:rPr>
              <a:t>WITHOUT OVERLAPS</a:t>
            </a:r>
            <a:r>
              <a:rPr sz="1100" b="0" i="0" dirty="0">
                <a:solidFill>
                  <a:srgbClr val="E8EEF0"/>
                </a:solidFill>
                <a:latin typeface="Courier New"/>
              </a:rPr>
              <a:t>)</a:t>
            </a:r>
          </a:p>
          <a:p>
            <a:r>
              <a:rPr sz="1100" b="0" i="0" dirty="0">
                <a:solidFill>
                  <a:srgbClr val="E8EEF0"/>
                </a:solidFill>
                <a:latin typeface="Courier New"/>
              </a:rPr>
              <a:t>) </a:t>
            </a:r>
            <a:r>
              <a:rPr sz="1100" b="1" i="0" dirty="0">
                <a:solidFill>
                  <a:srgbClr val="90C226"/>
                </a:solidFill>
                <a:latin typeface="Courier New"/>
              </a:rPr>
              <a:t>WITH SYSTEM VERSIONING</a:t>
            </a:r>
            <a:r>
              <a:rPr sz="1100" b="0" i="0" dirty="0">
                <a:solidFill>
                  <a:srgbClr val="E8EEF0"/>
                </a:solidFill>
                <a:latin typeface="Courier New"/>
              </a:rPr>
              <a:t>;</a:t>
            </a:r>
          </a:p>
          <a:p>
            <a:r>
              <a:rPr sz="1100" b="0" i="0" dirty="0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100" b="0" i="1" dirty="0">
                <a:solidFill>
                  <a:srgbClr val="8FA6B0"/>
                </a:solidFill>
                <a:latin typeface="Courier New"/>
              </a:rPr>
              <a:t>-- What did the system store on 1 June 2023?</a:t>
            </a:r>
          </a:p>
          <a:p>
            <a:r>
              <a:rPr sz="1100" b="1" i="0" dirty="0">
                <a:solidFill>
                  <a:srgbClr val="90C226"/>
                </a:solidFill>
                <a:latin typeface="Courier New"/>
              </a:rPr>
              <a:t>SELECT</a:t>
            </a:r>
            <a:r>
              <a:rPr sz="1100" b="0" i="0" dirty="0">
                <a:solidFill>
                  <a:srgbClr val="E8EEF0"/>
                </a:solidFill>
                <a:latin typeface="Courier New"/>
              </a:rPr>
              <a:t> * </a:t>
            </a:r>
            <a:r>
              <a:rPr sz="1100" b="1" i="0" dirty="0">
                <a:solidFill>
                  <a:srgbClr val="90C226"/>
                </a:solidFill>
                <a:latin typeface="Courier New"/>
              </a:rPr>
              <a:t>FROM</a:t>
            </a:r>
            <a:r>
              <a:rPr sz="1100" b="0" i="0" dirty="0">
                <a:solidFill>
                  <a:srgbClr val="E8EEF0"/>
                </a:solidFill>
                <a:latin typeface="Courier New"/>
              </a:rPr>
              <a:t> salary</a:t>
            </a:r>
          </a:p>
          <a:p>
            <a:r>
              <a:rPr sz="1100" b="0" i="0" dirty="0">
                <a:solidFill>
                  <a:srgbClr val="E8EEF0"/>
                </a:solidFill>
                <a:latin typeface="Courier New"/>
              </a:rPr>
              <a:t>  </a:t>
            </a:r>
            <a:r>
              <a:rPr sz="1100" b="1" i="0" dirty="0">
                <a:solidFill>
                  <a:srgbClr val="90C226"/>
                </a:solidFill>
                <a:latin typeface="Courier New"/>
              </a:rPr>
              <a:t>FOR SYSTEM_TIME AS OF</a:t>
            </a:r>
            <a:r>
              <a:rPr sz="1100" b="0" i="0" dirty="0">
                <a:solidFill>
                  <a:srgbClr val="E8EEF0"/>
                </a:solidFill>
                <a:latin typeface="Courier New"/>
              </a:rPr>
              <a:t> </a:t>
            </a:r>
            <a:r>
              <a:rPr sz="1100" b="1" i="0" dirty="0">
                <a:solidFill>
                  <a:srgbClr val="90C226"/>
                </a:solidFill>
                <a:latin typeface="Courier New"/>
              </a:rPr>
              <a:t>TIMESTAMP</a:t>
            </a:r>
            <a:r>
              <a:rPr sz="1100" b="0" i="0" dirty="0">
                <a:solidFill>
                  <a:srgbClr val="E8EEF0"/>
                </a:solidFill>
                <a:latin typeface="Courier New"/>
              </a:rPr>
              <a:t> </a:t>
            </a:r>
            <a:r>
              <a:rPr sz="1100" b="0" i="0" dirty="0">
                <a:solidFill>
                  <a:srgbClr val="E6B91E"/>
                </a:solidFill>
                <a:latin typeface="Courier New"/>
              </a:rPr>
              <a:t>'2023-06-01'</a:t>
            </a:r>
            <a:r>
              <a:rPr sz="1100" b="0" i="0" dirty="0">
                <a:solidFill>
                  <a:srgbClr val="E8EEF0"/>
                </a:solidFill>
                <a:latin typeface="Courier New"/>
              </a:rPr>
              <a:t>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2165" y="4336067"/>
            <a:ext cx="45720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200" b="1" i="0">
                <a:solidFill>
                  <a:srgbClr val="2C3C43"/>
                </a:solidFill>
              </a:rPr>
              <a:t>AS OF = the database exactly as it looked on any past date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22960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800" b="1" i="0">
                <a:solidFill>
                  <a:srgbClr val="2C3C43"/>
                </a:solidFill>
              </a:rPr>
              <a:t>Asking Questions About Intervals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7680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000" b="0" i="0">
                <a:solidFill>
                  <a:srgbClr val="5A6B73"/>
                </a:solidFill>
              </a:rPr>
              <a:t>Temporal Databases: Concepts and Applications  |  Sayantan Bharati  |  BWU/BTS/25/503  |  Section B  |  BTS30102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A6B73"/>
                </a:solidFill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402336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Time can be an </a:t>
            </a:r>
            <a:r>
              <a:rPr sz="1400" b="1" i="0">
                <a:solidFill>
                  <a:srgbClr val="2C3C43"/>
                </a:solidFill>
              </a:rPr>
              <a:t>instant</a:t>
            </a:r>
            <a:r>
              <a:rPr sz="1400" b="0" i="0">
                <a:solidFill>
                  <a:srgbClr val="2C3C43"/>
                </a:solidFill>
              </a:rPr>
              <a:t> (timestamp) or an </a:t>
            </a:r>
            <a:r>
              <a:rPr sz="1400" b="1" i="0">
                <a:solidFill>
                  <a:srgbClr val="2C3C43"/>
                </a:solidFill>
              </a:rPr>
              <a:t>interval/period</a:t>
            </a:r>
            <a:r>
              <a:rPr sz="1400" b="0" i="0">
                <a:solidFill>
                  <a:srgbClr val="2C3C43"/>
                </a:solidFill>
              </a:rPr>
              <a:t> (start, end).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>
                <a:solidFill>
                  <a:srgbClr val="2C3C43"/>
                </a:solidFill>
              </a:rPr>
              <a:t>Allen's interval algebra</a:t>
            </a:r>
            <a:r>
              <a:rPr sz="1400" b="0" i="0">
                <a:solidFill>
                  <a:srgbClr val="2C3C43"/>
                </a:solidFill>
              </a:rPr>
              <a:t> defines 13 possible relations between two intervals.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Examples: </a:t>
            </a:r>
            <a:r>
              <a:rPr sz="1400" b="0" i="0">
                <a:solidFill>
                  <a:srgbClr val="A8470A"/>
                </a:solidFill>
                <a:latin typeface="Courier New"/>
              </a:rPr>
              <a:t>before</a:t>
            </a:r>
            <a:r>
              <a:rPr sz="1400" b="0" i="0">
                <a:solidFill>
                  <a:srgbClr val="2C3C43"/>
                </a:solidFill>
              </a:rPr>
              <a:t>, </a:t>
            </a:r>
            <a:r>
              <a:rPr sz="1400" b="0" i="0">
                <a:solidFill>
                  <a:srgbClr val="A8470A"/>
                </a:solidFill>
                <a:latin typeface="Courier New"/>
              </a:rPr>
              <a:t>after</a:t>
            </a:r>
            <a:r>
              <a:rPr sz="1400" b="0" i="0">
                <a:solidFill>
                  <a:srgbClr val="2C3C43"/>
                </a:solidFill>
              </a:rPr>
              <a:t>, </a:t>
            </a:r>
            <a:r>
              <a:rPr sz="1400" b="0" i="0">
                <a:solidFill>
                  <a:srgbClr val="A8470A"/>
                </a:solidFill>
                <a:latin typeface="Courier New"/>
              </a:rPr>
              <a:t>meets</a:t>
            </a:r>
            <a:r>
              <a:rPr sz="1400" b="0" i="0">
                <a:solidFill>
                  <a:srgbClr val="2C3C43"/>
                </a:solidFill>
              </a:rPr>
              <a:t>, </a:t>
            </a:r>
            <a:r>
              <a:rPr sz="1400" b="0" i="0">
                <a:solidFill>
                  <a:srgbClr val="A8470A"/>
                </a:solidFill>
                <a:latin typeface="Courier New"/>
              </a:rPr>
              <a:t>overlaps</a:t>
            </a:r>
            <a:r>
              <a:rPr sz="1400" b="0" i="0">
                <a:solidFill>
                  <a:srgbClr val="2C3C43"/>
                </a:solidFill>
              </a:rPr>
              <a:t>, </a:t>
            </a:r>
            <a:r>
              <a:rPr sz="1400" b="0" i="0">
                <a:solidFill>
                  <a:srgbClr val="A8470A"/>
                </a:solidFill>
                <a:latin typeface="Courier New"/>
              </a:rPr>
              <a:t>contains</a:t>
            </a:r>
            <a:r>
              <a:rPr sz="1400" b="0" i="0">
                <a:solidFill>
                  <a:srgbClr val="2C3C43"/>
                </a:solidFill>
              </a:rPr>
              <a:t>, </a:t>
            </a:r>
            <a:r>
              <a:rPr sz="1400" b="0" i="0">
                <a:solidFill>
                  <a:srgbClr val="A8470A"/>
                </a:solidFill>
                <a:latin typeface="Courier New"/>
              </a:rPr>
              <a:t>during</a:t>
            </a:r>
            <a:r>
              <a:rPr sz="1400" b="0" i="0">
                <a:solidFill>
                  <a:srgbClr val="2C3C43"/>
                </a:solidFill>
              </a:rPr>
              <a:t>, </a:t>
            </a:r>
            <a:r>
              <a:rPr sz="1400" b="0" i="0">
                <a:solidFill>
                  <a:srgbClr val="A8470A"/>
                </a:solidFill>
                <a:latin typeface="Courier New"/>
              </a:rPr>
              <a:t>equals</a:t>
            </a:r>
            <a:r>
              <a:rPr sz="1400" b="0" i="0">
                <a:solidFill>
                  <a:srgbClr val="2C3C43"/>
                </a:solidFill>
              </a:rPr>
              <a:t>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Temporal SQL extends joins and predicates with these relations.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Finding overlaps is the most common operation (e.g., "who held the role then?").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Efficient interval logic is what separates temporal query languages from plain SQL.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463040"/>
            <a:ext cx="40233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200" b="1" i="0">
                <a:solidFill>
                  <a:srgbClr val="2C3C43"/>
                </a:solidFill>
              </a:rPr>
              <a:t>Allen's 13 relations:  A (green) vs B (dark)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801368"/>
            <a:ext cx="1463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100" b="0" i="0">
                <a:solidFill>
                  <a:srgbClr val="2C3C43"/>
                </a:solidFill>
              </a:rPr>
              <a:t>before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1847088"/>
            <a:ext cx="685800" cy="100584"/>
          </a:xfrm>
          <a:prstGeom prst="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138160" y="1975104"/>
            <a:ext cx="914400" cy="100584"/>
          </a:xfrm>
          <a:prstGeom prst="rect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2112264"/>
            <a:ext cx="1463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100" b="0" i="0">
                <a:solidFill>
                  <a:srgbClr val="2C3C43"/>
                </a:solidFill>
              </a:rPr>
              <a:t>after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2157984"/>
            <a:ext cx="914400" cy="100584"/>
          </a:xfrm>
          <a:prstGeom prst="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766560" y="2286000"/>
            <a:ext cx="685800" cy="100584"/>
          </a:xfrm>
          <a:prstGeom prst="rect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0" y="2423160"/>
            <a:ext cx="1463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100" b="0" i="0">
                <a:solidFill>
                  <a:srgbClr val="2C3C43"/>
                </a:solidFill>
              </a:rPr>
              <a:t>meets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2468880"/>
            <a:ext cx="914400" cy="100584"/>
          </a:xfrm>
          <a:prstGeom prst="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80960" y="2596896"/>
            <a:ext cx="1371600" cy="100584"/>
          </a:xfrm>
          <a:prstGeom prst="rect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37760" y="2734056"/>
            <a:ext cx="1463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100" b="0" i="0">
                <a:solidFill>
                  <a:srgbClr val="2C3C43"/>
                </a:solidFill>
              </a:rPr>
              <a:t>met-by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2779776"/>
            <a:ext cx="1371600" cy="100584"/>
          </a:xfrm>
          <a:prstGeom prst="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766560" y="2907792"/>
            <a:ext cx="914400" cy="100584"/>
          </a:xfrm>
          <a:prstGeom prst="rect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37760" y="3044952"/>
            <a:ext cx="1463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100" b="0" i="0">
                <a:solidFill>
                  <a:srgbClr val="2C3C43"/>
                </a:solidFill>
              </a:rPr>
              <a:t>overlaps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3090672"/>
            <a:ext cx="1371600" cy="100584"/>
          </a:xfrm>
          <a:prstGeom prst="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680960" y="3218688"/>
            <a:ext cx="1371600" cy="100584"/>
          </a:xfrm>
          <a:prstGeom prst="rect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37760" y="3355848"/>
            <a:ext cx="1463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100" b="0" i="0">
                <a:solidFill>
                  <a:srgbClr val="2C3C43"/>
                </a:solidFill>
              </a:rPr>
              <a:t>overlapped-by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0960" y="3401568"/>
            <a:ext cx="1371600" cy="100584"/>
          </a:xfrm>
          <a:prstGeom prst="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766560" y="3529584"/>
            <a:ext cx="1371600" cy="100584"/>
          </a:xfrm>
          <a:prstGeom prst="rect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37760" y="3666744"/>
            <a:ext cx="1463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100" b="0" i="0">
                <a:solidFill>
                  <a:srgbClr val="2C3C43"/>
                </a:solidFill>
              </a:rPr>
              <a:t>starts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3712463"/>
            <a:ext cx="914400" cy="100584"/>
          </a:xfrm>
          <a:prstGeom prst="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766560" y="3840480"/>
            <a:ext cx="2286000" cy="100584"/>
          </a:xfrm>
          <a:prstGeom prst="rect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37760" y="3977640"/>
            <a:ext cx="1463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100" b="0" i="0">
                <a:solidFill>
                  <a:srgbClr val="2C3C43"/>
                </a:solidFill>
              </a:rPr>
              <a:t>started-by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4023360"/>
            <a:ext cx="2286000" cy="100584"/>
          </a:xfrm>
          <a:prstGeom prst="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766560" y="4151376"/>
            <a:ext cx="914400" cy="100584"/>
          </a:xfrm>
          <a:prstGeom prst="rect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37760" y="4288536"/>
            <a:ext cx="1463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100" b="0" i="0">
                <a:solidFill>
                  <a:srgbClr val="2C3C43"/>
                </a:solidFill>
              </a:rPr>
              <a:t>during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60" y="4334256"/>
            <a:ext cx="914400" cy="100584"/>
          </a:xfrm>
          <a:prstGeom prst="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766560" y="4462272"/>
            <a:ext cx="2286000" cy="100584"/>
          </a:xfrm>
          <a:prstGeom prst="rect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937760" y="4599432"/>
            <a:ext cx="1463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100" b="0" i="0">
                <a:solidFill>
                  <a:srgbClr val="2C3C43"/>
                </a:solidFill>
              </a:rPr>
              <a:t>contains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4645152"/>
            <a:ext cx="2286000" cy="100584"/>
          </a:xfrm>
          <a:prstGeom prst="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223760" y="4773168"/>
            <a:ext cx="914400" cy="100584"/>
          </a:xfrm>
          <a:prstGeom prst="rect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937760" y="4910328"/>
            <a:ext cx="1463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100" b="0" i="0">
                <a:solidFill>
                  <a:srgbClr val="2C3C43"/>
                </a:solidFill>
              </a:rPr>
              <a:t>finishes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60" y="4956048"/>
            <a:ext cx="914400" cy="100584"/>
          </a:xfrm>
          <a:prstGeom prst="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766560" y="5084064"/>
            <a:ext cx="2286000" cy="100584"/>
          </a:xfrm>
          <a:prstGeom prst="rect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937760" y="5221224"/>
            <a:ext cx="1463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100" b="0" i="0">
                <a:solidFill>
                  <a:srgbClr val="2C3C43"/>
                </a:solidFill>
              </a:rPr>
              <a:t>finished-by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66560" y="5266944"/>
            <a:ext cx="2286000" cy="100584"/>
          </a:xfrm>
          <a:prstGeom prst="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138160" y="5394960"/>
            <a:ext cx="914400" cy="100584"/>
          </a:xfrm>
          <a:prstGeom prst="rect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937760" y="5532120"/>
            <a:ext cx="1463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100" b="0" i="0">
                <a:solidFill>
                  <a:srgbClr val="2C3C43"/>
                </a:solidFill>
              </a:rPr>
              <a:t>equals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66560" y="5577840"/>
            <a:ext cx="2286000" cy="100584"/>
          </a:xfrm>
          <a:prstGeom prst="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766560" y="5705856"/>
            <a:ext cx="2286000" cy="100584"/>
          </a:xfrm>
          <a:prstGeom prst="rect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22960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800" b="1" i="0">
                <a:solidFill>
                  <a:srgbClr val="2C3C43"/>
                </a:solidFill>
              </a:rPr>
              <a:t>How Temporal Databases Are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7680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000" b="0" i="0">
                <a:solidFill>
                  <a:srgbClr val="5A6B73"/>
                </a:solidFill>
              </a:rPr>
              <a:t>Temporal Databases: Concepts and Applications  |  Sayantan Bharati  |  BWU/BTS/25/503  |  Section B  |  BTS30102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A6B73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4206240" cy="31264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 dirty="0">
                <a:solidFill>
                  <a:srgbClr val="2C3C43"/>
                </a:solidFill>
              </a:rPr>
              <a:t>Tuple versioning:</a:t>
            </a:r>
            <a:r>
              <a:rPr sz="1400" b="0" i="0" dirty="0">
                <a:solidFill>
                  <a:srgbClr val="2C3C43"/>
                </a:solidFill>
              </a:rPr>
              <a:t> store one row per version, each with start/end timestamps.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 dirty="0">
                <a:solidFill>
                  <a:srgbClr val="2C3C43"/>
                </a:solidFill>
              </a:rPr>
              <a:t>Attribute-level timestamping:</a:t>
            </a:r>
            <a:r>
              <a:rPr sz="1400" b="0" i="0" dirty="0">
                <a:solidFill>
                  <a:srgbClr val="2C3C43"/>
                </a:solidFill>
              </a:rPr>
              <a:t> timestamp individual changed columns (saves space).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 dirty="0">
                <a:solidFill>
                  <a:srgbClr val="2C3C43"/>
                </a:solidFill>
              </a:rPr>
              <a:t>Transaction-time</a:t>
            </a:r>
            <a:r>
              <a:rPr sz="1400" b="0" i="0" dirty="0">
                <a:solidFill>
                  <a:srgbClr val="2C3C43"/>
                </a:solidFill>
              </a:rPr>
              <a:t> gives an append-only, immutable store </a:t>
            </a:r>
            <a:r>
              <a:rPr lang="en-IN" sz="1400" b="0" i="0" dirty="0">
                <a:solidFill>
                  <a:srgbClr val="2C3C43"/>
                </a:solidFill>
              </a:rPr>
              <a:t>:</a:t>
            </a:r>
            <a:r>
              <a:rPr sz="1400" b="0" i="0" dirty="0">
                <a:solidFill>
                  <a:srgbClr val="2C3C43"/>
                </a:solidFill>
              </a:rPr>
              <a:t> high write throughput.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 dirty="0">
                <a:solidFill>
                  <a:srgbClr val="2C3C43"/>
                </a:solidFill>
              </a:rPr>
              <a:t>Indexing must handle </a:t>
            </a:r>
            <a:r>
              <a:rPr sz="1400" b="1" i="0" dirty="0">
                <a:solidFill>
                  <a:srgbClr val="2C3C43"/>
                </a:solidFill>
              </a:rPr>
              <a:t>ranges</a:t>
            </a:r>
            <a:r>
              <a:rPr sz="1400" b="0" i="0" dirty="0">
                <a:solidFill>
                  <a:srgbClr val="2C3C43"/>
                </a:solidFill>
              </a:rPr>
              <a:t>, not just points </a:t>
            </a:r>
            <a:r>
              <a:rPr lang="en-IN" sz="1400" b="0" i="0" dirty="0">
                <a:solidFill>
                  <a:srgbClr val="2C3C43"/>
                </a:solidFill>
              </a:rPr>
              <a:t>:</a:t>
            </a:r>
            <a:r>
              <a:rPr sz="1400" b="0" i="0" dirty="0">
                <a:solidFill>
                  <a:srgbClr val="2C3C43"/>
                </a:solidFill>
              </a:rPr>
              <a:t> e.g., interval / temporal B+ trees.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 dirty="0">
                <a:solidFill>
                  <a:srgbClr val="2C3C43"/>
                </a:solidFill>
              </a:rPr>
              <a:t>Common structures: R-trees for intervals, temporal B+ trees, append-only LSM stores.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 dirty="0">
                <a:solidFill>
                  <a:srgbClr val="2C3C43"/>
                </a:solidFill>
              </a:rPr>
              <a:t>MVCC and timestamping (from the concurrency unit) are close cousins of temporal storage.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508760"/>
            <a:ext cx="38404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200" b="1" i="0">
                <a:solidFill>
                  <a:srgbClr val="2C3C43"/>
                </a:solidFill>
              </a:rPr>
              <a:t>B+ tree keyed on (id, time)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74519"/>
            <a:ext cx="1463040" cy="457200"/>
          </a:xfrm>
          <a:prstGeom prst="roundRect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(101, 2022)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2926080"/>
            <a:ext cx="1280160" cy="457200"/>
          </a:xfrm>
          <a:prstGeom prst="round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index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6217920" y="2331720"/>
            <a:ext cx="777240" cy="594360"/>
          </a:xfrm>
          <a:prstGeom prst="line">
            <a:avLst/>
          </a:prstGeom>
          <a:ln w="22225">
            <a:solidFill>
              <a:srgbClr val="2C3C4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15200" y="2926080"/>
            <a:ext cx="1280160" cy="457200"/>
          </a:xfrm>
          <a:prstGeom prst="round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index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995160" y="2331720"/>
            <a:ext cx="960119" cy="594360"/>
          </a:xfrm>
          <a:prstGeom prst="line">
            <a:avLst/>
          </a:prstGeom>
          <a:ln w="22225">
            <a:solidFill>
              <a:srgbClr val="2C3C4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20640" y="4023360"/>
            <a:ext cx="841248" cy="457200"/>
          </a:xfrm>
          <a:prstGeom prst="roundRect">
            <a:avLst/>
          </a:prstGeom>
          <a:solidFill>
            <a:srgbClr val="E4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0" i="0">
                <a:solidFill>
                  <a:srgbClr val="2C3C43"/>
                </a:solidFill>
              </a:rPr>
              <a:t>101|t1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5541264" y="3383280"/>
            <a:ext cx="676656" cy="640080"/>
          </a:xfrm>
          <a:prstGeom prst="line">
            <a:avLst/>
          </a:prstGeom>
          <a:ln w="22225">
            <a:solidFill>
              <a:srgbClr val="2C3C4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099048" y="4023360"/>
            <a:ext cx="841248" cy="457200"/>
          </a:xfrm>
          <a:prstGeom prst="roundRect">
            <a:avLst/>
          </a:prstGeom>
          <a:solidFill>
            <a:srgbClr val="E6B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0" i="0">
                <a:solidFill>
                  <a:srgbClr val="2C3C43"/>
                </a:solidFill>
              </a:rPr>
              <a:t>101|t2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17920" y="3383280"/>
            <a:ext cx="301752" cy="640080"/>
          </a:xfrm>
          <a:prstGeom prst="line">
            <a:avLst/>
          </a:prstGeom>
          <a:ln w="22225">
            <a:solidFill>
              <a:srgbClr val="2C3C4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077456" y="4023360"/>
            <a:ext cx="841248" cy="457200"/>
          </a:xfrm>
          <a:prstGeom prst="roundRect">
            <a:avLst/>
          </a:prstGeom>
          <a:solidFill>
            <a:srgbClr val="E6B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0" i="0">
                <a:solidFill>
                  <a:srgbClr val="2C3C43"/>
                </a:solidFill>
              </a:rPr>
              <a:t>101|t3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7498080" y="3383280"/>
            <a:ext cx="457199" cy="640080"/>
          </a:xfrm>
          <a:prstGeom prst="line">
            <a:avLst/>
          </a:prstGeom>
          <a:ln w="22225">
            <a:solidFill>
              <a:srgbClr val="2C3C4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055863" y="4023360"/>
            <a:ext cx="841248" cy="457200"/>
          </a:xfrm>
          <a:prstGeom prst="roundRect">
            <a:avLst/>
          </a:prstGeom>
          <a:solidFill>
            <a:srgbClr val="E4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0" i="0">
                <a:solidFill>
                  <a:srgbClr val="2C3C43"/>
                </a:solidFill>
              </a:rPr>
              <a:t>101|t4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55279" y="3383280"/>
            <a:ext cx="521209" cy="640080"/>
          </a:xfrm>
          <a:prstGeom prst="line">
            <a:avLst/>
          </a:prstGeom>
          <a:ln w="22225">
            <a:solidFill>
              <a:srgbClr val="2C3C4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20640" y="4572000"/>
            <a:ext cx="38404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200" b="1" i="0">
                <a:solidFill>
                  <a:srgbClr val="2C3C43"/>
                </a:solidFill>
              </a:rPr>
              <a:t>interval scan over highlighted leaves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5120640"/>
            <a:ext cx="3840480" cy="640080"/>
          </a:xfrm>
          <a:prstGeom prst="roundRect">
            <a:avLst/>
          </a:prstGeom>
          <a:solidFill>
            <a:srgbClr val="F1F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0" i="0">
                <a:solidFill>
                  <a:srgbClr val="2C3C43"/>
                </a:solidFill>
              </a:rPr>
              <a:t>One row per version: id | value | start | end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229600" cy="4862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800" b="1" i="0" dirty="0">
                <a:solidFill>
                  <a:srgbClr val="2C3C43"/>
                </a:solidFill>
              </a:rPr>
              <a:t>Worked Example </a:t>
            </a:r>
            <a:r>
              <a:rPr lang="en-IN" sz="2800" b="1" i="0" dirty="0">
                <a:solidFill>
                  <a:srgbClr val="2C3C43"/>
                </a:solidFill>
              </a:rPr>
              <a:t>:</a:t>
            </a:r>
            <a:r>
              <a:rPr sz="2800" b="1" i="0" dirty="0">
                <a:solidFill>
                  <a:srgbClr val="2C3C43"/>
                </a:solidFill>
              </a:rPr>
              <a:t> Tracking Salaries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7680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000" b="0" i="0">
                <a:solidFill>
                  <a:srgbClr val="5A6B73"/>
                </a:solidFill>
              </a:rPr>
              <a:t>Temporal Databases: Concepts and Applications  |  Sayantan Bharati  |  BWU/BTS/25/503  |  Section B  |  BTS30102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A6B73"/>
                </a:solidFill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420624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Scenario: an employee's salary changes over time; we must answer past questions.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Store each version with </a:t>
            </a:r>
            <a:r>
              <a:rPr sz="1400" b="0" i="0">
                <a:solidFill>
                  <a:srgbClr val="A8470A"/>
                </a:solidFill>
                <a:latin typeface="Courier New"/>
              </a:rPr>
              <a:t>from_date</a:t>
            </a:r>
            <a:r>
              <a:rPr sz="1400" b="0" i="0">
                <a:solidFill>
                  <a:srgbClr val="2C3C43"/>
                </a:solidFill>
              </a:rPr>
              <a:t>, </a:t>
            </a:r>
            <a:r>
              <a:rPr sz="1400" b="0" i="0">
                <a:solidFill>
                  <a:srgbClr val="A8470A"/>
                </a:solidFill>
                <a:latin typeface="Courier New"/>
              </a:rPr>
              <a:t>to_date</a:t>
            </a:r>
            <a:r>
              <a:rPr sz="1400" b="0" i="0">
                <a:solidFill>
                  <a:srgbClr val="2C3C43"/>
                </a:solidFill>
              </a:rPr>
              <a:t> (</a:t>
            </a:r>
            <a:r>
              <a:rPr sz="1400" b="1" i="0">
                <a:solidFill>
                  <a:srgbClr val="2C3C43"/>
                </a:solidFill>
              </a:rPr>
              <a:t>valid time</a:t>
            </a:r>
            <a:r>
              <a:rPr sz="1400" b="0" i="0">
                <a:solidFill>
                  <a:srgbClr val="2C3C43"/>
                </a:solidFill>
              </a:rPr>
              <a:t>).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Query 1: salary on a given date → select the row whose period contains it.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Query 2: full raise history → order rows by </a:t>
            </a:r>
            <a:r>
              <a:rPr sz="1400" b="0" i="0">
                <a:solidFill>
                  <a:srgbClr val="A8470A"/>
                </a:solidFill>
                <a:latin typeface="Courier New"/>
              </a:rPr>
              <a:t>from_date</a:t>
            </a:r>
            <a:r>
              <a:rPr sz="1400" b="0" i="0">
                <a:solidFill>
                  <a:srgbClr val="2C3C43"/>
                </a:solidFill>
              </a:rPr>
              <a:t>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Query 3: total cost over a period → join with interval overlap.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With system versioning, also ask "what did the DB believe on date X?".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645920"/>
            <a:ext cx="1645920" cy="502920"/>
          </a:xfrm>
          <a:prstGeom prst="roundRect">
            <a:avLst/>
          </a:prstGeom>
          <a:solidFill>
            <a:srgbClr val="90C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0" i="0">
                <a:solidFill>
                  <a:srgbClr val="2C3C43"/>
                </a:solidFill>
              </a:rPr>
              <a:t>50000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45920"/>
            <a:ext cx="2194560" cy="502920"/>
          </a:xfrm>
          <a:prstGeom prst="round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70000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19456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200" b="0" i="0">
                <a:solidFill>
                  <a:srgbClr val="2C3C43"/>
                </a:solidFill>
              </a:rPr>
              <a:t>2020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200" b="0" i="0">
                <a:solidFill>
                  <a:srgbClr val="2C3C43"/>
                </a:solidFill>
              </a:rPr>
              <a:t>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19456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0" i="0">
                <a:solidFill>
                  <a:srgbClr val="2C3C43"/>
                </a:solidFill>
              </a:rPr>
              <a:t>9999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606040"/>
            <a:ext cx="384048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200" b="1" i="0">
                <a:solidFill>
                  <a:srgbClr val="2C3C43"/>
                </a:solidFill>
              </a:rPr>
              <a:t>Q1 date lookup · Q2 raise history · Q3 cost by overlap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3200400"/>
            <a:ext cx="3840480" cy="2468880"/>
          </a:xfrm>
          <a:prstGeom prst="roundRect">
            <a:avLst/>
          </a:prstGeom>
          <a:solidFill>
            <a:srgbClr val="1F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29600" y="3310128"/>
            <a:ext cx="548640" cy="237744"/>
          </a:xfrm>
          <a:prstGeom prst="round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3611880"/>
            <a:ext cx="3566160" cy="1965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 i="0">
                <a:solidFill>
                  <a:srgbClr val="E8EEF0"/>
                </a:solidFill>
                <a:latin typeface="Courier New"/>
              </a:rPr>
              <a:t>emp_id  amount  from_date   to_date</a:t>
            </a:r>
          </a:p>
          <a:p>
            <a:r>
              <a:rPr sz="1000" b="0" i="0">
                <a:solidFill>
                  <a:srgbClr val="F2A15F"/>
                </a:solidFill>
                <a:latin typeface="Courier New"/>
              </a:rPr>
              <a:t>101</a:t>
            </a:r>
            <a:r>
              <a:rPr sz="1000" b="0" i="0">
                <a:solidFill>
                  <a:srgbClr val="E8EEF0"/>
                </a:solidFill>
                <a:latin typeface="Courier New"/>
              </a:rPr>
              <a:t>     </a:t>
            </a:r>
            <a:r>
              <a:rPr sz="1000" b="0" i="0">
                <a:solidFill>
                  <a:srgbClr val="F2A15F"/>
                </a:solidFill>
                <a:latin typeface="Courier New"/>
              </a:rPr>
              <a:t>50000</a:t>
            </a:r>
            <a:r>
              <a:rPr sz="1000" b="0" i="0">
                <a:solidFill>
                  <a:srgbClr val="E8EEF0"/>
                </a:solidFill>
                <a:latin typeface="Courier New"/>
              </a:rPr>
              <a:t>   </a:t>
            </a:r>
            <a:r>
              <a:rPr sz="1000" b="0" i="0">
                <a:solidFill>
                  <a:srgbClr val="F2A15F"/>
                </a:solidFill>
                <a:latin typeface="Courier New"/>
              </a:rPr>
              <a:t>2020-01-01</a:t>
            </a:r>
            <a:r>
              <a:rPr sz="1000" b="0" i="0">
                <a:solidFill>
                  <a:srgbClr val="E8EEF0"/>
                </a:solidFill>
                <a:latin typeface="Courier New"/>
              </a:rPr>
              <a:t>  </a:t>
            </a:r>
            <a:r>
              <a:rPr sz="1000" b="0" i="0">
                <a:solidFill>
                  <a:srgbClr val="F2A15F"/>
                </a:solidFill>
                <a:latin typeface="Courier New"/>
              </a:rPr>
              <a:t>2023-01-01</a:t>
            </a:r>
          </a:p>
          <a:p>
            <a:r>
              <a:rPr sz="1000" b="0" i="0">
                <a:solidFill>
                  <a:srgbClr val="F2A15F"/>
                </a:solidFill>
                <a:latin typeface="Courier New"/>
              </a:rPr>
              <a:t>101</a:t>
            </a:r>
            <a:r>
              <a:rPr sz="1000" b="0" i="0">
                <a:solidFill>
                  <a:srgbClr val="E8EEF0"/>
                </a:solidFill>
                <a:latin typeface="Courier New"/>
              </a:rPr>
              <a:t>     </a:t>
            </a:r>
            <a:r>
              <a:rPr sz="1000" b="0" i="0">
                <a:solidFill>
                  <a:srgbClr val="F2A15F"/>
                </a:solidFill>
                <a:latin typeface="Courier New"/>
              </a:rPr>
              <a:t>70000</a:t>
            </a:r>
            <a:r>
              <a:rPr sz="1000" b="0" i="0">
                <a:solidFill>
                  <a:srgbClr val="E8EEF0"/>
                </a:solidFill>
                <a:latin typeface="Courier New"/>
              </a:rPr>
              <a:t>   </a:t>
            </a:r>
            <a:r>
              <a:rPr sz="1000" b="0" i="0">
                <a:solidFill>
                  <a:srgbClr val="F2A15F"/>
                </a:solidFill>
                <a:latin typeface="Courier New"/>
              </a:rPr>
              <a:t>2023-01-01</a:t>
            </a:r>
            <a:r>
              <a:rPr sz="1000" b="0" i="0">
                <a:solidFill>
                  <a:srgbClr val="E8EEF0"/>
                </a:solidFill>
                <a:latin typeface="Courier New"/>
              </a:rPr>
              <a:t>  </a:t>
            </a:r>
            <a:r>
              <a:rPr sz="1000" b="0" i="0">
                <a:solidFill>
                  <a:srgbClr val="F2A15F"/>
                </a:solidFill>
                <a:latin typeface="Courier New"/>
              </a:rPr>
              <a:t>9999-12-31</a:t>
            </a:r>
          </a:p>
          <a:p>
            <a:r>
              <a:rPr sz="1000" b="0" i="0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000" b="0" i="1">
                <a:solidFill>
                  <a:srgbClr val="8FA6B0"/>
                </a:solidFill>
                <a:latin typeface="Courier New"/>
              </a:rPr>
              <a:t>-- salary on 2021-05-10</a:t>
            </a:r>
          </a:p>
          <a:p>
            <a:r>
              <a:rPr sz="1000" b="1" i="0">
                <a:solidFill>
                  <a:srgbClr val="90C226"/>
                </a:solidFill>
                <a:latin typeface="Courier New"/>
              </a:rPr>
              <a:t>SELECT</a:t>
            </a:r>
            <a:r>
              <a:rPr sz="1000" b="0" i="0">
                <a:solidFill>
                  <a:srgbClr val="E8EEF0"/>
                </a:solidFill>
                <a:latin typeface="Courier New"/>
              </a:rPr>
              <a:t> amount </a:t>
            </a:r>
            <a:r>
              <a:rPr sz="1000" b="1" i="0">
                <a:solidFill>
                  <a:srgbClr val="90C226"/>
                </a:solidFill>
                <a:latin typeface="Courier New"/>
              </a:rPr>
              <a:t>FROM</a:t>
            </a:r>
            <a:r>
              <a:rPr sz="1000" b="0" i="0">
                <a:solidFill>
                  <a:srgbClr val="E8EEF0"/>
                </a:solidFill>
                <a:latin typeface="Courier New"/>
              </a:rPr>
              <a:t> salary</a:t>
            </a:r>
          </a:p>
          <a:p>
            <a:r>
              <a:rPr sz="1000" b="1" i="0">
                <a:solidFill>
                  <a:srgbClr val="90C226"/>
                </a:solidFill>
                <a:latin typeface="Courier New"/>
              </a:rPr>
              <a:t>WHERE</a:t>
            </a:r>
            <a:r>
              <a:rPr sz="1000" b="0" i="0">
                <a:solidFill>
                  <a:srgbClr val="E8EEF0"/>
                </a:solidFill>
                <a:latin typeface="Courier New"/>
              </a:rPr>
              <a:t> emp_id = </a:t>
            </a:r>
            <a:r>
              <a:rPr sz="1000" b="0" i="0">
                <a:solidFill>
                  <a:srgbClr val="F2A15F"/>
                </a:solidFill>
                <a:latin typeface="Courier New"/>
              </a:rPr>
              <a:t>101</a:t>
            </a:r>
            <a:r>
              <a:rPr sz="1000" b="0" i="0">
                <a:solidFill>
                  <a:srgbClr val="E8EEF0"/>
                </a:solidFill>
                <a:latin typeface="Courier New"/>
              </a:rPr>
              <a:t> </a:t>
            </a:r>
            <a:r>
              <a:rPr sz="1000" b="1" i="0">
                <a:solidFill>
                  <a:srgbClr val="90C226"/>
                </a:solidFill>
                <a:latin typeface="Courier New"/>
              </a:rPr>
              <a:t>AND</a:t>
            </a:r>
          </a:p>
          <a:p>
            <a:r>
              <a:rPr sz="1000" b="0" i="0">
                <a:solidFill>
                  <a:srgbClr val="E8EEF0"/>
                </a:solidFill>
                <a:latin typeface="Courier New"/>
              </a:rPr>
              <a:t>  </a:t>
            </a:r>
            <a:r>
              <a:rPr sz="1000" b="1" i="0">
                <a:solidFill>
                  <a:srgbClr val="90C226"/>
                </a:solidFill>
                <a:latin typeface="Courier New"/>
              </a:rPr>
              <a:t>DATE</a:t>
            </a:r>
            <a:r>
              <a:rPr sz="1000" b="0" i="0">
                <a:solidFill>
                  <a:srgbClr val="E8EEF0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B91E"/>
                </a:solidFill>
                <a:latin typeface="Courier New"/>
              </a:rPr>
              <a:t>'2021-05-10'</a:t>
            </a:r>
          </a:p>
          <a:p>
            <a:r>
              <a:rPr sz="1000" b="0" i="0">
                <a:solidFill>
                  <a:srgbClr val="E8EEF0"/>
                </a:solidFill>
                <a:latin typeface="Courier New"/>
              </a:rPr>
              <a:t>  </a:t>
            </a:r>
            <a:r>
              <a:rPr sz="1000" b="1" i="0">
                <a:solidFill>
                  <a:srgbClr val="90C226"/>
                </a:solidFill>
                <a:latin typeface="Courier New"/>
              </a:rPr>
              <a:t>BETWEEN</a:t>
            </a:r>
            <a:r>
              <a:rPr sz="1000" b="0" i="0">
                <a:solidFill>
                  <a:srgbClr val="E8EEF0"/>
                </a:solidFill>
                <a:latin typeface="Courier New"/>
              </a:rPr>
              <a:t> from_date </a:t>
            </a:r>
            <a:r>
              <a:rPr sz="1000" b="1" i="0">
                <a:solidFill>
                  <a:srgbClr val="90C226"/>
                </a:solidFill>
                <a:latin typeface="Courier New"/>
              </a:rPr>
              <a:t>AND</a:t>
            </a:r>
            <a:r>
              <a:rPr sz="1000" b="0" i="0">
                <a:solidFill>
                  <a:srgbClr val="E8EEF0"/>
                </a:solidFill>
                <a:latin typeface="Courier New"/>
              </a:rPr>
              <a:t> to_date;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22960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800" b="1" i="0">
                <a:solidFill>
                  <a:srgbClr val="2C3C43"/>
                </a:solidFill>
              </a:rPr>
              <a:t>Ties to Transactions &amp; Concurrency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7680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000" b="0" i="0">
                <a:solidFill>
                  <a:srgbClr val="5A6B73"/>
                </a:solidFill>
              </a:rPr>
              <a:t>Temporal Databases: Concepts and Applications  |  Sayantan Bharati  |  BWU/BTS/25/503  |  Section B  |  BTS30102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A6B73"/>
                </a:solidFill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4206240" cy="31264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 dirty="0">
                <a:solidFill>
                  <a:srgbClr val="2C3C43"/>
                </a:solidFill>
              </a:rPr>
              <a:t>Transaction time is exactly what a </a:t>
            </a:r>
            <a:r>
              <a:rPr sz="1400" b="1" i="0" dirty="0">
                <a:solidFill>
                  <a:srgbClr val="2C3C43"/>
                </a:solidFill>
              </a:rPr>
              <a:t>transaction log / recovery</a:t>
            </a:r>
            <a:r>
              <a:rPr sz="1400" b="0" i="0" dirty="0">
                <a:solidFill>
                  <a:srgbClr val="2C3C43"/>
                </a:solidFill>
              </a:rPr>
              <a:t> already records.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 dirty="0">
                <a:solidFill>
                  <a:srgbClr val="2C3C43"/>
                </a:solidFill>
              </a:rPr>
              <a:t>MVCC</a:t>
            </a:r>
            <a:r>
              <a:rPr sz="1400" b="0" i="0" dirty="0">
                <a:solidFill>
                  <a:srgbClr val="2C3C43"/>
                </a:solidFill>
              </a:rPr>
              <a:t> keeps multiple versions of a row </a:t>
            </a:r>
            <a:r>
              <a:rPr lang="en-IN" sz="1400" b="0" i="0" dirty="0">
                <a:solidFill>
                  <a:srgbClr val="2C3C43"/>
                </a:solidFill>
              </a:rPr>
              <a:t>:</a:t>
            </a:r>
            <a:r>
              <a:rPr sz="1400" b="0" i="0" dirty="0">
                <a:solidFill>
                  <a:srgbClr val="2C3C43"/>
                </a:solidFill>
              </a:rPr>
              <a:t> the same versioning idea.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 dirty="0">
                <a:solidFill>
                  <a:srgbClr val="2C3C43"/>
                </a:solidFill>
              </a:rPr>
              <a:t>Timestamp-based schedulers already order operations by time.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 dirty="0">
                <a:solidFill>
                  <a:srgbClr val="2C3C43"/>
                </a:solidFill>
              </a:rPr>
              <a:t>Temporal storage is naturally </a:t>
            </a:r>
            <a:r>
              <a:rPr sz="1400" b="1" i="0" dirty="0">
                <a:solidFill>
                  <a:srgbClr val="2C3C43"/>
                </a:solidFill>
              </a:rPr>
              <a:t>append-only</a:t>
            </a:r>
            <a:r>
              <a:rPr sz="1400" b="0" i="0" dirty="0">
                <a:solidFill>
                  <a:srgbClr val="2C3C43"/>
                </a:solidFill>
              </a:rPr>
              <a:t>, so it is rollback-friendly.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 dirty="0">
                <a:solidFill>
                  <a:srgbClr val="2C3C43"/>
                </a:solidFill>
              </a:rPr>
              <a:t>Serializability still applies: history must reflect a consistent order of transactions.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 dirty="0">
                <a:solidFill>
                  <a:srgbClr val="2C3C43"/>
                </a:solidFill>
              </a:rPr>
              <a:t>This connects directly to the course's transaction, ACID and recovery modules.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645920"/>
            <a:ext cx="3108960" cy="685800"/>
          </a:xfrm>
          <a:prstGeom prst="roundRect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Transaction log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949440" y="2331720"/>
            <a:ext cx="0" cy="502920"/>
          </a:xfrm>
          <a:prstGeom prst="line">
            <a:avLst/>
          </a:prstGeom>
          <a:ln w="22225">
            <a:solidFill>
              <a:srgbClr val="2C3C4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394960" y="2834640"/>
            <a:ext cx="3108960" cy="685800"/>
          </a:xfrm>
          <a:prstGeom prst="roundRect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MVCC versions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49440" y="3520440"/>
            <a:ext cx="0" cy="502920"/>
          </a:xfrm>
          <a:prstGeom prst="line">
            <a:avLst/>
          </a:prstGeom>
          <a:ln w="22225">
            <a:solidFill>
              <a:srgbClr val="2C3C4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394960" y="4023360"/>
            <a:ext cx="3108960" cy="685800"/>
          </a:xfrm>
          <a:prstGeom prst="round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Bitemporal store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0" y="5257800"/>
            <a:ext cx="594360" cy="594360"/>
          </a:xfrm>
          <a:prstGeom prst="ellipse">
            <a:avLst/>
          </a:prstGeom>
          <a:solidFill>
            <a:srgbClr val="E6B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600" b="1" i="0">
                <a:solidFill>
                  <a:srgbClr val="2C3C43"/>
                </a:solidFill>
              </a:rPr>
              <a:t>A</a:t>
            </a:r>
          </a:p>
        </p:txBody>
      </p:sp>
      <p:sp>
        <p:nvSpPr>
          <p:cNvPr id="12" name="Oval 11"/>
          <p:cNvSpPr/>
          <p:nvPr/>
        </p:nvSpPr>
        <p:spPr>
          <a:xfrm>
            <a:off x="6263640" y="5257800"/>
            <a:ext cx="594360" cy="594360"/>
          </a:xfrm>
          <a:prstGeom prst="ellipse">
            <a:avLst/>
          </a:prstGeom>
          <a:solidFill>
            <a:srgbClr val="E6B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600" b="1" i="0">
                <a:solidFill>
                  <a:srgbClr val="2C3C43"/>
                </a:solidFill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7040880" y="5257800"/>
            <a:ext cx="594360" cy="594360"/>
          </a:xfrm>
          <a:prstGeom prst="ellipse">
            <a:avLst/>
          </a:prstGeom>
          <a:solidFill>
            <a:srgbClr val="E6B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600" b="1" i="0">
                <a:solidFill>
                  <a:srgbClr val="2C3C43"/>
                </a:solidFill>
              </a:rPr>
              <a:t>I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5257800"/>
            <a:ext cx="594360" cy="594360"/>
          </a:xfrm>
          <a:prstGeom prst="ellipse">
            <a:avLst/>
          </a:prstGeom>
          <a:solidFill>
            <a:srgbClr val="E6B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600" b="1" i="0">
                <a:solidFill>
                  <a:srgbClr val="2C3C43"/>
                </a:solidFill>
              </a:rPr>
              <a:t>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22960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800" b="1" i="0">
                <a:solidFill>
                  <a:srgbClr val="2C3C43"/>
                </a:solidFill>
              </a:rPr>
              <a:t>Challenges, Best Practices &amp;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7680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000" b="0" i="0">
                <a:solidFill>
                  <a:srgbClr val="5A6B73"/>
                </a:solidFill>
              </a:rPr>
              <a:t>Temporal Databases: Concepts and Applications  |  Sayantan Bharati  |  BWU/BTS/25/503  |  Section B  |  BTS30102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A6B73"/>
                </a:solidFill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4206240" cy="334194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 dirty="0">
                <a:solidFill>
                  <a:srgbClr val="2C3C43"/>
                </a:solidFill>
              </a:rPr>
              <a:t>Storage growth</a:t>
            </a:r>
            <a:r>
              <a:rPr sz="1400" b="0" i="0" dirty="0">
                <a:solidFill>
                  <a:srgbClr val="2C3C43"/>
                </a:solidFill>
              </a:rPr>
              <a:t> </a:t>
            </a:r>
            <a:r>
              <a:rPr lang="en-IN" sz="1400" b="0" i="0" dirty="0">
                <a:solidFill>
                  <a:srgbClr val="2C3C43"/>
                </a:solidFill>
              </a:rPr>
              <a:t>:</a:t>
            </a:r>
            <a:r>
              <a:rPr sz="1400" b="0" i="0" dirty="0">
                <a:solidFill>
                  <a:srgbClr val="2C3C43"/>
                </a:solidFill>
              </a:rPr>
              <a:t> every change becomes a permanent version.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 dirty="0">
                <a:solidFill>
                  <a:srgbClr val="2C3C43"/>
                </a:solidFill>
              </a:rPr>
              <a:t>Performance</a:t>
            </a:r>
            <a:r>
              <a:rPr sz="1400" b="0" i="0" dirty="0">
                <a:solidFill>
                  <a:srgbClr val="2C3C43"/>
                </a:solidFill>
              </a:rPr>
              <a:t> </a:t>
            </a:r>
            <a:r>
              <a:rPr lang="en-IN" sz="1400" b="0" i="0" dirty="0">
                <a:solidFill>
                  <a:srgbClr val="2C3C43"/>
                </a:solidFill>
              </a:rPr>
              <a:t>:</a:t>
            </a:r>
            <a:r>
              <a:rPr sz="1400" b="0" i="0" dirty="0">
                <a:solidFill>
                  <a:srgbClr val="2C3C43"/>
                </a:solidFill>
              </a:rPr>
              <a:t> range/interval indexes are costlier than point indexes.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 dirty="0">
                <a:solidFill>
                  <a:srgbClr val="2C3C43"/>
                </a:solidFill>
              </a:rPr>
              <a:t>Complexity</a:t>
            </a:r>
            <a:r>
              <a:rPr sz="1400" b="0" i="0" dirty="0">
                <a:solidFill>
                  <a:srgbClr val="2C3C43"/>
                </a:solidFill>
              </a:rPr>
              <a:t> </a:t>
            </a:r>
            <a:r>
              <a:rPr lang="en-IN" sz="1400" b="0" i="0" dirty="0">
                <a:solidFill>
                  <a:srgbClr val="2C3C43"/>
                </a:solidFill>
              </a:rPr>
              <a:t>:</a:t>
            </a:r>
            <a:r>
              <a:rPr sz="1400" b="0" i="0" dirty="0">
                <a:solidFill>
                  <a:srgbClr val="2C3C43"/>
                </a:solidFill>
              </a:rPr>
              <a:t> developers must reason about two timelines.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 dirty="0">
                <a:solidFill>
                  <a:srgbClr val="2C3C43"/>
                </a:solidFill>
              </a:rPr>
              <a:t>Privacy</a:t>
            </a:r>
            <a:r>
              <a:rPr sz="1400" b="0" i="0" dirty="0">
                <a:solidFill>
                  <a:srgbClr val="2C3C43"/>
                </a:solidFill>
              </a:rPr>
              <a:t> </a:t>
            </a:r>
            <a:r>
              <a:rPr lang="en-IN" sz="1400" b="0" i="0" dirty="0">
                <a:solidFill>
                  <a:srgbClr val="2C3C43"/>
                </a:solidFill>
              </a:rPr>
              <a:t>:</a:t>
            </a:r>
            <a:r>
              <a:rPr sz="1400" b="0" i="0" dirty="0">
                <a:solidFill>
                  <a:srgbClr val="2C3C43"/>
                </a:solidFill>
              </a:rPr>
              <a:t> "right to be forgotten" conflicts with immutable history; needs crypto-shredding.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 dirty="0">
                <a:solidFill>
                  <a:srgbClr val="2C3C43"/>
                </a:solidFill>
              </a:rPr>
              <a:t>Best practices:</a:t>
            </a:r>
            <a:r>
              <a:rPr sz="1400" b="0" i="0" dirty="0">
                <a:solidFill>
                  <a:srgbClr val="2C3C43"/>
                </a:solidFill>
              </a:rPr>
              <a:t> define retention policy, choose the right model, index intervals, separate hot/cold data.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 dirty="0">
                <a:solidFill>
                  <a:srgbClr val="2C3C43"/>
                </a:solidFill>
              </a:rPr>
              <a:t>Future:</a:t>
            </a:r>
            <a:r>
              <a:rPr sz="1400" b="0" i="0" dirty="0">
                <a:solidFill>
                  <a:srgbClr val="2C3C43"/>
                </a:solidFill>
              </a:rPr>
              <a:t> cloud temporal services, ML on history, blockchain-anchored audit trails.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554480"/>
            <a:ext cx="1828800" cy="457200"/>
          </a:xfrm>
          <a:prstGeom prst="round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Benefits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554480"/>
            <a:ext cx="1828800" cy="457200"/>
          </a:xfrm>
          <a:prstGeom prst="roundRect">
            <a:avLst/>
          </a:prstGeom>
          <a:solidFill>
            <a:srgbClr val="C42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59" y="2194560"/>
            <a:ext cx="173736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300" b="0" i="0">
                <a:solidFill>
                  <a:srgbClr val="2C3C43"/>
                </a:solidFill>
              </a:rPr>
              <a:t>Full audit trail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300" b="0" i="0">
                <a:solidFill>
                  <a:srgbClr val="2C3C43"/>
                </a:solidFill>
              </a:rPr>
              <a:t>Time-travel queries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300" b="0" i="0">
                <a:solidFill>
                  <a:srgbClr val="2C3C43"/>
                </a:solidFill>
              </a:rPr>
              <a:t>Regulatory ready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2194560"/>
            <a:ext cx="173736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300" b="0" i="0">
                <a:solidFill>
                  <a:srgbClr val="2C3C43"/>
                </a:solidFill>
              </a:rPr>
              <a:t>Storage growth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300" b="0" i="0">
                <a:solidFill>
                  <a:srgbClr val="2C3C43"/>
                </a:solidFill>
              </a:rPr>
              <a:t>Costlier indexes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300" b="0" i="0">
                <a:solidFill>
                  <a:srgbClr val="2C3C43"/>
                </a:solidFill>
              </a:rPr>
              <a:t>Two timelines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300" b="0" i="0">
                <a:solidFill>
                  <a:srgbClr val="2C3C43"/>
                </a:solidFill>
              </a:rPr>
              <a:t>Privacy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4572000"/>
            <a:ext cx="3840480" cy="1005840"/>
          </a:xfrm>
          <a:prstGeom prst="roundRect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 dirty="0">
                <a:solidFill>
                  <a:srgbClr val="FFFFFF"/>
                </a:solidFill>
              </a:rPr>
              <a:t>Future →  cloud temporal services, ML on history, blockchain-anchored audit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22960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800" b="1" i="0">
                <a:solidFill>
                  <a:srgbClr val="2C3C43"/>
                </a:solidFill>
              </a:rPr>
              <a:t>References &amp; 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7680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000" b="0" i="0">
                <a:solidFill>
                  <a:srgbClr val="5A6B73"/>
                </a:solidFill>
              </a:rPr>
              <a:t>Temporal Databases: Concepts and Applications  |  Sayantan Bharati  |  BWU/BTS/25/503  |  Section B  |  BTS30102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5A6B73"/>
                </a:solidFill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5120640" cy="260584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 dirty="0">
                <a:solidFill>
                  <a:srgbClr val="2C3C43"/>
                </a:solidFill>
              </a:rPr>
              <a:t>A. Silberschatz, H. Korth, S. Sudarshan </a:t>
            </a:r>
            <a:r>
              <a:rPr lang="en-IN" sz="1400" b="0" i="0" dirty="0">
                <a:solidFill>
                  <a:srgbClr val="2C3C43"/>
                </a:solidFill>
              </a:rPr>
              <a:t>:</a:t>
            </a:r>
            <a:r>
              <a:rPr sz="1400" b="0" i="0" dirty="0">
                <a:solidFill>
                  <a:srgbClr val="2C3C43"/>
                </a:solidFill>
              </a:rPr>
              <a:t> </a:t>
            </a:r>
            <a:r>
              <a:rPr sz="1400" b="0" i="1" dirty="0">
                <a:solidFill>
                  <a:srgbClr val="2C3C43"/>
                </a:solidFill>
              </a:rPr>
              <a:t>Database System Concepts</a:t>
            </a:r>
            <a:r>
              <a:rPr sz="1400" b="0" i="0" dirty="0">
                <a:solidFill>
                  <a:srgbClr val="2C3C43"/>
                </a:solidFill>
              </a:rPr>
              <a:t> (7th ed.), McGraw Hill.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 dirty="0">
                <a:solidFill>
                  <a:srgbClr val="2C3C43"/>
                </a:solidFill>
              </a:rPr>
              <a:t>R. Elmasri &amp; S. Navathe </a:t>
            </a:r>
            <a:r>
              <a:rPr lang="en-IN" sz="1400" b="0" i="0" dirty="0">
                <a:solidFill>
                  <a:srgbClr val="2C3C43"/>
                </a:solidFill>
              </a:rPr>
              <a:t>:</a:t>
            </a:r>
            <a:r>
              <a:rPr sz="1400" b="0" i="0" dirty="0">
                <a:solidFill>
                  <a:srgbClr val="2C3C43"/>
                </a:solidFill>
              </a:rPr>
              <a:t> </a:t>
            </a:r>
            <a:r>
              <a:rPr sz="1400" b="0" i="1" dirty="0">
                <a:solidFill>
                  <a:srgbClr val="2C3C43"/>
                </a:solidFill>
              </a:rPr>
              <a:t>Fundamentals of Database Systems</a:t>
            </a:r>
            <a:r>
              <a:rPr sz="1400" b="0" i="0" dirty="0">
                <a:solidFill>
                  <a:srgbClr val="2C3C43"/>
                </a:solidFill>
              </a:rPr>
              <a:t>, Addison-Wesley.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 dirty="0">
                <a:solidFill>
                  <a:srgbClr val="2C3C43"/>
                </a:solidFill>
              </a:rPr>
              <a:t>ISO/IEC 9075 </a:t>
            </a:r>
            <a:r>
              <a:rPr lang="en-IN" sz="1400" b="0" i="0" dirty="0">
                <a:solidFill>
                  <a:srgbClr val="2C3C43"/>
                </a:solidFill>
              </a:rPr>
              <a:t>:</a:t>
            </a:r>
            <a:r>
              <a:rPr sz="1400" b="0" i="0" dirty="0">
                <a:solidFill>
                  <a:srgbClr val="2C3C43"/>
                </a:solidFill>
              </a:rPr>
              <a:t> </a:t>
            </a:r>
            <a:r>
              <a:rPr sz="1400" b="1" i="0" dirty="0">
                <a:solidFill>
                  <a:srgbClr val="2C3C43"/>
                </a:solidFill>
              </a:rPr>
              <a:t>SQL:2011</a:t>
            </a:r>
            <a:r>
              <a:rPr sz="1400" b="0" i="0" dirty="0">
                <a:solidFill>
                  <a:srgbClr val="2C3C43"/>
                </a:solidFill>
              </a:rPr>
              <a:t> temporal features (system-versioned &amp; application-time tables).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 dirty="0">
                <a:solidFill>
                  <a:srgbClr val="2C3C43"/>
                </a:solidFill>
              </a:rPr>
              <a:t>R. T. Snodgrass </a:t>
            </a:r>
            <a:r>
              <a:rPr lang="en-IN" sz="1400" b="0" i="0" dirty="0">
                <a:solidFill>
                  <a:srgbClr val="2C3C43"/>
                </a:solidFill>
              </a:rPr>
              <a:t>:</a:t>
            </a:r>
            <a:r>
              <a:rPr sz="1400" b="0" i="0" dirty="0">
                <a:solidFill>
                  <a:srgbClr val="2C3C43"/>
                </a:solidFill>
              </a:rPr>
              <a:t> </a:t>
            </a:r>
            <a:r>
              <a:rPr sz="1400" b="0" i="1" dirty="0">
                <a:solidFill>
                  <a:srgbClr val="2C3C43"/>
                </a:solidFill>
              </a:rPr>
              <a:t>Developing Time-Oriented Database Applications in SQL</a:t>
            </a:r>
            <a:r>
              <a:rPr sz="1400" b="0" i="0" dirty="0">
                <a:solidFill>
                  <a:srgbClr val="2C3C43"/>
                </a:solidFill>
              </a:rPr>
              <a:t>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 dirty="0">
                <a:solidFill>
                  <a:srgbClr val="2C3C43"/>
                </a:solidFill>
              </a:rPr>
              <a:t>Course lecture notes </a:t>
            </a:r>
            <a:r>
              <a:rPr lang="en-IN" sz="1400" b="0" i="0" dirty="0">
                <a:solidFill>
                  <a:srgbClr val="2C3C43"/>
                </a:solidFill>
              </a:rPr>
              <a:t>:</a:t>
            </a:r>
            <a:r>
              <a:rPr sz="1400" b="0" i="0" dirty="0">
                <a:solidFill>
                  <a:srgbClr val="2C3C43"/>
                </a:solidFill>
              </a:rPr>
              <a:t> DBMS Modules 1–3 (data models, transactions, storage).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03520"/>
            <a:ext cx="8229600" cy="914400"/>
          </a:xfrm>
          <a:prstGeom prst="roundRect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3200" b="1" i="0" dirty="0">
                <a:solidFill>
                  <a:srgbClr val="FFFFFF"/>
                </a:solidFill>
              </a:rPr>
              <a:t>Thank you</a:t>
            </a:r>
            <a:r>
              <a:rPr lang="en-US" sz="3200" b="1" i="0" dirty="0">
                <a:solidFill>
                  <a:srgbClr val="FFFFFF"/>
                </a:solidFill>
              </a:rPr>
              <a:t>.</a:t>
            </a:r>
          </a:p>
          <a:p>
            <a:pPr algn="ctr"/>
            <a:r>
              <a:rPr sz="1300" b="0" i="0" dirty="0">
                <a:solidFill>
                  <a:srgbClr val="FFFFFF"/>
                </a:solidFill>
              </a:rPr>
              <a:t>Sayantan Bharati  |  BWU/BTS/25/503  |  Section 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een Facet">
  <a:themeElements>
    <a:clrScheme name="Green 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6B9F25"/>
      </a:hlink>
      <a:folHlink>
        <a:srgbClr val="BA6906"/>
      </a:folHlink>
    </a:clrScheme>
    <a:fontScheme name="Green Facet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rebuchet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2472</Words>
  <Application>Microsoft Office PowerPoint</Application>
  <PresentationFormat>Widescreen</PresentationFormat>
  <Paragraphs>272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Courier New</vt:lpstr>
      <vt:lpstr>Green 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sayantan bharati</cp:lastModifiedBy>
  <cp:revision>3</cp:revision>
  <dcterms:created xsi:type="dcterms:W3CDTF">2026-10-04T04:28:14Z</dcterms:created>
  <dcterms:modified xsi:type="dcterms:W3CDTF">2026-10-06T14:28:02Z</dcterms:modified>
</cp:coreProperties>
</file>