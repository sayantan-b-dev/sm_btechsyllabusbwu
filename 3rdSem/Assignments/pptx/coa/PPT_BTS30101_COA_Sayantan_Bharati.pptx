
<file path=[Content_Types].xml><?xml version="1.0" encoding="utf-8"?>
<Types xmlns="http://schemas.openxmlformats.org/package/2006/content-types">
  <Default Extension="rels" ContentType="application/vnd.openxmlformats-package.relationships+xml"/>
  <Default Extension="png" ContentType="image/png"/>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7"/>
    <p:sldId id="267" r:id="rId18"/>
    <p:sldId id="268" r:id="rId19"/>
    <p:sldId id="269" r:id="rId20"/>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  <Relationship Id="rId17" Type="http://schemas.openxmlformats.org/officeDocument/2006/relationships/slide" Target="slides/slide11.xml"/>
  <Relationship Id="rId18" Type="http://schemas.openxmlformats.org/officeDocument/2006/relationships/slide" Target="slides/slide12.xml"/>
  <Relationship Id="rId19" Type="http://schemas.openxmlformats.org/officeDocument/2006/relationships/slide" Target="slides/slide13.xml"/>
  <Relationship Id="rId20" Type="http://schemas.openxmlformats.org/officeDocument/2006/relationships/slide" Target="slides/slide14.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 am Sayantan Bharati, and my topic is a Digital Decibel Sound Level Indicator with Peak-Hold — a hardware/digital-design project built with VHDL. It measures ambient sound, converts it to decibels, and remembers the loudest level reached.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idea is that our ears hear loudness on a logarithmic scale, and dB is the right unit for that. I will show how a small digital circuit can compute that value and also remember its maximum, which is useful in factories, studios and traffic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first build the theory of the decibel, then present the complete system block by block, then show the VHDL implementation and simulation results, and finish with applications and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important formula on this slide is SPL equals twenty log-base-ten of pressure over the reference pressure. The factor of twenty, not ten, appears because we are comparing pressures — amplitudes — while the decibel is fundamentally a power ratio. The chart gives real-world anchors so the audience can feel what the numbers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single diagram is the heart of the project. Read it left to right: the microphone turns sound into a voltage, the analogue front end cleans it, the ADC digitises it, digital logic computes RMS and dB, and the peak-hold block stores the maximum before the display shows it. The clock divider and FSM run the whole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microphone gives only a couple of millivolts, so the preamplifier is essential. The low-pass filter is not optional — without it, high frequencies would fold back into our measurement band and corrupt the reading. The final dB value is calibrated against a standard 94-decibel reference 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RMS step is what makes the meter behave like a human ear — it averages energy over a short window instead of jumping on every spike. The square root and then the logarithm are the two expensive operations; in hardware we replace the logarithm with a lookup table indexed by the RMS value, which is exact enough for a display.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Peak-hold is a tiny but very useful idea: a comparator and one register. Whenever the new reading is bigger than the stored one, we overwrite it. A timer then holds it long enough to read, and finally clears or decays it. This is the difference between a meter that is merely accurate and one that is actually usable in a noisy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control unit is where COA meets this project. Exactly like an instruction cycle, our FSM moves through fetch-like and execute-like states: start a conversion, wait for it, compute, update the peak, then refresh the display, and loop forever. The clock divider simply gives us a human-scale sample rate from the fast board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output stage is the only part the user sees, so it must be readable. A bar graph communicates level at a glance, while a numeric display gives the exact dB value. The held peak gets its own LED or digit so it is never confused with the live reading. Multiplexing keeps the pin count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design is not just theory. Each function is a clean VHDL module, and the top level connects them like blocks on the diagram. The peak-hold code is only a few lines: compare, store, and release on a timer. That is the whole project in miniature.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Verification is where the design earns trust. We drive the testbench with tones we can compute by hand and compare the meter reading against the exact formula. The important result is the last row: after a loud spike, the held value stays put, which proves the peak-hold logic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this design has real uses in safety, industry and audio, but it is honest about its limits: one microphone, a calibration dependency, and a latency-versus-smoothness trade-off. Natural next steps are frequency weighting and logging. And it ties back to the course — ADC, registers, FSM control and I/O are all exercised.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standard references behind this presentation. Thank you for listening — I am happy to take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Layout">
    <p:bg>
      <p:bgPr>
        <a:solidFill>
          <a:srgbClr val="FFFFFF"/>
        </a:solidFill>
      </p:bgPr>
    </p:bg>
    <p:spTree>
      <p:nvGrpSpPr>
        <p:cNvPr id="2" name=""/>
        <p:cNvGrpSpPr/>
        <p:nvPr/>
      </p:nvGrpSpPr>
      <p:grpSpPr>
        <a:xfrm>
          <a:off x="0" y="0"/>
          <a:ext cx="0" cy="0"/>
          <a:chOff x="0" y="0"/>
          <a:chExt cx="0" cy="0"/>
        </a:xfrm>
      </p:grpSpPr>
      <p:sp>
        <p:nvSpPr>
          <p:cNvPr id="3" name="deco line 1"/>
          <p:cNvSpPr/>
          <p:nvPr/>
        </p:nvSpPr>
        <p:spPr>
          <a:xfrm>
            <a:off x="9377680" y="0"/>
            <a:ext cx="1219200" cy="6858000"/>
          </a:xfrm>
          <a:prstGeom prst="line">
            <a:avLst/>
          </a:prstGeom>
          <a:noFill/>
          <a:ln w="9525">
            <a:solidFill>
              <a:srgbClr val="BFBFBF"/>
            </a:solidFill>
            <a:prstDash val="solid"/>
          </a:ln>
        </p:spPr>
      </p:sp>
      <p:sp>
        <p:nvSpPr>
          <p:cNvPr id="4" name="deco line 2"/>
          <p:cNvSpPr/>
          <p:nvPr/>
        </p:nvSpPr>
        <p:spPr>
          <a:xfrm flipV="1">
            <a:off x="7434580" y="3690620"/>
            <a:ext cx="4763770" cy="3167380"/>
          </a:xfrm>
          <a:prstGeom prst="line">
            <a:avLst/>
          </a:prstGeom>
          <a:noFill/>
          <a:ln w="9525">
            <a:solidFill>
              <a:srgbClr val="D9D9D9"/>
            </a:solidFill>
            <a:prstDash val="solid"/>
          </a:ln>
        </p:spPr>
      </p:sp>
      <p:sp>
        <p:nvSpPr>
          <p:cNvPr id="5" name="deco r1"/>
          <p:cNvSpPr/>
          <p:nvPr/>
        </p:nvSpPr>
        <p:spPr>
          <a:xfrm>
            <a:off x="9182100" y="0"/>
            <a:ext cx="3009900" cy="6858000"/>
          </a:xfrm>
          <a:custGeom>
            <a:avLst/>
            <a:gdLst/>
            <a:ahLst/>
            <a:cxnLst/>
            <a:rect l="l" t="t" r="r" b="b"/>
            <a:pathLst>
              <a:path w="3009900" h="6858000">
                <a:moveTo>
                  <a:pt x="2047240" y="0"/>
                </a:moveTo>
                <a:lnTo>
                  <a:pt x="3009900" y="0"/>
                </a:lnTo>
                <a:lnTo>
                  <a:pt x="3009900" y="6858000"/>
                </a:lnTo>
                <a:lnTo>
                  <a:pt x="0" y="6858000"/>
                </a:lnTo>
                <a:close/>
              </a:path>
            </a:pathLst>
          </a:custGeom>
          <a:solidFill>
            <a:srgbClr val="90C226">
              <a:alpha val="30000"/>
            </a:srgbClr>
          </a:solidFill>
          <a:ln/>
        </p:spPr>
      </p:sp>
      <p:sp>
        <p:nvSpPr>
          <p:cNvPr id="6" name="deco r2"/>
          <p:cNvSpPr/>
          <p:nvPr/>
        </p:nvSpPr>
        <p:spPr>
          <a:xfrm>
            <a:off x="9601200" y="0"/>
            <a:ext cx="2590800" cy="6858000"/>
          </a:xfrm>
          <a:custGeom>
            <a:avLst/>
            <a:gdLst/>
            <a:ahLst/>
            <a:cxnLst/>
            <a:rect l="l" t="t" r="r" b="b"/>
            <a:pathLst>
              <a:path w="2590800" h="6858000">
                <a:moveTo>
                  <a:pt x="0" y="0"/>
                </a:moveTo>
                <a:lnTo>
                  <a:pt x="2590800" y="0"/>
                </a:lnTo>
                <a:lnTo>
                  <a:pt x="2590800" y="6858000"/>
                </a:lnTo>
                <a:lnTo>
                  <a:pt x="1210310" y="6858000"/>
                </a:lnTo>
                <a:close/>
              </a:path>
            </a:pathLst>
          </a:custGeom>
          <a:solidFill>
            <a:srgbClr val="90C226">
              <a:alpha val="20000"/>
            </a:srgbClr>
          </a:solidFill>
          <a:ln/>
        </p:spPr>
      </p:sp>
      <p:sp>
        <p:nvSpPr>
          <p:cNvPr id="7" name="deco r3"/>
          <p:cNvSpPr/>
          <p:nvPr/>
        </p:nvSpPr>
        <p:spPr>
          <a:xfrm>
            <a:off x="8934450" y="3048000"/>
            <a:ext cx="3257550" cy="3810000"/>
          </a:xfrm>
          <a:custGeom>
            <a:avLst/>
            <a:gdLst/>
            <a:ahLst/>
            <a:cxnLst/>
            <a:rect l="l" t="t" r="r" b="b"/>
            <a:pathLst>
              <a:path w="3257550" h="3810000">
                <a:moveTo>
                  <a:pt x="0" y="3810000"/>
                </a:moveTo>
                <a:lnTo>
                  <a:pt x="3257550" y="0"/>
                </a:lnTo>
                <a:lnTo>
                  <a:pt x="3257550" y="3810000"/>
                </a:lnTo>
                <a:close/>
              </a:path>
            </a:pathLst>
          </a:custGeom>
          <a:solidFill>
            <a:srgbClr val="54A021">
              <a:alpha val="72000"/>
            </a:srgbClr>
          </a:solidFill>
          <a:ln/>
        </p:spPr>
      </p:sp>
      <p:sp>
        <p:nvSpPr>
          <p:cNvPr id="8" name="deco r4"/>
          <p:cNvSpPr/>
          <p:nvPr/>
        </p:nvSpPr>
        <p:spPr>
          <a:xfrm>
            <a:off x="9334500" y="0"/>
            <a:ext cx="2857500" cy="6858000"/>
          </a:xfrm>
          <a:custGeom>
            <a:avLst/>
            <a:gdLst/>
            <a:ahLst/>
            <a:cxnLst/>
            <a:rect l="l" t="t" r="r" b="b"/>
            <a:pathLst>
              <a:path w="2857500" h="6858000">
                <a:moveTo>
                  <a:pt x="0" y="0"/>
                </a:moveTo>
                <a:lnTo>
                  <a:pt x="2857500" y="0"/>
                </a:lnTo>
                <a:lnTo>
                  <a:pt x="2857500" y="6858000"/>
                </a:lnTo>
                <a:lnTo>
                  <a:pt x="2473960" y="6858000"/>
                </a:lnTo>
                <a:close/>
              </a:path>
            </a:pathLst>
          </a:custGeom>
          <a:solidFill>
            <a:srgbClr val="3F7819">
              <a:alpha val="70000"/>
            </a:srgbClr>
          </a:solidFill>
          <a:ln/>
        </p:spPr>
      </p:sp>
      <p:sp>
        <p:nvSpPr>
          <p:cNvPr id="9" name="deco r5"/>
          <p:cNvSpPr/>
          <p:nvPr/>
        </p:nvSpPr>
        <p:spPr>
          <a:xfrm>
            <a:off x="10896600" y="0"/>
            <a:ext cx="1295400" cy="6858000"/>
          </a:xfrm>
          <a:custGeom>
            <a:avLst/>
            <a:gdLst/>
            <a:ahLst/>
            <a:cxnLst/>
            <a:rect l="l" t="t" r="r" b="b"/>
            <a:pathLst>
              <a:path w="1295400" h="6858000">
                <a:moveTo>
                  <a:pt x="1023620" y="0"/>
                </a:moveTo>
                <a:lnTo>
                  <a:pt x="1295400" y="0"/>
                </a:lnTo>
                <a:lnTo>
                  <a:pt x="1295400" y="6858000"/>
                </a:lnTo>
                <a:lnTo>
                  <a:pt x="0" y="6858000"/>
                </a:lnTo>
                <a:close/>
              </a:path>
            </a:pathLst>
          </a:custGeom>
          <a:solidFill>
            <a:srgbClr val="C0E474">
              <a:alpha val="70000"/>
            </a:srgbClr>
          </a:solidFill>
          <a:ln/>
        </p:spPr>
      </p:sp>
      <p:sp>
        <p:nvSpPr>
          <p:cNvPr id="10" name="deco r6"/>
          <p:cNvSpPr/>
          <p:nvPr/>
        </p:nvSpPr>
        <p:spPr>
          <a:xfrm>
            <a:off x="10934700" y="0"/>
            <a:ext cx="1257300" cy="6858000"/>
          </a:xfrm>
          <a:custGeom>
            <a:avLst/>
            <a:gdLst/>
            <a:ahLst/>
            <a:cxnLst/>
            <a:rect l="l" t="t" r="r" b="b"/>
            <a:pathLst>
              <a:path w="1257300" h="6858000">
                <a:moveTo>
                  <a:pt x="0" y="0"/>
                </a:moveTo>
                <a:lnTo>
                  <a:pt x="1257300" y="0"/>
                </a:lnTo>
                <a:lnTo>
                  <a:pt x="1257300" y="6858000"/>
                </a:lnTo>
                <a:lnTo>
                  <a:pt x="1116330" y="6858000"/>
                </a:lnTo>
                <a:close/>
              </a:path>
            </a:pathLst>
          </a:custGeom>
          <a:solidFill>
            <a:srgbClr val="90C226">
              <a:alpha val="65000"/>
            </a:srgbClr>
          </a:solidFill>
          <a:ln/>
        </p:spPr>
      </p:sp>
      <p:sp>
        <p:nvSpPr>
          <p:cNvPr id="11" name="deco r7"/>
          <p:cNvSpPr/>
          <p:nvPr/>
        </p:nvSpPr>
        <p:spPr>
          <a:xfrm>
            <a:off x="10373360" y="3591560"/>
            <a:ext cx="1818640" cy="3266440"/>
          </a:xfrm>
          <a:custGeom>
            <a:avLst/>
            <a:gdLst/>
            <a:ahLst/>
            <a:cxnLst/>
            <a:rect l="l" t="t" r="r" b="b"/>
            <a:pathLst>
              <a:path w="1818640" h="3266440">
                <a:moveTo>
                  <a:pt x="0" y="3266440"/>
                </a:moveTo>
                <a:lnTo>
                  <a:pt x="1818640" y="0"/>
                </a:lnTo>
                <a:lnTo>
                  <a:pt x="1818640" y="3266440"/>
                </a:lnTo>
                <a:close/>
              </a:path>
            </a:pathLst>
          </a:custGeom>
          <a:solidFill>
            <a:srgbClr val="90C226">
              <a:alpha val="80000"/>
            </a:srgbClr>
          </a:solidFill>
          <a:ln/>
        </p:spPr>
      </p:sp>
      <p:sp>
        <p:nvSpPr>
          <p:cNvPr id="12" name="deco left"/>
          <p:cNvSpPr/>
          <p:nvPr/>
        </p:nvSpPr>
        <p:spPr>
          <a:xfrm>
            <a:off x="0" y="0"/>
            <a:ext cx="838200" cy="5667375"/>
          </a:xfrm>
          <a:custGeom>
            <a:avLst/>
            <a:gdLst/>
            <a:ahLst/>
            <a:cxnLst/>
            <a:rect l="l" t="t" r="r" b="b"/>
            <a:pathLst>
              <a:path w="838200" h="5667375">
                <a:moveTo>
                  <a:pt x="838200" y="0"/>
                </a:moveTo>
                <a:lnTo>
                  <a:pt x="0" y="5667375"/>
                </a:lnTo>
                <a:lnTo>
                  <a:pt x="0" y="0"/>
                </a:lnTo>
                <a:close/>
              </a:path>
            </a:pathLst>
          </a:custGeom>
          <a:solidFill>
            <a:srgbClr val="90C226">
              <a:alpha val="85000"/>
            </a:srgbClr>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Layout">
    <p:bg>
      <p:bgPr>
        <a:solidFill>
          <a:srgbClr val="FFFFFF"/>
        </a:solidFill>
      </p:bgPr>
    </p:bg>
    <p:spTree>
      <p:nvGrpSpPr>
        <p:cNvPr id="2" name=""/>
        <p:cNvGrpSpPr/>
        <p:nvPr/>
      </p:nvGrpSpPr>
      <p:grpSpPr>
        <a:xfrm>
          <a:off x="0" y="0"/>
          <a:ext cx="0" cy="0"/>
          <a:chOff x="0" y="0"/>
          <a:chExt cx="0" cy="0"/>
        </a:xfrm>
      </p:grpSpPr>
      <p:sp>
        <p:nvSpPr>
          <p:cNvPr id="3" name="deco line 1"/>
          <p:cNvSpPr/>
          <p:nvPr/>
        </p:nvSpPr>
        <p:spPr>
          <a:xfrm>
            <a:off x="9377680" y="0"/>
            <a:ext cx="1219200" cy="6858000"/>
          </a:xfrm>
          <a:prstGeom prst="line">
            <a:avLst/>
          </a:prstGeom>
          <a:noFill/>
          <a:ln w="9525">
            <a:solidFill>
              <a:srgbClr val="BFBFBF"/>
            </a:solidFill>
            <a:prstDash val="solid"/>
          </a:ln>
        </p:spPr>
      </p:sp>
      <p:sp>
        <p:nvSpPr>
          <p:cNvPr id="4" name="deco line 2"/>
          <p:cNvSpPr/>
          <p:nvPr/>
        </p:nvSpPr>
        <p:spPr>
          <a:xfrm flipV="1">
            <a:off x="7434580" y="3690620"/>
            <a:ext cx="4763770" cy="3167380"/>
          </a:xfrm>
          <a:prstGeom prst="line">
            <a:avLst/>
          </a:prstGeom>
          <a:noFill/>
          <a:ln w="9525">
            <a:solidFill>
              <a:srgbClr val="D9D9D9"/>
            </a:solidFill>
            <a:prstDash val="solid"/>
          </a:ln>
        </p:spPr>
      </p:sp>
      <p:sp>
        <p:nvSpPr>
          <p:cNvPr id="5" name="deco r1"/>
          <p:cNvSpPr/>
          <p:nvPr/>
        </p:nvSpPr>
        <p:spPr>
          <a:xfrm>
            <a:off x="9182100" y="0"/>
            <a:ext cx="3009900" cy="6858000"/>
          </a:xfrm>
          <a:custGeom>
            <a:avLst/>
            <a:gdLst/>
            <a:ahLst/>
            <a:cxnLst/>
            <a:rect l="l" t="t" r="r" b="b"/>
            <a:pathLst>
              <a:path w="3009900" h="6858000">
                <a:moveTo>
                  <a:pt x="2047240" y="0"/>
                </a:moveTo>
                <a:lnTo>
                  <a:pt x="3009900" y="0"/>
                </a:lnTo>
                <a:lnTo>
                  <a:pt x="3009900" y="6858000"/>
                </a:lnTo>
                <a:lnTo>
                  <a:pt x="0" y="6858000"/>
                </a:lnTo>
                <a:close/>
              </a:path>
            </a:pathLst>
          </a:custGeom>
          <a:solidFill>
            <a:srgbClr val="90C226">
              <a:alpha val="30000"/>
            </a:srgbClr>
          </a:solidFill>
          <a:ln/>
        </p:spPr>
      </p:sp>
      <p:sp>
        <p:nvSpPr>
          <p:cNvPr id="6" name="deco r2"/>
          <p:cNvSpPr/>
          <p:nvPr/>
        </p:nvSpPr>
        <p:spPr>
          <a:xfrm>
            <a:off x="9601200" y="0"/>
            <a:ext cx="2590800" cy="6858000"/>
          </a:xfrm>
          <a:custGeom>
            <a:avLst/>
            <a:gdLst/>
            <a:ahLst/>
            <a:cxnLst/>
            <a:rect l="l" t="t" r="r" b="b"/>
            <a:pathLst>
              <a:path w="2590800" h="6858000">
                <a:moveTo>
                  <a:pt x="0" y="0"/>
                </a:moveTo>
                <a:lnTo>
                  <a:pt x="2590800" y="0"/>
                </a:lnTo>
                <a:lnTo>
                  <a:pt x="2590800" y="6858000"/>
                </a:lnTo>
                <a:lnTo>
                  <a:pt x="1210310" y="6858000"/>
                </a:lnTo>
                <a:close/>
              </a:path>
            </a:pathLst>
          </a:custGeom>
          <a:solidFill>
            <a:srgbClr val="90C226">
              <a:alpha val="20000"/>
            </a:srgbClr>
          </a:solidFill>
          <a:ln/>
        </p:spPr>
      </p:sp>
      <p:sp>
        <p:nvSpPr>
          <p:cNvPr id="7" name="deco r3"/>
          <p:cNvSpPr/>
          <p:nvPr/>
        </p:nvSpPr>
        <p:spPr>
          <a:xfrm>
            <a:off x="8934450" y="3048000"/>
            <a:ext cx="3257550" cy="3810000"/>
          </a:xfrm>
          <a:custGeom>
            <a:avLst/>
            <a:gdLst/>
            <a:ahLst/>
            <a:cxnLst/>
            <a:rect l="l" t="t" r="r" b="b"/>
            <a:pathLst>
              <a:path w="3257550" h="3810000">
                <a:moveTo>
                  <a:pt x="0" y="3810000"/>
                </a:moveTo>
                <a:lnTo>
                  <a:pt x="3257550" y="0"/>
                </a:lnTo>
                <a:lnTo>
                  <a:pt x="3257550" y="3810000"/>
                </a:lnTo>
                <a:close/>
              </a:path>
            </a:pathLst>
          </a:custGeom>
          <a:solidFill>
            <a:srgbClr val="54A021">
              <a:alpha val="72000"/>
            </a:srgbClr>
          </a:solidFill>
          <a:ln/>
        </p:spPr>
      </p:sp>
      <p:sp>
        <p:nvSpPr>
          <p:cNvPr id="8" name="deco r4"/>
          <p:cNvSpPr/>
          <p:nvPr/>
        </p:nvSpPr>
        <p:spPr>
          <a:xfrm>
            <a:off x="9334500" y="0"/>
            <a:ext cx="2857500" cy="6858000"/>
          </a:xfrm>
          <a:custGeom>
            <a:avLst/>
            <a:gdLst/>
            <a:ahLst/>
            <a:cxnLst/>
            <a:rect l="l" t="t" r="r" b="b"/>
            <a:pathLst>
              <a:path w="2857500" h="6858000">
                <a:moveTo>
                  <a:pt x="0" y="0"/>
                </a:moveTo>
                <a:lnTo>
                  <a:pt x="2857500" y="0"/>
                </a:lnTo>
                <a:lnTo>
                  <a:pt x="2857500" y="6858000"/>
                </a:lnTo>
                <a:lnTo>
                  <a:pt x="2473960" y="6858000"/>
                </a:lnTo>
                <a:close/>
              </a:path>
            </a:pathLst>
          </a:custGeom>
          <a:solidFill>
            <a:srgbClr val="3F7819">
              <a:alpha val="70000"/>
            </a:srgbClr>
          </a:solidFill>
          <a:ln/>
        </p:spPr>
      </p:sp>
      <p:sp>
        <p:nvSpPr>
          <p:cNvPr id="9" name="deco r5"/>
          <p:cNvSpPr/>
          <p:nvPr/>
        </p:nvSpPr>
        <p:spPr>
          <a:xfrm>
            <a:off x="10896600" y="0"/>
            <a:ext cx="1295400" cy="6858000"/>
          </a:xfrm>
          <a:custGeom>
            <a:avLst/>
            <a:gdLst/>
            <a:ahLst/>
            <a:cxnLst/>
            <a:rect l="l" t="t" r="r" b="b"/>
            <a:pathLst>
              <a:path w="1295400" h="6858000">
                <a:moveTo>
                  <a:pt x="1023620" y="0"/>
                </a:moveTo>
                <a:lnTo>
                  <a:pt x="1295400" y="0"/>
                </a:lnTo>
                <a:lnTo>
                  <a:pt x="1295400" y="6858000"/>
                </a:lnTo>
                <a:lnTo>
                  <a:pt x="0" y="6858000"/>
                </a:lnTo>
                <a:close/>
              </a:path>
            </a:pathLst>
          </a:custGeom>
          <a:solidFill>
            <a:srgbClr val="C0E474">
              <a:alpha val="70000"/>
            </a:srgbClr>
          </a:solidFill>
          <a:ln/>
        </p:spPr>
      </p:sp>
      <p:sp>
        <p:nvSpPr>
          <p:cNvPr id="10" name="deco r6"/>
          <p:cNvSpPr/>
          <p:nvPr/>
        </p:nvSpPr>
        <p:spPr>
          <a:xfrm>
            <a:off x="10934700" y="0"/>
            <a:ext cx="1257300" cy="6858000"/>
          </a:xfrm>
          <a:custGeom>
            <a:avLst/>
            <a:gdLst/>
            <a:ahLst/>
            <a:cxnLst/>
            <a:rect l="l" t="t" r="r" b="b"/>
            <a:pathLst>
              <a:path w="1257300" h="6858000">
                <a:moveTo>
                  <a:pt x="0" y="0"/>
                </a:moveTo>
                <a:lnTo>
                  <a:pt x="1257300" y="0"/>
                </a:lnTo>
                <a:lnTo>
                  <a:pt x="1257300" y="6858000"/>
                </a:lnTo>
                <a:lnTo>
                  <a:pt x="1116330" y="6858000"/>
                </a:lnTo>
                <a:close/>
              </a:path>
            </a:pathLst>
          </a:custGeom>
          <a:solidFill>
            <a:srgbClr val="90C226">
              <a:alpha val="65000"/>
            </a:srgbClr>
          </a:solidFill>
          <a:ln/>
        </p:spPr>
      </p:sp>
      <p:sp>
        <p:nvSpPr>
          <p:cNvPr id="11" name="deco r7"/>
          <p:cNvSpPr/>
          <p:nvPr/>
        </p:nvSpPr>
        <p:spPr>
          <a:xfrm>
            <a:off x="10373360" y="3591560"/>
            <a:ext cx="1818640" cy="3266440"/>
          </a:xfrm>
          <a:custGeom>
            <a:avLst/>
            <a:gdLst/>
            <a:ahLst/>
            <a:cxnLst/>
            <a:rect l="l" t="t" r="r" b="b"/>
            <a:pathLst>
              <a:path w="1818640" h="3266440">
                <a:moveTo>
                  <a:pt x="0" y="3266440"/>
                </a:moveTo>
                <a:lnTo>
                  <a:pt x="1818640" y="0"/>
                </a:lnTo>
                <a:lnTo>
                  <a:pt x="1818640" y="3266440"/>
                </a:lnTo>
                <a:close/>
              </a:path>
            </a:pathLst>
          </a:custGeom>
          <a:solidFill>
            <a:srgbClr val="90C226">
              <a:alpha val="80000"/>
            </a:srgbClr>
          </a:solidFill>
          <a:ln/>
        </p:spPr>
      </p:sp>
      <p:sp>
        <p:nvSpPr>
          <p:cNvPr id="12" name="deco left"/>
          <p:cNvSpPr/>
          <p:nvPr/>
        </p:nvSpPr>
        <p:spPr>
          <a:xfrm>
            <a:off x="0" y="4010025"/>
            <a:ext cx="447675" cy="2847975"/>
          </a:xfrm>
          <a:custGeom>
            <a:avLst/>
            <a:gdLst/>
            <a:ahLst/>
            <a:cxnLst/>
            <a:rect l="l" t="t" r="r" b="b"/>
            <a:pathLst>
              <a:path w="447675" h="2847975">
                <a:moveTo>
                  <a:pt x="0" y="2847975"/>
                </a:moveTo>
                <a:lnTo>
                  <a:pt x="0" y="0"/>
                </a:lnTo>
                <a:lnTo>
                  <a:pt x="447675" y="2847975"/>
                </a:lnTo>
                <a:close/>
              </a:path>
            </a:pathLst>
          </a:custGeom>
          <a:solidFill>
            <a:srgbClr val="90C226">
              <a:alpha val="85000"/>
            </a:srgbClr>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N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N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Ic0" Type="http://schemas.openxmlformats.org/officeDocument/2006/relationships/image" Target="../media/industry.png"/><Relationship Id="rIdIc1" Type="http://schemas.openxmlformats.org/officeDocument/2006/relationships/image" Target="../media/safety.png"/><Relationship Id="rIdIc2" Type="http://schemas.openxmlformats.org/officeDocument/2006/relationships/image" Target="../media/studio.png"/><Relationship Id="rIdIc3" Type="http://schemas.openxmlformats.org/officeDocument/2006/relationships/image" Target="../media/road.png"/><Relationship Id="rIdIc4" Type="http://schemas.openxmlformats.org/officeDocument/2006/relationships/image" Target="../media/school.png"/><Relationship Id="rIdN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N1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p:nvPr>
            <p:ph type="ctrTitle"/>
          </p:nvPr>
        </p:nvSpPr>
        <p:spPr>
          <a:xfrm>
            <a:off x="1097280" y="914400"/>
            <a:ext cx="5669280" cy="2011680"/>
          </a:xfrm>
          <a:prstGeom prst="rect">
            <a:avLst/>
          </a:prstGeom>
          <a:noFill/>
          <a:ln>
            <a:noFill/>
          </a:ln>
        </p:spPr>
        <p:txBody>
          <a:bodyPr wrap="square" lIns="0" tIns="0" rIns="0" bIns="0" rtlCol="0" anchor="t">
            <a:noAutofit/>
          </a:bodyPr>
          <a:lstStyle/>
          <a:p>
            <a:pPr marL="0" indent="0" algn="l">
              <a:lnSpc>
                <a:spcPct val="95000"/>
              </a:lnSpc>
              <a:spcBef>
                <a:spcPts val="0"/>
              </a:spcBef>
              <a:spcAft>
                <a:spcPts val="0"/>
              </a:spcAft>
              <a:buNone/>
            </a:pPr>
            <a:r>
              <a:rPr lang="en-US" sz="3200" b="1" i="0" dirty="0">
                <a:solidFill>
                  <a:schemeClr val="tx2"/>
                </a:solidFill>
              </a:rPr>
              <a:t xml:space="preserve">Digital Decibel Sound Level Indicator with Peak-Hold</a:t>
            </a:r>
            <a:endParaRPr lang="en-US" sz="3200" dirty="0"/>
          </a:p>
        </p:txBody>
      </p:sp>
      <p:sp>
        <p:nvSpPr>
          <p:cNvPr id="3" name="Subtitle"/>
          <p:cNvSpPr/>
          <p:nvPr>
            <p:ph type="subTitle"/>
          </p:nvPr>
        </p:nvSpPr>
        <p:spPr>
          <a:xfrm>
            <a:off x="1097280" y="2743200"/>
            <a:ext cx="5760720" cy="41148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2000" b="1" i="0" dirty="0">
                <a:solidFill>
                  <a:schemeClr val="accent2"/>
                </a:solidFill>
              </a:rPr>
              <a:t xml:space="preserve">A Digital Hardware Design using VHDL</a:t>
            </a:r>
            <a:endParaRPr lang="en-US" sz="2000" dirty="0"/>
          </a:p>
        </p:txBody>
      </p:sp>
      <p:sp>
        <p:nvSpPr>
          <p:cNvPr id="4" name="Details"/>
          <p:cNvSpPr txBox="1"/>
          <p:nvPr/>
        </p:nvSpPr>
        <p:spPr>
          <a:xfrm>
            <a:off x="1097280" y="3566160"/>
            <a:ext cx="7589520" cy="2560320"/>
          </a:xfrm>
          <a:prstGeom prst="rect">
            <a:avLst/>
          </a:prstGeom>
          <a:noFill/>
          <a:ln>
            <a:noFill/>
          </a:ln>
        </p:spPr>
        <p:txBody>
          <a:bodyPr wrap="square" lIns="0" tIns="0" rIns="0" bIns="0" rtlCol="0" anchor="t">
            <a:noAutofit/>
          </a:bodyPr>
          <a:lstStyle/>
          <a:p>
            <a:pPr marL="0" indent="0" algn="l">
              <a:lnSpc>
                <a:spcPct val="100000"/>
              </a:lnSpc>
              <a:spcBef>
                <a:spcPts val="0"/>
              </a:spcBef>
              <a:spcAft>
                <a:spcPts val="800"/>
              </a:spcAft>
              <a:buNone/>
            </a:pPr>
            <a:r>
              <a:rPr lang="en-US" sz="1400" b="1" i="0" dirty="0">
                <a:solidFill>
                  <a:schemeClr val="accent2"/>
                </a:solidFill>
              </a:rPr>
              <a:t xml:space="preserve">Course: </a:t>
            </a:r>
            <a:r>
              <a:rPr lang="en-US" sz="1400" b="0" i="0" dirty="0">
                <a:solidFill>
                  <a:schemeClr val="tx2"/>
                </a:solidFill>
              </a:rPr>
              <a:t xml:space="preserve">Computer Organization &amp; Architecture (BTS30101)</a:t>
            </a:r>
            <a:endParaRPr lang="en-US" sz="1400" dirty="0"/>
          </a:p>
          <a:p>
            <a:pPr marL="0" indent="0" algn="l">
              <a:lnSpc>
                <a:spcPct val="100000"/>
              </a:lnSpc>
              <a:spcBef>
                <a:spcPts val="0"/>
              </a:spcBef>
              <a:spcAft>
                <a:spcPts val="800"/>
              </a:spcAft>
              <a:buNone/>
            </a:pPr>
            <a:r>
              <a:rPr lang="en-US" sz="1400" b="1" i="0" dirty="0">
                <a:solidFill>
                  <a:schemeClr val="accent2"/>
                </a:solidFill>
              </a:rPr>
              <a:t xml:space="preserve">Presented by: </a:t>
            </a:r>
            <a:r>
              <a:rPr lang="en-US" sz="1400" b="0" i="0" dirty="0">
                <a:solidFill>
                  <a:schemeClr val="tx2"/>
                </a:solidFill>
              </a:rPr>
              <a:t xml:space="preserve">Sayantan Bharati | BWU/BTS/25/503 | Section B</a:t>
            </a:r>
            <a:endParaRPr lang="en-US" sz="1400" dirty="0"/>
          </a:p>
          <a:p>
            <a:pPr marL="0" indent="0" algn="l">
              <a:lnSpc>
                <a:spcPct val="100000"/>
              </a:lnSpc>
              <a:spcBef>
                <a:spcPts val="0"/>
              </a:spcBef>
              <a:spcAft>
                <a:spcPts val="800"/>
              </a:spcAft>
              <a:buNone/>
            </a:pPr>
            <a:r>
              <a:rPr lang="en-US" sz="1400" b="1" i="0" dirty="0">
                <a:solidFill>
                  <a:schemeClr val="accent2"/>
                </a:solidFill>
              </a:rPr>
              <a:t xml:space="preserve">Programme: </a:t>
            </a:r>
            <a:r>
              <a:rPr lang="en-US" sz="1400" b="0" i="0" dirty="0">
                <a:solidFill>
                  <a:schemeClr val="tx2"/>
                </a:solidFill>
              </a:rPr>
              <a:t xml:space="preserve">B.Tech (CSE), Batch 2025, AY 2026-27 (Odd Semester 3)</a:t>
            </a:r>
            <a:endParaRPr lang="en-US" sz="1400" dirty="0"/>
          </a:p>
          <a:p>
            <a:pPr marL="0" indent="0" algn="l">
              <a:lnSpc>
                <a:spcPct val="100000"/>
              </a:lnSpc>
              <a:spcBef>
                <a:spcPts val="0"/>
              </a:spcBef>
              <a:spcAft>
                <a:spcPts val="800"/>
              </a:spcAft>
              <a:buNone/>
            </a:pPr>
            <a:r>
              <a:rPr lang="en-US" sz="1400" b="1" i="0" dirty="0">
                <a:solidFill>
                  <a:schemeClr val="accent2"/>
                </a:solidFill>
              </a:rPr>
              <a:t xml:space="preserve">Faculty: </a:t>
            </a:r>
            <a:r>
              <a:rPr lang="en-US" sz="1400" b="0" i="0" dirty="0">
                <a:solidFill>
                  <a:schemeClr val="tx2"/>
                </a:solidFill>
              </a:rPr>
              <a:t xml:space="preserve">Dr. Subhankar Shome</a:t>
            </a:r>
            <a:endParaRPr lang="en-US" sz="1400" dirty="0"/>
          </a:p>
          <a:p>
            <a:pPr marL="0" indent="0" algn="l">
              <a:lnSpc>
                <a:spcPct val="100000"/>
              </a:lnSpc>
              <a:spcBef>
                <a:spcPts val="0"/>
              </a:spcBef>
              <a:spcAft>
                <a:spcPts val="800"/>
              </a:spcAft>
              <a:buNone/>
            </a:pPr>
            <a:r>
              <a:rPr lang="en-US" sz="1400" b="1" i="0" dirty="0">
                <a:solidFill>
                  <a:schemeClr val="accent2"/>
                </a:solidFill>
              </a:rPr>
              <a:t xml:space="preserve">Department: </a:t>
            </a:r>
            <a:r>
              <a:rPr lang="en-US" sz="1400" b="0" i="0" dirty="0">
                <a:solidFill>
                  <a:schemeClr val="tx2"/>
                </a:solidFill>
              </a:rPr>
              <a:t xml:space="preserve">Computer Science &amp; Engineering, Brainware University</a:t>
            </a:r>
            <a:endParaRPr lang="en-US" sz="1400" dirty="0"/>
          </a:p>
          <a:p>
            <a:pPr marL="0" indent="0" algn="l">
              <a:lnSpc>
                <a:spcPct val="100000"/>
              </a:lnSpc>
              <a:spcBef>
                <a:spcPts val="0"/>
              </a:spcBef>
              <a:spcAft>
                <a:spcPts val="800"/>
              </a:spcAft>
              <a:buNone/>
            </a:pPr>
            <a:r>
              <a:rPr lang="en-US" sz="1400" b="1" i="0" dirty="0">
                <a:solidFill>
                  <a:schemeClr val="accent2"/>
                </a:solidFill>
              </a:rPr>
              <a:t xml:space="preserve">Date: </a:t>
            </a:r>
            <a:r>
              <a:rPr lang="en-US" sz="1400" b="0" i="0" dirty="0">
                <a:solidFill>
                  <a:schemeClr val="tx2"/>
                </a:solidFill>
              </a:rPr>
              <a:t xml:space="preserve">03-11-2026</a:t>
            </a:r>
            <a:endParaRPr lang="en-US" sz="1400" dirty="0"/>
          </a:p>
        </p:txBody>
      </p:sp>
      <p:sp>
        <p:nvSpPr>
          <p:cNvPr id="5" name="Meter body" descr="Illustration of a handheld sound level meter"/>
          <p:cNvSpPr/>
          <p:nvPr/>
        </p:nvSpPr>
        <p:spPr>
          <a:xfrm>
            <a:off x="6949440" y="914400"/>
            <a:ext cx="1965960" cy="2743200"/>
          </a:xfrm>
          <a:prstGeom prst="roundRect">
            <a:avLst>
              <a:gd name="adj" fmla="val 14000"/>
            </a:avLst>
          </a:prstGeom>
          <a:solidFill>
            <a:schemeClr val="tx2"/>
          </a:solidFill>
          <a:ln>
            <a:noFill/>
          </a:ln>
        </p:spPr>
      </p:sp>
      <p:sp>
        <p:nvSpPr>
          <p:cNvPr id="6" name="Meter screen"/>
          <p:cNvSpPr/>
          <p:nvPr/>
        </p:nvSpPr>
        <p:spPr>
          <a:xfrm>
            <a:off x="7132320" y="1143000"/>
            <a:ext cx="1600200" cy="960120"/>
          </a:xfrm>
          <a:prstGeom prst="roundRect">
            <a:avLst>
              <a:gd name="adj" fmla="val 8000"/>
            </a:avLst>
          </a:prstGeom>
          <a:solidFill>
            <a:schemeClr val="accent1"/>
          </a:solidFill>
          <a:ln>
            <a:noFill/>
          </a:ln>
        </p:spPr>
      </p:sp>
      <p:sp>
        <p:nvSpPr>
          <p:cNvPr id="7" name="Meter reading"/>
          <p:cNvSpPr txBox="1"/>
          <p:nvPr/>
        </p:nvSpPr>
        <p:spPr>
          <a:xfrm>
            <a:off x="7132320" y="1161288"/>
            <a:ext cx="1280160" cy="914400"/>
          </a:xfrm>
          <a:prstGeom prst="rect">
            <a:avLst/>
          </a:prstGeom>
          <a:noFill/>
          <a:ln>
            <a:noFill/>
          </a:ln>
        </p:spPr>
        <p:txBody>
          <a:bodyPr wrap="square" lIns="109728" tIns="0" rIns="0" bIns="0" rtlCol="0" anchor="ctr">
            <a:noAutofit/>
          </a:bodyPr>
          <a:lstStyle/>
          <a:p>
            <a:pPr marL="0" indent="0" algn="l">
              <a:lnSpc>
                <a:spcPct val="100000"/>
              </a:lnSpc>
              <a:spcBef>
                <a:spcPts val="0"/>
              </a:spcBef>
              <a:spcAft>
                <a:spcPts val="0"/>
              </a:spcAft>
              <a:buNone/>
            </a:pPr>
            <a:r>
              <a:rPr lang="en-US" sz="4000" b="1" i="0" dirty="0">
                <a:solidFill>
                  <a:schemeClr val="tx2"/>
                </a:solidFill>
                <a:latin typeface="Courier New"/>
                <a:cs typeface="Courier New"/>
              </a:rPr>
              <a:t xml:space="preserve">078</a:t>
            </a:r>
            <a:endParaRPr lang="en-US" sz="4000" dirty="0"/>
          </a:p>
        </p:txBody>
      </p:sp>
      <p:sp>
        <p:nvSpPr>
          <p:cNvPr id="8" name="Meter unit"/>
          <p:cNvSpPr txBox="1"/>
          <p:nvPr/>
        </p:nvSpPr>
        <p:spPr>
          <a:xfrm>
            <a:off x="8275320" y="1600200"/>
            <a:ext cx="411480" cy="365760"/>
          </a:xfrm>
          <a:prstGeom prst="rect">
            <a:avLst/>
          </a:prstGeom>
          <a:noFill/>
          <a:ln>
            <a:noFill/>
          </a:ln>
        </p:spPr>
        <p:txBody>
          <a:bodyPr wrap="square" lIns="0" tIns="0" rIns="0" bIns="0" rtlCol="0" anchor="b">
            <a:noAutofit/>
          </a:bodyPr>
          <a:lstStyle/>
          <a:p>
            <a:pPr marL="0" indent="0" algn="l">
              <a:lnSpc>
                <a:spcPct val="100000"/>
              </a:lnSpc>
              <a:spcBef>
                <a:spcPts val="0"/>
              </a:spcBef>
              <a:spcAft>
                <a:spcPts val="0"/>
              </a:spcAft>
              <a:buNone/>
            </a:pPr>
            <a:r>
              <a:rPr lang="en-US" sz="1400" b="1" i="0" dirty="0">
                <a:solidFill>
                  <a:schemeClr val="tx2"/>
                </a:solidFill>
              </a:rPr>
              <a:t xml:space="preserve">dB</a:t>
            </a:r>
            <a:endParaRPr lang="en-US" sz="1400" dirty="0"/>
          </a:p>
        </p:txBody>
      </p:sp>
      <p:sp>
        <p:nvSpPr>
          <p:cNvPr id="9" name="Meter LED 1"/>
          <p:cNvSpPr/>
          <p:nvPr/>
        </p:nvSpPr>
        <p:spPr>
          <a:xfrm>
            <a:off x="7150608" y="2286000"/>
            <a:ext cx="118872" cy="274320"/>
          </a:xfrm>
          <a:prstGeom prst="roundRect">
            <a:avLst>
              <a:gd name="adj" fmla="val 30000"/>
            </a:avLst>
          </a:prstGeom>
          <a:solidFill>
            <a:schemeClr val="accent1"/>
          </a:solidFill>
          <a:ln>
            <a:noFill/>
          </a:ln>
        </p:spPr>
      </p:sp>
      <p:sp>
        <p:nvSpPr>
          <p:cNvPr id="10" name="Meter LED 2"/>
          <p:cNvSpPr/>
          <p:nvPr/>
        </p:nvSpPr>
        <p:spPr>
          <a:xfrm>
            <a:off x="7307885" y="2286000"/>
            <a:ext cx="118872" cy="274320"/>
          </a:xfrm>
          <a:prstGeom prst="roundRect">
            <a:avLst>
              <a:gd name="adj" fmla="val 30000"/>
            </a:avLst>
          </a:prstGeom>
          <a:solidFill>
            <a:schemeClr val="accent1"/>
          </a:solidFill>
          <a:ln>
            <a:noFill/>
          </a:ln>
        </p:spPr>
      </p:sp>
      <p:sp>
        <p:nvSpPr>
          <p:cNvPr id="11" name="Meter LED 3"/>
          <p:cNvSpPr/>
          <p:nvPr/>
        </p:nvSpPr>
        <p:spPr>
          <a:xfrm>
            <a:off x="7465162" y="2286000"/>
            <a:ext cx="118872" cy="274320"/>
          </a:xfrm>
          <a:prstGeom prst="roundRect">
            <a:avLst>
              <a:gd name="adj" fmla="val 30000"/>
            </a:avLst>
          </a:prstGeom>
          <a:solidFill>
            <a:schemeClr val="accent1"/>
          </a:solidFill>
          <a:ln>
            <a:noFill/>
          </a:ln>
        </p:spPr>
      </p:sp>
      <p:sp>
        <p:nvSpPr>
          <p:cNvPr id="12" name="Meter LED 4"/>
          <p:cNvSpPr/>
          <p:nvPr/>
        </p:nvSpPr>
        <p:spPr>
          <a:xfrm>
            <a:off x="7622438" y="2286000"/>
            <a:ext cx="118872" cy="274320"/>
          </a:xfrm>
          <a:prstGeom prst="roundRect">
            <a:avLst>
              <a:gd name="adj" fmla="val 30000"/>
            </a:avLst>
          </a:prstGeom>
          <a:solidFill>
            <a:schemeClr val="accent1"/>
          </a:solidFill>
          <a:ln>
            <a:noFill/>
          </a:ln>
        </p:spPr>
      </p:sp>
      <p:sp>
        <p:nvSpPr>
          <p:cNvPr id="13" name="Meter LED 5"/>
          <p:cNvSpPr/>
          <p:nvPr/>
        </p:nvSpPr>
        <p:spPr>
          <a:xfrm>
            <a:off x="7779715" y="2286000"/>
            <a:ext cx="118872" cy="274320"/>
          </a:xfrm>
          <a:prstGeom prst="roundRect">
            <a:avLst>
              <a:gd name="adj" fmla="val 30000"/>
            </a:avLst>
          </a:prstGeom>
          <a:solidFill>
            <a:schemeClr val="accent1"/>
          </a:solidFill>
          <a:ln>
            <a:noFill/>
          </a:ln>
        </p:spPr>
      </p:sp>
      <p:sp>
        <p:nvSpPr>
          <p:cNvPr id="14" name="Meter LED 6"/>
          <p:cNvSpPr/>
          <p:nvPr/>
        </p:nvSpPr>
        <p:spPr>
          <a:xfrm>
            <a:off x="7936992" y="2286000"/>
            <a:ext cx="118872" cy="274320"/>
          </a:xfrm>
          <a:prstGeom prst="roundRect">
            <a:avLst>
              <a:gd name="adj" fmla="val 30000"/>
            </a:avLst>
          </a:prstGeom>
          <a:solidFill>
            <a:schemeClr val="accent1"/>
          </a:solidFill>
          <a:ln>
            <a:noFill/>
          </a:ln>
        </p:spPr>
      </p:sp>
      <p:sp>
        <p:nvSpPr>
          <p:cNvPr id="15" name="Meter LED 7"/>
          <p:cNvSpPr/>
          <p:nvPr/>
        </p:nvSpPr>
        <p:spPr>
          <a:xfrm>
            <a:off x="8094269" y="2286000"/>
            <a:ext cx="118872" cy="274320"/>
          </a:xfrm>
          <a:prstGeom prst="roundRect">
            <a:avLst>
              <a:gd name="adj" fmla="val 30000"/>
            </a:avLst>
          </a:prstGeom>
          <a:solidFill>
            <a:schemeClr val="accent3"/>
          </a:solidFill>
          <a:ln>
            <a:noFill/>
          </a:ln>
        </p:spPr>
      </p:sp>
      <p:sp>
        <p:nvSpPr>
          <p:cNvPr id="16" name="Meter LED 8"/>
          <p:cNvSpPr/>
          <p:nvPr/>
        </p:nvSpPr>
        <p:spPr>
          <a:xfrm>
            <a:off x="8251546" y="2286000"/>
            <a:ext cx="118872" cy="274320"/>
          </a:xfrm>
          <a:prstGeom prst="roundRect">
            <a:avLst>
              <a:gd name="adj" fmla="val 30000"/>
            </a:avLst>
          </a:prstGeom>
          <a:solidFill>
            <a:schemeClr val="accent3">
              <a:alpha val="25000"/>
            </a:schemeClr>
          </a:solidFill>
          <a:ln>
            <a:noFill/>
          </a:ln>
        </p:spPr>
      </p:sp>
      <p:sp>
        <p:nvSpPr>
          <p:cNvPr id="17" name="Meter LED 9"/>
          <p:cNvSpPr/>
          <p:nvPr/>
        </p:nvSpPr>
        <p:spPr>
          <a:xfrm>
            <a:off x="8408822" y="2286000"/>
            <a:ext cx="118872" cy="274320"/>
          </a:xfrm>
          <a:prstGeom prst="roundRect">
            <a:avLst>
              <a:gd name="adj" fmla="val 30000"/>
            </a:avLst>
          </a:prstGeom>
          <a:solidFill>
            <a:schemeClr val="accent5"/>
          </a:solidFill>
          <a:ln>
            <a:noFill/>
          </a:ln>
        </p:spPr>
      </p:sp>
      <p:sp>
        <p:nvSpPr>
          <p:cNvPr id="18" name="Meter LED 10"/>
          <p:cNvSpPr/>
          <p:nvPr/>
        </p:nvSpPr>
        <p:spPr>
          <a:xfrm>
            <a:off x="8566099" y="2286000"/>
            <a:ext cx="118872" cy="274320"/>
          </a:xfrm>
          <a:prstGeom prst="roundRect">
            <a:avLst>
              <a:gd name="adj" fmla="val 30000"/>
            </a:avLst>
          </a:prstGeom>
          <a:solidFill>
            <a:schemeClr val="accent5">
              <a:alpha val="25000"/>
            </a:schemeClr>
          </a:solidFill>
          <a:ln>
            <a:noFill/>
          </a:ln>
        </p:spPr>
      </p:sp>
      <p:sp>
        <p:nvSpPr>
          <p:cNvPr id="19" name="Meter label"/>
          <p:cNvSpPr txBox="1"/>
          <p:nvPr/>
        </p:nvSpPr>
        <p:spPr>
          <a:xfrm>
            <a:off x="7132320" y="2651760"/>
            <a:ext cx="1600200" cy="22860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000" b="1" i="0" dirty="0">
                <a:solidFill>
                  <a:srgbClr val="9FB3BA"/>
                </a:solidFill>
              </a:rPr>
              <a:t xml:space="preserve">LIVE      PEAK</a:t>
            </a:r>
            <a:endParaRPr lang="en-US" sz="1000" dirty="0"/>
          </a:p>
        </p:txBody>
      </p:sp>
      <p:sp>
        <p:nvSpPr>
          <p:cNvPr id="20" name="Meter mic"/>
          <p:cNvSpPr/>
          <p:nvPr/>
        </p:nvSpPr>
        <p:spPr>
          <a:xfrm>
            <a:off x="7589520" y="3017520"/>
            <a:ext cx="685800" cy="457200"/>
          </a:xfrm>
          <a:prstGeom prst="roundRect">
            <a:avLst>
              <a:gd name="adj" fmla="val 30000"/>
            </a:avLst>
          </a:prstGeom>
          <a:solidFill>
            <a:srgbClr val="6B7C84"/>
          </a:solidFill>
          <a:ln>
            <a:noFill/>
          </a:ln>
        </p:spPr>
      </p:sp>
      <p:sp>
        <p:nvSpPr>
          <p:cNvPr id="21" name="Meter grille 1"/>
          <p:cNvSpPr/>
          <p:nvPr/>
        </p:nvSpPr>
        <p:spPr>
          <a:xfrm>
            <a:off x="7699248" y="3108960"/>
            <a:ext cx="466344" cy="36576"/>
          </a:xfrm>
          <a:prstGeom prst="roundRect">
            <a:avLst>
              <a:gd name="adj" fmla="val 50000"/>
            </a:avLst>
          </a:prstGeom>
          <a:solidFill>
            <a:schemeClr val="tx2"/>
          </a:solidFill>
          <a:ln>
            <a:noFill/>
          </a:ln>
        </p:spPr>
      </p:sp>
      <p:sp>
        <p:nvSpPr>
          <p:cNvPr id="22" name="Meter grille 2"/>
          <p:cNvSpPr/>
          <p:nvPr/>
        </p:nvSpPr>
        <p:spPr>
          <a:xfrm>
            <a:off x="7699248" y="3218688"/>
            <a:ext cx="466344" cy="36576"/>
          </a:xfrm>
          <a:prstGeom prst="roundRect">
            <a:avLst>
              <a:gd name="adj" fmla="val 50000"/>
            </a:avLst>
          </a:prstGeom>
          <a:solidFill>
            <a:schemeClr val="tx2"/>
          </a:solidFill>
          <a:ln>
            <a:noFill/>
          </a:ln>
        </p:spPr>
      </p:sp>
      <p:sp>
        <p:nvSpPr>
          <p:cNvPr id="23" name="Meter grille 3"/>
          <p:cNvSpPr/>
          <p:nvPr/>
        </p:nvSpPr>
        <p:spPr>
          <a:xfrm>
            <a:off x="7699248" y="3328416"/>
            <a:ext cx="466344" cy="36576"/>
          </a:xfrm>
          <a:prstGeom prst="roundRect">
            <a:avLst>
              <a:gd name="adj" fmla="val 50000"/>
            </a:avLst>
          </a:prstGeom>
          <a:solidFill>
            <a:schemeClr val="tx2"/>
          </a:solidFill>
          <a:ln>
            <a:no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p:nvPr>
            <p:ph type="title"/>
          </p:nvPr>
        </p:nvSpPr>
        <p:spPr>
          <a:xfrm>
            <a:off x="640080" y="256032"/>
            <a:ext cx="8321040" cy="86868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2600" b="1" i="0" dirty="0">
                <a:solidFill>
                  <a:schemeClr val="tx2"/>
                </a:solidFill>
              </a:rPr>
              <a:t xml:space="preserve">Introduction — Why Measure Sound in Decibels?</a:t>
            </a:r>
            <a:endParaRPr lang="en-US" sz="2600" dirty="0"/>
          </a:p>
        </p:txBody>
      </p:sp>
      <p:sp>
        <p:nvSpPr>
          <p:cNvPr id="3" name="Footer"/>
          <p:cNvSpPr txBox="1"/>
          <p:nvPr/>
        </p:nvSpPr>
        <p:spPr>
          <a:xfrm>
            <a:off x="640080" y="6455664"/>
            <a:ext cx="6949440" cy="256032"/>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000" b="0" i="0" dirty="0">
                <a:solidFill>
                  <a:srgbClr val="6B7C84"/>
                </a:solidFill>
              </a:rPr>
              <a:t xml:space="preserve">Sayantan Bharati  |  BWU/BTS/25/503  |  Section B  |  COA (BTS30101)</a:t>
            </a:r>
            <a:endParaRPr lang="en-US" sz="1000" dirty="0"/>
          </a:p>
        </p:txBody>
      </p:sp>
      <p:sp>
        <p:nvSpPr>
          <p:cNvPr id="4" name="Slide Number"/>
          <p:cNvSpPr txBox="1"/>
          <p:nvPr/>
        </p:nvSpPr>
        <p:spPr>
          <a:xfrm>
            <a:off x="8138160" y="6455664"/>
            <a:ext cx="822960" cy="256032"/>
          </a:xfrm>
          <a:prstGeom prst="rect">
            <a:avLst/>
          </a:prstGeom>
          <a:noFill/>
        </p:spPr>
        <p:txBody>
          <a:bodyPr wrap="square" lIns="0" tIns="0" rIns="0" bIns="0" anchor="ctr">
            <a:noAutofit/>
          </a:bodyPr>
          <a:lstStyle/>
          <a:p>
            <a:pPr algn="r"/>
            <a:fld id="{B6F15528-21DE-4FAA-801E-634DDDAF4B2B}" type="slidenum">
              <a:rPr lang="en-US" sz="1000" dirty="0">
                <a:solidFill>
                  <a:srgbClr val="6B7C84"/>
                </a:solidFill>
              </a:rPr>
              <a:t>2</a:t>
            </a:fld>
          </a:p>
        </p:txBody>
      </p:sp>
      <p:sp>
        <p:nvSpPr>
          <p:cNvPr id="5" name="Bullets"/>
          <p:cNvSpPr txBox="1"/>
          <p:nvPr/>
        </p:nvSpPr>
        <p:spPr>
          <a:xfrm>
            <a:off x="640080" y="1280160"/>
            <a:ext cx="4754880" cy="4937760"/>
          </a:xfrm>
          <a:prstGeom prst="rect">
            <a:avLst/>
          </a:prstGeom>
          <a:noFill/>
          <a:ln>
            <a:noFill/>
          </a:ln>
        </p:spPr>
        <p:txBody>
          <a:bodyPr wrap="square" lIns="0" tIns="0" rIns="0" bIns="0" rtlCol="0" anchor="t">
            <a:noAutofit/>
          </a:bodyPr>
          <a:lstStyle/>
          <a:p>
            <a:pPr marL="201168" indent="-201168" algn="l">
              <a:lnSpc>
                <a:spcPct val="100000"/>
              </a:lnSpc>
              <a:spcBef>
                <a:spcPts val="0"/>
              </a:spcBef>
              <a:spcAft>
                <a:spcPts val="1000"/>
              </a:spcAft>
              <a:buClr>
                <a:schemeClr val="accent2"/>
              </a:buClr>
              <a:buFont typeface="Arial"/>
              <a:buChar char="•"/>
            </a:pPr>
            <a:r>
              <a:rPr lang="en-US" sz="1500" b="0" i="0" dirty="0">
                <a:solidFill>
                  <a:schemeClr val="tx2"/>
                </a:solidFill>
              </a:rPr>
              <a:t xml:space="preserve">Sound is a pressure wave; the ear responds to it </a:t>
            </a:r>
            <a:r>
              <a:rPr lang="en-US" sz="1500" b="1" i="0" dirty="0">
                <a:solidFill>
                  <a:schemeClr val="tx2"/>
                </a:solidFill>
              </a:rPr>
              <a:t xml:space="preserve">logarithmically</a:t>
            </a:r>
            <a:r>
              <a:rPr lang="en-US" sz="1500" b="0" i="0" dirty="0">
                <a:solidFill>
                  <a:schemeClr val="tx2"/>
                </a:solidFill>
              </a:rPr>
              <a:t xml:space="preserve">, not linearly.</a:t>
            </a:r>
            <a:endParaRPr lang="en-US" sz="1500" dirty="0"/>
          </a:p>
          <a:p>
            <a:pPr marL="201168" indent="-201168" algn="l">
              <a:lnSpc>
                <a:spcPct val="100000"/>
              </a:lnSpc>
              <a:spcBef>
                <a:spcPts val="0"/>
              </a:spcBef>
              <a:spcAft>
                <a:spcPts val="1000"/>
              </a:spcAft>
              <a:buClr>
                <a:schemeClr val="accent2"/>
              </a:buClr>
              <a:buFont typeface="Arial"/>
              <a:buChar char="•"/>
            </a:pPr>
            <a:r>
              <a:rPr lang="en-US" sz="1500" b="0" i="0" dirty="0">
                <a:solidFill>
                  <a:schemeClr val="tx2"/>
                </a:solidFill>
              </a:rPr>
              <a:t xml:space="preserve">The </a:t>
            </a:r>
            <a:r>
              <a:rPr lang="en-US" sz="1500" b="1" i="0" dirty="0">
                <a:solidFill>
                  <a:schemeClr val="tx2"/>
                </a:solidFill>
              </a:rPr>
              <a:t xml:space="preserve">decibel (dB)</a:t>
            </a:r>
            <a:r>
              <a:rPr lang="en-US" sz="1500" b="0" i="0" dirty="0">
                <a:solidFill>
                  <a:schemeClr val="tx2"/>
                </a:solidFill>
              </a:rPr>
              <a:t xml:space="preserve"> compresses a huge range of pressure into a friendly 0–140 scale.</a:t>
            </a:r>
            <a:endParaRPr lang="en-US" sz="1500" dirty="0"/>
          </a:p>
          <a:p>
            <a:pPr marL="201168" indent="-201168" algn="l">
              <a:lnSpc>
                <a:spcPct val="100000"/>
              </a:lnSpc>
              <a:spcBef>
                <a:spcPts val="0"/>
              </a:spcBef>
              <a:spcAft>
                <a:spcPts val="1000"/>
              </a:spcAft>
              <a:buClr>
                <a:schemeClr val="accent2"/>
              </a:buClr>
              <a:buFont typeface="Arial"/>
              <a:buChar char="•"/>
            </a:pPr>
            <a:r>
              <a:rPr lang="en-US" sz="1500" b="0" i="0" dirty="0">
                <a:solidFill>
                  <a:schemeClr val="tx2"/>
                </a:solidFill>
              </a:rPr>
              <a:t xml:space="preserve">Prolonged exposure above </a:t>
            </a:r>
            <a:r>
              <a:rPr lang="en-US" sz="1500" b="1" i="0" dirty="0">
                <a:solidFill>
                  <a:schemeClr val="tx2"/>
                </a:solidFill>
              </a:rPr>
              <a:t xml:space="preserve">85 dB</a:t>
            </a:r>
            <a:r>
              <a:rPr lang="en-US" sz="1500" b="0" i="0" dirty="0">
                <a:solidFill>
                  <a:schemeClr val="tx2"/>
                </a:solidFill>
              </a:rPr>
              <a:t xml:space="preserve"> can damage hearing — measurement matters for safety.</a:t>
            </a:r>
            <a:endParaRPr lang="en-US" sz="1500" dirty="0"/>
          </a:p>
          <a:p>
            <a:pPr marL="201168" indent="-201168" algn="l">
              <a:lnSpc>
                <a:spcPct val="100000"/>
              </a:lnSpc>
              <a:spcBef>
                <a:spcPts val="0"/>
              </a:spcBef>
              <a:spcAft>
                <a:spcPts val="1000"/>
              </a:spcAft>
              <a:buClr>
                <a:schemeClr val="accent2"/>
              </a:buClr>
              <a:buFont typeface="Arial"/>
              <a:buChar char="•"/>
            </a:pPr>
            <a:r>
              <a:rPr lang="en-US" sz="1500" b="0" i="0" dirty="0">
                <a:solidFill>
                  <a:schemeClr val="tx2"/>
                </a:solidFill>
              </a:rPr>
              <a:t xml:space="preserve">Analog SPL meters are bulky and drift; a </a:t>
            </a:r>
            <a:r>
              <a:rPr lang="en-US" sz="1500" b="1" i="0" dirty="0">
                <a:solidFill>
                  <a:schemeClr val="tx2"/>
                </a:solidFill>
              </a:rPr>
              <a:t xml:space="preserve">digital</a:t>
            </a:r>
            <a:r>
              <a:rPr lang="en-US" sz="1500" b="0" i="0" dirty="0">
                <a:solidFill>
                  <a:schemeClr val="tx2"/>
                </a:solidFill>
              </a:rPr>
              <a:t xml:space="preserve"> meter is accurate, cheap and repeatable.</a:t>
            </a:r>
            <a:endParaRPr lang="en-US" sz="1500" dirty="0"/>
          </a:p>
          <a:p>
            <a:pPr marL="201168" indent="-201168" algn="l">
              <a:lnSpc>
                <a:spcPct val="100000"/>
              </a:lnSpc>
              <a:spcBef>
                <a:spcPts val="0"/>
              </a:spcBef>
              <a:spcAft>
                <a:spcPts val="1000"/>
              </a:spcAft>
              <a:buClr>
                <a:schemeClr val="accent2"/>
              </a:buClr>
              <a:buFont typeface="Arial"/>
              <a:buChar char="•"/>
            </a:pPr>
            <a:r>
              <a:rPr lang="en-US" sz="1500" b="0" i="0" dirty="0">
                <a:solidFill>
                  <a:schemeClr val="tx2"/>
                </a:solidFill>
              </a:rPr>
              <a:t xml:space="preserve">This project: a </a:t>
            </a:r>
            <a:r>
              <a:rPr lang="en-US" sz="1500" b="1" i="0" dirty="0">
                <a:solidFill>
                  <a:schemeClr val="tx2"/>
                </a:solidFill>
              </a:rPr>
              <a:t xml:space="preserve">digital decibel indicator</a:t>
            </a:r>
            <a:r>
              <a:rPr lang="en-US" sz="1500" b="0" i="0" dirty="0">
                <a:solidFill>
                  <a:schemeClr val="tx2"/>
                </a:solidFill>
              </a:rPr>
              <a:t xml:space="preserve"> that shows the current level and </a:t>
            </a:r>
            <a:r>
              <a:rPr lang="en-US" sz="1500" b="1" i="0" dirty="0">
                <a:solidFill>
                  <a:schemeClr val="tx2"/>
                </a:solidFill>
              </a:rPr>
              <a:t xml:space="preserve">holds the peak</a:t>
            </a:r>
            <a:r>
              <a:rPr lang="en-US" sz="1500" b="0" i="0" dirty="0">
                <a:solidFill>
                  <a:schemeClr val="tx2"/>
                </a:solidFill>
              </a:rPr>
              <a:t xml:space="preserve">.</a:t>
            </a:r>
            <a:endParaRPr lang="en-US" sz="1500" dirty="0"/>
          </a:p>
          <a:p>
            <a:pPr marL="201168" indent="-201168" algn="l">
              <a:lnSpc>
                <a:spcPct val="100000"/>
              </a:lnSpc>
              <a:spcBef>
                <a:spcPts val="0"/>
              </a:spcBef>
              <a:spcAft>
                <a:spcPts val="1000"/>
              </a:spcAft>
              <a:buClr>
                <a:schemeClr val="accent2"/>
              </a:buClr>
              <a:buFont typeface="Arial"/>
              <a:buChar char="•"/>
            </a:pPr>
            <a:r>
              <a:rPr lang="en-US" sz="1500" b="0" i="0" dirty="0">
                <a:solidFill>
                  <a:schemeClr val="tx2"/>
                </a:solidFill>
              </a:rPr>
              <a:t xml:space="preserve">Core COA ideas used: ADC, registers, clocking, control FSM, fixed-point arithmetic, display driving.</a:t>
            </a:r>
            <a:endParaRPr lang="en-US" sz="1500" dirty="0"/>
          </a:p>
        </p:txBody>
      </p:sp>
      <p:sp>
        <p:nvSpPr>
          <p:cNvPr id="6" name="Wave panel"/>
          <p:cNvSpPr/>
          <p:nvPr/>
        </p:nvSpPr>
        <p:spPr>
          <a:xfrm>
            <a:off x="5623560" y="1280160"/>
            <a:ext cx="3337560" cy="2240280"/>
          </a:xfrm>
          <a:prstGeom prst="roundRect">
            <a:avLst>
              <a:gd name="adj" fmla="val 5000"/>
            </a:avLst>
          </a:prstGeom>
          <a:solidFill>
            <a:schemeClr val="accent1">
              <a:alpha val="14000"/>
            </a:schemeClr>
          </a:solidFill>
          <a:ln>
            <a:noFill/>
          </a:ln>
        </p:spPr>
      </p:sp>
      <p:sp>
        <p:nvSpPr>
          <p:cNvPr id="7" name="Wave caption"/>
          <p:cNvSpPr txBox="1"/>
          <p:nvPr/>
        </p:nvSpPr>
        <p:spPr>
          <a:xfrm>
            <a:off x="5760720" y="1344168"/>
            <a:ext cx="3108960" cy="27432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200" b="1" i="0" dirty="0">
                <a:solidFill>
                  <a:schemeClr val="tx2"/>
                </a:solidFill>
              </a:rPr>
              <a:t xml:space="preserve">(a) Pressure wave</a:t>
            </a:r>
            <a:endParaRPr lang="en-US" sz="1200" dirty="0"/>
          </a:p>
        </p:txBody>
      </p:sp>
      <p:sp>
        <p:nvSpPr>
          <p:cNvPr id="8" name="Sine wave" descr="Sine wave showing pressure amplitude over time"/>
          <p:cNvSpPr/>
          <p:nvPr/>
        </p:nvSpPr>
        <p:spPr>
          <a:xfrm>
            <a:off x="5806440" y="1828800"/>
            <a:ext cx="2971800" cy="1097280"/>
          </a:xfrm>
          <a:custGeom>
            <a:avLst/>
            <a:gdLst/>
            <a:ahLst/>
            <a:cxnLst/>
            <a:rect l="0" t="0" r="r" b="b"/>
            <a:pathLst>
              <a:path w="2971800" h="1097280" fill="none">
                <a:moveTo>
                  <a:pt x="0" y="548640"/>
                </a:moveTo>
                <a:lnTo>
                  <a:pt x="50369" y="451222"/>
                </a:lnTo>
                <a:lnTo>
                  <a:pt x="100738" y="358208"/>
                </a:lnTo>
                <a:lnTo>
                  <a:pt x="151108" y="273799"/>
                </a:lnTo>
                <a:lnTo>
                  <a:pt x="201477" y="201812"/>
                </a:lnTo>
                <a:lnTo>
                  <a:pt x="251847" y="145498"/>
                </a:lnTo>
                <a:lnTo>
                  <a:pt x="302216" y="107404"/>
                </a:lnTo>
                <a:lnTo>
                  <a:pt x="352586" y="89251"/>
                </a:lnTo>
                <a:lnTo>
                  <a:pt x="402955" y="91859"/>
                </a:lnTo>
                <a:lnTo>
                  <a:pt x="453325" y="115111"/>
                </a:lnTo>
                <a:lnTo>
                  <a:pt x="503694" y="157955"/>
                </a:lnTo>
                <a:lnTo>
                  <a:pt x="554064" y="218455"/>
                </a:lnTo>
                <a:lnTo>
                  <a:pt x="604433" y="293877"/>
                </a:lnTo>
                <a:lnTo>
                  <a:pt x="654803" y="380813"/>
                </a:lnTo>
                <a:lnTo>
                  <a:pt x="705172" y="475334"/>
                </a:lnTo>
                <a:lnTo>
                  <a:pt x="755542" y="573167"/>
                </a:lnTo>
                <a:lnTo>
                  <a:pt x="805911" y="669892"/>
                </a:lnTo>
                <a:lnTo>
                  <a:pt x="856281" y="761137"/>
                </a:lnTo>
                <a:lnTo>
                  <a:pt x="906650" y="842779"/>
                </a:lnTo>
                <a:lnTo>
                  <a:pt x="957020" y="911128"/>
                </a:lnTo>
                <a:lnTo>
                  <a:pt x="1007389" y="963094"/>
                </a:lnTo>
                <a:lnTo>
                  <a:pt x="1057759" y="996330"/>
                </a:lnTo>
                <a:lnTo>
                  <a:pt x="1108128" y="1009334"/>
                </a:lnTo>
                <a:lnTo>
                  <a:pt x="1158498" y="1001517"/>
                </a:lnTo>
                <a:lnTo>
                  <a:pt x="1208867" y="973233"/>
                </a:lnTo>
                <a:lnTo>
                  <a:pt x="1259237" y="925761"/>
                </a:lnTo>
                <a:lnTo>
                  <a:pt x="1309606" y="861245"/>
                </a:lnTo>
                <a:lnTo>
                  <a:pt x="1359976" y="782601"/>
                </a:lnTo>
                <a:lnTo>
                  <a:pt x="1410345" y="693384"/>
                </a:lnTo>
                <a:lnTo>
                  <a:pt x="1460715" y="597626"/>
                </a:lnTo>
                <a:lnTo>
                  <a:pt x="1511084" y="499653"/>
                </a:lnTo>
                <a:lnTo>
                  <a:pt x="1561454" y="403895"/>
                </a:lnTo>
                <a:lnTo>
                  <a:pt x="1611823" y="314678"/>
                </a:lnTo>
                <a:lnTo>
                  <a:pt x="1662193" y="236034"/>
                </a:lnTo>
                <a:lnTo>
                  <a:pt x="1712562" y="171518"/>
                </a:lnTo>
                <a:lnTo>
                  <a:pt x="1762932" y="124046"/>
                </a:lnTo>
                <a:lnTo>
                  <a:pt x="1813301" y="95762"/>
                </a:lnTo>
                <a:lnTo>
                  <a:pt x="1863671" y="87945"/>
                </a:lnTo>
                <a:lnTo>
                  <a:pt x="1914040" y="100949"/>
                </a:lnTo>
                <a:lnTo>
                  <a:pt x="1964410" y="134185"/>
                </a:lnTo>
                <a:lnTo>
                  <a:pt x="2014779" y="186151"/>
                </a:lnTo>
                <a:lnTo>
                  <a:pt x="2065149" y="254500"/>
                </a:lnTo>
                <a:lnTo>
                  <a:pt x="2115518" y="336142"/>
                </a:lnTo>
                <a:lnTo>
                  <a:pt x="2165888" y="427387"/>
                </a:lnTo>
                <a:lnTo>
                  <a:pt x="2216257" y="524112"/>
                </a:lnTo>
                <a:lnTo>
                  <a:pt x="2266627" y="621945"/>
                </a:lnTo>
                <a:lnTo>
                  <a:pt x="2316996" y="716466"/>
                </a:lnTo>
                <a:lnTo>
                  <a:pt x="2367366" y="803402"/>
                </a:lnTo>
                <a:lnTo>
                  <a:pt x="2417735" y="878824"/>
                </a:lnTo>
                <a:lnTo>
                  <a:pt x="2468105" y="939324"/>
                </a:lnTo>
                <a:lnTo>
                  <a:pt x="2518474" y="982168"/>
                </a:lnTo>
                <a:lnTo>
                  <a:pt x="2568844" y="1005420"/>
                </a:lnTo>
                <a:lnTo>
                  <a:pt x="2619213" y="1008028"/>
                </a:lnTo>
                <a:lnTo>
                  <a:pt x="2669583" y="989875"/>
                </a:lnTo>
                <a:lnTo>
                  <a:pt x="2719952" y="951781"/>
                </a:lnTo>
                <a:lnTo>
                  <a:pt x="2770322" y="895467"/>
                </a:lnTo>
                <a:lnTo>
                  <a:pt x="2820691" y="823480"/>
                </a:lnTo>
                <a:lnTo>
                  <a:pt x="2871061" y="739071"/>
                </a:lnTo>
                <a:lnTo>
                  <a:pt x="2921430" y="646057"/>
                </a:lnTo>
                <a:lnTo>
                  <a:pt x="2971800" y="548640"/>
                </a:lnTo>
              </a:path>
            </a:pathLst>
          </a:custGeom>
          <a:noFill/>
          <a:ln w="28575">
            <a:solidFill>
              <a:schemeClr val="accent2"/>
            </a:solidFill>
            <a:round/>
          </a:ln>
        </p:spPr>
      </p:sp>
      <p:cxnSp>
        <p:nvCxnSpPr>
          <p:cNvPr id="9" name="Amplitude arrow"/>
          <p:cNvCxnSpPr/>
          <p:nvPr/>
        </p:nvCxnSpPr>
        <p:spPr>
          <a:xfrm flipV="1">
            <a:off x="5852160" y="1916582"/>
            <a:ext cx="0" cy="460858"/>
          </a:xfrm>
          <a:prstGeom prst="straightConnector1">
            <a:avLst/>
          </a:prstGeom>
          <a:ln w="22225">
            <a:solidFill>
              <a:schemeClr val="accent4"/>
            </a:solidFill>
            <a:round/>
            <a:tailEnd type="triangle" w="med" len="med"/>
          </a:ln>
        </p:spPr>
      </p:cxnSp>
      <p:sp>
        <p:nvSpPr>
          <p:cNvPr id="10" name="Amplitude label"/>
          <p:cNvSpPr txBox="1"/>
          <p:nvPr/>
        </p:nvSpPr>
        <p:spPr>
          <a:xfrm>
            <a:off x="5897880" y="2542032"/>
            <a:ext cx="914400" cy="237744"/>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000" b="0" i="0" dirty="0">
                <a:solidFill>
                  <a:schemeClr val="tx2"/>
                </a:solidFill>
              </a:rPr>
              <a:t xml:space="preserve">amplitude</a:t>
            </a:r>
            <a:endParaRPr lang="en-US" sz="1000" dirty="0"/>
          </a:p>
        </p:txBody>
      </p:sp>
      <p:sp>
        <p:nvSpPr>
          <p:cNvPr id="11" name="Wave axis"/>
          <p:cNvSpPr txBox="1"/>
          <p:nvPr/>
        </p:nvSpPr>
        <p:spPr>
          <a:xfrm>
            <a:off x="5760720" y="3017520"/>
            <a:ext cx="3108960" cy="411480"/>
          </a:xfrm>
          <a:prstGeom prst="rect">
            <a:avLst/>
          </a:prstGeom>
          <a:noFill/>
          <a:ln>
            <a:noFill/>
          </a:ln>
        </p:spPr>
        <p:txBody>
          <a:bodyPr wrap="square" lIns="0" tIns="0" rIns="0" bIns="0" rtlCol="0" anchor="ctr">
            <a:noAutofit/>
          </a:bodyPr>
          <a:lstStyle/>
          <a:p>
            <a:pPr marL="0" indent="0" algn="ctr">
              <a:lnSpc>
                <a:spcPct val="100000"/>
              </a:lnSpc>
              <a:spcBef>
                <a:spcPts val="0"/>
              </a:spcBef>
              <a:spcAft>
                <a:spcPts val="0"/>
              </a:spcAft>
              <a:buNone/>
            </a:pPr>
            <a:r>
              <a:rPr lang="en-US" sz="1100" b="0" i="1" dirty="0">
                <a:solidFill>
                  <a:srgbClr val="6B7C84"/>
                </a:solidFill>
              </a:rPr>
              <a:t xml:space="preserve">quiet  ......  loud   (time →)</a:t>
            </a:r>
            <a:endParaRPr lang="en-US" sz="1100" dirty="0"/>
          </a:p>
        </p:txBody>
      </p:sp>
      <p:sp>
        <p:nvSpPr>
          <p:cNvPr id="12" name="dB panel"/>
          <p:cNvSpPr/>
          <p:nvPr/>
        </p:nvSpPr>
        <p:spPr>
          <a:xfrm>
            <a:off x="5623560" y="3703320"/>
            <a:ext cx="3337560" cy="2514600"/>
          </a:xfrm>
          <a:prstGeom prst="roundRect">
            <a:avLst>
              <a:gd name="adj" fmla="val 5000"/>
            </a:avLst>
          </a:prstGeom>
          <a:solidFill>
            <a:schemeClr val="accent1">
              <a:alpha val="14000"/>
            </a:schemeClr>
          </a:solidFill>
          <a:ln>
            <a:noFill/>
          </a:ln>
        </p:spPr>
      </p:sp>
      <p:sp>
        <p:nvSpPr>
          <p:cNvPr id="13" name="dB caption"/>
          <p:cNvSpPr txBox="1"/>
          <p:nvPr/>
        </p:nvSpPr>
        <p:spPr>
          <a:xfrm>
            <a:off x="5760720" y="3767328"/>
            <a:ext cx="3108960" cy="27432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200" b="1" i="0" dirty="0">
                <a:solidFill>
                  <a:schemeClr val="tx2"/>
                </a:solidFill>
              </a:rPr>
              <a:t xml:space="preserve">(b) Everyday levels</a:t>
            </a:r>
            <a:endParaRPr lang="en-US" sz="1200" dirty="0"/>
          </a:p>
        </p:txBody>
      </p:sp>
      <p:sp>
        <p:nvSpPr>
          <p:cNvPr id="14" name="dB bar 30"/>
          <p:cNvSpPr/>
          <p:nvPr/>
        </p:nvSpPr>
        <p:spPr>
          <a:xfrm>
            <a:off x="5760720" y="4114800"/>
            <a:ext cx="571500" cy="365760"/>
          </a:xfrm>
          <a:prstGeom prst="roundRect">
            <a:avLst>
              <a:gd name="adj" fmla="val 20000"/>
            </a:avLst>
          </a:prstGeom>
          <a:solidFill>
            <a:schemeClr val="accent1"/>
          </a:solidFill>
          <a:ln>
            <a:noFill/>
          </a:ln>
        </p:spPr>
      </p:sp>
      <p:sp>
        <p:nvSpPr>
          <p:cNvPr id="15" name="dB value 30"/>
          <p:cNvSpPr txBox="1"/>
          <p:nvPr/>
        </p:nvSpPr>
        <p:spPr>
          <a:xfrm>
            <a:off x="5833872" y="4114800"/>
            <a:ext cx="822960" cy="36576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200" b="1" i="0" dirty="0">
                <a:solidFill>
                  <a:schemeClr val="tx2"/>
                </a:solidFill>
              </a:rPr>
              <a:t xml:space="preserve">30 dB</a:t>
            </a:r>
            <a:endParaRPr lang="en-US" sz="1200" dirty="0"/>
          </a:p>
        </p:txBody>
      </p:sp>
      <p:sp>
        <p:nvSpPr>
          <p:cNvPr id="16" name="dB label 30"/>
          <p:cNvSpPr txBox="1"/>
          <p:nvPr/>
        </p:nvSpPr>
        <p:spPr>
          <a:xfrm>
            <a:off x="6423660" y="4114800"/>
            <a:ext cx="1554480" cy="36576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100" b="0" i="0" dirty="0">
                <a:solidFill>
                  <a:schemeClr val="tx2"/>
                </a:solidFill>
              </a:rPr>
              <a:t xml:space="preserve">Whisper</a:t>
            </a:r>
            <a:endParaRPr lang="en-US" sz="1100" dirty="0"/>
          </a:p>
        </p:txBody>
      </p:sp>
      <p:sp>
        <p:nvSpPr>
          <p:cNvPr id="17" name="dB bar 60"/>
          <p:cNvSpPr/>
          <p:nvPr/>
        </p:nvSpPr>
        <p:spPr>
          <a:xfrm>
            <a:off x="5760720" y="4636008"/>
            <a:ext cx="960120" cy="365760"/>
          </a:xfrm>
          <a:prstGeom prst="roundRect">
            <a:avLst>
              <a:gd name="adj" fmla="val 20000"/>
            </a:avLst>
          </a:prstGeom>
          <a:solidFill>
            <a:schemeClr val="accent1"/>
          </a:solidFill>
          <a:ln>
            <a:noFill/>
          </a:ln>
        </p:spPr>
      </p:sp>
      <p:sp>
        <p:nvSpPr>
          <p:cNvPr id="18" name="dB value 60"/>
          <p:cNvSpPr txBox="1"/>
          <p:nvPr/>
        </p:nvSpPr>
        <p:spPr>
          <a:xfrm>
            <a:off x="5833872" y="4636008"/>
            <a:ext cx="822960" cy="36576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200" b="1" i="0" dirty="0">
                <a:solidFill>
                  <a:schemeClr val="tx2"/>
                </a:solidFill>
              </a:rPr>
              <a:t xml:space="preserve">60 dB</a:t>
            </a:r>
            <a:endParaRPr lang="en-US" sz="1200" dirty="0"/>
          </a:p>
        </p:txBody>
      </p:sp>
      <p:sp>
        <p:nvSpPr>
          <p:cNvPr id="19" name="dB label 60"/>
          <p:cNvSpPr txBox="1"/>
          <p:nvPr/>
        </p:nvSpPr>
        <p:spPr>
          <a:xfrm>
            <a:off x="6812280" y="4636008"/>
            <a:ext cx="1554480" cy="36576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100" b="0" i="0" dirty="0">
                <a:solidFill>
                  <a:schemeClr val="tx2"/>
                </a:solidFill>
              </a:rPr>
              <a:t xml:space="preserve">Conversation</a:t>
            </a:r>
            <a:endParaRPr lang="en-US" sz="1100" dirty="0"/>
          </a:p>
        </p:txBody>
      </p:sp>
      <p:sp>
        <p:nvSpPr>
          <p:cNvPr id="20" name="dB bar 85"/>
          <p:cNvSpPr/>
          <p:nvPr/>
        </p:nvSpPr>
        <p:spPr>
          <a:xfrm>
            <a:off x="5760720" y="5157216"/>
            <a:ext cx="1283970" cy="365760"/>
          </a:xfrm>
          <a:prstGeom prst="roundRect">
            <a:avLst>
              <a:gd name="adj" fmla="val 20000"/>
            </a:avLst>
          </a:prstGeom>
          <a:solidFill>
            <a:schemeClr val="accent3"/>
          </a:solidFill>
          <a:ln>
            <a:noFill/>
          </a:ln>
        </p:spPr>
      </p:sp>
      <p:sp>
        <p:nvSpPr>
          <p:cNvPr id="21" name="dB value 85"/>
          <p:cNvSpPr txBox="1"/>
          <p:nvPr/>
        </p:nvSpPr>
        <p:spPr>
          <a:xfrm>
            <a:off x="5833872" y="5157216"/>
            <a:ext cx="822960" cy="36576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200" b="1" i="0" dirty="0">
                <a:solidFill>
                  <a:schemeClr val="tx2"/>
                </a:solidFill>
              </a:rPr>
              <a:t xml:space="preserve">85 dB</a:t>
            </a:r>
            <a:endParaRPr lang="en-US" sz="1200" dirty="0"/>
          </a:p>
        </p:txBody>
      </p:sp>
      <p:sp>
        <p:nvSpPr>
          <p:cNvPr id="22" name="dB label 85"/>
          <p:cNvSpPr txBox="1"/>
          <p:nvPr/>
        </p:nvSpPr>
        <p:spPr>
          <a:xfrm>
            <a:off x="7136130" y="5157216"/>
            <a:ext cx="1554480" cy="36576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100" b="0" i="0" dirty="0">
                <a:solidFill>
                  <a:schemeClr val="tx2"/>
                </a:solidFill>
              </a:rPr>
              <a:t xml:space="preserve">Traffic</a:t>
            </a:r>
            <a:endParaRPr lang="en-US" sz="1100" dirty="0"/>
          </a:p>
        </p:txBody>
      </p:sp>
      <p:sp>
        <p:nvSpPr>
          <p:cNvPr id="23" name="dB bar 120"/>
          <p:cNvSpPr/>
          <p:nvPr/>
        </p:nvSpPr>
        <p:spPr>
          <a:xfrm>
            <a:off x="5760720" y="5678424"/>
            <a:ext cx="1737360" cy="365760"/>
          </a:xfrm>
          <a:prstGeom prst="roundRect">
            <a:avLst>
              <a:gd name="adj" fmla="val 20000"/>
            </a:avLst>
          </a:prstGeom>
          <a:solidFill>
            <a:schemeClr val="accent5"/>
          </a:solidFill>
          <a:ln>
            <a:noFill/>
          </a:ln>
        </p:spPr>
      </p:sp>
      <p:sp>
        <p:nvSpPr>
          <p:cNvPr id="24" name="dB value 120"/>
          <p:cNvSpPr txBox="1"/>
          <p:nvPr/>
        </p:nvSpPr>
        <p:spPr>
          <a:xfrm>
            <a:off x="5833872" y="5678424"/>
            <a:ext cx="822960" cy="36576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200" b="1" i="0" dirty="0">
                <a:solidFill>
                  <a:schemeClr val="bg1"/>
                </a:solidFill>
              </a:rPr>
              <a:t xml:space="preserve">120 dB</a:t>
            </a:r>
            <a:endParaRPr lang="en-US" sz="1200" dirty="0"/>
          </a:p>
        </p:txBody>
      </p:sp>
      <p:sp>
        <p:nvSpPr>
          <p:cNvPr id="25" name="dB label 120"/>
          <p:cNvSpPr txBox="1"/>
          <p:nvPr/>
        </p:nvSpPr>
        <p:spPr>
          <a:xfrm>
            <a:off x="7589520" y="5678424"/>
            <a:ext cx="1554480" cy="36576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100" b="0" i="0" dirty="0">
                <a:solidFill>
                  <a:schemeClr val="tx2"/>
                </a:solidFill>
              </a:rPr>
              <a:t xml:space="preserve">Pain threshold</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p:nvPr>
            <p:ph type="title"/>
          </p:nvPr>
        </p:nvSpPr>
        <p:spPr>
          <a:xfrm>
            <a:off x="640080" y="256032"/>
            <a:ext cx="8321040" cy="86868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2600" b="1" i="0" dirty="0">
                <a:solidFill>
                  <a:schemeClr val="tx2"/>
                </a:solidFill>
              </a:rPr>
              <a:t xml:space="preserve">Presentation Outline</a:t>
            </a:r>
            <a:endParaRPr lang="en-US" sz="2600" dirty="0"/>
          </a:p>
        </p:txBody>
      </p:sp>
      <p:sp>
        <p:nvSpPr>
          <p:cNvPr id="3" name="Footer"/>
          <p:cNvSpPr txBox="1"/>
          <p:nvPr/>
        </p:nvSpPr>
        <p:spPr>
          <a:xfrm>
            <a:off x="640080" y="6455664"/>
            <a:ext cx="6949440" cy="256032"/>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000" b="0" i="0" dirty="0">
                <a:solidFill>
                  <a:srgbClr val="6B7C84"/>
                </a:solidFill>
              </a:rPr>
              <a:t xml:space="preserve">Sayantan Bharati  |  BWU/BTS/25/503  |  Section B  |  COA (BTS30101)</a:t>
            </a:r>
            <a:endParaRPr lang="en-US" sz="1000" dirty="0"/>
          </a:p>
        </p:txBody>
      </p:sp>
      <p:sp>
        <p:nvSpPr>
          <p:cNvPr id="4" name="Slide Number"/>
          <p:cNvSpPr txBox="1"/>
          <p:nvPr/>
        </p:nvSpPr>
        <p:spPr>
          <a:xfrm>
            <a:off x="8138160" y="6455664"/>
            <a:ext cx="822960" cy="256032"/>
          </a:xfrm>
          <a:prstGeom prst="rect">
            <a:avLst/>
          </a:prstGeom>
          <a:noFill/>
        </p:spPr>
        <p:txBody>
          <a:bodyPr wrap="square" lIns="0" tIns="0" rIns="0" bIns="0" anchor="ctr">
            <a:noAutofit/>
          </a:bodyPr>
          <a:lstStyle/>
          <a:p>
            <a:pPr algn="r"/>
            <a:fld id="{B6F15528-21DE-4FAA-801E-634DDDAF4B2B}" type="slidenum">
              <a:rPr lang="en-US" sz="1000" dirty="0">
                <a:solidFill>
                  <a:srgbClr val="6B7C84"/>
                </a:solidFill>
              </a:rPr>
              <a:t>3</a:t>
            </a:fld>
          </a:p>
        </p:txBody>
      </p:sp>
      <p:sp>
        <p:nvSpPr>
          <p:cNvPr id="5" name="Topic card 1"/>
          <p:cNvSpPr/>
          <p:nvPr/>
        </p:nvSpPr>
        <p:spPr>
          <a:xfrm>
            <a:off x="640080" y="1325880"/>
            <a:ext cx="4023360" cy="804672"/>
          </a:xfrm>
          <a:prstGeom prst="roundRect">
            <a:avLst>
              <a:gd name="adj" fmla="val 5000"/>
            </a:avLst>
          </a:prstGeom>
          <a:solidFill>
            <a:schemeClr val="accent1">
              <a:alpha val="14000"/>
            </a:schemeClr>
          </a:solidFill>
          <a:ln>
            <a:noFill/>
          </a:ln>
        </p:spPr>
      </p:sp>
      <p:sp>
        <p:nvSpPr>
          <p:cNvPr id="6" name="Topic number 1"/>
          <p:cNvSpPr/>
          <p:nvPr/>
        </p:nvSpPr>
        <p:spPr>
          <a:xfrm>
            <a:off x="768096" y="1453896"/>
            <a:ext cx="548640" cy="548640"/>
          </a:xfrm>
          <a:prstGeom prst="ellipse">
            <a:avLst/>
          </a:prstGeom>
          <a:solidFill>
            <a:schemeClr val="accent2"/>
          </a:solidFill>
          <a:ln>
            <a:noFill/>
          </a:ln>
        </p:spPr>
        <p:txBody>
          <a:bodyPr wrap="square" lIns="0" tIns="0" rIns="0" bIns="0" rtlCol="0" anchor="ctr">
            <a:noAutofit/>
          </a:bodyPr>
          <a:lstStyle/>
          <a:p>
            <a:pPr marL="0" indent="0" algn="ctr">
              <a:lnSpc>
                <a:spcPct val="100000"/>
              </a:lnSpc>
              <a:spcBef>
                <a:spcPts val="0"/>
              </a:spcBef>
              <a:spcAft>
                <a:spcPts val="0"/>
              </a:spcAft>
              <a:buNone/>
            </a:pPr>
            <a:r>
              <a:rPr lang="en-US" sz="1600" b="1" i="0" dirty="0">
                <a:solidFill>
                  <a:schemeClr val="bg1"/>
                </a:solidFill>
              </a:rPr>
              <a:t xml:space="preserve">1</a:t>
            </a:r>
            <a:endParaRPr lang="en-US" sz="1600" dirty="0"/>
          </a:p>
        </p:txBody>
      </p:sp>
      <p:sp>
        <p:nvSpPr>
          <p:cNvPr id="7" name="Topic text 1"/>
          <p:cNvSpPr txBox="1"/>
          <p:nvPr/>
        </p:nvSpPr>
        <p:spPr>
          <a:xfrm>
            <a:off x="1463040" y="1380744"/>
            <a:ext cx="3108960" cy="694944"/>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400" b="1" i="0" dirty="0">
                <a:solidFill>
                  <a:schemeClr val="tx2"/>
                </a:solidFill>
              </a:rPr>
              <a:t xml:space="preserve">Fundamentals of Sound &amp; the Decibel Scale</a:t>
            </a:r>
            <a:endParaRPr lang="en-US" sz="1400" dirty="0"/>
          </a:p>
        </p:txBody>
      </p:sp>
      <p:sp>
        <p:nvSpPr>
          <p:cNvPr id="8" name="Topic card 2"/>
          <p:cNvSpPr/>
          <p:nvPr/>
        </p:nvSpPr>
        <p:spPr>
          <a:xfrm>
            <a:off x="640080" y="2286000"/>
            <a:ext cx="4023360" cy="804672"/>
          </a:xfrm>
          <a:prstGeom prst="roundRect">
            <a:avLst>
              <a:gd name="adj" fmla="val 5000"/>
            </a:avLst>
          </a:prstGeom>
          <a:solidFill>
            <a:schemeClr val="accent1">
              <a:alpha val="14000"/>
            </a:schemeClr>
          </a:solidFill>
          <a:ln>
            <a:noFill/>
          </a:ln>
        </p:spPr>
      </p:sp>
      <p:sp>
        <p:nvSpPr>
          <p:cNvPr id="9" name="Topic number 2"/>
          <p:cNvSpPr/>
          <p:nvPr/>
        </p:nvSpPr>
        <p:spPr>
          <a:xfrm>
            <a:off x="768096" y="2414016"/>
            <a:ext cx="548640" cy="548640"/>
          </a:xfrm>
          <a:prstGeom prst="ellipse">
            <a:avLst/>
          </a:prstGeom>
          <a:solidFill>
            <a:schemeClr val="tx2"/>
          </a:solidFill>
          <a:ln>
            <a:noFill/>
          </a:ln>
        </p:spPr>
        <p:txBody>
          <a:bodyPr wrap="square" lIns="0" tIns="0" rIns="0" bIns="0" rtlCol="0" anchor="ctr">
            <a:noAutofit/>
          </a:bodyPr>
          <a:lstStyle/>
          <a:p>
            <a:pPr marL="0" indent="0" algn="ctr">
              <a:lnSpc>
                <a:spcPct val="100000"/>
              </a:lnSpc>
              <a:spcBef>
                <a:spcPts val="0"/>
              </a:spcBef>
              <a:spcAft>
                <a:spcPts val="0"/>
              </a:spcAft>
              <a:buNone/>
            </a:pPr>
            <a:r>
              <a:rPr lang="en-US" sz="1600" b="1" i="0" dirty="0">
                <a:solidFill>
                  <a:schemeClr val="bg1"/>
                </a:solidFill>
              </a:rPr>
              <a:t xml:space="preserve">2</a:t>
            </a:r>
            <a:endParaRPr lang="en-US" sz="1600" dirty="0"/>
          </a:p>
        </p:txBody>
      </p:sp>
      <p:sp>
        <p:nvSpPr>
          <p:cNvPr id="10" name="Topic text 2"/>
          <p:cNvSpPr txBox="1"/>
          <p:nvPr/>
        </p:nvSpPr>
        <p:spPr>
          <a:xfrm>
            <a:off x="1463040" y="2340864"/>
            <a:ext cx="3108960" cy="694944"/>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400" b="1" i="0" dirty="0">
                <a:solidFill>
                  <a:schemeClr val="tx2"/>
                </a:solidFill>
              </a:rPr>
              <a:t xml:space="preserve">System Overview — Block Diagram</a:t>
            </a:r>
            <a:endParaRPr lang="en-US" sz="1400" dirty="0"/>
          </a:p>
        </p:txBody>
      </p:sp>
      <p:sp>
        <p:nvSpPr>
          <p:cNvPr id="11" name="Topic card 3"/>
          <p:cNvSpPr/>
          <p:nvPr/>
        </p:nvSpPr>
        <p:spPr>
          <a:xfrm>
            <a:off x="640080" y="3246120"/>
            <a:ext cx="4023360" cy="804672"/>
          </a:xfrm>
          <a:prstGeom prst="roundRect">
            <a:avLst>
              <a:gd name="adj" fmla="val 5000"/>
            </a:avLst>
          </a:prstGeom>
          <a:solidFill>
            <a:schemeClr val="accent1">
              <a:alpha val="14000"/>
            </a:schemeClr>
          </a:solidFill>
          <a:ln>
            <a:noFill/>
          </a:ln>
        </p:spPr>
      </p:sp>
      <p:sp>
        <p:nvSpPr>
          <p:cNvPr id="12" name="Topic number 3"/>
          <p:cNvSpPr/>
          <p:nvPr/>
        </p:nvSpPr>
        <p:spPr>
          <a:xfrm>
            <a:off x="768096" y="3374136"/>
            <a:ext cx="548640" cy="548640"/>
          </a:xfrm>
          <a:prstGeom prst="ellipse">
            <a:avLst/>
          </a:prstGeom>
          <a:solidFill>
            <a:schemeClr val="accent2"/>
          </a:solidFill>
          <a:ln>
            <a:noFill/>
          </a:ln>
        </p:spPr>
        <p:txBody>
          <a:bodyPr wrap="square" lIns="0" tIns="0" rIns="0" bIns="0" rtlCol="0" anchor="ctr">
            <a:noAutofit/>
          </a:bodyPr>
          <a:lstStyle/>
          <a:p>
            <a:pPr marL="0" indent="0" algn="ctr">
              <a:lnSpc>
                <a:spcPct val="100000"/>
              </a:lnSpc>
              <a:spcBef>
                <a:spcPts val="0"/>
              </a:spcBef>
              <a:spcAft>
                <a:spcPts val="0"/>
              </a:spcAft>
              <a:buNone/>
            </a:pPr>
            <a:r>
              <a:rPr lang="en-US" sz="1600" b="1" i="0" dirty="0">
                <a:solidFill>
                  <a:schemeClr val="bg1"/>
                </a:solidFill>
              </a:rPr>
              <a:t xml:space="preserve">3</a:t>
            </a:r>
            <a:endParaRPr lang="en-US" sz="1600" dirty="0"/>
          </a:p>
        </p:txBody>
      </p:sp>
      <p:sp>
        <p:nvSpPr>
          <p:cNvPr id="13" name="Topic text 3"/>
          <p:cNvSpPr txBox="1"/>
          <p:nvPr/>
        </p:nvSpPr>
        <p:spPr>
          <a:xfrm>
            <a:off x="1463040" y="3300984"/>
            <a:ext cx="3108960" cy="694944"/>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400" b="1" i="0" dirty="0">
                <a:solidFill>
                  <a:schemeClr val="tx2"/>
                </a:solidFill>
              </a:rPr>
              <a:t xml:space="preserve">Input Stage — Microphone &amp; Signal Conditioning</a:t>
            </a:r>
            <a:endParaRPr lang="en-US" sz="1400" dirty="0"/>
          </a:p>
        </p:txBody>
      </p:sp>
      <p:sp>
        <p:nvSpPr>
          <p:cNvPr id="14" name="Topic card 4"/>
          <p:cNvSpPr/>
          <p:nvPr/>
        </p:nvSpPr>
        <p:spPr>
          <a:xfrm>
            <a:off x="640080" y="4206240"/>
            <a:ext cx="4023360" cy="804672"/>
          </a:xfrm>
          <a:prstGeom prst="roundRect">
            <a:avLst>
              <a:gd name="adj" fmla="val 5000"/>
            </a:avLst>
          </a:prstGeom>
          <a:solidFill>
            <a:schemeClr val="accent1">
              <a:alpha val="14000"/>
            </a:schemeClr>
          </a:solidFill>
          <a:ln>
            <a:noFill/>
          </a:ln>
        </p:spPr>
      </p:sp>
      <p:sp>
        <p:nvSpPr>
          <p:cNvPr id="15" name="Topic number 4"/>
          <p:cNvSpPr/>
          <p:nvPr/>
        </p:nvSpPr>
        <p:spPr>
          <a:xfrm>
            <a:off x="768096" y="4334256"/>
            <a:ext cx="548640" cy="548640"/>
          </a:xfrm>
          <a:prstGeom prst="ellipse">
            <a:avLst/>
          </a:prstGeom>
          <a:solidFill>
            <a:schemeClr val="tx2"/>
          </a:solidFill>
          <a:ln>
            <a:noFill/>
          </a:ln>
        </p:spPr>
        <p:txBody>
          <a:bodyPr wrap="square" lIns="0" tIns="0" rIns="0" bIns="0" rtlCol="0" anchor="ctr">
            <a:noAutofit/>
          </a:bodyPr>
          <a:lstStyle/>
          <a:p>
            <a:pPr marL="0" indent="0" algn="ctr">
              <a:lnSpc>
                <a:spcPct val="100000"/>
              </a:lnSpc>
              <a:spcBef>
                <a:spcPts val="0"/>
              </a:spcBef>
              <a:spcAft>
                <a:spcPts val="0"/>
              </a:spcAft>
              <a:buNone/>
            </a:pPr>
            <a:r>
              <a:rPr lang="en-US" sz="1600" b="1" i="0" dirty="0">
                <a:solidFill>
                  <a:schemeClr val="bg1"/>
                </a:solidFill>
              </a:rPr>
              <a:t xml:space="preserve">4</a:t>
            </a:r>
            <a:endParaRPr lang="en-US" sz="1600" dirty="0"/>
          </a:p>
        </p:txBody>
      </p:sp>
      <p:sp>
        <p:nvSpPr>
          <p:cNvPr id="16" name="Topic text 4"/>
          <p:cNvSpPr txBox="1"/>
          <p:nvPr/>
        </p:nvSpPr>
        <p:spPr>
          <a:xfrm>
            <a:off x="1463040" y="4261104"/>
            <a:ext cx="3108960" cy="694944"/>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400" b="1" i="0" dirty="0">
                <a:solidFill>
                  <a:schemeClr val="tx2"/>
                </a:solidFill>
              </a:rPr>
              <a:t xml:space="preserve">Digital Signal Processing — RMS to dB</a:t>
            </a:r>
            <a:endParaRPr lang="en-US" sz="1400" dirty="0"/>
          </a:p>
        </p:txBody>
      </p:sp>
      <p:sp>
        <p:nvSpPr>
          <p:cNvPr id="17" name="Topic card 5"/>
          <p:cNvSpPr/>
          <p:nvPr/>
        </p:nvSpPr>
        <p:spPr>
          <a:xfrm>
            <a:off x="640080" y="5166360"/>
            <a:ext cx="4023360" cy="804672"/>
          </a:xfrm>
          <a:prstGeom prst="roundRect">
            <a:avLst>
              <a:gd name="adj" fmla="val 5000"/>
            </a:avLst>
          </a:prstGeom>
          <a:solidFill>
            <a:schemeClr val="accent1">
              <a:alpha val="14000"/>
            </a:schemeClr>
          </a:solidFill>
          <a:ln>
            <a:noFill/>
          </a:ln>
        </p:spPr>
      </p:sp>
      <p:sp>
        <p:nvSpPr>
          <p:cNvPr id="18" name="Topic number 5"/>
          <p:cNvSpPr/>
          <p:nvPr/>
        </p:nvSpPr>
        <p:spPr>
          <a:xfrm>
            <a:off x="768096" y="5294376"/>
            <a:ext cx="548640" cy="548640"/>
          </a:xfrm>
          <a:prstGeom prst="ellipse">
            <a:avLst/>
          </a:prstGeom>
          <a:solidFill>
            <a:schemeClr val="accent2"/>
          </a:solidFill>
          <a:ln>
            <a:noFill/>
          </a:ln>
        </p:spPr>
        <p:txBody>
          <a:bodyPr wrap="square" lIns="0" tIns="0" rIns="0" bIns="0" rtlCol="0" anchor="ctr">
            <a:noAutofit/>
          </a:bodyPr>
          <a:lstStyle/>
          <a:p>
            <a:pPr marL="0" indent="0" algn="ctr">
              <a:lnSpc>
                <a:spcPct val="100000"/>
              </a:lnSpc>
              <a:spcBef>
                <a:spcPts val="0"/>
              </a:spcBef>
              <a:spcAft>
                <a:spcPts val="0"/>
              </a:spcAft>
              <a:buNone/>
            </a:pPr>
            <a:r>
              <a:rPr lang="en-US" sz="1600" b="1" i="0" dirty="0">
                <a:solidFill>
                  <a:schemeClr val="bg1"/>
                </a:solidFill>
              </a:rPr>
              <a:t xml:space="preserve">5</a:t>
            </a:r>
            <a:endParaRPr lang="en-US" sz="1600" dirty="0"/>
          </a:p>
        </p:txBody>
      </p:sp>
      <p:sp>
        <p:nvSpPr>
          <p:cNvPr id="19" name="Topic text 5"/>
          <p:cNvSpPr txBox="1"/>
          <p:nvPr/>
        </p:nvSpPr>
        <p:spPr>
          <a:xfrm>
            <a:off x="1463040" y="5221224"/>
            <a:ext cx="3108960" cy="694944"/>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400" b="1" i="0" dirty="0">
                <a:solidFill>
                  <a:schemeClr val="tx2"/>
                </a:solidFill>
              </a:rPr>
              <a:t xml:space="preserve">Peak-Hold Detector Design</a:t>
            </a:r>
            <a:endParaRPr lang="en-US" sz="1400" dirty="0"/>
          </a:p>
        </p:txBody>
      </p:sp>
      <p:sp>
        <p:nvSpPr>
          <p:cNvPr id="20" name="Topic card 6"/>
          <p:cNvSpPr/>
          <p:nvPr/>
        </p:nvSpPr>
        <p:spPr>
          <a:xfrm>
            <a:off x="4892040" y="1325880"/>
            <a:ext cx="4023360" cy="804672"/>
          </a:xfrm>
          <a:prstGeom prst="roundRect">
            <a:avLst>
              <a:gd name="adj" fmla="val 5000"/>
            </a:avLst>
          </a:prstGeom>
          <a:solidFill>
            <a:schemeClr val="accent1">
              <a:alpha val="14000"/>
            </a:schemeClr>
          </a:solidFill>
          <a:ln>
            <a:noFill/>
          </a:ln>
        </p:spPr>
      </p:sp>
      <p:sp>
        <p:nvSpPr>
          <p:cNvPr id="21" name="Topic number 6"/>
          <p:cNvSpPr/>
          <p:nvPr/>
        </p:nvSpPr>
        <p:spPr>
          <a:xfrm>
            <a:off x="5020056" y="1453896"/>
            <a:ext cx="548640" cy="548640"/>
          </a:xfrm>
          <a:prstGeom prst="ellipse">
            <a:avLst/>
          </a:prstGeom>
          <a:solidFill>
            <a:schemeClr val="tx2"/>
          </a:solidFill>
          <a:ln>
            <a:noFill/>
          </a:ln>
        </p:spPr>
        <p:txBody>
          <a:bodyPr wrap="square" lIns="0" tIns="0" rIns="0" bIns="0" rtlCol="0" anchor="ctr">
            <a:noAutofit/>
          </a:bodyPr>
          <a:lstStyle/>
          <a:p>
            <a:pPr marL="0" indent="0" algn="ctr">
              <a:lnSpc>
                <a:spcPct val="100000"/>
              </a:lnSpc>
              <a:spcBef>
                <a:spcPts val="0"/>
              </a:spcBef>
              <a:spcAft>
                <a:spcPts val="0"/>
              </a:spcAft>
              <a:buNone/>
            </a:pPr>
            <a:r>
              <a:rPr lang="en-US" sz="1600" b="1" i="0" dirty="0">
                <a:solidFill>
                  <a:schemeClr val="bg1"/>
                </a:solidFill>
              </a:rPr>
              <a:t xml:space="preserve">6</a:t>
            </a:r>
            <a:endParaRPr lang="en-US" sz="1600" dirty="0"/>
          </a:p>
        </p:txBody>
      </p:sp>
      <p:sp>
        <p:nvSpPr>
          <p:cNvPr id="22" name="Topic text 6"/>
          <p:cNvSpPr txBox="1"/>
          <p:nvPr/>
        </p:nvSpPr>
        <p:spPr>
          <a:xfrm>
            <a:off x="5715000" y="1380744"/>
            <a:ext cx="3108960" cy="694944"/>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400" b="1" i="0" dirty="0">
                <a:solidFill>
                  <a:schemeClr val="tx2"/>
                </a:solidFill>
              </a:rPr>
              <a:t xml:space="preserve">Timing, Clocking &amp; Control FSM</a:t>
            </a:r>
            <a:endParaRPr lang="en-US" sz="1400" dirty="0"/>
          </a:p>
        </p:txBody>
      </p:sp>
      <p:sp>
        <p:nvSpPr>
          <p:cNvPr id="23" name="Topic card 7"/>
          <p:cNvSpPr/>
          <p:nvPr/>
        </p:nvSpPr>
        <p:spPr>
          <a:xfrm>
            <a:off x="4892040" y="2286000"/>
            <a:ext cx="4023360" cy="804672"/>
          </a:xfrm>
          <a:prstGeom prst="roundRect">
            <a:avLst>
              <a:gd name="adj" fmla="val 5000"/>
            </a:avLst>
          </a:prstGeom>
          <a:solidFill>
            <a:schemeClr val="accent1">
              <a:alpha val="14000"/>
            </a:schemeClr>
          </a:solidFill>
          <a:ln>
            <a:noFill/>
          </a:ln>
        </p:spPr>
      </p:sp>
      <p:sp>
        <p:nvSpPr>
          <p:cNvPr id="24" name="Topic number 7"/>
          <p:cNvSpPr/>
          <p:nvPr/>
        </p:nvSpPr>
        <p:spPr>
          <a:xfrm>
            <a:off x="5020056" y="2414016"/>
            <a:ext cx="548640" cy="548640"/>
          </a:xfrm>
          <a:prstGeom prst="ellipse">
            <a:avLst/>
          </a:prstGeom>
          <a:solidFill>
            <a:schemeClr val="accent2"/>
          </a:solidFill>
          <a:ln>
            <a:noFill/>
          </a:ln>
        </p:spPr>
        <p:txBody>
          <a:bodyPr wrap="square" lIns="0" tIns="0" rIns="0" bIns="0" rtlCol="0" anchor="ctr">
            <a:noAutofit/>
          </a:bodyPr>
          <a:lstStyle/>
          <a:p>
            <a:pPr marL="0" indent="0" algn="ctr">
              <a:lnSpc>
                <a:spcPct val="100000"/>
              </a:lnSpc>
              <a:spcBef>
                <a:spcPts val="0"/>
              </a:spcBef>
              <a:spcAft>
                <a:spcPts val="0"/>
              </a:spcAft>
              <a:buNone/>
            </a:pPr>
            <a:r>
              <a:rPr lang="en-US" sz="1600" b="1" i="0" dirty="0">
                <a:solidFill>
                  <a:schemeClr val="bg1"/>
                </a:solidFill>
              </a:rPr>
              <a:t xml:space="preserve">7</a:t>
            </a:r>
            <a:endParaRPr lang="en-US" sz="1600" dirty="0"/>
          </a:p>
        </p:txBody>
      </p:sp>
      <p:sp>
        <p:nvSpPr>
          <p:cNvPr id="25" name="Topic text 7"/>
          <p:cNvSpPr txBox="1"/>
          <p:nvPr/>
        </p:nvSpPr>
        <p:spPr>
          <a:xfrm>
            <a:off x="5715000" y="2340864"/>
            <a:ext cx="3108960" cy="694944"/>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400" b="1" i="0" dirty="0">
                <a:solidFill>
                  <a:schemeClr val="tx2"/>
                </a:solidFill>
              </a:rPr>
              <a:t xml:space="preserve">Output Stage — Display &amp; Indicators</a:t>
            </a:r>
            <a:endParaRPr lang="en-US" sz="1400" dirty="0"/>
          </a:p>
        </p:txBody>
      </p:sp>
      <p:sp>
        <p:nvSpPr>
          <p:cNvPr id="26" name="Topic card 8"/>
          <p:cNvSpPr/>
          <p:nvPr/>
        </p:nvSpPr>
        <p:spPr>
          <a:xfrm>
            <a:off x="4892040" y="3246120"/>
            <a:ext cx="4023360" cy="804672"/>
          </a:xfrm>
          <a:prstGeom prst="roundRect">
            <a:avLst>
              <a:gd name="adj" fmla="val 5000"/>
            </a:avLst>
          </a:prstGeom>
          <a:solidFill>
            <a:schemeClr val="accent1">
              <a:alpha val="14000"/>
            </a:schemeClr>
          </a:solidFill>
          <a:ln>
            <a:noFill/>
          </a:ln>
        </p:spPr>
      </p:sp>
      <p:sp>
        <p:nvSpPr>
          <p:cNvPr id="27" name="Topic number 8"/>
          <p:cNvSpPr/>
          <p:nvPr/>
        </p:nvSpPr>
        <p:spPr>
          <a:xfrm>
            <a:off x="5020056" y="3374136"/>
            <a:ext cx="548640" cy="548640"/>
          </a:xfrm>
          <a:prstGeom prst="ellipse">
            <a:avLst/>
          </a:prstGeom>
          <a:solidFill>
            <a:schemeClr val="tx2"/>
          </a:solidFill>
          <a:ln>
            <a:noFill/>
          </a:ln>
        </p:spPr>
        <p:txBody>
          <a:bodyPr wrap="square" lIns="0" tIns="0" rIns="0" bIns="0" rtlCol="0" anchor="ctr">
            <a:noAutofit/>
          </a:bodyPr>
          <a:lstStyle/>
          <a:p>
            <a:pPr marL="0" indent="0" algn="ctr">
              <a:lnSpc>
                <a:spcPct val="100000"/>
              </a:lnSpc>
              <a:spcBef>
                <a:spcPts val="0"/>
              </a:spcBef>
              <a:spcAft>
                <a:spcPts val="0"/>
              </a:spcAft>
              <a:buNone/>
            </a:pPr>
            <a:r>
              <a:rPr lang="en-US" sz="1600" b="1" i="0" dirty="0">
                <a:solidFill>
                  <a:schemeClr val="bg1"/>
                </a:solidFill>
              </a:rPr>
              <a:t xml:space="preserve">8</a:t>
            </a:r>
            <a:endParaRPr lang="en-US" sz="1600" dirty="0"/>
          </a:p>
        </p:txBody>
      </p:sp>
      <p:sp>
        <p:nvSpPr>
          <p:cNvPr id="28" name="Topic text 8"/>
          <p:cNvSpPr txBox="1"/>
          <p:nvPr/>
        </p:nvSpPr>
        <p:spPr>
          <a:xfrm>
            <a:off x="5715000" y="3300984"/>
            <a:ext cx="3108960" cy="694944"/>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400" b="1" i="0" dirty="0">
                <a:solidFill>
                  <a:schemeClr val="tx2"/>
                </a:solidFill>
              </a:rPr>
              <a:t xml:space="preserve">HDL Implementation (VHDL Modules)</a:t>
            </a:r>
            <a:endParaRPr lang="en-US" sz="1400" dirty="0"/>
          </a:p>
        </p:txBody>
      </p:sp>
      <p:sp>
        <p:nvSpPr>
          <p:cNvPr id="29" name="Topic card 9"/>
          <p:cNvSpPr/>
          <p:nvPr/>
        </p:nvSpPr>
        <p:spPr>
          <a:xfrm>
            <a:off x="4892040" y="4206240"/>
            <a:ext cx="4023360" cy="804672"/>
          </a:xfrm>
          <a:prstGeom prst="roundRect">
            <a:avLst>
              <a:gd name="adj" fmla="val 5000"/>
            </a:avLst>
          </a:prstGeom>
          <a:solidFill>
            <a:schemeClr val="accent1">
              <a:alpha val="14000"/>
            </a:schemeClr>
          </a:solidFill>
          <a:ln>
            <a:noFill/>
          </a:ln>
        </p:spPr>
      </p:sp>
      <p:sp>
        <p:nvSpPr>
          <p:cNvPr id="30" name="Topic number 9"/>
          <p:cNvSpPr/>
          <p:nvPr/>
        </p:nvSpPr>
        <p:spPr>
          <a:xfrm>
            <a:off x="5020056" y="4334256"/>
            <a:ext cx="548640" cy="548640"/>
          </a:xfrm>
          <a:prstGeom prst="ellipse">
            <a:avLst/>
          </a:prstGeom>
          <a:solidFill>
            <a:schemeClr val="accent2"/>
          </a:solidFill>
          <a:ln>
            <a:noFill/>
          </a:ln>
        </p:spPr>
        <p:txBody>
          <a:bodyPr wrap="square" lIns="0" tIns="0" rIns="0" bIns="0" rtlCol="0" anchor="ctr">
            <a:noAutofit/>
          </a:bodyPr>
          <a:lstStyle/>
          <a:p>
            <a:pPr marL="0" indent="0" algn="ctr">
              <a:lnSpc>
                <a:spcPct val="100000"/>
              </a:lnSpc>
              <a:spcBef>
                <a:spcPts val="0"/>
              </a:spcBef>
              <a:spcAft>
                <a:spcPts val="0"/>
              </a:spcAft>
              <a:buNone/>
            </a:pPr>
            <a:r>
              <a:rPr lang="en-US" sz="1600" b="1" i="0" dirty="0">
                <a:solidFill>
                  <a:schemeClr val="bg1"/>
                </a:solidFill>
              </a:rPr>
              <a:t xml:space="preserve">9</a:t>
            </a:r>
            <a:endParaRPr lang="en-US" sz="1600" dirty="0"/>
          </a:p>
        </p:txBody>
      </p:sp>
      <p:sp>
        <p:nvSpPr>
          <p:cNvPr id="31" name="Topic text 9"/>
          <p:cNvSpPr txBox="1"/>
          <p:nvPr/>
        </p:nvSpPr>
        <p:spPr>
          <a:xfrm>
            <a:off x="5715000" y="4261104"/>
            <a:ext cx="3108960" cy="694944"/>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400" b="1" i="0" dirty="0">
                <a:solidFill>
                  <a:schemeClr val="tx2"/>
                </a:solidFill>
              </a:rPr>
              <a:t xml:space="preserve">Simulation &amp; Results</a:t>
            </a:r>
            <a:endParaRPr lang="en-US" sz="1400" dirty="0"/>
          </a:p>
        </p:txBody>
      </p:sp>
      <p:sp>
        <p:nvSpPr>
          <p:cNvPr id="32" name="Topic card 10"/>
          <p:cNvSpPr/>
          <p:nvPr/>
        </p:nvSpPr>
        <p:spPr>
          <a:xfrm>
            <a:off x="4892040" y="5166360"/>
            <a:ext cx="4023360" cy="804672"/>
          </a:xfrm>
          <a:prstGeom prst="roundRect">
            <a:avLst>
              <a:gd name="adj" fmla="val 5000"/>
            </a:avLst>
          </a:prstGeom>
          <a:solidFill>
            <a:schemeClr val="accent1">
              <a:alpha val="14000"/>
            </a:schemeClr>
          </a:solidFill>
          <a:ln>
            <a:noFill/>
          </a:ln>
        </p:spPr>
      </p:sp>
      <p:sp>
        <p:nvSpPr>
          <p:cNvPr id="33" name="Topic number 10"/>
          <p:cNvSpPr/>
          <p:nvPr/>
        </p:nvSpPr>
        <p:spPr>
          <a:xfrm>
            <a:off x="5020056" y="5294376"/>
            <a:ext cx="548640" cy="548640"/>
          </a:xfrm>
          <a:prstGeom prst="ellipse">
            <a:avLst/>
          </a:prstGeom>
          <a:solidFill>
            <a:schemeClr val="tx2"/>
          </a:solidFill>
          <a:ln>
            <a:noFill/>
          </a:ln>
        </p:spPr>
        <p:txBody>
          <a:bodyPr wrap="square" lIns="0" tIns="0" rIns="0" bIns="0" rtlCol="0" anchor="ctr">
            <a:noAutofit/>
          </a:bodyPr>
          <a:lstStyle/>
          <a:p>
            <a:pPr marL="0" indent="0" algn="ctr">
              <a:lnSpc>
                <a:spcPct val="100000"/>
              </a:lnSpc>
              <a:spcBef>
                <a:spcPts val="0"/>
              </a:spcBef>
              <a:spcAft>
                <a:spcPts val="0"/>
              </a:spcAft>
              <a:buNone/>
            </a:pPr>
            <a:r>
              <a:rPr lang="en-US" sz="1600" b="1" i="0" dirty="0">
                <a:solidFill>
                  <a:schemeClr val="bg1"/>
                </a:solidFill>
              </a:rPr>
              <a:t xml:space="preserve">10</a:t>
            </a:r>
            <a:endParaRPr lang="en-US" sz="1600" dirty="0"/>
          </a:p>
        </p:txBody>
      </p:sp>
      <p:sp>
        <p:nvSpPr>
          <p:cNvPr id="34" name="Topic text 10"/>
          <p:cNvSpPr txBox="1"/>
          <p:nvPr/>
        </p:nvSpPr>
        <p:spPr>
          <a:xfrm>
            <a:off x="5715000" y="5221224"/>
            <a:ext cx="3108960" cy="694944"/>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400" b="1" i="0" dirty="0">
                <a:solidFill>
                  <a:schemeClr val="tx2"/>
                </a:solidFill>
              </a:rPr>
              <a:t xml:space="preserve">Applications, Limitations &amp; Future Scope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p:nvPr>
            <p:ph type="title"/>
          </p:nvPr>
        </p:nvSpPr>
        <p:spPr>
          <a:xfrm>
            <a:off x="640080" y="256032"/>
            <a:ext cx="8321040" cy="86868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2600" b="1" i="0" dirty="0">
                <a:solidFill>
                  <a:schemeClr val="tx2"/>
                </a:solidFill>
              </a:rPr>
              <a:t xml:space="preserve">Sound, Pressure and the Decibel</a:t>
            </a:r>
            <a:endParaRPr lang="en-US" sz="2600" dirty="0"/>
          </a:p>
        </p:txBody>
      </p:sp>
      <p:sp>
        <p:nvSpPr>
          <p:cNvPr id="3" name="Footer"/>
          <p:cNvSpPr txBox="1"/>
          <p:nvPr/>
        </p:nvSpPr>
        <p:spPr>
          <a:xfrm>
            <a:off x="640080" y="6455664"/>
            <a:ext cx="6949440" cy="256032"/>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000" b="0" i="0" dirty="0">
                <a:solidFill>
                  <a:srgbClr val="6B7C84"/>
                </a:solidFill>
              </a:rPr>
              <a:t xml:space="preserve">Sayantan Bharati  |  BWU/BTS/25/503  |  Section B  |  COA (BTS30101)</a:t>
            </a:r>
            <a:endParaRPr lang="en-US" sz="1000" dirty="0"/>
          </a:p>
        </p:txBody>
      </p:sp>
      <p:sp>
        <p:nvSpPr>
          <p:cNvPr id="4" name="Slide Number"/>
          <p:cNvSpPr txBox="1"/>
          <p:nvPr/>
        </p:nvSpPr>
        <p:spPr>
          <a:xfrm>
            <a:off x="8138160" y="6455664"/>
            <a:ext cx="822960" cy="256032"/>
          </a:xfrm>
          <a:prstGeom prst="rect">
            <a:avLst/>
          </a:prstGeom>
          <a:noFill/>
        </p:spPr>
        <p:txBody>
          <a:bodyPr wrap="square" lIns="0" tIns="0" rIns="0" bIns="0" anchor="ctr">
            <a:noAutofit/>
          </a:bodyPr>
          <a:lstStyle/>
          <a:p>
            <a:pPr algn="r"/>
            <a:fld id="{B6F15528-21DE-4FAA-801E-634DDDAF4B2B}" type="slidenum">
              <a:rPr lang="en-US" sz="1000" dirty="0">
                <a:solidFill>
                  <a:srgbClr val="6B7C84"/>
                </a:solidFill>
              </a:rPr>
              <a:t>4</a:t>
            </a:fld>
          </a:p>
        </p:txBody>
      </p:sp>
      <p:sp>
        <p:nvSpPr>
          <p:cNvPr id="5" name="Bullets"/>
          <p:cNvSpPr txBox="1"/>
          <p:nvPr/>
        </p:nvSpPr>
        <p:spPr>
          <a:xfrm>
            <a:off x="640080" y="1280160"/>
            <a:ext cx="4343400" cy="4206240"/>
          </a:xfrm>
          <a:prstGeom prst="rect">
            <a:avLst/>
          </a:prstGeom>
          <a:noFill/>
          <a:ln>
            <a:noFill/>
          </a:ln>
        </p:spPr>
        <p:txBody>
          <a:bodyPr wrap="square" lIns="0" tIns="0" rIns="0" bIns="0" rtlCol="0" anchor="t">
            <a:noAutofit/>
          </a:bodyPr>
          <a:lstStyle/>
          <a:p>
            <a:pPr marL="201168" indent="-201168" algn="l">
              <a:lnSpc>
                <a:spcPct val="100000"/>
              </a:lnSpc>
              <a:spcBef>
                <a:spcPts val="0"/>
              </a:spcBef>
              <a:spcAft>
                <a:spcPts val="800"/>
              </a:spcAft>
              <a:buClr>
                <a:schemeClr val="accent2"/>
              </a:buClr>
              <a:buFont typeface="Arial"/>
              <a:buChar char="•"/>
            </a:pPr>
            <a:r>
              <a:rPr lang="en-US" sz="1500" b="0" i="0" dirty="0">
                <a:solidFill>
                  <a:schemeClr val="tx2"/>
                </a:solidFill>
              </a:rPr>
              <a:t xml:space="preserve">Sound = tiny air-pressure variations; measured in </a:t>
            </a:r>
            <a:r>
              <a:rPr lang="en-US" sz="1500" b="1" i="0" dirty="0">
                <a:solidFill>
                  <a:schemeClr val="tx2"/>
                </a:solidFill>
              </a:rPr>
              <a:t xml:space="preserve">pascals (Pa)</a:t>
            </a:r>
            <a:r>
              <a:rPr lang="en-US" sz="1500" b="0" i="0" dirty="0">
                <a:solidFill>
                  <a:schemeClr val="tx2"/>
                </a:solidFill>
              </a:rPr>
              <a:t xml:space="preserve">.</a:t>
            </a:r>
            <a:endParaRPr lang="en-US" sz="1500" dirty="0"/>
          </a:p>
          <a:p>
            <a:pPr marL="201168" indent="-201168" algn="l">
              <a:lnSpc>
                <a:spcPct val="100000"/>
              </a:lnSpc>
              <a:spcBef>
                <a:spcPts val="0"/>
              </a:spcBef>
              <a:spcAft>
                <a:spcPts val="800"/>
              </a:spcAft>
              <a:buClr>
                <a:schemeClr val="accent2"/>
              </a:buClr>
              <a:buFont typeface="Arial"/>
              <a:buChar char="•"/>
            </a:pPr>
            <a:r>
              <a:rPr lang="en-US" sz="1500" b="0" i="0" dirty="0">
                <a:solidFill>
                  <a:schemeClr val="tx2"/>
                </a:solidFill>
              </a:rPr>
              <a:t xml:space="preserve">Reference pressure for hearing: </a:t>
            </a:r>
            <a:r>
              <a:rPr lang="en-US" sz="1500" b="1" i="0" dirty="0">
                <a:solidFill>
                  <a:schemeClr val="tx2"/>
                </a:solidFill>
              </a:rPr>
              <a:t xml:space="preserve">p₀ = 20 µPa</a:t>
            </a:r>
            <a:r>
              <a:rPr lang="en-US" sz="1500" b="0" i="0" dirty="0">
                <a:solidFill>
                  <a:schemeClr val="tx2"/>
                </a:solidFill>
              </a:rPr>
              <a:t xml:space="preserve"> (threshold of hearing).</a:t>
            </a:r>
            <a:endParaRPr lang="en-US" sz="1500" dirty="0"/>
          </a:p>
          <a:p>
            <a:pPr marL="201168" indent="-201168" algn="l">
              <a:lnSpc>
                <a:spcPct val="100000"/>
              </a:lnSpc>
              <a:spcBef>
                <a:spcPts val="0"/>
              </a:spcBef>
              <a:spcAft>
                <a:spcPts val="800"/>
              </a:spcAft>
              <a:buClr>
                <a:schemeClr val="accent2"/>
              </a:buClr>
              <a:buFont typeface="Arial"/>
              <a:buChar char="•"/>
            </a:pPr>
            <a:r>
              <a:rPr lang="en-US" sz="1500" b="1" i="0" dirty="0">
                <a:solidFill>
                  <a:schemeClr val="tx2"/>
                </a:solidFill>
              </a:rPr>
              <a:t xml:space="preserve">Sound Pressure Level:</a:t>
            </a:r>
            <a:r>
              <a:rPr lang="en-US" sz="1500" b="0" i="0" dirty="0">
                <a:solidFill>
                  <a:schemeClr val="tx2"/>
                </a:solidFill>
              </a:rPr>
              <a:t xml:space="preserve"> </a:t>
            </a:r>
            <a:r>
              <a:rPr lang="en-US" sz="1500" b="1" i="0" dirty="0">
                <a:solidFill>
                  <a:schemeClr val="tx2"/>
                </a:solidFill>
                <a:latin typeface="Courier New"/>
                <a:cs typeface="Courier New"/>
              </a:rPr>
              <a:t xml:space="preserve">SPL = 20 · log₁₀(p / p₀)</a:t>
            </a:r>
            <a:r>
              <a:rPr lang="en-US" sz="1500" b="0" i="0" dirty="0">
                <a:solidFill>
                  <a:schemeClr val="tx2"/>
                </a:solidFill>
              </a:rPr>
              <a:t xml:space="preserve"> dB.</a:t>
            </a:r>
            <a:endParaRPr lang="en-US" sz="1500" dirty="0"/>
          </a:p>
          <a:p>
            <a:pPr marL="201168" indent="-201168" algn="l">
              <a:lnSpc>
                <a:spcPct val="100000"/>
              </a:lnSpc>
              <a:spcBef>
                <a:spcPts val="0"/>
              </a:spcBef>
              <a:spcAft>
                <a:spcPts val="800"/>
              </a:spcAft>
              <a:buClr>
                <a:schemeClr val="accent2"/>
              </a:buClr>
              <a:buFont typeface="Arial"/>
              <a:buChar char="•"/>
            </a:pPr>
            <a:r>
              <a:rPr lang="en-US" sz="1500" b="0" i="0" dirty="0">
                <a:solidFill>
                  <a:schemeClr val="tx2"/>
                </a:solidFill>
              </a:rPr>
              <a:t xml:space="preserve">Why 20? dB is power-based: </a:t>
            </a:r>
            <a:r>
              <a:rPr lang="en-US" sz="1500" b="1" i="0" dirty="0">
                <a:solidFill>
                  <a:schemeClr val="tx2"/>
                </a:solidFill>
                <a:latin typeface="Courier New"/>
                <a:cs typeface="Courier New"/>
              </a:rPr>
              <a:t xml:space="preserve">10·log₁₀(P/P₀)</a:t>
            </a:r>
            <a:r>
              <a:rPr lang="en-US" sz="1500" b="0" i="0" dirty="0">
                <a:solidFill>
                  <a:schemeClr val="tx2"/>
                </a:solidFill>
              </a:rPr>
              <a:t xml:space="preserve">, and power ∝ amplitude².</a:t>
            </a:r>
            <a:endParaRPr lang="en-US" sz="1500" dirty="0"/>
          </a:p>
          <a:p>
            <a:pPr marL="201168" indent="-201168" algn="l">
              <a:lnSpc>
                <a:spcPct val="100000"/>
              </a:lnSpc>
              <a:spcBef>
                <a:spcPts val="0"/>
              </a:spcBef>
              <a:spcAft>
                <a:spcPts val="800"/>
              </a:spcAft>
              <a:buClr>
                <a:schemeClr val="accent2"/>
              </a:buClr>
              <a:buFont typeface="Arial"/>
              <a:buChar char="•"/>
            </a:pPr>
            <a:r>
              <a:rPr lang="en-US" sz="1500" b="0" i="0" dirty="0">
                <a:solidFill>
                  <a:schemeClr val="tx2"/>
                </a:solidFill>
              </a:rPr>
              <a:t xml:space="preserve">Examples: whisper (~30 dB), conversation (~60 dB), traffic (~85 dB), pain (~120 dB).</a:t>
            </a:r>
            <a:endParaRPr lang="en-US" sz="1500" dirty="0"/>
          </a:p>
          <a:p>
            <a:pPr marL="201168" indent="-201168" algn="l">
              <a:lnSpc>
                <a:spcPct val="100000"/>
              </a:lnSpc>
              <a:spcBef>
                <a:spcPts val="0"/>
              </a:spcBef>
              <a:spcAft>
                <a:spcPts val="800"/>
              </a:spcAft>
              <a:buClr>
                <a:schemeClr val="accent2"/>
              </a:buClr>
              <a:buFont typeface="Arial"/>
              <a:buChar char="•"/>
            </a:pPr>
            <a:r>
              <a:rPr lang="en-US" sz="1500" b="1" i="0" dirty="0">
                <a:solidFill>
                  <a:schemeClr val="tx2"/>
                </a:solidFill>
              </a:rPr>
              <a:t xml:space="preserve">dB(A)</a:t>
            </a:r>
            <a:r>
              <a:rPr lang="en-US" sz="1500" b="0" i="0" dirty="0">
                <a:solidFill>
                  <a:schemeClr val="tx2"/>
                </a:solidFill>
              </a:rPr>
              <a:t xml:space="preserve"> weighting mimics the ear's sensitivity; peak level is what causes damage.</a:t>
            </a:r>
            <a:endParaRPr lang="en-US" sz="1500" dirty="0"/>
          </a:p>
        </p:txBody>
      </p:sp>
      <p:sp>
        <p:nvSpPr>
          <p:cNvPr id="6" name="Ladder panel"/>
          <p:cNvSpPr/>
          <p:nvPr/>
        </p:nvSpPr>
        <p:spPr>
          <a:xfrm>
            <a:off x="5212080" y="1280160"/>
            <a:ext cx="3749040" cy="4160520"/>
          </a:xfrm>
          <a:prstGeom prst="roundRect">
            <a:avLst>
              <a:gd name="adj" fmla="val 5000"/>
            </a:avLst>
          </a:prstGeom>
          <a:solidFill>
            <a:schemeClr val="accent1">
              <a:alpha val="14000"/>
            </a:schemeClr>
          </a:solidFill>
          <a:ln>
            <a:noFill/>
          </a:ln>
        </p:spPr>
      </p:sp>
      <p:sp>
        <p:nvSpPr>
          <p:cNvPr id="7" name="Ladder caption"/>
          <p:cNvSpPr txBox="1"/>
          <p:nvPr/>
        </p:nvSpPr>
        <p:spPr>
          <a:xfrm>
            <a:off x="5349240" y="1344168"/>
            <a:ext cx="3474720" cy="27432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200" b="1" i="0" dirty="0">
                <a:solidFill>
                  <a:schemeClr val="tx2"/>
                </a:solidFill>
              </a:rPr>
              <a:t xml:space="preserve">The decibel ladder</a:t>
            </a:r>
            <a:endParaRPr lang="en-US" sz="1200" dirty="0"/>
          </a:p>
        </p:txBody>
      </p:sp>
      <p:sp>
        <p:nvSpPr>
          <p:cNvPr id="8" name="Ladder label 0"/>
          <p:cNvSpPr txBox="1"/>
          <p:nvPr/>
        </p:nvSpPr>
        <p:spPr>
          <a:xfrm>
            <a:off x="5349240" y="1737360"/>
            <a:ext cx="1600200" cy="45720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100" b="0" i="0" dirty="0">
                <a:solidFill>
                  <a:schemeClr val="tx2"/>
                </a:solidFill>
              </a:rPr>
              <a:t xml:space="preserve">Threshold of hearing</a:t>
            </a:r>
            <a:endParaRPr lang="en-US" sz="1100" dirty="0"/>
          </a:p>
        </p:txBody>
      </p:sp>
      <p:sp>
        <p:nvSpPr>
          <p:cNvPr id="9" name="Ladder bar 0"/>
          <p:cNvSpPr/>
          <p:nvPr/>
        </p:nvSpPr>
        <p:spPr>
          <a:xfrm>
            <a:off x="6995160" y="1792224"/>
            <a:ext cx="109728" cy="347472"/>
          </a:xfrm>
          <a:prstGeom prst="roundRect">
            <a:avLst>
              <a:gd name="adj" fmla="val 20000"/>
            </a:avLst>
          </a:prstGeom>
          <a:solidFill>
            <a:schemeClr val="accent1"/>
          </a:solidFill>
          <a:ln>
            <a:noFill/>
          </a:ln>
        </p:spPr>
      </p:sp>
      <p:sp>
        <p:nvSpPr>
          <p:cNvPr id="10" name="Ladder value 0"/>
          <p:cNvSpPr txBox="1"/>
          <p:nvPr/>
        </p:nvSpPr>
        <p:spPr>
          <a:xfrm>
            <a:off x="7159752" y="1737360"/>
            <a:ext cx="777240" cy="45720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100" b="1" i="0" dirty="0">
                <a:solidFill>
                  <a:schemeClr val="tx2"/>
                </a:solidFill>
              </a:rPr>
              <a:t xml:space="preserve">0 dB</a:t>
            </a:r>
            <a:endParaRPr lang="en-US" sz="1100" dirty="0"/>
          </a:p>
        </p:txBody>
      </p:sp>
      <p:sp>
        <p:nvSpPr>
          <p:cNvPr id="11" name="Ladder label 30"/>
          <p:cNvSpPr txBox="1"/>
          <p:nvPr/>
        </p:nvSpPr>
        <p:spPr>
          <a:xfrm>
            <a:off x="5349240" y="2340864"/>
            <a:ext cx="1600200" cy="45720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100" b="0" i="0" dirty="0">
                <a:solidFill>
                  <a:schemeClr val="tx2"/>
                </a:solidFill>
              </a:rPr>
              <a:t xml:space="preserve">Whisper</a:t>
            </a:r>
            <a:endParaRPr lang="en-US" sz="1100" dirty="0"/>
          </a:p>
        </p:txBody>
      </p:sp>
      <p:sp>
        <p:nvSpPr>
          <p:cNvPr id="12" name="Ladder bar 30"/>
          <p:cNvSpPr/>
          <p:nvPr/>
        </p:nvSpPr>
        <p:spPr>
          <a:xfrm>
            <a:off x="6995160" y="2395728"/>
            <a:ext cx="285750" cy="347472"/>
          </a:xfrm>
          <a:prstGeom prst="roundRect">
            <a:avLst>
              <a:gd name="adj" fmla="val 20000"/>
            </a:avLst>
          </a:prstGeom>
          <a:solidFill>
            <a:schemeClr val="accent1"/>
          </a:solidFill>
          <a:ln>
            <a:noFill/>
          </a:ln>
        </p:spPr>
      </p:sp>
      <p:sp>
        <p:nvSpPr>
          <p:cNvPr id="13" name="Ladder value 30"/>
          <p:cNvSpPr txBox="1"/>
          <p:nvPr/>
        </p:nvSpPr>
        <p:spPr>
          <a:xfrm>
            <a:off x="7335774" y="2340864"/>
            <a:ext cx="777240" cy="45720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100" b="1" i="0" dirty="0">
                <a:solidFill>
                  <a:schemeClr val="tx2"/>
                </a:solidFill>
              </a:rPr>
              <a:t xml:space="preserve">30 dB</a:t>
            </a:r>
            <a:endParaRPr lang="en-US" sz="1100" dirty="0"/>
          </a:p>
        </p:txBody>
      </p:sp>
      <p:sp>
        <p:nvSpPr>
          <p:cNvPr id="14" name="Ladder label 60"/>
          <p:cNvSpPr txBox="1"/>
          <p:nvPr/>
        </p:nvSpPr>
        <p:spPr>
          <a:xfrm>
            <a:off x="5349240" y="2944368"/>
            <a:ext cx="1600200" cy="45720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100" b="0" i="0" dirty="0">
                <a:solidFill>
                  <a:schemeClr val="tx2"/>
                </a:solidFill>
              </a:rPr>
              <a:t xml:space="preserve">Normal conversation</a:t>
            </a:r>
            <a:endParaRPr lang="en-US" sz="1100" dirty="0"/>
          </a:p>
        </p:txBody>
      </p:sp>
      <p:sp>
        <p:nvSpPr>
          <p:cNvPr id="15" name="Ladder bar 60"/>
          <p:cNvSpPr/>
          <p:nvPr/>
        </p:nvSpPr>
        <p:spPr>
          <a:xfrm>
            <a:off x="6995160" y="2999232"/>
            <a:ext cx="571500" cy="347472"/>
          </a:xfrm>
          <a:prstGeom prst="roundRect">
            <a:avLst>
              <a:gd name="adj" fmla="val 20000"/>
            </a:avLst>
          </a:prstGeom>
          <a:solidFill>
            <a:schemeClr val="accent1"/>
          </a:solidFill>
          <a:ln>
            <a:noFill/>
          </a:ln>
        </p:spPr>
      </p:sp>
      <p:sp>
        <p:nvSpPr>
          <p:cNvPr id="16" name="Ladder value 60"/>
          <p:cNvSpPr txBox="1"/>
          <p:nvPr/>
        </p:nvSpPr>
        <p:spPr>
          <a:xfrm>
            <a:off x="7621524" y="2944368"/>
            <a:ext cx="777240" cy="45720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100" b="1" i="0" dirty="0">
                <a:solidFill>
                  <a:schemeClr val="tx2"/>
                </a:solidFill>
              </a:rPr>
              <a:t xml:space="preserve">60 dB</a:t>
            </a:r>
            <a:endParaRPr lang="en-US" sz="1100" dirty="0"/>
          </a:p>
        </p:txBody>
      </p:sp>
      <p:sp>
        <p:nvSpPr>
          <p:cNvPr id="17" name="Ladder label 85"/>
          <p:cNvSpPr txBox="1"/>
          <p:nvPr/>
        </p:nvSpPr>
        <p:spPr>
          <a:xfrm>
            <a:off x="5349240" y="3547872"/>
            <a:ext cx="1600200" cy="45720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100" b="0" i="0" dirty="0">
                <a:solidFill>
                  <a:schemeClr val="tx2"/>
                </a:solidFill>
              </a:rPr>
              <a:t xml:space="preserve">Traffic (safe limit)</a:t>
            </a:r>
            <a:endParaRPr lang="en-US" sz="1100" dirty="0"/>
          </a:p>
        </p:txBody>
      </p:sp>
      <p:sp>
        <p:nvSpPr>
          <p:cNvPr id="18" name="Ladder bar 85"/>
          <p:cNvSpPr/>
          <p:nvPr/>
        </p:nvSpPr>
        <p:spPr>
          <a:xfrm>
            <a:off x="6995160" y="3602736"/>
            <a:ext cx="809625" cy="347472"/>
          </a:xfrm>
          <a:prstGeom prst="roundRect">
            <a:avLst>
              <a:gd name="adj" fmla="val 20000"/>
            </a:avLst>
          </a:prstGeom>
          <a:solidFill>
            <a:schemeClr val="accent3"/>
          </a:solidFill>
          <a:ln>
            <a:noFill/>
          </a:ln>
        </p:spPr>
      </p:sp>
      <p:sp>
        <p:nvSpPr>
          <p:cNvPr id="19" name="Ladder value 85"/>
          <p:cNvSpPr txBox="1"/>
          <p:nvPr/>
        </p:nvSpPr>
        <p:spPr>
          <a:xfrm>
            <a:off x="7859649" y="3547872"/>
            <a:ext cx="777240" cy="45720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100" b="1" i="0" dirty="0">
                <a:solidFill>
                  <a:schemeClr val="tx2"/>
                </a:solidFill>
              </a:rPr>
              <a:t xml:space="preserve">85 dB</a:t>
            </a:r>
            <a:endParaRPr lang="en-US" sz="1100" dirty="0"/>
          </a:p>
        </p:txBody>
      </p:sp>
      <p:sp>
        <p:nvSpPr>
          <p:cNvPr id="20" name="Ladder label 100"/>
          <p:cNvSpPr txBox="1"/>
          <p:nvPr/>
        </p:nvSpPr>
        <p:spPr>
          <a:xfrm>
            <a:off x="5349240" y="4151376"/>
            <a:ext cx="1600200" cy="45720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100" b="0" i="0" dirty="0">
                <a:solidFill>
                  <a:schemeClr val="tx2"/>
                </a:solidFill>
              </a:rPr>
              <a:t xml:space="preserve">Jackhammer</a:t>
            </a:r>
            <a:endParaRPr lang="en-US" sz="1100" dirty="0"/>
          </a:p>
        </p:txBody>
      </p:sp>
      <p:sp>
        <p:nvSpPr>
          <p:cNvPr id="21" name="Ladder bar 100"/>
          <p:cNvSpPr/>
          <p:nvPr/>
        </p:nvSpPr>
        <p:spPr>
          <a:xfrm>
            <a:off x="6995160" y="4206240"/>
            <a:ext cx="952500" cy="347472"/>
          </a:xfrm>
          <a:prstGeom prst="roundRect">
            <a:avLst>
              <a:gd name="adj" fmla="val 20000"/>
            </a:avLst>
          </a:prstGeom>
          <a:solidFill>
            <a:schemeClr val="accent3"/>
          </a:solidFill>
          <a:ln>
            <a:noFill/>
          </a:ln>
        </p:spPr>
      </p:sp>
      <p:sp>
        <p:nvSpPr>
          <p:cNvPr id="22" name="Ladder value 100"/>
          <p:cNvSpPr txBox="1"/>
          <p:nvPr/>
        </p:nvSpPr>
        <p:spPr>
          <a:xfrm>
            <a:off x="8002524" y="4151376"/>
            <a:ext cx="777240" cy="45720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100" b="1" i="0" dirty="0">
                <a:solidFill>
                  <a:schemeClr val="tx2"/>
                </a:solidFill>
              </a:rPr>
              <a:t xml:space="preserve">100 dB</a:t>
            </a:r>
            <a:endParaRPr lang="en-US" sz="1100" dirty="0"/>
          </a:p>
        </p:txBody>
      </p:sp>
      <p:sp>
        <p:nvSpPr>
          <p:cNvPr id="23" name="Ladder label 120"/>
          <p:cNvSpPr txBox="1"/>
          <p:nvPr/>
        </p:nvSpPr>
        <p:spPr>
          <a:xfrm>
            <a:off x="5349240" y="4754880"/>
            <a:ext cx="1600200" cy="45720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100" b="0" i="0" dirty="0">
                <a:solidFill>
                  <a:schemeClr val="tx2"/>
                </a:solidFill>
              </a:rPr>
              <a:t xml:space="preserve">Pain threshold</a:t>
            </a:r>
            <a:endParaRPr lang="en-US" sz="1100" dirty="0"/>
          </a:p>
        </p:txBody>
      </p:sp>
      <p:sp>
        <p:nvSpPr>
          <p:cNvPr id="24" name="Ladder bar 120"/>
          <p:cNvSpPr/>
          <p:nvPr/>
        </p:nvSpPr>
        <p:spPr>
          <a:xfrm>
            <a:off x="6995160" y="4809744"/>
            <a:ext cx="1143000" cy="347472"/>
          </a:xfrm>
          <a:prstGeom prst="roundRect">
            <a:avLst>
              <a:gd name="adj" fmla="val 20000"/>
            </a:avLst>
          </a:prstGeom>
          <a:solidFill>
            <a:schemeClr val="accent5"/>
          </a:solidFill>
          <a:ln>
            <a:noFill/>
          </a:ln>
        </p:spPr>
      </p:sp>
      <p:sp>
        <p:nvSpPr>
          <p:cNvPr id="25" name="Ladder value 120"/>
          <p:cNvSpPr txBox="1"/>
          <p:nvPr/>
        </p:nvSpPr>
        <p:spPr>
          <a:xfrm>
            <a:off x="8193024" y="4754880"/>
            <a:ext cx="777240" cy="45720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100" b="1" i="0" dirty="0">
                <a:solidFill>
                  <a:schemeClr val="tx2"/>
                </a:solidFill>
              </a:rPr>
              <a:t xml:space="preserve">120 dB</a:t>
            </a:r>
            <a:endParaRPr lang="en-US" sz="1100" dirty="0"/>
          </a:p>
        </p:txBody>
      </p:sp>
      <p:sp>
        <p:nvSpPr>
          <p:cNvPr id="26" name="Formula callout" descr="SPL formula callout"/>
          <p:cNvSpPr/>
          <p:nvPr/>
        </p:nvSpPr>
        <p:spPr>
          <a:xfrm>
            <a:off x="640080" y="5577840"/>
            <a:ext cx="8321040" cy="685800"/>
          </a:xfrm>
          <a:prstGeom prst="roundRect">
            <a:avLst>
              <a:gd name="adj" fmla="val 14000"/>
            </a:avLst>
          </a:prstGeom>
          <a:solidFill>
            <a:schemeClr val="tx2"/>
          </a:solidFill>
          <a:ln>
            <a:noFill/>
          </a:ln>
        </p:spPr>
        <p:txBody>
          <a:bodyPr wrap="square" lIns="73152" tIns="36576" rIns="73152" bIns="36576" rtlCol="0" anchor="ctr">
            <a:noAutofit/>
          </a:bodyPr>
          <a:lstStyle/>
          <a:p>
            <a:pPr marL="0" indent="0" algn="ctr">
              <a:lnSpc>
                <a:spcPct val="100000"/>
              </a:lnSpc>
              <a:spcBef>
                <a:spcPts val="0"/>
              </a:spcBef>
              <a:spcAft>
                <a:spcPts val="0"/>
              </a:spcAft>
              <a:buNone/>
            </a:pPr>
            <a:r>
              <a:rPr lang="en-US" sz="2200" b="1" i="0" dirty="0">
                <a:solidFill>
                  <a:schemeClr val="bg1"/>
                </a:solidFill>
                <a:latin typeface="Courier New"/>
                <a:cs typeface="Courier New"/>
              </a:rPr>
              <a:t xml:space="preserve">SPL = 20 · log₁₀( p / p₀ )  dB</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p:nvPr>
            <p:ph type="title"/>
          </p:nvPr>
        </p:nvSpPr>
        <p:spPr>
          <a:xfrm>
            <a:off x="640080" y="256032"/>
            <a:ext cx="8321040" cy="86868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2600" b="1" i="0" dirty="0">
                <a:solidFill>
                  <a:schemeClr val="tx2"/>
                </a:solidFill>
              </a:rPr>
              <a:t xml:space="preserve">System Overview</a:t>
            </a:r>
            <a:endParaRPr lang="en-US" sz="2600" dirty="0"/>
          </a:p>
        </p:txBody>
      </p:sp>
      <p:sp>
        <p:nvSpPr>
          <p:cNvPr id="3" name="Footer"/>
          <p:cNvSpPr txBox="1"/>
          <p:nvPr/>
        </p:nvSpPr>
        <p:spPr>
          <a:xfrm>
            <a:off x="640080" y="6455664"/>
            <a:ext cx="6949440" cy="256032"/>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000" b="0" i="0" dirty="0">
                <a:solidFill>
                  <a:srgbClr val="6B7C84"/>
                </a:solidFill>
              </a:rPr>
              <a:t xml:space="preserve">Sayantan Bharati  |  BWU/BTS/25/503  |  Section B  |  COA (BTS30101)</a:t>
            </a:r>
            <a:endParaRPr lang="en-US" sz="1000" dirty="0"/>
          </a:p>
        </p:txBody>
      </p:sp>
      <p:sp>
        <p:nvSpPr>
          <p:cNvPr id="4" name="Slide Number"/>
          <p:cNvSpPr txBox="1"/>
          <p:nvPr/>
        </p:nvSpPr>
        <p:spPr>
          <a:xfrm>
            <a:off x="8138160" y="6455664"/>
            <a:ext cx="822960" cy="256032"/>
          </a:xfrm>
          <a:prstGeom prst="rect">
            <a:avLst/>
          </a:prstGeom>
          <a:noFill/>
        </p:spPr>
        <p:txBody>
          <a:bodyPr wrap="square" lIns="0" tIns="0" rIns="0" bIns="0" anchor="ctr">
            <a:noAutofit/>
          </a:bodyPr>
          <a:lstStyle/>
          <a:p>
            <a:pPr algn="r"/>
            <a:fld id="{B6F15528-21DE-4FAA-801E-634DDDAF4B2B}" type="slidenum">
              <a:rPr lang="en-US" sz="1000" dirty="0">
                <a:solidFill>
                  <a:srgbClr val="6B7C84"/>
                </a:solidFill>
              </a:rPr>
              <a:t>5</a:t>
            </a:fld>
          </a:p>
        </p:txBody>
      </p:sp>
      <p:sp>
        <p:nvSpPr>
          <p:cNvPr id="5" name="Bullets"/>
          <p:cNvSpPr txBox="1"/>
          <p:nvPr/>
        </p:nvSpPr>
        <p:spPr>
          <a:xfrm>
            <a:off x="640080" y="1280160"/>
            <a:ext cx="8321040" cy="1920240"/>
          </a:xfrm>
          <a:prstGeom prst="rect">
            <a:avLst/>
          </a:prstGeom>
          <a:noFill/>
          <a:ln>
            <a:noFill/>
          </a:ln>
        </p:spPr>
        <p:txBody>
          <a:bodyPr wrap="square" lIns="0" tIns="0" rIns="0" bIns="0" rtlCol="0" anchor="t">
            <a:noAutofit/>
          </a:bodyPr>
          <a:lstStyle/>
          <a:p>
            <a:pPr marL="201168" indent="-201168" algn="l">
              <a:lnSpc>
                <a:spcPct val="100000"/>
              </a:lnSpc>
              <a:spcBef>
                <a:spcPts val="0"/>
              </a:spcBef>
              <a:spcAft>
                <a:spcPts val="500"/>
              </a:spcAft>
              <a:buClr>
                <a:schemeClr val="accent2"/>
              </a:buClr>
              <a:buFont typeface="Arial"/>
              <a:buChar char="•"/>
            </a:pPr>
            <a:r>
              <a:rPr lang="en-US" sz="1500" b="0" i="0" dirty="0">
                <a:solidFill>
                  <a:schemeClr val="tx2"/>
                </a:solidFill>
              </a:rPr>
              <a:t xml:space="preserve">Signal chain: </a:t>
            </a:r>
            <a:r>
              <a:rPr lang="en-US" sz="1500" b="1" i="0" dirty="0">
                <a:solidFill>
                  <a:schemeClr val="tx2"/>
                </a:solidFill>
              </a:rPr>
              <a:t xml:space="preserve">Microphone → Preamp/Filter → ADC → Digital Processing → Display</a:t>
            </a:r>
            <a:r>
              <a:rPr lang="en-US" sz="1500" b="0" i="0" dirty="0">
                <a:solidFill>
                  <a:schemeClr val="tx2"/>
                </a:solidFill>
              </a:rPr>
              <a:t xml:space="preserve">.</a:t>
            </a:r>
            <a:endParaRPr lang="en-US" sz="1500" dirty="0"/>
          </a:p>
          <a:p>
            <a:pPr marL="201168" indent="-201168" algn="l">
              <a:lnSpc>
                <a:spcPct val="100000"/>
              </a:lnSpc>
              <a:spcBef>
                <a:spcPts val="0"/>
              </a:spcBef>
              <a:spcAft>
                <a:spcPts val="500"/>
              </a:spcAft>
              <a:buClr>
                <a:schemeClr val="accent2"/>
              </a:buClr>
              <a:buFont typeface="Arial"/>
              <a:buChar char="•"/>
            </a:pPr>
            <a:r>
              <a:rPr lang="en-US" sz="1500" b="0" i="0" dirty="0">
                <a:solidFill>
                  <a:schemeClr val="tx2"/>
                </a:solidFill>
              </a:rPr>
              <a:t xml:space="preserve">A </a:t>
            </a:r>
            <a:r>
              <a:rPr lang="en-US" sz="1500" b="1" i="0" dirty="0">
                <a:solidFill>
                  <a:schemeClr val="tx2"/>
                </a:solidFill>
              </a:rPr>
              <a:t xml:space="preserve">clock divider</a:t>
            </a:r>
            <a:r>
              <a:rPr lang="en-US" sz="1500" b="0" i="0" dirty="0">
                <a:solidFill>
                  <a:schemeClr val="tx2"/>
                </a:solidFill>
              </a:rPr>
              <a:t xml:space="preserve"> generates the slow sampling clock from the board's master clock.</a:t>
            </a:r>
            <a:endParaRPr lang="en-US" sz="1500" dirty="0"/>
          </a:p>
          <a:p>
            <a:pPr marL="201168" indent="-201168" algn="l">
              <a:lnSpc>
                <a:spcPct val="100000"/>
              </a:lnSpc>
              <a:spcBef>
                <a:spcPts val="0"/>
              </a:spcBef>
              <a:spcAft>
                <a:spcPts val="500"/>
              </a:spcAft>
              <a:buClr>
                <a:schemeClr val="accent2"/>
              </a:buClr>
              <a:buFont typeface="Arial"/>
              <a:buChar char="•"/>
            </a:pPr>
            <a:r>
              <a:rPr lang="en-US" sz="1500" b="0" i="0" dirty="0">
                <a:solidFill>
                  <a:schemeClr val="tx2"/>
                </a:solidFill>
              </a:rPr>
              <a:t xml:space="preserve">A </a:t>
            </a:r>
            <a:r>
              <a:rPr lang="en-US" sz="1500" b="1" i="0" dirty="0">
                <a:solidFill>
                  <a:schemeClr val="tx2"/>
                </a:solidFill>
              </a:rPr>
              <a:t xml:space="preserve">control FSM</a:t>
            </a:r>
            <a:r>
              <a:rPr lang="en-US" sz="1500" b="0" i="0" dirty="0">
                <a:solidFill>
                  <a:schemeClr val="tx2"/>
                </a:solidFill>
              </a:rPr>
              <a:t xml:space="preserve"> sequences convert, compute, update and hold phases.</a:t>
            </a:r>
            <a:endParaRPr lang="en-US" sz="1500" dirty="0"/>
          </a:p>
          <a:p>
            <a:pPr marL="201168" indent="-201168" algn="l">
              <a:lnSpc>
                <a:spcPct val="100000"/>
              </a:lnSpc>
              <a:spcBef>
                <a:spcPts val="0"/>
              </a:spcBef>
              <a:spcAft>
                <a:spcPts val="500"/>
              </a:spcAft>
              <a:buClr>
                <a:schemeClr val="accent2"/>
              </a:buClr>
              <a:buFont typeface="Arial"/>
              <a:buChar char="•"/>
            </a:pPr>
            <a:r>
              <a:rPr lang="en-US" sz="1500" b="0" i="0" dirty="0">
                <a:solidFill>
                  <a:schemeClr val="tx2"/>
                </a:solidFill>
              </a:rPr>
              <a:t xml:space="preserve">The </a:t>
            </a:r>
            <a:r>
              <a:rPr lang="en-US" sz="1500" b="1" i="0" dirty="0">
                <a:solidFill>
                  <a:schemeClr val="tx2"/>
                </a:solidFill>
              </a:rPr>
              <a:t xml:space="preserve">peak-hold</a:t>
            </a:r>
            <a:r>
              <a:rPr lang="en-US" sz="1500" b="0" i="0" dirty="0">
                <a:solidFill>
                  <a:schemeClr val="tx2"/>
                </a:solidFill>
              </a:rPr>
              <a:t xml:space="preserve"> block keeps the maximum dB value until reset or decay.</a:t>
            </a:r>
            <a:endParaRPr lang="en-US" sz="1500" dirty="0"/>
          </a:p>
          <a:p>
            <a:pPr marL="201168" indent="-201168" algn="l">
              <a:lnSpc>
                <a:spcPct val="100000"/>
              </a:lnSpc>
              <a:spcBef>
                <a:spcPts val="0"/>
              </a:spcBef>
              <a:spcAft>
                <a:spcPts val="500"/>
              </a:spcAft>
              <a:buClr>
                <a:schemeClr val="accent2"/>
              </a:buClr>
              <a:buFont typeface="Arial"/>
              <a:buChar char="•"/>
            </a:pPr>
            <a:r>
              <a:rPr lang="en-US" sz="1500" b="0" i="0" dirty="0">
                <a:solidFill>
                  <a:schemeClr val="tx2"/>
                </a:solidFill>
              </a:rPr>
              <a:t xml:space="preserve">Everything after the ADC is </a:t>
            </a:r>
            <a:r>
              <a:rPr lang="en-US" sz="1500" b="1" i="0" dirty="0">
                <a:solidFill>
                  <a:schemeClr val="tx2"/>
                </a:solidFill>
              </a:rPr>
              <a:t xml:space="preserve">fully digital</a:t>
            </a:r>
            <a:r>
              <a:rPr lang="en-US" sz="1500" b="0" i="0" dirty="0">
                <a:solidFill>
                  <a:schemeClr val="tx2"/>
                </a:solidFill>
              </a:rPr>
              <a:t xml:space="preserve"> — accurate and repeatable.</a:t>
            </a:r>
            <a:endParaRPr lang="en-US" sz="1500" dirty="0"/>
          </a:p>
        </p:txBody>
      </p:sp>
      <p:sp>
        <p:nvSpPr>
          <p:cNvPr id="6" name="Block Electret Mic"/>
          <p:cNvSpPr/>
          <p:nvPr/>
        </p:nvSpPr>
        <p:spPr>
          <a:xfrm>
            <a:off x="640080" y="4160520"/>
            <a:ext cx="960120" cy="777240"/>
          </a:xfrm>
          <a:prstGeom prst="roundRect">
            <a:avLst>
              <a:gd name="adj" fmla="val 12000"/>
            </a:avLst>
          </a:prstGeom>
          <a:solidFill>
            <a:schemeClr val="accent1">
              <a:alpha val="25000"/>
            </a:schemeClr>
          </a:solidFill>
          <a:ln w="19050">
            <a:solidFill>
              <a:schemeClr val="accent2"/>
            </a:solidFill>
            <a:round/>
          </a:ln>
        </p:spPr>
        <p:txBody>
          <a:bodyPr wrap="square" lIns="18288" tIns="27432" rIns="18288" bIns="27432" rtlCol="0" anchor="ctr">
            <a:noAutofit/>
          </a:bodyPr>
          <a:lstStyle/>
          <a:p>
            <a:pPr marL="0" indent="0" algn="ctr">
              <a:lnSpc>
                <a:spcPct val="100000"/>
              </a:lnSpc>
              <a:spcBef>
                <a:spcPts val="0"/>
              </a:spcBef>
              <a:spcAft>
                <a:spcPts val="0"/>
              </a:spcAft>
              <a:buNone/>
            </a:pPr>
            <a:r>
              <a:rPr lang="en-US" sz="1050" b="1" i="0" dirty="0">
                <a:solidFill>
                  <a:schemeClr val="tx2"/>
                </a:solidFill>
              </a:rPr>
              <a:t xml:space="preserve">Electret</a:t>
            </a:r>
            <a:endParaRPr lang="en-US" sz="1050" dirty="0"/>
          </a:p>
          <a:p>
            <a:pPr marL="0" indent="0" algn="ctr">
              <a:lnSpc>
                <a:spcPct val="100000"/>
              </a:lnSpc>
              <a:spcBef>
                <a:spcPts val="0"/>
              </a:spcBef>
              <a:spcAft>
                <a:spcPts val="0"/>
              </a:spcAft>
              <a:buNone/>
            </a:pPr>
            <a:r>
              <a:rPr lang="en-US" sz="1050" b="1" i="0" dirty="0">
                <a:solidFill>
                  <a:schemeClr val="tx2"/>
                </a:solidFill>
              </a:rPr>
              <a:t xml:space="preserve">Mic</a:t>
            </a:r>
            <a:endParaRPr lang="en-US" sz="1050" dirty="0"/>
          </a:p>
        </p:txBody>
      </p:sp>
      <p:sp>
        <p:nvSpPr>
          <p:cNvPr id="7" name="Block Preamp + Filter"/>
          <p:cNvSpPr/>
          <p:nvPr/>
        </p:nvSpPr>
        <p:spPr>
          <a:xfrm>
            <a:off x="1865376" y="4160520"/>
            <a:ext cx="960120" cy="777240"/>
          </a:xfrm>
          <a:prstGeom prst="roundRect">
            <a:avLst>
              <a:gd name="adj" fmla="val 12000"/>
            </a:avLst>
          </a:prstGeom>
          <a:solidFill>
            <a:schemeClr val="accent1">
              <a:alpha val="25000"/>
            </a:schemeClr>
          </a:solidFill>
          <a:ln w="19050">
            <a:solidFill>
              <a:schemeClr val="accent2"/>
            </a:solidFill>
            <a:round/>
          </a:ln>
        </p:spPr>
        <p:txBody>
          <a:bodyPr wrap="square" lIns="18288" tIns="27432" rIns="18288" bIns="27432" rtlCol="0" anchor="ctr">
            <a:noAutofit/>
          </a:bodyPr>
          <a:lstStyle/>
          <a:p>
            <a:pPr marL="0" indent="0" algn="ctr">
              <a:lnSpc>
                <a:spcPct val="100000"/>
              </a:lnSpc>
              <a:spcBef>
                <a:spcPts val="0"/>
              </a:spcBef>
              <a:spcAft>
                <a:spcPts val="0"/>
              </a:spcAft>
              <a:buNone/>
            </a:pPr>
            <a:r>
              <a:rPr lang="en-US" sz="1050" b="1" i="0" dirty="0">
                <a:solidFill>
                  <a:schemeClr val="tx2"/>
                </a:solidFill>
              </a:rPr>
              <a:t xml:space="preserve">Preamp +</a:t>
            </a:r>
            <a:endParaRPr lang="en-US" sz="1050" dirty="0"/>
          </a:p>
          <a:p>
            <a:pPr marL="0" indent="0" algn="ctr">
              <a:lnSpc>
                <a:spcPct val="100000"/>
              </a:lnSpc>
              <a:spcBef>
                <a:spcPts val="0"/>
              </a:spcBef>
              <a:spcAft>
                <a:spcPts val="0"/>
              </a:spcAft>
              <a:buNone/>
            </a:pPr>
            <a:r>
              <a:rPr lang="en-US" sz="1050" b="1" i="0" dirty="0">
                <a:solidFill>
                  <a:schemeClr val="tx2"/>
                </a:solidFill>
              </a:rPr>
              <a:t xml:space="preserve">Filter</a:t>
            </a:r>
            <a:endParaRPr lang="en-US" sz="1050" dirty="0"/>
          </a:p>
        </p:txBody>
      </p:sp>
      <p:sp>
        <p:nvSpPr>
          <p:cNvPr id="8" name="Block ADC 10-bit SAR"/>
          <p:cNvSpPr/>
          <p:nvPr/>
        </p:nvSpPr>
        <p:spPr>
          <a:xfrm>
            <a:off x="3090672" y="4160520"/>
            <a:ext cx="960120" cy="777240"/>
          </a:xfrm>
          <a:prstGeom prst="roundRect">
            <a:avLst>
              <a:gd name="adj" fmla="val 12000"/>
            </a:avLst>
          </a:prstGeom>
          <a:solidFill>
            <a:schemeClr val="accent1">
              <a:alpha val="25000"/>
            </a:schemeClr>
          </a:solidFill>
          <a:ln w="19050">
            <a:solidFill>
              <a:schemeClr val="accent2"/>
            </a:solidFill>
            <a:round/>
          </a:ln>
        </p:spPr>
        <p:txBody>
          <a:bodyPr wrap="square" lIns="18288" tIns="27432" rIns="18288" bIns="27432" rtlCol="0" anchor="ctr">
            <a:noAutofit/>
          </a:bodyPr>
          <a:lstStyle/>
          <a:p>
            <a:pPr marL="0" indent="0" algn="ctr">
              <a:lnSpc>
                <a:spcPct val="100000"/>
              </a:lnSpc>
              <a:spcBef>
                <a:spcPts val="0"/>
              </a:spcBef>
              <a:spcAft>
                <a:spcPts val="0"/>
              </a:spcAft>
              <a:buNone/>
            </a:pPr>
            <a:r>
              <a:rPr lang="en-US" sz="1050" b="1" i="0" dirty="0">
                <a:solidFill>
                  <a:schemeClr val="tx2"/>
                </a:solidFill>
              </a:rPr>
              <a:t xml:space="preserve">ADC</a:t>
            </a:r>
            <a:endParaRPr lang="en-US" sz="1050" dirty="0"/>
          </a:p>
          <a:p>
            <a:pPr marL="0" indent="0" algn="ctr">
              <a:lnSpc>
                <a:spcPct val="100000"/>
              </a:lnSpc>
              <a:spcBef>
                <a:spcPts val="0"/>
              </a:spcBef>
              <a:spcAft>
                <a:spcPts val="0"/>
              </a:spcAft>
              <a:buNone/>
            </a:pPr>
            <a:r>
              <a:rPr lang="en-US" sz="1050" b="1" i="0" dirty="0">
                <a:solidFill>
                  <a:schemeClr val="tx2"/>
                </a:solidFill>
              </a:rPr>
              <a:t xml:space="preserve">10-bit SAR</a:t>
            </a:r>
            <a:endParaRPr lang="en-US" sz="1050" dirty="0"/>
          </a:p>
        </p:txBody>
      </p:sp>
      <p:sp>
        <p:nvSpPr>
          <p:cNvPr id="9" name="Block RMS Engine"/>
          <p:cNvSpPr/>
          <p:nvPr/>
        </p:nvSpPr>
        <p:spPr>
          <a:xfrm>
            <a:off x="4315968" y="4160520"/>
            <a:ext cx="960120" cy="777240"/>
          </a:xfrm>
          <a:prstGeom prst="roundRect">
            <a:avLst>
              <a:gd name="adj" fmla="val 12000"/>
            </a:avLst>
          </a:prstGeom>
          <a:solidFill>
            <a:schemeClr val="accent1">
              <a:alpha val="25000"/>
            </a:schemeClr>
          </a:solidFill>
          <a:ln w="19050">
            <a:solidFill>
              <a:schemeClr val="accent2"/>
            </a:solidFill>
            <a:round/>
          </a:ln>
        </p:spPr>
        <p:txBody>
          <a:bodyPr wrap="square" lIns="18288" tIns="27432" rIns="18288" bIns="27432" rtlCol="0" anchor="ctr">
            <a:noAutofit/>
          </a:bodyPr>
          <a:lstStyle/>
          <a:p>
            <a:pPr marL="0" indent="0" algn="ctr">
              <a:lnSpc>
                <a:spcPct val="100000"/>
              </a:lnSpc>
              <a:spcBef>
                <a:spcPts val="0"/>
              </a:spcBef>
              <a:spcAft>
                <a:spcPts val="0"/>
              </a:spcAft>
              <a:buNone/>
            </a:pPr>
            <a:r>
              <a:rPr lang="en-US" sz="1050" b="1" i="0" dirty="0">
                <a:solidFill>
                  <a:schemeClr val="tx2"/>
                </a:solidFill>
              </a:rPr>
              <a:t xml:space="preserve">RMS</a:t>
            </a:r>
            <a:endParaRPr lang="en-US" sz="1050" dirty="0"/>
          </a:p>
          <a:p>
            <a:pPr marL="0" indent="0" algn="ctr">
              <a:lnSpc>
                <a:spcPct val="100000"/>
              </a:lnSpc>
              <a:spcBef>
                <a:spcPts val="0"/>
              </a:spcBef>
              <a:spcAft>
                <a:spcPts val="0"/>
              </a:spcAft>
              <a:buNone/>
            </a:pPr>
            <a:r>
              <a:rPr lang="en-US" sz="1050" b="1" i="0" dirty="0">
                <a:solidFill>
                  <a:schemeClr val="tx2"/>
                </a:solidFill>
              </a:rPr>
              <a:t xml:space="preserve">Engine</a:t>
            </a:r>
            <a:endParaRPr lang="en-US" sz="1050" dirty="0"/>
          </a:p>
        </p:txBody>
      </p:sp>
      <p:sp>
        <p:nvSpPr>
          <p:cNvPr id="10" name="Block dB Conv. (Log LUT)"/>
          <p:cNvSpPr/>
          <p:nvPr/>
        </p:nvSpPr>
        <p:spPr>
          <a:xfrm>
            <a:off x="5541264" y="4160520"/>
            <a:ext cx="960120" cy="777240"/>
          </a:xfrm>
          <a:prstGeom prst="roundRect">
            <a:avLst>
              <a:gd name="adj" fmla="val 12000"/>
            </a:avLst>
          </a:prstGeom>
          <a:solidFill>
            <a:schemeClr val="accent1">
              <a:alpha val="25000"/>
            </a:schemeClr>
          </a:solidFill>
          <a:ln w="19050">
            <a:solidFill>
              <a:schemeClr val="accent2"/>
            </a:solidFill>
            <a:round/>
          </a:ln>
        </p:spPr>
        <p:txBody>
          <a:bodyPr wrap="square" lIns="18288" tIns="27432" rIns="18288" bIns="27432" rtlCol="0" anchor="ctr">
            <a:noAutofit/>
          </a:bodyPr>
          <a:lstStyle/>
          <a:p>
            <a:pPr marL="0" indent="0" algn="ctr">
              <a:lnSpc>
                <a:spcPct val="100000"/>
              </a:lnSpc>
              <a:spcBef>
                <a:spcPts val="0"/>
              </a:spcBef>
              <a:spcAft>
                <a:spcPts val="0"/>
              </a:spcAft>
              <a:buNone/>
            </a:pPr>
            <a:r>
              <a:rPr lang="en-US" sz="1050" b="1" i="0" dirty="0">
                <a:solidFill>
                  <a:schemeClr val="tx2"/>
                </a:solidFill>
              </a:rPr>
              <a:t xml:space="preserve">dB Conv.</a:t>
            </a:r>
            <a:endParaRPr lang="en-US" sz="1050" dirty="0"/>
          </a:p>
          <a:p>
            <a:pPr marL="0" indent="0" algn="ctr">
              <a:lnSpc>
                <a:spcPct val="100000"/>
              </a:lnSpc>
              <a:spcBef>
                <a:spcPts val="0"/>
              </a:spcBef>
              <a:spcAft>
                <a:spcPts val="0"/>
              </a:spcAft>
              <a:buNone/>
            </a:pPr>
            <a:r>
              <a:rPr lang="en-US" sz="1050" b="1" i="0" dirty="0">
                <a:solidFill>
                  <a:schemeClr val="tx2"/>
                </a:solidFill>
              </a:rPr>
              <a:t xml:space="preserve">(Log LUT)</a:t>
            </a:r>
            <a:endParaRPr lang="en-US" sz="1050" dirty="0"/>
          </a:p>
        </p:txBody>
      </p:sp>
      <p:sp>
        <p:nvSpPr>
          <p:cNvPr id="11" name="Block Peak-Hold Block"/>
          <p:cNvSpPr/>
          <p:nvPr/>
        </p:nvSpPr>
        <p:spPr>
          <a:xfrm>
            <a:off x="6766560" y="4160520"/>
            <a:ext cx="960120" cy="777240"/>
          </a:xfrm>
          <a:prstGeom prst="roundRect">
            <a:avLst>
              <a:gd name="adj" fmla="val 12000"/>
            </a:avLst>
          </a:prstGeom>
          <a:solidFill>
            <a:schemeClr val="accent2"/>
          </a:solidFill>
          <a:ln w="19050">
            <a:solidFill>
              <a:schemeClr val="accent2"/>
            </a:solidFill>
            <a:round/>
          </a:ln>
        </p:spPr>
        <p:txBody>
          <a:bodyPr wrap="square" lIns="18288" tIns="27432" rIns="18288" bIns="27432" rtlCol="0" anchor="ctr">
            <a:noAutofit/>
          </a:bodyPr>
          <a:lstStyle/>
          <a:p>
            <a:pPr marL="0" indent="0" algn="ctr">
              <a:lnSpc>
                <a:spcPct val="100000"/>
              </a:lnSpc>
              <a:spcBef>
                <a:spcPts val="0"/>
              </a:spcBef>
              <a:spcAft>
                <a:spcPts val="0"/>
              </a:spcAft>
              <a:buNone/>
            </a:pPr>
            <a:r>
              <a:rPr lang="en-US" sz="1050" b="1" i="0" dirty="0">
                <a:solidFill>
                  <a:schemeClr val="bg1"/>
                </a:solidFill>
              </a:rPr>
              <a:t xml:space="preserve">Peak-Hold</a:t>
            </a:r>
            <a:endParaRPr lang="en-US" sz="1050" dirty="0"/>
          </a:p>
          <a:p>
            <a:pPr marL="0" indent="0" algn="ctr">
              <a:lnSpc>
                <a:spcPct val="100000"/>
              </a:lnSpc>
              <a:spcBef>
                <a:spcPts val="0"/>
              </a:spcBef>
              <a:spcAft>
                <a:spcPts val="0"/>
              </a:spcAft>
              <a:buNone/>
            </a:pPr>
            <a:r>
              <a:rPr lang="en-US" sz="1050" b="1" i="0" dirty="0">
                <a:solidFill>
                  <a:schemeClr val="bg1"/>
                </a:solidFill>
              </a:rPr>
              <a:t xml:space="preserve">Block</a:t>
            </a:r>
            <a:endParaRPr lang="en-US" sz="1050" dirty="0"/>
          </a:p>
        </p:txBody>
      </p:sp>
      <p:sp>
        <p:nvSpPr>
          <p:cNvPr id="12" name="Block 7-Seg / LED Display"/>
          <p:cNvSpPr/>
          <p:nvPr/>
        </p:nvSpPr>
        <p:spPr>
          <a:xfrm>
            <a:off x="7991856" y="4160520"/>
            <a:ext cx="960120" cy="777240"/>
          </a:xfrm>
          <a:prstGeom prst="roundRect">
            <a:avLst>
              <a:gd name="adj" fmla="val 12000"/>
            </a:avLst>
          </a:prstGeom>
          <a:solidFill>
            <a:schemeClr val="accent1">
              <a:alpha val="25000"/>
            </a:schemeClr>
          </a:solidFill>
          <a:ln w="19050">
            <a:solidFill>
              <a:schemeClr val="accent2"/>
            </a:solidFill>
            <a:round/>
          </a:ln>
        </p:spPr>
        <p:txBody>
          <a:bodyPr wrap="square" lIns="18288" tIns="27432" rIns="18288" bIns="27432" rtlCol="0" anchor="ctr">
            <a:noAutofit/>
          </a:bodyPr>
          <a:lstStyle/>
          <a:p>
            <a:pPr marL="0" indent="0" algn="ctr">
              <a:lnSpc>
                <a:spcPct val="100000"/>
              </a:lnSpc>
              <a:spcBef>
                <a:spcPts val="0"/>
              </a:spcBef>
              <a:spcAft>
                <a:spcPts val="0"/>
              </a:spcAft>
              <a:buNone/>
            </a:pPr>
            <a:r>
              <a:rPr lang="en-US" sz="1050" b="1" i="0" dirty="0">
                <a:solidFill>
                  <a:schemeClr val="tx2"/>
                </a:solidFill>
              </a:rPr>
              <a:t xml:space="preserve">7-Seg /</a:t>
            </a:r>
            <a:endParaRPr lang="en-US" sz="1050" dirty="0"/>
          </a:p>
          <a:p>
            <a:pPr marL="0" indent="0" algn="ctr">
              <a:lnSpc>
                <a:spcPct val="100000"/>
              </a:lnSpc>
              <a:spcBef>
                <a:spcPts val="0"/>
              </a:spcBef>
              <a:spcAft>
                <a:spcPts val="0"/>
              </a:spcAft>
              <a:buNone/>
            </a:pPr>
            <a:r>
              <a:rPr lang="en-US" sz="1050" b="1" i="0" dirty="0">
                <a:solidFill>
                  <a:schemeClr val="tx2"/>
                </a:solidFill>
              </a:rPr>
              <a:t xml:space="preserve">LED Display</a:t>
            </a:r>
            <a:endParaRPr lang="en-US" sz="1050" dirty="0"/>
          </a:p>
        </p:txBody>
      </p:sp>
      <p:cxnSp>
        <p:nvCxnSpPr>
          <p:cNvPr id="13" name="Data arrow 1"/>
          <p:cNvCxnSpPr>
            <a:stCxn id="6" idx="3"/>
            <a:endCxn id="7" idx="1"/>
          </p:cNvCxnSpPr>
          <p:nvPr/>
        </p:nvCxnSpPr>
        <p:spPr>
          <a:xfrm>
            <a:off x="1600200" y="4549140"/>
            <a:ext cx="265176" cy="0"/>
          </a:xfrm>
          <a:prstGeom prst="straightConnector1">
            <a:avLst/>
          </a:prstGeom>
          <a:ln w="22225">
            <a:solidFill>
              <a:schemeClr val="tx2"/>
            </a:solidFill>
            <a:round/>
            <a:tailEnd type="triangle" w="med" len="med"/>
          </a:ln>
        </p:spPr>
      </p:cxnSp>
      <p:cxnSp>
        <p:nvCxnSpPr>
          <p:cNvPr id="14" name="Data arrow 2"/>
          <p:cNvCxnSpPr>
            <a:stCxn id="7" idx="3"/>
            <a:endCxn id="8" idx="1"/>
          </p:cNvCxnSpPr>
          <p:nvPr/>
        </p:nvCxnSpPr>
        <p:spPr>
          <a:xfrm>
            <a:off x="2825496" y="4549140"/>
            <a:ext cx="265176" cy="0"/>
          </a:xfrm>
          <a:prstGeom prst="straightConnector1">
            <a:avLst/>
          </a:prstGeom>
          <a:ln w="22225">
            <a:solidFill>
              <a:schemeClr val="tx2"/>
            </a:solidFill>
            <a:round/>
            <a:tailEnd type="triangle" w="med" len="med"/>
          </a:ln>
        </p:spPr>
      </p:cxnSp>
      <p:cxnSp>
        <p:nvCxnSpPr>
          <p:cNvPr id="15" name="Data arrow 3"/>
          <p:cNvCxnSpPr>
            <a:stCxn id="8" idx="3"/>
            <a:endCxn id="9" idx="1"/>
          </p:cNvCxnSpPr>
          <p:nvPr/>
        </p:nvCxnSpPr>
        <p:spPr>
          <a:xfrm>
            <a:off x="4050792" y="4549140"/>
            <a:ext cx="265176" cy="0"/>
          </a:xfrm>
          <a:prstGeom prst="straightConnector1">
            <a:avLst/>
          </a:prstGeom>
          <a:ln w="22225">
            <a:solidFill>
              <a:schemeClr val="tx2"/>
            </a:solidFill>
            <a:round/>
            <a:tailEnd type="triangle" w="med" len="med"/>
          </a:ln>
        </p:spPr>
      </p:cxnSp>
      <p:cxnSp>
        <p:nvCxnSpPr>
          <p:cNvPr id="16" name="Data arrow 4"/>
          <p:cNvCxnSpPr>
            <a:stCxn id="9" idx="3"/>
            <a:endCxn id="10" idx="1"/>
          </p:cNvCxnSpPr>
          <p:nvPr/>
        </p:nvCxnSpPr>
        <p:spPr>
          <a:xfrm>
            <a:off x="5276088" y="4549140"/>
            <a:ext cx="265176" cy="0"/>
          </a:xfrm>
          <a:prstGeom prst="straightConnector1">
            <a:avLst/>
          </a:prstGeom>
          <a:ln w="22225">
            <a:solidFill>
              <a:schemeClr val="tx2"/>
            </a:solidFill>
            <a:round/>
            <a:tailEnd type="triangle" w="med" len="med"/>
          </a:ln>
        </p:spPr>
      </p:cxnSp>
      <p:cxnSp>
        <p:nvCxnSpPr>
          <p:cNvPr id="17" name="Data arrow 5"/>
          <p:cNvCxnSpPr>
            <a:stCxn id="10" idx="3"/>
            <a:endCxn id="11" idx="1"/>
          </p:cNvCxnSpPr>
          <p:nvPr/>
        </p:nvCxnSpPr>
        <p:spPr>
          <a:xfrm>
            <a:off x="6501384" y="4549140"/>
            <a:ext cx="265176" cy="0"/>
          </a:xfrm>
          <a:prstGeom prst="straightConnector1">
            <a:avLst/>
          </a:prstGeom>
          <a:ln w="22225">
            <a:solidFill>
              <a:schemeClr val="tx2"/>
            </a:solidFill>
            <a:round/>
            <a:tailEnd type="triangle" w="med" len="med"/>
          </a:ln>
        </p:spPr>
      </p:cxnSp>
      <p:cxnSp>
        <p:nvCxnSpPr>
          <p:cNvPr id="18" name="Data arrow 6"/>
          <p:cNvCxnSpPr>
            <a:stCxn id="11" idx="3"/>
            <a:endCxn id="12" idx="1"/>
          </p:cNvCxnSpPr>
          <p:nvPr/>
        </p:nvCxnSpPr>
        <p:spPr>
          <a:xfrm>
            <a:off x="7726680" y="4549140"/>
            <a:ext cx="265176" cy="0"/>
          </a:xfrm>
          <a:prstGeom prst="straightConnector1">
            <a:avLst/>
          </a:prstGeom>
          <a:ln w="22225">
            <a:solidFill>
              <a:schemeClr val="tx2"/>
            </a:solidFill>
            <a:round/>
            <a:tailEnd type="triangle" w="med" len="med"/>
          </a:ln>
        </p:spPr>
      </p:cxnSp>
      <p:sp>
        <p:nvSpPr>
          <p:cNvPr id="19" name="Block Clock Divider"/>
          <p:cNvSpPr/>
          <p:nvPr/>
        </p:nvSpPr>
        <p:spPr>
          <a:xfrm>
            <a:off x="3022092" y="3291840"/>
            <a:ext cx="2322576" cy="457200"/>
          </a:xfrm>
          <a:prstGeom prst="roundRect">
            <a:avLst>
              <a:gd name="adj" fmla="val 20000"/>
            </a:avLst>
          </a:prstGeom>
          <a:solidFill>
            <a:schemeClr val="accent3">
              <a:alpha val="35000"/>
            </a:schemeClr>
          </a:solidFill>
          <a:ln w="19050">
            <a:solidFill>
              <a:schemeClr val="accent3"/>
            </a:solidFill>
            <a:round/>
          </a:ln>
        </p:spPr>
        <p:txBody>
          <a:bodyPr wrap="square" lIns="73152" tIns="36576" rIns="73152" bIns="36576" rtlCol="0" anchor="ctr">
            <a:noAutofit/>
          </a:bodyPr>
          <a:lstStyle/>
          <a:p>
            <a:pPr marL="0" indent="0" algn="ctr">
              <a:lnSpc>
                <a:spcPct val="100000"/>
              </a:lnSpc>
              <a:spcBef>
                <a:spcPts val="0"/>
              </a:spcBef>
              <a:spcAft>
                <a:spcPts val="0"/>
              </a:spcAft>
              <a:buNone/>
            </a:pPr>
            <a:r>
              <a:rPr lang="en-US" sz="1100" b="1" i="0" dirty="0">
                <a:solidFill>
                  <a:schemeClr val="tx2"/>
                </a:solidFill>
              </a:rPr>
              <a:t xml:space="preserve">Clock Divider</a:t>
            </a:r>
            <a:endParaRPr lang="en-US" sz="1100" dirty="0"/>
          </a:p>
        </p:txBody>
      </p:sp>
      <p:cxnSp>
        <p:nvCxnSpPr>
          <p:cNvPr id="20" name="Clock arrow 2"/>
          <p:cNvCxnSpPr>
            <a:endCxn id="8" idx="0"/>
          </p:cNvCxnSpPr>
          <p:nvPr/>
        </p:nvCxnSpPr>
        <p:spPr>
          <a:xfrm>
            <a:off x="3570732" y="3749040"/>
            <a:ext cx="0" cy="411480"/>
          </a:xfrm>
          <a:prstGeom prst="straightConnector1">
            <a:avLst/>
          </a:prstGeom>
          <a:ln w="19050">
            <a:solidFill>
              <a:schemeClr val="accent4"/>
            </a:solidFill>
            <a:prstDash val="dash"/>
            <a:round/>
            <a:tailEnd type="triangle" w="med" len="med"/>
          </a:ln>
        </p:spPr>
      </p:cxnSp>
      <p:cxnSp>
        <p:nvCxnSpPr>
          <p:cNvPr id="21" name="Clock arrow 3"/>
          <p:cNvCxnSpPr>
            <a:endCxn id="9" idx="0"/>
          </p:cNvCxnSpPr>
          <p:nvPr/>
        </p:nvCxnSpPr>
        <p:spPr>
          <a:xfrm>
            <a:off x="4796028" y="3749040"/>
            <a:ext cx="0" cy="411480"/>
          </a:xfrm>
          <a:prstGeom prst="straightConnector1">
            <a:avLst/>
          </a:prstGeom>
          <a:ln w="19050">
            <a:solidFill>
              <a:schemeClr val="accent4"/>
            </a:solidFill>
            <a:prstDash val="dash"/>
            <a:round/>
            <a:tailEnd type="triangle" w="med" len="med"/>
          </a:ln>
        </p:spPr>
      </p:cxnSp>
      <p:sp>
        <p:nvSpPr>
          <p:cNvPr id="22" name="Block Control FSM"/>
          <p:cNvSpPr/>
          <p:nvPr/>
        </p:nvSpPr>
        <p:spPr>
          <a:xfrm>
            <a:off x="3022092" y="5486400"/>
            <a:ext cx="4773168" cy="457200"/>
          </a:xfrm>
          <a:prstGeom prst="roundRect">
            <a:avLst>
              <a:gd name="adj" fmla="val 20000"/>
            </a:avLst>
          </a:prstGeom>
          <a:solidFill>
            <a:schemeClr val="accent4">
              <a:alpha val="25000"/>
            </a:schemeClr>
          </a:solidFill>
          <a:ln w="19050">
            <a:solidFill>
              <a:schemeClr val="accent4"/>
            </a:solidFill>
            <a:round/>
          </a:ln>
        </p:spPr>
        <p:txBody>
          <a:bodyPr wrap="square" lIns="73152" tIns="36576" rIns="73152" bIns="36576" rtlCol="0" anchor="ctr">
            <a:noAutofit/>
          </a:bodyPr>
          <a:lstStyle/>
          <a:p>
            <a:pPr marL="0" indent="0" algn="ctr">
              <a:lnSpc>
                <a:spcPct val="100000"/>
              </a:lnSpc>
              <a:spcBef>
                <a:spcPts val="0"/>
              </a:spcBef>
              <a:spcAft>
                <a:spcPts val="0"/>
              </a:spcAft>
              <a:buNone/>
            </a:pPr>
            <a:r>
              <a:rPr lang="en-US" sz="1100" b="1" i="0" dirty="0">
                <a:solidFill>
                  <a:schemeClr val="tx2"/>
                </a:solidFill>
              </a:rPr>
              <a:t xml:space="preserve">Control FSM</a:t>
            </a:r>
            <a:endParaRPr lang="en-US" sz="1100" dirty="0"/>
          </a:p>
        </p:txBody>
      </p:sp>
      <p:cxnSp>
        <p:nvCxnSpPr>
          <p:cNvPr id="23" name="Control arrow 2"/>
          <p:cNvCxnSpPr>
            <a:endCxn id="8" idx="2"/>
          </p:cNvCxnSpPr>
          <p:nvPr/>
        </p:nvCxnSpPr>
        <p:spPr>
          <a:xfrm flipV="1">
            <a:off x="3570732" y="4937760"/>
            <a:ext cx="0" cy="548640"/>
          </a:xfrm>
          <a:prstGeom prst="straightConnector1">
            <a:avLst/>
          </a:prstGeom>
          <a:ln w="19050">
            <a:solidFill>
              <a:schemeClr val="accent4"/>
            </a:solidFill>
            <a:prstDash val="dash"/>
            <a:round/>
            <a:tailEnd type="triangle" w="med" len="med"/>
          </a:ln>
        </p:spPr>
      </p:cxnSp>
      <p:cxnSp>
        <p:nvCxnSpPr>
          <p:cNvPr id="24" name="Control arrow 3"/>
          <p:cNvCxnSpPr>
            <a:endCxn id="9" idx="2"/>
          </p:cNvCxnSpPr>
          <p:nvPr/>
        </p:nvCxnSpPr>
        <p:spPr>
          <a:xfrm flipV="1">
            <a:off x="4796028" y="4937760"/>
            <a:ext cx="0" cy="548640"/>
          </a:xfrm>
          <a:prstGeom prst="straightConnector1">
            <a:avLst/>
          </a:prstGeom>
          <a:ln w="19050">
            <a:solidFill>
              <a:schemeClr val="accent4"/>
            </a:solidFill>
            <a:prstDash val="dash"/>
            <a:round/>
            <a:tailEnd type="triangle" w="med" len="med"/>
          </a:ln>
        </p:spPr>
      </p:cxnSp>
      <p:cxnSp>
        <p:nvCxnSpPr>
          <p:cNvPr id="25" name="Control arrow 5"/>
          <p:cNvCxnSpPr>
            <a:endCxn id="11" idx="2"/>
          </p:cNvCxnSpPr>
          <p:nvPr/>
        </p:nvCxnSpPr>
        <p:spPr>
          <a:xfrm flipV="1">
            <a:off x="7246620" y="4937760"/>
            <a:ext cx="0" cy="548640"/>
          </a:xfrm>
          <a:prstGeom prst="straightConnector1">
            <a:avLst/>
          </a:prstGeom>
          <a:ln w="19050">
            <a:solidFill>
              <a:schemeClr val="accent4"/>
            </a:solidFill>
            <a:prstDash val="dash"/>
            <a:round/>
            <a:tailEnd type="triangle" w="med" len="med"/>
          </a:ln>
        </p:spPr>
      </p:cxnSp>
      <p:sp>
        <p:nvSpPr>
          <p:cNvPr id="26" name="Legend"/>
          <p:cNvSpPr txBox="1"/>
          <p:nvPr/>
        </p:nvSpPr>
        <p:spPr>
          <a:xfrm>
            <a:off x="640080" y="5440680"/>
            <a:ext cx="2194560" cy="54864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000" b="0" i="0" dirty="0">
                <a:solidFill>
                  <a:schemeClr val="tx2"/>
                </a:solidFill>
              </a:rPr>
              <a:t xml:space="preserve">Solid arrow = data path</a:t>
            </a:r>
            <a:endParaRPr lang="en-US" sz="1000" dirty="0"/>
          </a:p>
          <a:p>
            <a:pPr marL="0" indent="0" algn="l">
              <a:lnSpc>
                <a:spcPct val="100000"/>
              </a:lnSpc>
              <a:spcBef>
                <a:spcPts val="0"/>
              </a:spcBef>
              <a:spcAft>
                <a:spcPts val="0"/>
              </a:spcAft>
              <a:buNone/>
            </a:pPr>
            <a:r>
              <a:rPr lang="en-US" sz="1000" b="1" i="0" dirty="0">
                <a:solidFill>
                  <a:srgbClr val="C0561A"/>
                </a:solidFill>
              </a:rPr>
              <a:t xml:space="preserve">Dashed arrow = clock / control</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p:nvPr>
            <p:ph type="title"/>
          </p:nvPr>
        </p:nvSpPr>
        <p:spPr>
          <a:xfrm>
            <a:off x="640080" y="256032"/>
            <a:ext cx="8321040" cy="86868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2600" b="1" i="0" dirty="0">
                <a:solidFill>
                  <a:schemeClr val="tx2"/>
                </a:solidFill>
              </a:rPr>
              <a:t xml:space="preserve">Input Stage — Capturing Sound</a:t>
            </a:r>
            <a:endParaRPr lang="en-US" sz="2600" dirty="0"/>
          </a:p>
        </p:txBody>
      </p:sp>
      <p:sp>
        <p:nvSpPr>
          <p:cNvPr id="3" name="Footer"/>
          <p:cNvSpPr txBox="1"/>
          <p:nvPr/>
        </p:nvSpPr>
        <p:spPr>
          <a:xfrm>
            <a:off x="640080" y="6455664"/>
            <a:ext cx="6949440" cy="256032"/>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000" b="0" i="0" dirty="0">
                <a:solidFill>
                  <a:srgbClr val="6B7C84"/>
                </a:solidFill>
              </a:rPr>
              <a:t xml:space="preserve">Sayantan Bharati  |  BWU/BTS/25/503  |  Section B  |  COA (BTS30101)</a:t>
            </a:r>
            <a:endParaRPr lang="en-US" sz="1000" dirty="0"/>
          </a:p>
        </p:txBody>
      </p:sp>
      <p:sp>
        <p:nvSpPr>
          <p:cNvPr id="4" name="Slide Number"/>
          <p:cNvSpPr txBox="1"/>
          <p:nvPr/>
        </p:nvSpPr>
        <p:spPr>
          <a:xfrm>
            <a:off x="8138160" y="6455664"/>
            <a:ext cx="822960" cy="256032"/>
          </a:xfrm>
          <a:prstGeom prst="rect">
            <a:avLst/>
          </a:prstGeom>
          <a:noFill/>
        </p:spPr>
        <p:txBody>
          <a:bodyPr wrap="square" lIns="0" tIns="0" rIns="0" bIns="0" anchor="ctr">
            <a:noAutofit/>
          </a:bodyPr>
          <a:lstStyle/>
          <a:p>
            <a:pPr algn="r"/>
            <a:fld id="{B6F15528-21DE-4FAA-801E-634DDDAF4B2B}" type="slidenum">
              <a:rPr lang="en-US" sz="1000" dirty="0">
                <a:solidFill>
                  <a:srgbClr val="6B7C84"/>
                </a:solidFill>
              </a:rPr>
              <a:t>6</a:t>
            </a:fld>
          </a:p>
        </p:txBody>
      </p:sp>
      <p:sp>
        <p:nvSpPr>
          <p:cNvPr id="5" name="Bullets"/>
          <p:cNvSpPr txBox="1"/>
          <p:nvPr/>
        </p:nvSpPr>
        <p:spPr>
          <a:xfrm>
            <a:off x="640080" y="1280160"/>
            <a:ext cx="8321040" cy="2926080"/>
          </a:xfrm>
          <a:prstGeom prst="rect">
            <a:avLst/>
          </a:prstGeom>
          <a:noFill/>
          <a:ln>
            <a:noFill/>
          </a:ln>
        </p:spPr>
        <p:txBody>
          <a:bodyPr wrap="square" lIns="0" tIns="0" rIns="0" bIns="0" rtlCol="0" anchor="t">
            <a:noAutofit/>
          </a:bodyPr>
          <a:lstStyle/>
          <a:p>
            <a:pPr marL="201168" indent="-201168" algn="l">
              <a:lnSpc>
                <a:spcPct val="100000"/>
              </a:lnSpc>
              <a:spcBef>
                <a:spcPts val="0"/>
              </a:spcBef>
              <a:spcAft>
                <a:spcPts val="600"/>
              </a:spcAft>
              <a:buClr>
                <a:schemeClr val="accent2"/>
              </a:buClr>
              <a:buFont typeface="Arial"/>
              <a:buChar char="•"/>
            </a:pPr>
            <a:r>
              <a:rPr lang="en-US" sz="1500" b="1" i="0" dirty="0">
                <a:solidFill>
                  <a:schemeClr val="tx2"/>
                </a:solidFill>
              </a:rPr>
              <a:t xml:space="preserve">Electret condenser microphone</a:t>
            </a:r>
            <a:r>
              <a:rPr lang="en-US" sz="1500" b="0" i="0" dirty="0">
                <a:solidFill>
                  <a:schemeClr val="tx2"/>
                </a:solidFill>
              </a:rPr>
              <a:t xml:space="preserve">: small, cheap, needs a bias resistor; gives a few mV.</a:t>
            </a:r>
            <a:endParaRPr lang="en-US" sz="1500" dirty="0"/>
          </a:p>
          <a:p>
            <a:pPr marL="201168" indent="-201168" algn="l">
              <a:lnSpc>
                <a:spcPct val="100000"/>
              </a:lnSpc>
              <a:spcBef>
                <a:spcPts val="0"/>
              </a:spcBef>
              <a:spcAft>
                <a:spcPts val="600"/>
              </a:spcAft>
              <a:buClr>
                <a:schemeClr val="accent2"/>
              </a:buClr>
              <a:buFont typeface="Arial"/>
              <a:buChar char="•"/>
            </a:pPr>
            <a:r>
              <a:rPr lang="en-US" sz="1500" b="1" i="0" dirty="0">
                <a:solidFill>
                  <a:schemeClr val="tx2"/>
                </a:solidFill>
              </a:rPr>
              <a:t xml:space="preserve">Preamplifier</a:t>
            </a:r>
            <a:r>
              <a:rPr lang="en-US" sz="1500" b="0" i="0" dirty="0">
                <a:solidFill>
                  <a:schemeClr val="tx2"/>
                </a:solidFill>
              </a:rPr>
              <a:t xml:space="preserve"> raises the µV–mV signal to the ADC's 0–Vref range (e.g., gain ×100).</a:t>
            </a:r>
            <a:endParaRPr lang="en-US" sz="1500" dirty="0"/>
          </a:p>
          <a:p>
            <a:pPr marL="201168" indent="-201168" algn="l">
              <a:lnSpc>
                <a:spcPct val="100000"/>
              </a:lnSpc>
              <a:spcBef>
                <a:spcPts val="0"/>
              </a:spcBef>
              <a:spcAft>
                <a:spcPts val="600"/>
              </a:spcAft>
              <a:buClr>
                <a:schemeClr val="accent2"/>
              </a:buClr>
              <a:buFont typeface="Arial"/>
              <a:buChar char="•"/>
            </a:pPr>
            <a:r>
              <a:rPr lang="en-US" sz="1500" b="1" i="0" dirty="0">
                <a:solidFill>
                  <a:schemeClr val="tx2"/>
                </a:solidFill>
              </a:rPr>
              <a:t xml:space="preserve">Anti-alias low-pass filter</a:t>
            </a:r>
            <a:r>
              <a:rPr lang="en-US" sz="1500" b="0" i="0" dirty="0">
                <a:solidFill>
                  <a:schemeClr val="tx2"/>
                </a:solidFill>
              </a:rPr>
              <a:t xml:space="preserve"> removes frequencies above half the sampling rate (Nyquist).</a:t>
            </a:r>
            <a:endParaRPr lang="en-US" sz="1500" dirty="0"/>
          </a:p>
          <a:p>
            <a:pPr marL="201168" indent="-201168" algn="l">
              <a:lnSpc>
                <a:spcPct val="100000"/>
              </a:lnSpc>
              <a:spcBef>
                <a:spcPts val="0"/>
              </a:spcBef>
              <a:spcAft>
                <a:spcPts val="600"/>
              </a:spcAft>
              <a:buClr>
                <a:schemeClr val="accent2"/>
              </a:buClr>
              <a:buFont typeface="Arial"/>
              <a:buChar char="•"/>
            </a:pPr>
            <a:r>
              <a:rPr lang="en-US" sz="1500" b="1" i="0" dirty="0">
                <a:solidFill>
                  <a:schemeClr val="tx2"/>
                </a:solidFill>
              </a:rPr>
              <a:t xml:space="preserve">ADC</a:t>
            </a:r>
            <a:r>
              <a:rPr lang="en-US" sz="1500" b="0" i="0" dirty="0">
                <a:solidFill>
                  <a:schemeClr val="tx2"/>
                </a:solidFill>
              </a:rPr>
              <a:t xml:space="preserve">: 10-bit SAR, e.g. fs = 8 kHz; quantisation error sets the accuracy floor.</a:t>
            </a:r>
            <a:endParaRPr lang="en-US" sz="1500" dirty="0"/>
          </a:p>
          <a:p>
            <a:pPr marL="201168" indent="-201168" algn="l">
              <a:lnSpc>
                <a:spcPct val="100000"/>
              </a:lnSpc>
              <a:spcBef>
                <a:spcPts val="0"/>
              </a:spcBef>
              <a:spcAft>
                <a:spcPts val="600"/>
              </a:spcAft>
              <a:buClr>
                <a:schemeClr val="accent2"/>
              </a:buClr>
              <a:buFont typeface="Arial"/>
              <a:buChar char="•"/>
            </a:pPr>
            <a:r>
              <a:rPr lang="en-US" sz="1500" b="1" i="0" dirty="0">
                <a:solidFill>
                  <a:schemeClr val="tx2"/>
                </a:solidFill>
              </a:rPr>
              <a:t xml:space="preserve">Reference voltage stability</a:t>
            </a:r>
            <a:r>
              <a:rPr lang="en-US" sz="1500" b="0" i="0" dirty="0">
                <a:solidFill>
                  <a:schemeClr val="tx2"/>
                </a:solidFill>
              </a:rPr>
              <a:t xml:space="preserve"> directly affects dB accuracy — use a clean supply.</a:t>
            </a:r>
            <a:endParaRPr lang="en-US" sz="1500" dirty="0"/>
          </a:p>
          <a:p>
            <a:pPr marL="201168" indent="-201168" algn="l">
              <a:lnSpc>
                <a:spcPct val="100000"/>
              </a:lnSpc>
              <a:spcBef>
                <a:spcPts val="0"/>
              </a:spcBef>
              <a:spcAft>
                <a:spcPts val="600"/>
              </a:spcAft>
              <a:buClr>
                <a:schemeClr val="accent2"/>
              </a:buClr>
              <a:buFont typeface="Arial"/>
              <a:buChar char="•"/>
            </a:pPr>
            <a:r>
              <a:rPr lang="en-US" sz="1500" b="0" i="0" dirty="0">
                <a:solidFill>
                  <a:schemeClr val="tx2"/>
                </a:solidFill>
              </a:rPr>
              <a:t xml:space="preserve">Calibration: a known 94 dB / 1 kHz calibrator fixes the dB offset in the LUT.</a:t>
            </a:r>
            <a:endParaRPr lang="en-US" sz="1500" dirty="0"/>
          </a:p>
        </p:txBody>
      </p:sp>
      <p:sp>
        <p:nvSpPr>
          <p:cNvPr id="6" name="Stage Electret Mic"/>
          <p:cNvSpPr/>
          <p:nvPr/>
        </p:nvSpPr>
        <p:spPr>
          <a:xfrm>
            <a:off x="640080" y="5074920"/>
            <a:ext cx="1737360" cy="731520"/>
          </a:xfrm>
          <a:prstGeom prst="roundRect">
            <a:avLst>
              <a:gd name="adj" fmla="val 12000"/>
            </a:avLst>
          </a:prstGeom>
          <a:solidFill>
            <a:schemeClr val="accent1">
              <a:alpha val="25000"/>
            </a:schemeClr>
          </a:solidFill>
          <a:ln w="19050">
            <a:solidFill>
              <a:schemeClr val="accent2"/>
            </a:solidFill>
            <a:round/>
          </a:ln>
        </p:spPr>
        <p:txBody>
          <a:bodyPr wrap="square" lIns="73152" tIns="36576" rIns="73152" bIns="36576" rtlCol="0" anchor="ctr">
            <a:noAutofit/>
          </a:bodyPr>
          <a:lstStyle/>
          <a:p>
            <a:pPr marL="0" indent="0" algn="ctr">
              <a:lnSpc>
                <a:spcPct val="100000"/>
              </a:lnSpc>
              <a:spcBef>
                <a:spcPts val="0"/>
              </a:spcBef>
              <a:spcAft>
                <a:spcPts val="0"/>
              </a:spcAft>
              <a:buNone/>
            </a:pPr>
            <a:r>
              <a:rPr lang="en-US" sz="1200" b="1" i="0" dirty="0">
                <a:solidFill>
                  <a:schemeClr val="tx2"/>
                </a:solidFill>
              </a:rPr>
              <a:t xml:space="preserve">Electret Mic</a:t>
            </a:r>
            <a:endParaRPr lang="en-US" sz="1200" dirty="0"/>
          </a:p>
          <a:p>
            <a:pPr marL="0" indent="0" algn="ctr">
              <a:lnSpc>
                <a:spcPct val="100000"/>
              </a:lnSpc>
              <a:spcBef>
                <a:spcPts val="0"/>
              </a:spcBef>
              <a:spcAft>
                <a:spcPts val="0"/>
              </a:spcAft>
              <a:buNone/>
            </a:pPr>
            <a:r>
              <a:rPr lang="en-US" sz="1000" b="0" i="0" dirty="0">
                <a:solidFill>
                  <a:srgbClr val="3F5058"/>
                </a:solidFill>
              </a:rPr>
              <a:t xml:space="preserve">2 mV</a:t>
            </a:r>
            <a:endParaRPr lang="en-US" sz="1000" dirty="0"/>
          </a:p>
        </p:txBody>
      </p:sp>
      <p:sp>
        <p:nvSpPr>
          <p:cNvPr id="7" name="Stage Preamp ×100"/>
          <p:cNvSpPr/>
          <p:nvPr/>
        </p:nvSpPr>
        <p:spPr>
          <a:xfrm>
            <a:off x="2743200" y="5074920"/>
            <a:ext cx="1737360" cy="731520"/>
          </a:xfrm>
          <a:prstGeom prst="roundRect">
            <a:avLst>
              <a:gd name="adj" fmla="val 12000"/>
            </a:avLst>
          </a:prstGeom>
          <a:solidFill>
            <a:schemeClr val="accent1">
              <a:alpha val="25000"/>
            </a:schemeClr>
          </a:solidFill>
          <a:ln w="19050">
            <a:solidFill>
              <a:schemeClr val="accent2"/>
            </a:solidFill>
            <a:round/>
          </a:ln>
        </p:spPr>
        <p:txBody>
          <a:bodyPr wrap="square" lIns="73152" tIns="36576" rIns="73152" bIns="36576" rtlCol="0" anchor="ctr">
            <a:noAutofit/>
          </a:bodyPr>
          <a:lstStyle/>
          <a:p>
            <a:pPr marL="0" indent="0" algn="ctr">
              <a:lnSpc>
                <a:spcPct val="100000"/>
              </a:lnSpc>
              <a:spcBef>
                <a:spcPts val="0"/>
              </a:spcBef>
              <a:spcAft>
                <a:spcPts val="0"/>
              </a:spcAft>
              <a:buNone/>
            </a:pPr>
            <a:r>
              <a:rPr lang="en-US" sz="1200" b="1" i="0" dirty="0">
                <a:solidFill>
                  <a:schemeClr val="tx2"/>
                </a:solidFill>
              </a:rPr>
              <a:t xml:space="preserve">Preamp ×100</a:t>
            </a:r>
            <a:endParaRPr lang="en-US" sz="1200" dirty="0"/>
          </a:p>
          <a:p>
            <a:pPr marL="0" indent="0" algn="ctr">
              <a:lnSpc>
                <a:spcPct val="100000"/>
              </a:lnSpc>
              <a:spcBef>
                <a:spcPts val="0"/>
              </a:spcBef>
              <a:spcAft>
                <a:spcPts val="0"/>
              </a:spcAft>
              <a:buNone/>
            </a:pPr>
            <a:r>
              <a:rPr lang="en-US" sz="1000" b="0" i="0" dirty="0">
                <a:solidFill>
                  <a:srgbClr val="3F5058"/>
                </a:solidFill>
              </a:rPr>
              <a:t xml:space="preserve">0.2 V</a:t>
            </a:r>
            <a:endParaRPr lang="en-US" sz="1000" dirty="0"/>
          </a:p>
        </p:txBody>
      </p:sp>
      <p:sp>
        <p:nvSpPr>
          <p:cNvPr id="8" name="Stage Low-Pass Filter"/>
          <p:cNvSpPr/>
          <p:nvPr/>
        </p:nvSpPr>
        <p:spPr>
          <a:xfrm>
            <a:off x="4846320" y="5074920"/>
            <a:ext cx="1737360" cy="731520"/>
          </a:xfrm>
          <a:prstGeom prst="roundRect">
            <a:avLst>
              <a:gd name="adj" fmla="val 12000"/>
            </a:avLst>
          </a:prstGeom>
          <a:solidFill>
            <a:schemeClr val="accent1">
              <a:alpha val="25000"/>
            </a:schemeClr>
          </a:solidFill>
          <a:ln w="19050">
            <a:solidFill>
              <a:schemeClr val="accent2"/>
            </a:solidFill>
            <a:round/>
          </a:ln>
        </p:spPr>
        <p:txBody>
          <a:bodyPr wrap="square" lIns="73152" tIns="36576" rIns="73152" bIns="36576" rtlCol="0" anchor="ctr">
            <a:noAutofit/>
          </a:bodyPr>
          <a:lstStyle/>
          <a:p>
            <a:pPr marL="0" indent="0" algn="ctr">
              <a:lnSpc>
                <a:spcPct val="100000"/>
              </a:lnSpc>
              <a:spcBef>
                <a:spcPts val="0"/>
              </a:spcBef>
              <a:spcAft>
                <a:spcPts val="0"/>
              </a:spcAft>
              <a:buNone/>
            </a:pPr>
            <a:r>
              <a:rPr lang="en-US" sz="1200" b="1" i="0" dirty="0">
                <a:solidFill>
                  <a:schemeClr val="tx2"/>
                </a:solidFill>
              </a:rPr>
              <a:t xml:space="preserve">Low-Pass Filter</a:t>
            </a:r>
            <a:endParaRPr lang="en-US" sz="1200" dirty="0"/>
          </a:p>
          <a:p>
            <a:pPr marL="0" indent="0" algn="ctr">
              <a:lnSpc>
                <a:spcPct val="100000"/>
              </a:lnSpc>
              <a:spcBef>
                <a:spcPts val="0"/>
              </a:spcBef>
              <a:spcAft>
                <a:spcPts val="0"/>
              </a:spcAft>
              <a:buNone/>
            </a:pPr>
            <a:r>
              <a:rPr lang="en-US" sz="1000" b="0" i="0" dirty="0">
                <a:solidFill>
                  <a:srgbClr val="3F5058"/>
                </a:solidFill>
              </a:rPr>
              <a:t xml:space="preserve">Nyquist</a:t>
            </a:r>
            <a:endParaRPr lang="en-US" sz="1000" dirty="0"/>
          </a:p>
        </p:txBody>
      </p:sp>
      <p:sp>
        <p:nvSpPr>
          <p:cNvPr id="9" name="Stage ADC 10-bit SAR"/>
          <p:cNvSpPr/>
          <p:nvPr/>
        </p:nvSpPr>
        <p:spPr>
          <a:xfrm>
            <a:off x="6949440" y="5074920"/>
            <a:ext cx="1737360" cy="731520"/>
          </a:xfrm>
          <a:prstGeom prst="roundRect">
            <a:avLst>
              <a:gd name="adj" fmla="val 12000"/>
            </a:avLst>
          </a:prstGeom>
          <a:solidFill>
            <a:schemeClr val="accent2"/>
          </a:solidFill>
          <a:ln w="19050">
            <a:solidFill>
              <a:schemeClr val="accent2"/>
            </a:solidFill>
            <a:round/>
          </a:ln>
        </p:spPr>
        <p:txBody>
          <a:bodyPr wrap="square" lIns="73152" tIns="36576" rIns="73152" bIns="36576" rtlCol="0" anchor="ctr">
            <a:noAutofit/>
          </a:bodyPr>
          <a:lstStyle/>
          <a:p>
            <a:pPr marL="0" indent="0" algn="ctr">
              <a:lnSpc>
                <a:spcPct val="100000"/>
              </a:lnSpc>
              <a:spcBef>
                <a:spcPts val="0"/>
              </a:spcBef>
              <a:spcAft>
                <a:spcPts val="0"/>
              </a:spcAft>
              <a:buNone/>
            </a:pPr>
            <a:r>
              <a:rPr lang="en-US" sz="1200" b="1" i="0" dirty="0">
                <a:solidFill>
                  <a:schemeClr val="bg1"/>
                </a:solidFill>
              </a:rPr>
              <a:t xml:space="preserve">ADC 10-bit SAR</a:t>
            </a:r>
            <a:endParaRPr lang="en-US" sz="1200" dirty="0"/>
          </a:p>
          <a:p>
            <a:pPr marL="0" indent="0" algn="ctr">
              <a:lnSpc>
                <a:spcPct val="100000"/>
              </a:lnSpc>
              <a:spcBef>
                <a:spcPts val="0"/>
              </a:spcBef>
              <a:spcAft>
                <a:spcPts val="0"/>
              </a:spcAft>
              <a:buNone/>
            </a:pPr>
            <a:r>
              <a:rPr lang="en-US" sz="1000" b="0" i="0" dirty="0">
                <a:solidFill>
                  <a:schemeClr val="bg1"/>
                </a:solidFill>
              </a:rPr>
              <a:t xml:space="preserve">digital codes</a:t>
            </a:r>
            <a:endParaRPr lang="en-US" sz="1000" dirty="0"/>
          </a:p>
        </p:txBody>
      </p:sp>
      <p:cxnSp>
        <p:nvCxnSpPr>
          <p:cNvPr id="10" name="Stage arrow 1"/>
          <p:cNvCxnSpPr>
            <a:stCxn id="6" idx="3"/>
            <a:endCxn id="7" idx="1"/>
          </p:cNvCxnSpPr>
          <p:nvPr/>
        </p:nvCxnSpPr>
        <p:spPr>
          <a:xfrm>
            <a:off x="2377440" y="5440680"/>
            <a:ext cx="365760" cy="0"/>
          </a:xfrm>
          <a:prstGeom prst="straightConnector1">
            <a:avLst/>
          </a:prstGeom>
          <a:ln w="22225">
            <a:solidFill>
              <a:schemeClr val="tx2"/>
            </a:solidFill>
            <a:round/>
            <a:tailEnd type="triangle" w="med" len="med"/>
          </a:ln>
        </p:spPr>
      </p:cxnSp>
      <p:cxnSp>
        <p:nvCxnSpPr>
          <p:cNvPr id="11" name="Stage arrow 2"/>
          <p:cNvCxnSpPr>
            <a:stCxn id="7" idx="3"/>
            <a:endCxn id="8" idx="1"/>
          </p:cNvCxnSpPr>
          <p:nvPr/>
        </p:nvCxnSpPr>
        <p:spPr>
          <a:xfrm>
            <a:off x="4480560" y="5440680"/>
            <a:ext cx="365760" cy="0"/>
          </a:xfrm>
          <a:prstGeom prst="straightConnector1">
            <a:avLst/>
          </a:prstGeom>
          <a:ln w="22225">
            <a:solidFill>
              <a:schemeClr val="tx2"/>
            </a:solidFill>
            <a:round/>
            <a:tailEnd type="triangle" w="med" len="med"/>
          </a:ln>
        </p:spPr>
      </p:cxnSp>
      <p:cxnSp>
        <p:nvCxnSpPr>
          <p:cNvPr id="12" name="Stage arrow 3"/>
          <p:cNvCxnSpPr>
            <a:stCxn id="8" idx="3"/>
            <a:endCxn id="9" idx="1"/>
          </p:cNvCxnSpPr>
          <p:nvPr/>
        </p:nvCxnSpPr>
        <p:spPr>
          <a:xfrm>
            <a:off x="6583680" y="5440680"/>
            <a:ext cx="365760" cy="0"/>
          </a:xfrm>
          <a:prstGeom prst="straightConnector1">
            <a:avLst/>
          </a:prstGeom>
          <a:ln w="22225">
            <a:solidFill>
              <a:schemeClr val="tx2"/>
            </a:solidFill>
            <a:round/>
            <a:tailEnd type="triangle" w="med" len="med"/>
          </a:ln>
        </p:spPr>
      </p:cxnSp>
      <p:sp>
        <p:nvSpPr>
          <p:cNvPr id="13" name="Mic wave (small)" descr="Waveform"/>
          <p:cNvSpPr/>
          <p:nvPr/>
        </p:nvSpPr>
        <p:spPr>
          <a:xfrm>
            <a:off x="960120" y="4773168"/>
            <a:ext cx="1097280" cy="182880"/>
          </a:xfrm>
          <a:custGeom>
            <a:avLst/>
            <a:gdLst/>
            <a:ahLst/>
            <a:cxnLst/>
            <a:rect l="0" t="0" r="r" b="b"/>
            <a:pathLst>
              <a:path w="1097280" h="182880" fill="none">
                <a:moveTo>
                  <a:pt x="0" y="91440"/>
                </a:moveTo>
                <a:lnTo>
                  <a:pt x="28135" y="62483"/>
                </a:lnTo>
                <a:lnTo>
                  <a:pt x="56270" y="36508"/>
                </a:lnTo>
                <a:lnTo>
                  <a:pt x="84406" y="16186"/>
                </a:lnTo>
                <a:lnTo>
                  <a:pt x="112541" y="3610"/>
                </a:lnTo>
                <a:lnTo>
                  <a:pt x="140676" y="74"/>
                </a:lnTo>
                <a:lnTo>
                  <a:pt x="168812" y="5942"/>
                </a:lnTo>
                <a:lnTo>
                  <a:pt x="196947" y="20610"/>
                </a:lnTo>
                <a:lnTo>
                  <a:pt x="225083" y="42568"/>
                </a:lnTo>
                <a:lnTo>
                  <a:pt x="253218" y="69556"/>
                </a:lnTo>
                <a:lnTo>
                  <a:pt x="281353" y="98797"/>
                </a:lnTo>
                <a:lnTo>
                  <a:pt x="309489" y="127281"/>
                </a:lnTo>
                <a:lnTo>
                  <a:pt x="337624" y="152075"/>
                </a:lnTo>
                <a:lnTo>
                  <a:pt x="365760" y="170629"/>
                </a:lnTo>
                <a:lnTo>
                  <a:pt x="393895" y="181032"/>
                </a:lnTo>
                <a:lnTo>
                  <a:pt x="422030" y="182213"/>
                </a:lnTo>
                <a:lnTo>
                  <a:pt x="450166" y="174051"/>
                </a:lnTo>
                <a:lnTo>
                  <a:pt x="478301" y="157386"/>
                </a:lnTo>
                <a:lnTo>
                  <a:pt x="506436" y="133934"/>
                </a:lnTo>
                <a:lnTo>
                  <a:pt x="534572" y="106108"/>
                </a:lnTo>
                <a:lnTo>
                  <a:pt x="562707" y="76771"/>
                </a:lnTo>
                <a:lnTo>
                  <a:pt x="590843" y="48945"/>
                </a:lnTo>
                <a:lnTo>
                  <a:pt x="618978" y="25493"/>
                </a:lnTo>
                <a:lnTo>
                  <a:pt x="647113" y="8828"/>
                </a:lnTo>
                <a:lnTo>
                  <a:pt x="675249" y="666"/>
                </a:lnTo>
                <a:lnTo>
                  <a:pt x="703384" y="1847"/>
                </a:lnTo>
                <a:lnTo>
                  <a:pt x="731520" y="12250"/>
                </a:lnTo>
                <a:lnTo>
                  <a:pt x="759655" y="30804"/>
                </a:lnTo>
                <a:lnTo>
                  <a:pt x="787790" y="55598"/>
                </a:lnTo>
                <a:lnTo>
                  <a:pt x="815926" y="84082"/>
                </a:lnTo>
                <a:lnTo>
                  <a:pt x="844061" y="113323"/>
                </a:lnTo>
                <a:lnTo>
                  <a:pt x="872196" y="140311"/>
                </a:lnTo>
                <a:lnTo>
                  <a:pt x="900332" y="162269"/>
                </a:lnTo>
                <a:lnTo>
                  <a:pt x="928467" y="176937"/>
                </a:lnTo>
                <a:lnTo>
                  <a:pt x="956603" y="182805"/>
                </a:lnTo>
                <a:lnTo>
                  <a:pt x="984738" y="179269"/>
                </a:lnTo>
                <a:lnTo>
                  <a:pt x="1012873" y="166693"/>
                </a:lnTo>
                <a:lnTo>
                  <a:pt x="1041009" y="146371"/>
                </a:lnTo>
                <a:lnTo>
                  <a:pt x="1069144" y="120396"/>
                </a:lnTo>
                <a:lnTo>
                  <a:pt x="1097280" y="91440"/>
                </a:lnTo>
              </a:path>
            </a:pathLst>
          </a:custGeom>
          <a:noFill/>
          <a:ln w="25400">
            <a:solidFill>
              <a:schemeClr val="accent2"/>
            </a:solidFill>
            <a:round/>
          </a:ln>
        </p:spPr>
      </p:sp>
      <p:sp>
        <p:nvSpPr>
          <p:cNvPr id="14" name="Amplified wave (large)" descr="Waveform"/>
          <p:cNvSpPr/>
          <p:nvPr/>
        </p:nvSpPr>
        <p:spPr>
          <a:xfrm>
            <a:off x="3063240" y="4434840"/>
            <a:ext cx="1097280" cy="566928"/>
          </a:xfrm>
          <a:custGeom>
            <a:avLst/>
            <a:gdLst/>
            <a:ahLst/>
            <a:cxnLst/>
            <a:rect l="0" t="0" r="r" b="b"/>
            <a:pathLst>
              <a:path w="1097280" h="566928" fill="none">
                <a:moveTo>
                  <a:pt x="0" y="283464"/>
                </a:moveTo>
                <a:lnTo>
                  <a:pt x="28135" y="193700"/>
                </a:lnTo>
                <a:lnTo>
                  <a:pt x="56270" y="113175"/>
                </a:lnTo>
                <a:lnTo>
                  <a:pt x="84406" y="50177"/>
                </a:lnTo>
                <a:lnTo>
                  <a:pt x="112541" y="11191"/>
                </a:lnTo>
                <a:lnTo>
                  <a:pt x="140676" y="229"/>
                </a:lnTo>
                <a:lnTo>
                  <a:pt x="168812" y="18420"/>
                </a:lnTo>
                <a:lnTo>
                  <a:pt x="196947" y="63891"/>
                </a:lnTo>
                <a:lnTo>
                  <a:pt x="225083" y="131962"/>
                </a:lnTo>
                <a:lnTo>
                  <a:pt x="253218" y="215626"/>
                </a:lnTo>
                <a:lnTo>
                  <a:pt x="281353" y="306273"/>
                </a:lnTo>
                <a:lnTo>
                  <a:pt x="309489" y="394572"/>
                </a:lnTo>
                <a:lnTo>
                  <a:pt x="337624" y="471435"/>
                </a:lnTo>
                <a:lnTo>
                  <a:pt x="365760" y="528951"/>
                </a:lnTo>
                <a:lnTo>
                  <a:pt x="393895" y="561199"/>
                </a:lnTo>
                <a:lnTo>
                  <a:pt x="422030" y="564861"/>
                </a:lnTo>
                <a:lnTo>
                  <a:pt x="450166" y="539559"/>
                </a:lnTo>
                <a:lnTo>
                  <a:pt x="478301" y="487898"/>
                </a:lnTo>
                <a:lnTo>
                  <a:pt x="506436" y="415196"/>
                </a:lnTo>
                <a:lnTo>
                  <a:pt x="534572" y="328934"/>
                </a:lnTo>
                <a:lnTo>
                  <a:pt x="562707" y="237993"/>
                </a:lnTo>
                <a:lnTo>
                  <a:pt x="590843" y="151731"/>
                </a:lnTo>
                <a:lnTo>
                  <a:pt x="618978" y="79029"/>
                </a:lnTo>
                <a:lnTo>
                  <a:pt x="647113" y="27368"/>
                </a:lnTo>
                <a:lnTo>
                  <a:pt x="675249" y="2066"/>
                </a:lnTo>
                <a:lnTo>
                  <a:pt x="703384" y="5728"/>
                </a:lnTo>
                <a:lnTo>
                  <a:pt x="731520" y="37976"/>
                </a:lnTo>
                <a:lnTo>
                  <a:pt x="759655" y="95492"/>
                </a:lnTo>
                <a:lnTo>
                  <a:pt x="787790" y="172355"/>
                </a:lnTo>
                <a:lnTo>
                  <a:pt x="815926" y="260654"/>
                </a:lnTo>
                <a:lnTo>
                  <a:pt x="844061" y="351301"/>
                </a:lnTo>
                <a:lnTo>
                  <a:pt x="872196" y="434965"/>
                </a:lnTo>
                <a:lnTo>
                  <a:pt x="900332" y="503036"/>
                </a:lnTo>
                <a:lnTo>
                  <a:pt x="928467" y="548507"/>
                </a:lnTo>
                <a:lnTo>
                  <a:pt x="956603" y="566698"/>
                </a:lnTo>
                <a:lnTo>
                  <a:pt x="984738" y="555736"/>
                </a:lnTo>
                <a:lnTo>
                  <a:pt x="1012873" y="516750"/>
                </a:lnTo>
                <a:lnTo>
                  <a:pt x="1041009" y="453752"/>
                </a:lnTo>
                <a:lnTo>
                  <a:pt x="1069144" y="373227"/>
                </a:lnTo>
                <a:lnTo>
                  <a:pt x="1097280" y="283464"/>
                </a:lnTo>
              </a:path>
            </a:pathLst>
          </a:custGeom>
          <a:noFill/>
          <a:ln w="25400">
            <a:solidFill>
              <a:schemeClr val="accent4"/>
            </a:solidFill>
            <a:round/>
          </a:ln>
        </p:spPr>
      </p:sp>
      <p:sp>
        <p:nvSpPr>
          <p:cNvPr id="15" name="Wave note 1"/>
          <p:cNvSpPr txBox="1"/>
          <p:nvPr/>
        </p:nvSpPr>
        <p:spPr>
          <a:xfrm>
            <a:off x="640080" y="4343400"/>
            <a:ext cx="1737360" cy="228600"/>
          </a:xfrm>
          <a:prstGeom prst="rect">
            <a:avLst/>
          </a:prstGeom>
          <a:noFill/>
          <a:ln>
            <a:noFill/>
          </a:ln>
        </p:spPr>
        <p:txBody>
          <a:bodyPr wrap="square" lIns="0" tIns="0" rIns="0" bIns="0" rtlCol="0" anchor="ctr">
            <a:noAutofit/>
          </a:bodyPr>
          <a:lstStyle/>
          <a:p>
            <a:pPr marL="0" indent="0" algn="ctr">
              <a:lnSpc>
                <a:spcPct val="100000"/>
              </a:lnSpc>
              <a:spcBef>
                <a:spcPts val="0"/>
              </a:spcBef>
              <a:spcAft>
                <a:spcPts val="0"/>
              </a:spcAft>
              <a:buNone/>
            </a:pPr>
            <a:r>
              <a:rPr lang="en-US" sz="1000" b="0" i="1" dirty="0">
                <a:solidFill>
                  <a:srgbClr val="6B7C84"/>
                </a:solidFill>
              </a:rPr>
              <a:t xml:space="preserve">tiny signal</a:t>
            </a:r>
            <a:endParaRPr lang="en-US" sz="1000" dirty="0"/>
          </a:p>
        </p:txBody>
      </p:sp>
      <p:sp>
        <p:nvSpPr>
          <p:cNvPr id="16" name="Wave note 2"/>
          <p:cNvSpPr txBox="1"/>
          <p:nvPr/>
        </p:nvSpPr>
        <p:spPr>
          <a:xfrm>
            <a:off x="2743200" y="4114800"/>
            <a:ext cx="1737360" cy="228600"/>
          </a:xfrm>
          <a:prstGeom prst="rect">
            <a:avLst/>
          </a:prstGeom>
          <a:noFill/>
          <a:ln>
            <a:noFill/>
          </a:ln>
        </p:spPr>
        <p:txBody>
          <a:bodyPr wrap="square" lIns="0" tIns="0" rIns="0" bIns="0" rtlCol="0" anchor="ctr">
            <a:noAutofit/>
          </a:bodyPr>
          <a:lstStyle/>
          <a:p>
            <a:pPr marL="0" indent="0" algn="ctr">
              <a:lnSpc>
                <a:spcPct val="100000"/>
              </a:lnSpc>
              <a:spcBef>
                <a:spcPts val="0"/>
              </a:spcBef>
              <a:spcAft>
                <a:spcPts val="0"/>
              </a:spcAft>
              <a:buNone/>
            </a:pPr>
            <a:r>
              <a:rPr lang="en-US" sz="1000" b="0" i="1" dirty="0">
                <a:solidFill>
                  <a:srgbClr val="6B7C84"/>
                </a:solidFill>
              </a:rPr>
              <a:t xml:space="preserve">amplified</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p:nvPr>
            <p:ph type="title"/>
          </p:nvPr>
        </p:nvSpPr>
        <p:spPr>
          <a:xfrm>
            <a:off x="640080" y="256032"/>
            <a:ext cx="8321040" cy="86868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2600" b="1" i="0" dirty="0">
                <a:solidFill>
                  <a:schemeClr val="tx2"/>
                </a:solidFill>
              </a:rPr>
              <a:t xml:space="preserve">From Samples to Decibels</a:t>
            </a:r>
            <a:endParaRPr lang="en-US" sz="2600" dirty="0"/>
          </a:p>
        </p:txBody>
      </p:sp>
      <p:sp>
        <p:nvSpPr>
          <p:cNvPr id="3" name="Footer"/>
          <p:cNvSpPr txBox="1"/>
          <p:nvPr/>
        </p:nvSpPr>
        <p:spPr>
          <a:xfrm>
            <a:off x="640080" y="6455664"/>
            <a:ext cx="6949440" cy="256032"/>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000" b="0" i="0" dirty="0">
                <a:solidFill>
                  <a:srgbClr val="6B7C84"/>
                </a:solidFill>
              </a:rPr>
              <a:t xml:space="preserve">Sayantan Bharati  |  BWU/BTS/25/503  |  Section B  |  COA (BTS30101)</a:t>
            </a:r>
            <a:endParaRPr lang="en-US" sz="1000" dirty="0"/>
          </a:p>
        </p:txBody>
      </p:sp>
      <p:sp>
        <p:nvSpPr>
          <p:cNvPr id="4" name="Slide Number"/>
          <p:cNvSpPr txBox="1"/>
          <p:nvPr/>
        </p:nvSpPr>
        <p:spPr>
          <a:xfrm>
            <a:off x="8138160" y="6455664"/>
            <a:ext cx="822960" cy="256032"/>
          </a:xfrm>
          <a:prstGeom prst="rect">
            <a:avLst/>
          </a:prstGeom>
          <a:noFill/>
        </p:spPr>
        <p:txBody>
          <a:bodyPr wrap="square" lIns="0" tIns="0" rIns="0" bIns="0" anchor="ctr">
            <a:noAutofit/>
          </a:bodyPr>
          <a:lstStyle/>
          <a:p>
            <a:pPr algn="r"/>
            <a:fld id="{B6F15528-21DE-4FAA-801E-634DDDAF4B2B}" type="slidenum">
              <a:rPr lang="en-US" sz="1000" dirty="0">
                <a:solidFill>
                  <a:srgbClr val="6B7C84"/>
                </a:solidFill>
              </a:rPr>
              <a:t>7</a:t>
            </a:fld>
          </a:p>
        </p:txBody>
      </p:sp>
      <p:sp>
        <p:nvSpPr>
          <p:cNvPr id="5" name="Bullets"/>
          <p:cNvSpPr txBox="1"/>
          <p:nvPr/>
        </p:nvSpPr>
        <p:spPr>
          <a:xfrm>
            <a:off x="640080" y="1280160"/>
            <a:ext cx="4754880" cy="3383280"/>
          </a:xfrm>
          <a:prstGeom prst="rect">
            <a:avLst/>
          </a:prstGeom>
          <a:noFill/>
          <a:ln>
            <a:noFill/>
          </a:ln>
        </p:spPr>
        <p:txBody>
          <a:bodyPr wrap="square" lIns="0" tIns="0" rIns="0" bIns="0" rtlCol="0" anchor="t">
            <a:noAutofit/>
          </a:bodyPr>
          <a:lstStyle/>
          <a:p>
            <a:pPr marL="201168" indent="-201168" algn="l">
              <a:lnSpc>
                <a:spcPct val="100000"/>
              </a:lnSpc>
              <a:spcBef>
                <a:spcPts val="0"/>
              </a:spcBef>
              <a:spcAft>
                <a:spcPts val="500"/>
              </a:spcAft>
              <a:buClr>
                <a:schemeClr val="accent2"/>
              </a:buClr>
              <a:buFont typeface="Arial"/>
              <a:buChar char="•"/>
            </a:pPr>
            <a:r>
              <a:rPr lang="en-US" sz="1400" b="0" i="0" dirty="0">
                <a:solidFill>
                  <a:schemeClr val="tx2"/>
                </a:solidFill>
              </a:rPr>
              <a:t xml:space="preserve">Loudness is best represented by </a:t>
            </a:r>
            <a:r>
              <a:rPr lang="en-US" sz="1400" b="1" i="0" dirty="0">
                <a:solidFill>
                  <a:schemeClr val="tx2"/>
                </a:solidFill>
              </a:rPr>
              <a:t xml:space="preserve">RMS</a:t>
            </a:r>
            <a:r>
              <a:rPr lang="en-US" sz="1400" b="0" i="0" dirty="0">
                <a:solidFill>
                  <a:schemeClr val="tx2"/>
                </a:solidFill>
              </a:rPr>
              <a:t xml:space="preserve">, not the instantaneous value.</a:t>
            </a:r>
            <a:endParaRPr lang="en-US" sz="1400" dirty="0"/>
          </a:p>
          <a:p>
            <a:pPr marL="201168" indent="-201168" algn="l">
              <a:lnSpc>
                <a:spcPct val="100000"/>
              </a:lnSpc>
              <a:spcBef>
                <a:spcPts val="0"/>
              </a:spcBef>
              <a:spcAft>
                <a:spcPts val="500"/>
              </a:spcAft>
              <a:buClr>
                <a:schemeClr val="accent2"/>
              </a:buClr>
              <a:buFont typeface="Arial"/>
              <a:buChar char="•"/>
            </a:pPr>
            <a:r>
              <a:rPr lang="en-US" sz="1400" b="0" i="0" dirty="0">
                <a:solidFill>
                  <a:schemeClr val="tx2"/>
                </a:solidFill>
              </a:rPr>
              <a:t xml:space="preserve">Window of N samples: </a:t>
            </a:r>
            <a:r>
              <a:rPr lang="en-US" sz="1400" b="1" i="0" dirty="0">
                <a:solidFill>
                  <a:schemeClr val="tx2"/>
                </a:solidFill>
                <a:latin typeface="Courier New"/>
                <a:cs typeface="Courier New"/>
              </a:rPr>
              <a:t xml:space="preserve">RMS = √((1/N)·Σx[n]²)</a:t>
            </a:r>
            <a:r>
              <a:rPr lang="en-US" sz="1400" b="0" i="0" dirty="0">
                <a:solidFill>
                  <a:schemeClr val="tx2"/>
                </a:solidFill>
              </a:rPr>
              <a:t xml:space="preserve">.</a:t>
            </a:r>
            <a:endParaRPr lang="en-US" sz="1400" dirty="0"/>
          </a:p>
          <a:p>
            <a:pPr marL="201168" indent="-201168" algn="l">
              <a:lnSpc>
                <a:spcPct val="100000"/>
              </a:lnSpc>
              <a:spcBef>
                <a:spcPts val="0"/>
              </a:spcBef>
              <a:spcAft>
                <a:spcPts val="500"/>
              </a:spcAft>
              <a:buClr>
                <a:schemeClr val="accent2"/>
              </a:buClr>
              <a:buFont typeface="Arial"/>
              <a:buChar char="•"/>
            </a:pPr>
            <a:r>
              <a:rPr lang="en-US" sz="1400" b="0" i="0" dirty="0">
                <a:solidFill>
                  <a:schemeClr val="tx2"/>
                </a:solidFill>
              </a:rPr>
              <a:t xml:space="preserve">Level: </a:t>
            </a:r>
            <a:r>
              <a:rPr lang="en-US" sz="1400" b="1" i="0" dirty="0">
                <a:solidFill>
                  <a:schemeClr val="tx2"/>
                </a:solidFill>
                <a:latin typeface="Courier New"/>
                <a:cs typeface="Courier New"/>
              </a:rPr>
              <a:t xml:space="preserve">dB = 20·log₁₀(RMS/Vref) + offset</a:t>
            </a:r>
            <a:r>
              <a:rPr lang="en-US" sz="1400" b="0" i="0" dirty="0">
                <a:solidFill>
                  <a:schemeClr val="tx2"/>
                </a:solidFill>
              </a:rPr>
              <a:t xml:space="preserve">.</a:t>
            </a:r>
            <a:endParaRPr lang="en-US" sz="1400" dirty="0"/>
          </a:p>
          <a:p>
            <a:pPr marL="201168" indent="-201168" algn="l">
              <a:lnSpc>
                <a:spcPct val="100000"/>
              </a:lnSpc>
              <a:spcBef>
                <a:spcPts val="0"/>
              </a:spcBef>
              <a:spcAft>
                <a:spcPts val="500"/>
              </a:spcAft>
              <a:buClr>
                <a:schemeClr val="accent2"/>
              </a:buClr>
              <a:buFont typeface="Arial"/>
              <a:buChar char="•"/>
            </a:pPr>
            <a:r>
              <a:rPr lang="en-US" sz="1400" b="0" i="0" dirty="0">
                <a:solidFill>
                  <a:schemeClr val="tx2"/>
                </a:solidFill>
              </a:rPr>
              <a:t xml:space="preserve">A </a:t>
            </a:r>
            <a:r>
              <a:rPr lang="en-US" sz="1400" b="1" i="0" dirty="0">
                <a:solidFill>
                  <a:schemeClr val="tx2"/>
                </a:solidFill>
              </a:rPr>
              <a:t xml:space="preserve">sliding window</a:t>
            </a:r>
            <a:r>
              <a:rPr lang="en-US" sz="1400" b="0" i="0" dirty="0">
                <a:solidFill>
                  <a:schemeClr val="tx2"/>
                </a:solidFill>
              </a:rPr>
              <a:t xml:space="preserve"> gives a smooth, responsive reading.</a:t>
            </a:r>
            <a:endParaRPr lang="en-US" sz="1400" dirty="0"/>
          </a:p>
          <a:p>
            <a:pPr marL="201168" indent="-201168" algn="l">
              <a:lnSpc>
                <a:spcPct val="100000"/>
              </a:lnSpc>
              <a:spcBef>
                <a:spcPts val="0"/>
              </a:spcBef>
              <a:spcAft>
                <a:spcPts val="500"/>
              </a:spcAft>
              <a:buClr>
                <a:schemeClr val="accent2"/>
              </a:buClr>
              <a:buFont typeface="Arial"/>
              <a:buChar char="•"/>
            </a:pPr>
            <a:r>
              <a:rPr lang="en-US" sz="1400" b="1" i="0" dirty="0">
                <a:solidFill>
                  <a:schemeClr val="tx2"/>
                </a:solidFill>
              </a:rPr>
              <a:t xml:space="preserve">log₁₀ is expensive in hardware</a:t>
            </a:r>
            <a:r>
              <a:rPr lang="en-US" sz="1400" b="0" i="0" dirty="0">
                <a:solidFill>
                  <a:schemeClr val="tx2"/>
                </a:solidFill>
              </a:rPr>
              <a:t xml:space="preserve"> → use a </a:t>
            </a:r>
            <a:r>
              <a:rPr lang="en-US" sz="1400" b="1" i="0" dirty="0">
                <a:solidFill>
                  <a:schemeClr val="tx2"/>
                </a:solidFill>
              </a:rPr>
              <a:t xml:space="preserve">LUT</a:t>
            </a:r>
            <a:r>
              <a:rPr lang="en-US" sz="1400" b="0" i="0" dirty="0">
                <a:solidFill>
                  <a:schemeClr val="tx2"/>
                </a:solidFill>
              </a:rPr>
              <a:t xml:space="preserve"> or CORDIC.</a:t>
            </a:r>
            <a:endParaRPr lang="en-US" sz="1400" dirty="0"/>
          </a:p>
          <a:p>
            <a:pPr marL="201168" indent="-201168" algn="l">
              <a:lnSpc>
                <a:spcPct val="100000"/>
              </a:lnSpc>
              <a:spcBef>
                <a:spcPts val="0"/>
              </a:spcBef>
              <a:spcAft>
                <a:spcPts val="500"/>
              </a:spcAft>
              <a:buClr>
                <a:schemeClr val="accent2"/>
              </a:buClr>
              <a:buFont typeface="Arial"/>
              <a:buChar char="•"/>
            </a:pPr>
            <a:r>
              <a:rPr lang="en-US" sz="1400" b="0" i="0" dirty="0">
                <a:solidFill>
                  <a:schemeClr val="tx2"/>
                </a:solidFill>
              </a:rPr>
              <a:t xml:space="preserve">Fixed-point (e.g., Q8.8) arithmetic keeps the design small and fast.</a:t>
            </a:r>
            <a:endParaRPr lang="en-US" sz="1400" dirty="0"/>
          </a:p>
        </p:txBody>
      </p:sp>
      <p:sp>
        <p:nvSpPr>
          <p:cNvPr id="6" name="Samples panel"/>
          <p:cNvSpPr/>
          <p:nvPr/>
        </p:nvSpPr>
        <p:spPr>
          <a:xfrm>
            <a:off x="5623560" y="1280160"/>
            <a:ext cx="3337560" cy="3063240"/>
          </a:xfrm>
          <a:prstGeom prst="roundRect">
            <a:avLst>
              <a:gd name="adj" fmla="val 5000"/>
            </a:avLst>
          </a:prstGeom>
          <a:solidFill>
            <a:schemeClr val="accent1">
              <a:alpha val="14000"/>
            </a:schemeClr>
          </a:solidFill>
          <a:ln>
            <a:noFill/>
          </a:ln>
        </p:spPr>
      </p:sp>
      <p:sp>
        <p:nvSpPr>
          <p:cNvPr id="7" name="Samples caption"/>
          <p:cNvSpPr txBox="1"/>
          <p:nvPr/>
        </p:nvSpPr>
        <p:spPr>
          <a:xfrm>
            <a:off x="5760720" y="1344168"/>
            <a:ext cx="3108960" cy="27432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200" b="1" i="0" dirty="0">
                <a:solidFill>
                  <a:schemeClr val="tx2"/>
                </a:solidFill>
              </a:rPr>
              <a:t xml:space="preserve">Samples x[n] and RMS level</a:t>
            </a:r>
            <a:endParaRPr lang="en-US" sz="1200" dirty="0"/>
          </a:p>
        </p:txBody>
      </p:sp>
      <p:sp>
        <p:nvSpPr>
          <p:cNvPr id="8" name="Sample 1"/>
          <p:cNvSpPr/>
          <p:nvPr/>
        </p:nvSpPr>
        <p:spPr>
          <a:xfrm>
            <a:off x="5833872" y="2468880"/>
            <a:ext cx="140208" cy="457200"/>
          </a:xfrm>
          <a:prstGeom prst="rect">
            <a:avLst/>
          </a:prstGeom>
          <a:solidFill>
            <a:schemeClr val="accent1"/>
          </a:solidFill>
          <a:ln>
            <a:noFill/>
          </a:ln>
        </p:spPr>
      </p:sp>
      <p:sp>
        <p:nvSpPr>
          <p:cNvPr id="9" name="Sample 2"/>
          <p:cNvSpPr/>
          <p:nvPr/>
        </p:nvSpPr>
        <p:spPr>
          <a:xfrm>
            <a:off x="6028944" y="2103120"/>
            <a:ext cx="140208" cy="822960"/>
          </a:xfrm>
          <a:prstGeom prst="rect">
            <a:avLst/>
          </a:prstGeom>
          <a:solidFill>
            <a:schemeClr val="accent1"/>
          </a:solidFill>
          <a:ln>
            <a:noFill/>
          </a:ln>
        </p:spPr>
      </p:sp>
      <p:sp>
        <p:nvSpPr>
          <p:cNvPr id="10" name="Sample 3"/>
          <p:cNvSpPr/>
          <p:nvPr/>
        </p:nvSpPr>
        <p:spPr>
          <a:xfrm>
            <a:off x="6224016" y="2560320"/>
            <a:ext cx="140208" cy="365760"/>
          </a:xfrm>
          <a:prstGeom prst="rect">
            <a:avLst/>
          </a:prstGeom>
          <a:solidFill>
            <a:schemeClr val="accent1"/>
          </a:solidFill>
          <a:ln>
            <a:noFill/>
          </a:ln>
        </p:spPr>
      </p:sp>
      <p:sp>
        <p:nvSpPr>
          <p:cNvPr id="11" name="Sample 4"/>
          <p:cNvSpPr/>
          <p:nvPr/>
        </p:nvSpPr>
        <p:spPr>
          <a:xfrm>
            <a:off x="6419088" y="2926080"/>
            <a:ext cx="140208" cy="548640"/>
          </a:xfrm>
          <a:prstGeom prst="rect">
            <a:avLst/>
          </a:prstGeom>
          <a:solidFill>
            <a:schemeClr val="accent1"/>
          </a:solidFill>
          <a:ln>
            <a:noFill/>
          </a:ln>
        </p:spPr>
      </p:sp>
      <p:sp>
        <p:nvSpPr>
          <p:cNvPr id="12" name="Sample 5"/>
          <p:cNvSpPr/>
          <p:nvPr/>
        </p:nvSpPr>
        <p:spPr>
          <a:xfrm>
            <a:off x="6614160" y="2926080"/>
            <a:ext cx="140208" cy="868680"/>
          </a:xfrm>
          <a:prstGeom prst="rect">
            <a:avLst/>
          </a:prstGeom>
          <a:solidFill>
            <a:schemeClr val="accent1"/>
          </a:solidFill>
          <a:ln>
            <a:noFill/>
          </a:ln>
        </p:spPr>
      </p:sp>
      <p:sp>
        <p:nvSpPr>
          <p:cNvPr id="13" name="Sample 6"/>
          <p:cNvSpPr/>
          <p:nvPr/>
        </p:nvSpPr>
        <p:spPr>
          <a:xfrm>
            <a:off x="6809232" y="2926080"/>
            <a:ext cx="140208" cy="274320"/>
          </a:xfrm>
          <a:prstGeom prst="rect">
            <a:avLst/>
          </a:prstGeom>
          <a:solidFill>
            <a:schemeClr val="accent1"/>
          </a:solidFill>
          <a:ln>
            <a:noFill/>
          </a:ln>
        </p:spPr>
      </p:sp>
      <p:sp>
        <p:nvSpPr>
          <p:cNvPr id="14" name="Sample 7"/>
          <p:cNvSpPr/>
          <p:nvPr/>
        </p:nvSpPr>
        <p:spPr>
          <a:xfrm>
            <a:off x="7004304" y="2286000"/>
            <a:ext cx="140208" cy="640080"/>
          </a:xfrm>
          <a:prstGeom prst="rect">
            <a:avLst/>
          </a:prstGeom>
          <a:solidFill>
            <a:schemeClr val="accent1"/>
          </a:solidFill>
          <a:ln>
            <a:noFill/>
          </a:ln>
        </p:spPr>
      </p:sp>
      <p:sp>
        <p:nvSpPr>
          <p:cNvPr id="15" name="Sample 8"/>
          <p:cNvSpPr/>
          <p:nvPr/>
        </p:nvSpPr>
        <p:spPr>
          <a:xfrm>
            <a:off x="7199376" y="2148840"/>
            <a:ext cx="140208" cy="777240"/>
          </a:xfrm>
          <a:prstGeom prst="rect">
            <a:avLst/>
          </a:prstGeom>
          <a:solidFill>
            <a:schemeClr val="accent1"/>
          </a:solidFill>
          <a:ln>
            <a:noFill/>
          </a:ln>
        </p:spPr>
      </p:sp>
      <p:sp>
        <p:nvSpPr>
          <p:cNvPr id="16" name="Sample 9"/>
          <p:cNvSpPr/>
          <p:nvPr/>
        </p:nvSpPr>
        <p:spPr>
          <a:xfrm>
            <a:off x="7394448" y="2926080"/>
            <a:ext cx="140208" cy="182880"/>
          </a:xfrm>
          <a:prstGeom prst="rect">
            <a:avLst/>
          </a:prstGeom>
          <a:solidFill>
            <a:schemeClr val="accent1"/>
          </a:solidFill>
          <a:ln>
            <a:noFill/>
          </a:ln>
        </p:spPr>
      </p:sp>
      <p:sp>
        <p:nvSpPr>
          <p:cNvPr id="17" name="Sample 10"/>
          <p:cNvSpPr/>
          <p:nvPr/>
        </p:nvSpPr>
        <p:spPr>
          <a:xfrm>
            <a:off x="7589520" y="2926080"/>
            <a:ext cx="140208" cy="731520"/>
          </a:xfrm>
          <a:prstGeom prst="rect">
            <a:avLst/>
          </a:prstGeom>
          <a:solidFill>
            <a:schemeClr val="accent1"/>
          </a:solidFill>
          <a:ln>
            <a:noFill/>
          </a:ln>
        </p:spPr>
      </p:sp>
      <p:sp>
        <p:nvSpPr>
          <p:cNvPr id="18" name="Sample 11"/>
          <p:cNvSpPr/>
          <p:nvPr/>
        </p:nvSpPr>
        <p:spPr>
          <a:xfrm>
            <a:off x="7784592" y="2926080"/>
            <a:ext cx="140208" cy="640080"/>
          </a:xfrm>
          <a:prstGeom prst="rect">
            <a:avLst/>
          </a:prstGeom>
          <a:solidFill>
            <a:schemeClr val="accent1"/>
          </a:solidFill>
          <a:ln>
            <a:noFill/>
          </a:ln>
        </p:spPr>
      </p:sp>
      <p:sp>
        <p:nvSpPr>
          <p:cNvPr id="19" name="Sample 12"/>
          <p:cNvSpPr/>
          <p:nvPr/>
        </p:nvSpPr>
        <p:spPr>
          <a:xfrm>
            <a:off x="7979664" y="2651760"/>
            <a:ext cx="140208" cy="274320"/>
          </a:xfrm>
          <a:prstGeom prst="rect">
            <a:avLst/>
          </a:prstGeom>
          <a:solidFill>
            <a:schemeClr val="accent1"/>
          </a:solidFill>
          <a:ln>
            <a:noFill/>
          </a:ln>
        </p:spPr>
      </p:sp>
      <p:sp>
        <p:nvSpPr>
          <p:cNvPr id="20" name="Sample 13"/>
          <p:cNvSpPr/>
          <p:nvPr/>
        </p:nvSpPr>
        <p:spPr>
          <a:xfrm>
            <a:off x="8174736" y="2057400"/>
            <a:ext cx="140208" cy="868680"/>
          </a:xfrm>
          <a:prstGeom prst="rect">
            <a:avLst/>
          </a:prstGeom>
          <a:solidFill>
            <a:schemeClr val="accent1"/>
          </a:solidFill>
          <a:ln>
            <a:noFill/>
          </a:ln>
        </p:spPr>
      </p:sp>
      <p:sp>
        <p:nvSpPr>
          <p:cNvPr id="21" name="Sample 14"/>
          <p:cNvSpPr/>
          <p:nvPr/>
        </p:nvSpPr>
        <p:spPr>
          <a:xfrm>
            <a:off x="8369808" y="2377440"/>
            <a:ext cx="140208" cy="548640"/>
          </a:xfrm>
          <a:prstGeom prst="rect">
            <a:avLst/>
          </a:prstGeom>
          <a:solidFill>
            <a:schemeClr val="accent1"/>
          </a:solidFill>
          <a:ln>
            <a:noFill/>
          </a:ln>
        </p:spPr>
      </p:sp>
      <p:sp>
        <p:nvSpPr>
          <p:cNvPr id="22" name="Sample 15"/>
          <p:cNvSpPr/>
          <p:nvPr/>
        </p:nvSpPr>
        <p:spPr>
          <a:xfrm>
            <a:off x="8564880" y="2926080"/>
            <a:ext cx="140208" cy="365760"/>
          </a:xfrm>
          <a:prstGeom prst="rect">
            <a:avLst/>
          </a:prstGeom>
          <a:solidFill>
            <a:schemeClr val="accent1"/>
          </a:solidFill>
          <a:ln>
            <a:noFill/>
          </a:ln>
        </p:spPr>
      </p:sp>
      <p:cxnSp>
        <p:nvCxnSpPr>
          <p:cNvPr id="23" name="Zero axis"/>
          <p:cNvCxnSpPr/>
          <p:nvPr/>
        </p:nvCxnSpPr>
        <p:spPr>
          <a:xfrm>
            <a:off x="5760720" y="2926080"/>
            <a:ext cx="3063240" cy="0"/>
          </a:xfrm>
          <a:prstGeom prst="straightConnector1">
            <a:avLst/>
          </a:prstGeom>
          <a:ln w="12700">
            <a:solidFill>
              <a:srgbClr val="6B7C84"/>
            </a:solidFill>
            <a:round/>
          </a:ln>
        </p:spPr>
      </p:cxnSp>
      <p:cxnSp>
        <p:nvCxnSpPr>
          <p:cNvPr id="24" name="RMS +"/>
          <p:cNvCxnSpPr/>
          <p:nvPr/>
        </p:nvCxnSpPr>
        <p:spPr>
          <a:xfrm>
            <a:off x="5760720" y="2325655"/>
            <a:ext cx="3063240" cy="0"/>
          </a:xfrm>
          <a:prstGeom prst="straightConnector1">
            <a:avLst/>
          </a:prstGeom>
          <a:ln w="25400">
            <a:solidFill>
              <a:schemeClr val="accent4"/>
            </a:solidFill>
            <a:prstDash val="dash"/>
            <a:round/>
          </a:ln>
        </p:spPr>
      </p:cxnSp>
      <p:cxnSp>
        <p:nvCxnSpPr>
          <p:cNvPr id="25" name="RMS −"/>
          <p:cNvCxnSpPr/>
          <p:nvPr/>
        </p:nvCxnSpPr>
        <p:spPr>
          <a:xfrm>
            <a:off x="5760720" y="3526505"/>
            <a:ext cx="3063240" cy="0"/>
          </a:xfrm>
          <a:prstGeom prst="straightConnector1">
            <a:avLst/>
          </a:prstGeom>
          <a:ln w="25400">
            <a:solidFill>
              <a:schemeClr val="accent4"/>
            </a:solidFill>
            <a:prstDash val="dash"/>
            <a:round/>
          </a:ln>
        </p:spPr>
      </p:cxnSp>
      <p:sp>
        <p:nvSpPr>
          <p:cNvPr id="26" name="RMS tag"/>
          <p:cNvSpPr txBox="1"/>
          <p:nvPr/>
        </p:nvSpPr>
        <p:spPr>
          <a:xfrm>
            <a:off x="5760720" y="4023360"/>
            <a:ext cx="3108960" cy="256032"/>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000" b="1" i="0" dirty="0">
                <a:solidFill>
                  <a:srgbClr val="C0561A"/>
                </a:solidFill>
              </a:rPr>
              <a:t xml:space="preserve">dashed lines = ± RMS level</a:t>
            </a:r>
            <a:endParaRPr lang="en-US" sz="1000" dirty="0"/>
          </a:p>
        </p:txBody>
      </p:sp>
      <p:sp>
        <p:nvSpPr>
          <p:cNvPr id="27" name="Pipeline x[n]"/>
          <p:cNvSpPr/>
          <p:nvPr/>
        </p:nvSpPr>
        <p:spPr>
          <a:xfrm>
            <a:off x="640080" y="5074920"/>
            <a:ext cx="822960" cy="594360"/>
          </a:xfrm>
          <a:prstGeom prst="ellipse">
            <a:avLst/>
          </a:prstGeom>
          <a:solidFill>
            <a:schemeClr val="accent1">
              <a:alpha val="25000"/>
            </a:schemeClr>
          </a:solidFill>
          <a:ln w="19050">
            <a:solidFill>
              <a:schemeClr val="accent2"/>
            </a:solidFill>
            <a:round/>
          </a:ln>
        </p:spPr>
        <p:txBody>
          <a:bodyPr wrap="square" lIns="18288" tIns="18288" rIns="18288" bIns="18288" rtlCol="0" anchor="ctr">
            <a:noAutofit/>
          </a:bodyPr>
          <a:lstStyle/>
          <a:p>
            <a:pPr marL="0" indent="0" algn="ctr">
              <a:lnSpc>
                <a:spcPct val="100000"/>
              </a:lnSpc>
              <a:spcBef>
                <a:spcPts val="0"/>
              </a:spcBef>
              <a:spcAft>
                <a:spcPts val="0"/>
              </a:spcAft>
              <a:buNone/>
            </a:pPr>
            <a:r>
              <a:rPr lang="en-US" sz="1100" b="1" i="0" dirty="0">
                <a:solidFill>
                  <a:schemeClr val="tx2"/>
                </a:solidFill>
              </a:rPr>
              <a:t xml:space="preserve">x[n]</a:t>
            </a:r>
            <a:endParaRPr lang="en-US" sz="1100" dirty="0"/>
          </a:p>
        </p:txBody>
      </p:sp>
      <p:sp>
        <p:nvSpPr>
          <p:cNvPr id="28" name="Pipeline x²"/>
          <p:cNvSpPr/>
          <p:nvPr/>
        </p:nvSpPr>
        <p:spPr>
          <a:xfrm>
            <a:off x="1691640" y="5074920"/>
            <a:ext cx="822960" cy="594360"/>
          </a:xfrm>
          <a:prstGeom prst="roundRect">
            <a:avLst>
              <a:gd name="adj" fmla="val 15000"/>
            </a:avLst>
          </a:prstGeom>
          <a:solidFill>
            <a:schemeClr val="accent1">
              <a:alpha val="25000"/>
            </a:schemeClr>
          </a:solidFill>
          <a:ln w="19050">
            <a:solidFill>
              <a:schemeClr val="accent2"/>
            </a:solidFill>
            <a:round/>
          </a:ln>
        </p:spPr>
        <p:txBody>
          <a:bodyPr wrap="square" lIns="18288" tIns="18288" rIns="18288" bIns="18288" rtlCol="0" anchor="ctr">
            <a:noAutofit/>
          </a:bodyPr>
          <a:lstStyle/>
          <a:p>
            <a:pPr marL="0" indent="0" algn="ctr">
              <a:lnSpc>
                <a:spcPct val="100000"/>
              </a:lnSpc>
              <a:spcBef>
                <a:spcPts val="0"/>
              </a:spcBef>
              <a:spcAft>
                <a:spcPts val="0"/>
              </a:spcAft>
              <a:buNone/>
            </a:pPr>
            <a:r>
              <a:rPr lang="en-US" sz="1100" b="1" i="0" dirty="0">
                <a:solidFill>
                  <a:schemeClr val="tx2"/>
                </a:solidFill>
              </a:rPr>
              <a:t xml:space="preserve">x²</a:t>
            </a:r>
            <a:endParaRPr lang="en-US" sz="1100" dirty="0"/>
          </a:p>
        </p:txBody>
      </p:sp>
      <p:sp>
        <p:nvSpPr>
          <p:cNvPr id="29" name="Pipeline Σ over N"/>
          <p:cNvSpPr/>
          <p:nvPr/>
        </p:nvSpPr>
        <p:spPr>
          <a:xfrm>
            <a:off x="2743200" y="5074920"/>
            <a:ext cx="822960" cy="594360"/>
          </a:xfrm>
          <a:prstGeom prst="roundRect">
            <a:avLst>
              <a:gd name="adj" fmla="val 15000"/>
            </a:avLst>
          </a:prstGeom>
          <a:solidFill>
            <a:schemeClr val="accent1">
              <a:alpha val="25000"/>
            </a:schemeClr>
          </a:solidFill>
          <a:ln w="19050">
            <a:solidFill>
              <a:schemeClr val="accent2"/>
            </a:solidFill>
            <a:round/>
          </a:ln>
        </p:spPr>
        <p:txBody>
          <a:bodyPr wrap="square" lIns="18288" tIns="18288" rIns="18288" bIns="18288" rtlCol="0" anchor="ctr">
            <a:noAutofit/>
          </a:bodyPr>
          <a:lstStyle/>
          <a:p>
            <a:pPr marL="0" indent="0" algn="ctr">
              <a:lnSpc>
                <a:spcPct val="100000"/>
              </a:lnSpc>
              <a:spcBef>
                <a:spcPts val="0"/>
              </a:spcBef>
              <a:spcAft>
                <a:spcPts val="0"/>
              </a:spcAft>
              <a:buNone/>
            </a:pPr>
            <a:r>
              <a:rPr lang="en-US" sz="1100" b="1" i="0" dirty="0">
                <a:solidFill>
                  <a:schemeClr val="tx2"/>
                </a:solidFill>
              </a:rPr>
              <a:t xml:space="preserve">Σ over N</a:t>
            </a:r>
            <a:endParaRPr lang="en-US" sz="1100" dirty="0"/>
          </a:p>
        </p:txBody>
      </p:sp>
      <p:sp>
        <p:nvSpPr>
          <p:cNvPr id="30" name="Pipeline ÷ N"/>
          <p:cNvSpPr/>
          <p:nvPr/>
        </p:nvSpPr>
        <p:spPr>
          <a:xfrm>
            <a:off x="3794760" y="5074920"/>
            <a:ext cx="822960" cy="594360"/>
          </a:xfrm>
          <a:prstGeom prst="roundRect">
            <a:avLst>
              <a:gd name="adj" fmla="val 15000"/>
            </a:avLst>
          </a:prstGeom>
          <a:solidFill>
            <a:schemeClr val="accent1">
              <a:alpha val="25000"/>
            </a:schemeClr>
          </a:solidFill>
          <a:ln w="19050">
            <a:solidFill>
              <a:schemeClr val="accent2"/>
            </a:solidFill>
            <a:round/>
          </a:ln>
        </p:spPr>
        <p:txBody>
          <a:bodyPr wrap="square" lIns="18288" tIns="18288" rIns="18288" bIns="18288" rtlCol="0" anchor="ctr">
            <a:noAutofit/>
          </a:bodyPr>
          <a:lstStyle/>
          <a:p>
            <a:pPr marL="0" indent="0" algn="ctr">
              <a:lnSpc>
                <a:spcPct val="100000"/>
              </a:lnSpc>
              <a:spcBef>
                <a:spcPts val="0"/>
              </a:spcBef>
              <a:spcAft>
                <a:spcPts val="0"/>
              </a:spcAft>
              <a:buNone/>
            </a:pPr>
            <a:r>
              <a:rPr lang="en-US" sz="1100" b="1" i="0" dirty="0">
                <a:solidFill>
                  <a:schemeClr val="tx2"/>
                </a:solidFill>
              </a:rPr>
              <a:t xml:space="preserve">÷ N</a:t>
            </a:r>
            <a:endParaRPr lang="en-US" sz="1100" dirty="0"/>
          </a:p>
        </p:txBody>
      </p:sp>
      <p:sp>
        <p:nvSpPr>
          <p:cNvPr id="31" name="Pipeline √"/>
          <p:cNvSpPr/>
          <p:nvPr/>
        </p:nvSpPr>
        <p:spPr>
          <a:xfrm>
            <a:off x="4846320" y="5074920"/>
            <a:ext cx="822960" cy="594360"/>
          </a:xfrm>
          <a:prstGeom prst="roundRect">
            <a:avLst>
              <a:gd name="adj" fmla="val 15000"/>
            </a:avLst>
          </a:prstGeom>
          <a:solidFill>
            <a:schemeClr val="accent1">
              <a:alpha val="25000"/>
            </a:schemeClr>
          </a:solidFill>
          <a:ln w="19050">
            <a:solidFill>
              <a:schemeClr val="accent2"/>
            </a:solidFill>
            <a:round/>
          </a:ln>
        </p:spPr>
        <p:txBody>
          <a:bodyPr wrap="square" lIns="18288" tIns="18288" rIns="18288" bIns="18288" rtlCol="0" anchor="ctr">
            <a:noAutofit/>
          </a:bodyPr>
          <a:lstStyle/>
          <a:p>
            <a:pPr marL="0" indent="0" algn="ctr">
              <a:lnSpc>
                <a:spcPct val="100000"/>
              </a:lnSpc>
              <a:spcBef>
                <a:spcPts val="0"/>
              </a:spcBef>
              <a:spcAft>
                <a:spcPts val="0"/>
              </a:spcAft>
              <a:buNone/>
            </a:pPr>
            <a:r>
              <a:rPr lang="en-US" sz="1100" b="1" i="0" dirty="0">
                <a:solidFill>
                  <a:schemeClr val="tx2"/>
                </a:solidFill>
              </a:rPr>
              <a:t xml:space="preserve">√</a:t>
            </a:r>
            <a:endParaRPr lang="en-US" sz="1100" dirty="0"/>
          </a:p>
        </p:txBody>
      </p:sp>
      <p:sp>
        <p:nvSpPr>
          <p:cNvPr id="32" name="Pipeline 20·log₁₀"/>
          <p:cNvSpPr/>
          <p:nvPr/>
        </p:nvSpPr>
        <p:spPr>
          <a:xfrm>
            <a:off x="5897880" y="5074920"/>
            <a:ext cx="822960" cy="594360"/>
          </a:xfrm>
          <a:prstGeom prst="roundRect">
            <a:avLst>
              <a:gd name="adj" fmla="val 15000"/>
            </a:avLst>
          </a:prstGeom>
          <a:solidFill>
            <a:schemeClr val="accent1">
              <a:alpha val="25000"/>
            </a:schemeClr>
          </a:solidFill>
          <a:ln w="19050">
            <a:solidFill>
              <a:schemeClr val="accent2"/>
            </a:solidFill>
            <a:round/>
          </a:ln>
        </p:spPr>
        <p:txBody>
          <a:bodyPr wrap="square" lIns="18288" tIns="18288" rIns="18288" bIns="18288" rtlCol="0" anchor="ctr">
            <a:noAutofit/>
          </a:bodyPr>
          <a:lstStyle/>
          <a:p>
            <a:pPr marL="0" indent="0" algn="ctr">
              <a:lnSpc>
                <a:spcPct val="100000"/>
              </a:lnSpc>
              <a:spcBef>
                <a:spcPts val="0"/>
              </a:spcBef>
              <a:spcAft>
                <a:spcPts val="0"/>
              </a:spcAft>
              <a:buNone/>
            </a:pPr>
            <a:r>
              <a:rPr lang="en-US" sz="1100" b="1" i="0" dirty="0">
                <a:solidFill>
                  <a:schemeClr val="tx2"/>
                </a:solidFill>
              </a:rPr>
              <a:t xml:space="preserve">20·log₁₀</a:t>
            </a:r>
            <a:endParaRPr lang="en-US" sz="1100" dirty="0"/>
          </a:p>
        </p:txBody>
      </p:sp>
      <p:sp>
        <p:nvSpPr>
          <p:cNvPr id="33" name="Pipeline + offset"/>
          <p:cNvSpPr/>
          <p:nvPr/>
        </p:nvSpPr>
        <p:spPr>
          <a:xfrm>
            <a:off x="6949440" y="5074920"/>
            <a:ext cx="822960" cy="594360"/>
          </a:xfrm>
          <a:prstGeom prst="roundRect">
            <a:avLst>
              <a:gd name="adj" fmla="val 15000"/>
            </a:avLst>
          </a:prstGeom>
          <a:solidFill>
            <a:schemeClr val="accent1">
              <a:alpha val="25000"/>
            </a:schemeClr>
          </a:solidFill>
          <a:ln w="19050">
            <a:solidFill>
              <a:schemeClr val="accent2"/>
            </a:solidFill>
            <a:round/>
          </a:ln>
        </p:spPr>
        <p:txBody>
          <a:bodyPr wrap="square" lIns="18288" tIns="18288" rIns="18288" bIns="18288" rtlCol="0" anchor="ctr">
            <a:noAutofit/>
          </a:bodyPr>
          <a:lstStyle/>
          <a:p>
            <a:pPr marL="0" indent="0" algn="ctr">
              <a:lnSpc>
                <a:spcPct val="100000"/>
              </a:lnSpc>
              <a:spcBef>
                <a:spcPts val="0"/>
              </a:spcBef>
              <a:spcAft>
                <a:spcPts val="0"/>
              </a:spcAft>
              <a:buNone/>
            </a:pPr>
            <a:r>
              <a:rPr lang="en-US" sz="1100" b="1" i="0" dirty="0">
                <a:solidFill>
                  <a:schemeClr val="tx2"/>
                </a:solidFill>
              </a:rPr>
              <a:t xml:space="preserve">+ offset</a:t>
            </a:r>
            <a:endParaRPr lang="en-US" sz="1100" dirty="0"/>
          </a:p>
        </p:txBody>
      </p:sp>
      <p:sp>
        <p:nvSpPr>
          <p:cNvPr id="34" name="Pipeline dB"/>
          <p:cNvSpPr/>
          <p:nvPr/>
        </p:nvSpPr>
        <p:spPr>
          <a:xfrm>
            <a:off x="8001000" y="5074920"/>
            <a:ext cx="822960" cy="594360"/>
          </a:xfrm>
          <a:prstGeom prst="ellipse">
            <a:avLst/>
          </a:prstGeom>
          <a:solidFill>
            <a:schemeClr val="accent2"/>
          </a:solidFill>
          <a:ln w="19050">
            <a:solidFill>
              <a:schemeClr val="accent2"/>
            </a:solidFill>
            <a:round/>
          </a:ln>
        </p:spPr>
        <p:txBody>
          <a:bodyPr wrap="square" lIns="18288" tIns="18288" rIns="18288" bIns="18288" rtlCol="0" anchor="ctr">
            <a:noAutofit/>
          </a:bodyPr>
          <a:lstStyle/>
          <a:p>
            <a:pPr marL="0" indent="0" algn="ctr">
              <a:lnSpc>
                <a:spcPct val="100000"/>
              </a:lnSpc>
              <a:spcBef>
                <a:spcPts val="0"/>
              </a:spcBef>
              <a:spcAft>
                <a:spcPts val="0"/>
              </a:spcAft>
              <a:buNone/>
            </a:pPr>
            <a:r>
              <a:rPr lang="en-US" sz="1100" b="1" i="0" dirty="0">
                <a:solidFill>
                  <a:schemeClr val="bg1"/>
                </a:solidFill>
              </a:rPr>
              <a:t xml:space="preserve">dB</a:t>
            </a:r>
            <a:endParaRPr lang="en-US" sz="1100" dirty="0"/>
          </a:p>
        </p:txBody>
      </p:sp>
      <p:cxnSp>
        <p:nvCxnSpPr>
          <p:cNvPr id="35" name="Pipeline arrow 1"/>
          <p:cNvCxnSpPr>
            <a:stCxn id="27" idx="6"/>
            <a:endCxn id="28" idx="1"/>
          </p:cNvCxnSpPr>
          <p:nvPr/>
        </p:nvCxnSpPr>
        <p:spPr>
          <a:xfrm>
            <a:off x="1463040" y="5372100"/>
            <a:ext cx="228600" cy="0"/>
          </a:xfrm>
          <a:prstGeom prst="straightConnector1">
            <a:avLst/>
          </a:prstGeom>
          <a:ln w="19050">
            <a:solidFill>
              <a:schemeClr val="tx2"/>
            </a:solidFill>
            <a:round/>
            <a:tailEnd type="triangle" w="med" len="med"/>
          </a:ln>
        </p:spPr>
      </p:cxnSp>
      <p:cxnSp>
        <p:nvCxnSpPr>
          <p:cNvPr id="36" name="Pipeline arrow 2"/>
          <p:cNvCxnSpPr>
            <a:stCxn id="28" idx="3"/>
            <a:endCxn id="29" idx="1"/>
          </p:cNvCxnSpPr>
          <p:nvPr/>
        </p:nvCxnSpPr>
        <p:spPr>
          <a:xfrm>
            <a:off x="2514600" y="5372100"/>
            <a:ext cx="228600" cy="0"/>
          </a:xfrm>
          <a:prstGeom prst="straightConnector1">
            <a:avLst/>
          </a:prstGeom>
          <a:ln w="19050">
            <a:solidFill>
              <a:schemeClr val="tx2"/>
            </a:solidFill>
            <a:round/>
            <a:tailEnd type="triangle" w="med" len="med"/>
          </a:ln>
        </p:spPr>
      </p:cxnSp>
      <p:cxnSp>
        <p:nvCxnSpPr>
          <p:cNvPr id="37" name="Pipeline arrow 3"/>
          <p:cNvCxnSpPr>
            <a:stCxn id="29" idx="3"/>
            <a:endCxn id="30" idx="1"/>
          </p:cNvCxnSpPr>
          <p:nvPr/>
        </p:nvCxnSpPr>
        <p:spPr>
          <a:xfrm>
            <a:off x="3566160" y="5372100"/>
            <a:ext cx="228600" cy="0"/>
          </a:xfrm>
          <a:prstGeom prst="straightConnector1">
            <a:avLst/>
          </a:prstGeom>
          <a:ln w="19050">
            <a:solidFill>
              <a:schemeClr val="tx2"/>
            </a:solidFill>
            <a:round/>
            <a:tailEnd type="triangle" w="med" len="med"/>
          </a:ln>
        </p:spPr>
      </p:cxnSp>
      <p:cxnSp>
        <p:nvCxnSpPr>
          <p:cNvPr id="38" name="Pipeline arrow 4"/>
          <p:cNvCxnSpPr>
            <a:stCxn id="30" idx="3"/>
            <a:endCxn id="31" idx="1"/>
          </p:cNvCxnSpPr>
          <p:nvPr/>
        </p:nvCxnSpPr>
        <p:spPr>
          <a:xfrm>
            <a:off x="4617720" y="5372100"/>
            <a:ext cx="228600" cy="0"/>
          </a:xfrm>
          <a:prstGeom prst="straightConnector1">
            <a:avLst/>
          </a:prstGeom>
          <a:ln w="19050">
            <a:solidFill>
              <a:schemeClr val="tx2"/>
            </a:solidFill>
            <a:round/>
            <a:tailEnd type="triangle" w="med" len="med"/>
          </a:ln>
        </p:spPr>
      </p:cxnSp>
      <p:cxnSp>
        <p:nvCxnSpPr>
          <p:cNvPr id="39" name="Pipeline arrow 5"/>
          <p:cNvCxnSpPr>
            <a:stCxn id="31" idx="3"/>
            <a:endCxn id="32" idx="1"/>
          </p:cNvCxnSpPr>
          <p:nvPr/>
        </p:nvCxnSpPr>
        <p:spPr>
          <a:xfrm>
            <a:off x="5669280" y="5372100"/>
            <a:ext cx="228600" cy="0"/>
          </a:xfrm>
          <a:prstGeom prst="straightConnector1">
            <a:avLst/>
          </a:prstGeom>
          <a:ln w="19050">
            <a:solidFill>
              <a:schemeClr val="tx2"/>
            </a:solidFill>
            <a:round/>
            <a:tailEnd type="triangle" w="med" len="med"/>
          </a:ln>
        </p:spPr>
      </p:cxnSp>
      <p:cxnSp>
        <p:nvCxnSpPr>
          <p:cNvPr id="40" name="Pipeline arrow 6"/>
          <p:cNvCxnSpPr>
            <a:stCxn id="32" idx="3"/>
            <a:endCxn id="33" idx="1"/>
          </p:cNvCxnSpPr>
          <p:nvPr/>
        </p:nvCxnSpPr>
        <p:spPr>
          <a:xfrm>
            <a:off x="6720840" y="5372100"/>
            <a:ext cx="228600" cy="0"/>
          </a:xfrm>
          <a:prstGeom prst="straightConnector1">
            <a:avLst/>
          </a:prstGeom>
          <a:ln w="19050">
            <a:solidFill>
              <a:schemeClr val="tx2"/>
            </a:solidFill>
            <a:round/>
            <a:tailEnd type="triangle" w="med" len="med"/>
          </a:ln>
        </p:spPr>
      </p:cxnSp>
      <p:cxnSp>
        <p:nvCxnSpPr>
          <p:cNvPr id="41" name="Pipeline arrow 7"/>
          <p:cNvCxnSpPr>
            <a:stCxn id="33" idx="3"/>
            <a:endCxn id="34" idx="2"/>
          </p:cNvCxnSpPr>
          <p:nvPr/>
        </p:nvCxnSpPr>
        <p:spPr>
          <a:xfrm>
            <a:off x="7772400" y="5372100"/>
            <a:ext cx="228600" cy="0"/>
          </a:xfrm>
          <a:prstGeom prst="straightConnector1">
            <a:avLst/>
          </a:prstGeom>
          <a:ln w="19050">
            <a:solidFill>
              <a:schemeClr val="tx2"/>
            </a:solidFill>
            <a:round/>
            <a:tailEnd type="triangle" w="med" len="med"/>
          </a:ln>
        </p:spPr>
      </p:cxnSp>
      <p:sp>
        <p:nvSpPr>
          <p:cNvPr id="42" name="Pipeline caption"/>
          <p:cNvSpPr txBox="1"/>
          <p:nvPr/>
        </p:nvSpPr>
        <p:spPr>
          <a:xfrm>
            <a:off x="640080" y="4709160"/>
            <a:ext cx="4572000" cy="27432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200" b="1" i="0" dirty="0">
                <a:solidFill>
                  <a:schemeClr val="tx2"/>
                </a:solidFill>
              </a:rPr>
              <a:t xml:space="preserve">Processing pipeline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p:nvPr>
            <p:ph type="title"/>
          </p:nvPr>
        </p:nvSpPr>
        <p:spPr>
          <a:xfrm>
            <a:off x="640080" y="256032"/>
            <a:ext cx="8321040" cy="86868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2600" b="1" i="0" dirty="0">
                <a:solidFill>
                  <a:schemeClr val="tx2"/>
                </a:solidFill>
              </a:rPr>
              <a:t xml:space="preserve">Peak-Hold — Remembering the Loudest Moment</a:t>
            </a:r>
            <a:endParaRPr lang="en-US" sz="2600" dirty="0"/>
          </a:p>
        </p:txBody>
      </p:sp>
      <p:sp>
        <p:nvSpPr>
          <p:cNvPr id="3" name="Footer"/>
          <p:cNvSpPr txBox="1"/>
          <p:nvPr/>
        </p:nvSpPr>
        <p:spPr>
          <a:xfrm>
            <a:off x="640080" y="6455664"/>
            <a:ext cx="6949440" cy="256032"/>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000" b="0" i="0" dirty="0">
                <a:solidFill>
                  <a:srgbClr val="6B7C84"/>
                </a:solidFill>
              </a:rPr>
              <a:t xml:space="preserve">Sayantan Bharati  |  BWU/BTS/25/503  |  Section B  |  COA (BTS30101)</a:t>
            </a:r>
            <a:endParaRPr lang="en-US" sz="1000" dirty="0"/>
          </a:p>
        </p:txBody>
      </p:sp>
      <p:sp>
        <p:nvSpPr>
          <p:cNvPr id="4" name="Slide Number"/>
          <p:cNvSpPr txBox="1"/>
          <p:nvPr/>
        </p:nvSpPr>
        <p:spPr>
          <a:xfrm>
            <a:off x="8138160" y="6455664"/>
            <a:ext cx="822960" cy="256032"/>
          </a:xfrm>
          <a:prstGeom prst="rect">
            <a:avLst/>
          </a:prstGeom>
          <a:noFill/>
        </p:spPr>
        <p:txBody>
          <a:bodyPr wrap="square" lIns="0" tIns="0" rIns="0" bIns="0" anchor="ctr">
            <a:noAutofit/>
          </a:bodyPr>
          <a:lstStyle/>
          <a:p>
            <a:pPr algn="r"/>
            <a:fld id="{B6F15528-21DE-4FAA-801E-634DDDAF4B2B}" type="slidenum">
              <a:rPr lang="en-US" sz="1000" dirty="0">
                <a:solidFill>
                  <a:srgbClr val="6B7C84"/>
                </a:solidFill>
              </a:rPr>
              <a:t>8</a:t>
            </a:fld>
          </a:p>
        </p:txBody>
      </p:sp>
      <p:sp>
        <p:nvSpPr>
          <p:cNvPr id="5" name="Bullets"/>
          <p:cNvSpPr txBox="1"/>
          <p:nvPr/>
        </p:nvSpPr>
        <p:spPr>
          <a:xfrm>
            <a:off x="640080" y="1280160"/>
            <a:ext cx="8321040" cy="2377440"/>
          </a:xfrm>
          <a:prstGeom prst="rect">
            <a:avLst/>
          </a:prstGeom>
          <a:noFill/>
          <a:ln>
            <a:noFill/>
          </a:ln>
        </p:spPr>
        <p:txBody>
          <a:bodyPr wrap="square" lIns="0" tIns="0" rIns="0" bIns="0" rtlCol="0" anchor="t">
            <a:noAutofit/>
          </a:bodyPr>
          <a:lstStyle/>
          <a:p>
            <a:pPr marL="201168" indent="-201168" algn="l">
              <a:lnSpc>
                <a:spcPct val="100000"/>
              </a:lnSpc>
              <a:spcBef>
                <a:spcPts val="0"/>
              </a:spcBef>
              <a:spcAft>
                <a:spcPts val="400"/>
              </a:spcAft>
              <a:buClr>
                <a:schemeClr val="accent2"/>
              </a:buClr>
              <a:buFont typeface="Arial"/>
              <a:buChar char="•"/>
            </a:pPr>
            <a:r>
              <a:rPr lang="en-US" sz="1500" b="1" i="0" dirty="0">
                <a:solidFill>
                  <a:schemeClr val="tx2"/>
                </a:solidFill>
              </a:rPr>
              <a:t xml:space="preserve">Peak-hold</a:t>
            </a:r>
            <a:r>
              <a:rPr lang="en-US" sz="1500" b="0" i="0" dirty="0">
                <a:solidFill>
                  <a:schemeClr val="tx2"/>
                </a:solidFill>
              </a:rPr>
              <a:t xml:space="preserve"> = capture the maximum dB value and hold it so the eye can read it.</a:t>
            </a:r>
            <a:endParaRPr lang="en-US" sz="1500" dirty="0"/>
          </a:p>
          <a:p>
            <a:pPr marL="201168" indent="-201168" algn="l">
              <a:lnSpc>
                <a:spcPct val="100000"/>
              </a:lnSpc>
              <a:spcBef>
                <a:spcPts val="0"/>
              </a:spcBef>
              <a:spcAft>
                <a:spcPts val="400"/>
              </a:spcAft>
              <a:buClr>
                <a:schemeClr val="accent2"/>
              </a:buClr>
              <a:buFont typeface="Arial"/>
              <a:buChar char="•"/>
            </a:pPr>
            <a:r>
              <a:rPr lang="en-US" sz="1500" b="0" i="0" dirty="0">
                <a:solidFill>
                  <a:schemeClr val="tx2"/>
                </a:solidFill>
              </a:rPr>
              <a:t xml:space="preserve">Simple hardware: a </a:t>
            </a:r>
            <a:r>
              <a:rPr lang="en-US" sz="1500" b="1" i="0" dirty="0">
                <a:solidFill>
                  <a:schemeClr val="tx2"/>
                </a:solidFill>
              </a:rPr>
              <a:t xml:space="preserve">register</a:t>
            </a:r>
            <a:r>
              <a:rPr lang="en-US" sz="1500" b="0" i="0" dirty="0">
                <a:solidFill>
                  <a:schemeClr val="tx2"/>
                </a:solidFill>
              </a:rPr>
              <a:t xml:space="preserve"> + a </a:t>
            </a:r>
            <a:r>
              <a:rPr lang="en-US" sz="1500" b="1" i="0" dirty="0">
                <a:solidFill>
                  <a:schemeClr val="tx2"/>
                </a:solidFill>
              </a:rPr>
              <a:t xml:space="preserve">comparator</a:t>
            </a:r>
            <a:r>
              <a:rPr lang="en-US" sz="1500" b="0" i="0" dirty="0">
                <a:solidFill>
                  <a:schemeClr val="tx2"/>
                </a:solidFill>
              </a:rPr>
              <a:t xml:space="preserve">.</a:t>
            </a:r>
            <a:endParaRPr lang="en-US" sz="1500" dirty="0"/>
          </a:p>
          <a:p>
            <a:pPr marL="201168" indent="-201168" algn="l">
              <a:lnSpc>
                <a:spcPct val="100000"/>
              </a:lnSpc>
              <a:spcBef>
                <a:spcPts val="0"/>
              </a:spcBef>
              <a:spcAft>
                <a:spcPts val="400"/>
              </a:spcAft>
              <a:buClr>
                <a:schemeClr val="accent2"/>
              </a:buClr>
              <a:buFont typeface="Arial"/>
              <a:buChar char="•"/>
            </a:pPr>
            <a:r>
              <a:rPr lang="en-US" sz="1500" b="0" i="0" dirty="0">
                <a:solidFill>
                  <a:schemeClr val="tx2"/>
                </a:solidFill>
              </a:rPr>
              <a:t xml:space="preserve">Each update: </a:t>
            </a:r>
            <a:r>
              <a:rPr lang="en-US" sz="1500" b="1" i="0" dirty="0">
                <a:solidFill>
                  <a:schemeClr val="tx2"/>
                </a:solidFill>
                <a:latin typeface="Courier New"/>
                <a:cs typeface="Courier New"/>
              </a:rPr>
              <a:t xml:space="preserve">if new_db &gt; held_db then held_db &lt;= new_db</a:t>
            </a:r>
            <a:r>
              <a:rPr lang="en-US" sz="1500" b="0" i="0" dirty="0">
                <a:solidFill>
                  <a:schemeClr val="tx2"/>
                </a:solidFill>
              </a:rPr>
              <a:t xml:space="preserve">.</a:t>
            </a:r>
            <a:endParaRPr lang="en-US" sz="1500" dirty="0"/>
          </a:p>
          <a:p>
            <a:pPr marL="201168" indent="-201168" algn="l">
              <a:lnSpc>
                <a:spcPct val="100000"/>
              </a:lnSpc>
              <a:spcBef>
                <a:spcPts val="0"/>
              </a:spcBef>
              <a:spcAft>
                <a:spcPts val="400"/>
              </a:spcAft>
              <a:buClr>
                <a:schemeClr val="accent2"/>
              </a:buClr>
              <a:buFont typeface="Arial"/>
              <a:buChar char="•"/>
            </a:pPr>
            <a:r>
              <a:rPr lang="en-US" sz="1500" b="0" i="0" dirty="0">
                <a:solidFill>
                  <a:schemeClr val="tx2"/>
                </a:solidFill>
              </a:rPr>
              <a:t xml:space="preserve">A </a:t>
            </a:r>
            <a:r>
              <a:rPr lang="en-US" sz="1500" b="1" i="0" dirty="0">
                <a:solidFill>
                  <a:schemeClr val="tx2"/>
                </a:solidFill>
              </a:rPr>
              <a:t xml:space="preserve">hold timer</a:t>
            </a:r>
            <a:r>
              <a:rPr lang="en-US" sz="1500" b="0" i="0" dirty="0">
                <a:solidFill>
                  <a:schemeClr val="tx2"/>
                </a:solidFill>
              </a:rPr>
              <a:t xml:space="preserve"> (e.g., 2 s) then clears or slowly </a:t>
            </a:r>
            <a:r>
              <a:rPr lang="en-US" sz="1500" b="1" i="0" dirty="0">
                <a:solidFill>
                  <a:schemeClr val="tx2"/>
                </a:solidFill>
              </a:rPr>
              <a:t xml:space="preserve">decays</a:t>
            </a:r>
            <a:r>
              <a:rPr lang="en-US" sz="1500" b="0" i="0" dirty="0">
                <a:solidFill>
                  <a:schemeClr val="tx2"/>
                </a:solidFill>
              </a:rPr>
              <a:t xml:space="preserve"> the value.</a:t>
            </a:r>
            <a:endParaRPr lang="en-US" sz="1500" dirty="0"/>
          </a:p>
          <a:p>
            <a:pPr marL="201168" indent="-201168" algn="l">
              <a:lnSpc>
                <a:spcPct val="100000"/>
              </a:lnSpc>
              <a:spcBef>
                <a:spcPts val="0"/>
              </a:spcBef>
              <a:spcAft>
                <a:spcPts val="400"/>
              </a:spcAft>
              <a:buClr>
                <a:schemeClr val="accent2"/>
              </a:buClr>
              <a:buFont typeface="Arial"/>
              <a:buChar char="•"/>
            </a:pPr>
            <a:r>
              <a:rPr lang="en-US" sz="1500" b="0" i="0" dirty="0">
                <a:solidFill>
                  <a:schemeClr val="tx2"/>
                </a:solidFill>
              </a:rPr>
              <a:t xml:space="preserve">Two readouts: live level + held peak marker (LED or digital number).</a:t>
            </a:r>
            <a:endParaRPr lang="en-US" sz="1500" dirty="0"/>
          </a:p>
          <a:p>
            <a:pPr marL="201168" indent="-201168" algn="l">
              <a:lnSpc>
                <a:spcPct val="100000"/>
              </a:lnSpc>
              <a:spcBef>
                <a:spcPts val="0"/>
              </a:spcBef>
              <a:spcAft>
                <a:spcPts val="400"/>
              </a:spcAft>
              <a:buClr>
                <a:schemeClr val="accent2"/>
              </a:buClr>
              <a:buFont typeface="Arial"/>
              <a:buChar char="•"/>
            </a:pPr>
            <a:r>
              <a:rPr lang="en-US" sz="1500" b="0" i="0" dirty="0">
                <a:solidFill>
                  <a:schemeClr val="tx2"/>
                </a:solidFill>
              </a:rPr>
              <a:t xml:space="preserve">Peaks are brief; without hold, a spike is gone in milliseconds.</a:t>
            </a:r>
            <a:endParaRPr lang="en-US" sz="1500" dirty="0"/>
          </a:p>
        </p:txBody>
      </p:sp>
      <p:sp>
        <p:nvSpPr>
          <p:cNvPr id="6" name="Timing panel"/>
          <p:cNvSpPr/>
          <p:nvPr/>
        </p:nvSpPr>
        <p:spPr>
          <a:xfrm>
            <a:off x="640080" y="3383280"/>
            <a:ext cx="8321040" cy="2926080"/>
          </a:xfrm>
          <a:prstGeom prst="roundRect">
            <a:avLst>
              <a:gd name="adj" fmla="val 5000"/>
            </a:avLst>
          </a:prstGeom>
          <a:solidFill>
            <a:schemeClr val="accent1">
              <a:alpha val="10000"/>
            </a:schemeClr>
          </a:solidFill>
          <a:ln>
            <a:noFill/>
          </a:ln>
        </p:spPr>
      </p:sp>
      <p:cxnSp>
        <p:nvCxnSpPr>
          <p:cNvPr id="7" name="Grid 60 dB"/>
          <p:cNvCxnSpPr/>
          <p:nvPr/>
        </p:nvCxnSpPr>
        <p:spPr>
          <a:xfrm>
            <a:off x="1508760" y="5455920"/>
            <a:ext cx="7315200" cy="0"/>
          </a:xfrm>
          <a:prstGeom prst="straightConnector1">
            <a:avLst/>
          </a:prstGeom>
          <a:ln w="9525">
            <a:solidFill>
              <a:srgbClr val="C9D3D7"/>
            </a:solidFill>
            <a:prstDash val="dash"/>
            <a:round/>
          </a:ln>
        </p:spPr>
      </p:cxnSp>
      <p:sp>
        <p:nvSpPr>
          <p:cNvPr id="8" name="Axis label 60"/>
          <p:cNvSpPr txBox="1"/>
          <p:nvPr/>
        </p:nvSpPr>
        <p:spPr>
          <a:xfrm>
            <a:off x="713232" y="5337048"/>
            <a:ext cx="731520" cy="237744"/>
          </a:xfrm>
          <a:prstGeom prst="rect">
            <a:avLst/>
          </a:prstGeom>
          <a:noFill/>
          <a:ln>
            <a:noFill/>
          </a:ln>
        </p:spPr>
        <p:txBody>
          <a:bodyPr wrap="square" lIns="0" tIns="0" rIns="0" bIns="0" rtlCol="0" anchor="ctr">
            <a:noAutofit/>
          </a:bodyPr>
          <a:lstStyle/>
          <a:p>
            <a:pPr marL="0" indent="0" algn="r">
              <a:lnSpc>
                <a:spcPct val="100000"/>
              </a:lnSpc>
              <a:spcBef>
                <a:spcPts val="0"/>
              </a:spcBef>
              <a:spcAft>
                <a:spcPts val="0"/>
              </a:spcAft>
              <a:buNone/>
            </a:pPr>
            <a:r>
              <a:rPr lang="en-US" sz="1000" b="0" i="0" dirty="0">
                <a:solidFill>
                  <a:schemeClr val="tx2"/>
                </a:solidFill>
              </a:rPr>
              <a:t xml:space="preserve">60 dB</a:t>
            </a:r>
            <a:endParaRPr lang="en-US" sz="1000" dirty="0"/>
          </a:p>
        </p:txBody>
      </p:sp>
      <p:cxnSp>
        <p:nvCxnSpPr>
          <p:cNvPr id="9" name="Grid 90 dB"/>
          <p:cNvCxnSpPr/>
          <p:nvPr/>
        </p:nvCxnSpPr>
        <p:spPr>
          <a:xfrm>
            <a:off x="1508760" y="4861560"/>
            <a:ext cx="7315200" cy="0"/>
          </a:xfrm>
          <a:prstGeom prst="straightConnector1">
            <a:avLst/>
          </a:prstGeom>
          <a:ln w="9525">
            <a:solidFill>
              <a:srgbClr val="C9D3D7"/>
            </a:solidFill>
            <a:prstDash val="dash"/>
            <a:round/>
          </a:ln>
        </p:spPr>
      </p:cxnSp>
      <p:sp>
        <p:nvSpPr>
          <p:cNvPr id="10" name="Axis label 90"/>
          <p:cNvSpPr txBox="1"/>
          <p:nvPr/>
        </p:nvSpPr>
        <p:spPr>
          <a:xfrm>
            <a:off x="713232" y="4742688"/>
            <a:ext cx="731520" cy="237744"/>
          </a:xfrm>
          <a:prstGeom prst="rect">
            <a:avLst/>
          </a:prstGeom>
          <a:noFill/>
          <a:ln>
            <a:noFill/>
          </a:ln>
        </p:spPr>
        <p:txBody>
          <a:bodyPr wrap="square" lIns="0" tIns="0" rIns="0" bIns="0" rtlCol="0" anchor="ctr">
            <a:noAutofit/>
          </a:bodyPr>
          <a:lstStyle/>
          <a:p>
            <a:pPr marL="0" indent="0" algn="r">
              <a:lnSpc>
                <a:spcPct val="100000"/>
              </a:lnSpc>
              <a:spcBef>
                <a:spcPts val="0"/>
              </a:spcBef>
              <a:spcAft>
                <a:spcPts val="0"/>
              </a:spcAft>
              <a:buNone/>
            </a:pPr>
            <a:r>
              <a:rPr lang="en-US" sz="1000" b="0" i="0" dirty="0">
                <a:solidFill>
                  <a:schemeClr val="tx2"/>
                </a:solidFill>
              </a:rPr>
              <a:t xml:space="preserve">90 dB</a:t>
            </a:r>
            <a:endParaRPr lang="en-US" sz="1000" dirty="0"/>
          </a:p>
        </p:txBody>
      </p:sp>
      <p:cxnSp>
        <p:nvCxnSpPr>
          <p:cNvPr id="11" name="Grid 120 dB"/>
          <p:cNvCxnSpPr/>
          <p:nvPr/>
        </p:nvCxnSpPr>
        <p:spPr>
          <a:xfrm>
            <a:off x="1508760" y="4267200"/>
            <a:ext cx="7315200" cy="0"/>
          </a:xfrm>
          <a:prstGeom prst="straightConnector1">
            <a:avLst/>
          </a:prstGeom>
          <a:ln w="9525">
            <a:solidFill>
              <a:srgbClr val="C9D3D7"/>
            </a:solidFill>
            <a:prstDash val="dash"/>
            <a:round/>
          </a:ln>
        </p:spPr>
      </p:cxnSp>
      <p:sp>
        <p:nvSpPr>
          <p:cNvPr id="12" name="Axis label 120"/>
          <p:cNvSpPr txBox="1"/>
          <p:nvPr/>
        </p:nvSpPr>
        <p:spPr>
          <a:xfrm>
            <a:off x="713232" y="4148328"/>
            <a:ext cx="731520" cy="237744"/>
          </a:xfrm>
          <a:prstGeom prst="rect">
            <a:avLst/>
          </a:prstGeom>
          <a:noFill/>
          <a:ln>
            <a:noFill/>
          </a:ln>
        </p:spPr>
        <p:txBody>
          <a:bodyPr wrap="square" lIns="0" tIns="0" rIns="0" bIns="0" rtlCol="0" anchor="ctr">
            <a:noAutofit/>
          </a:bodyPr>
          <a:lstStyle/>
          <a:p>
            <a:pPr marL="0" indent="0" algn="r">
              <a:lnSpc>
                <a:spcPct val="100000"/>
              </a:lnSpc>
              <a:spcBef>
                <a:spcPts val="0"/>
              </a:spcBef>
              <a:spcAft>
                <a:spcPts val="0"/>
              </a:spcAft>
              <a:buNone/>
            </a:pPr>
            <a:r>
              <a:rPr lang="en-US" sz="1000" b="0" i="0" dirty="0">
                <a:solidFill>
                  <a:schemeClr val="tx2"/>
                </a:solidFill>
              </a:rPr>
              <a:t xml:space="preserve">120 dB</a:t>
            </a:r>
            <a:endParaRPr lang="en-US" sz="1000" dirty="0"/>
          </a:p>
        </p:txBody>
      </p:sp>
      <p:sp>
        <p:nvSpPr>
          <p:cNvPr id="13" name="Live level trace" descr="Live dB level with two short spikes"/>
          <p:cNvSpPr/>
          <p:nvPr/>
        </p:nvSpPr>
        <p:spPr>
          <a:xfrm>
            <a:off x="1508760" y="4069080"/>
            <a:ext cx="7315200" cy="1783080"/>
          </a:xfrm>
          <a:custGeom>
            <a:avLst/>
            <a:gdLst/>
            <a:ahLst/>
            <a:cxnLst/>
            <a:rect l="0" t="0" r="r" b="b"/>
            <a:pathLst>
              <a:path w="7315200" h="1783080" fill="none">
                <a:moveTo>
                  <a:pt x="0" y="1426464"/>
                </a:moveTo>
                <a:lnTo>
                  <a:pt x="365760" y="1347216"/>
                </a:lnTo>
                <a:lnTo>
                  <a:pt x="731520" y="1446276"/>
                </a:lnTo>
                <a:lnTo>
                  <a:pt x="1097280" y="1327404"/>
                </a:lnTo>
                <a:lnTo>
                  <a:pt x="1463040" y="1386840"/>
                </a:lnTo>
                <a:lnTo>
                  <a:pt x="1792224" y="1347216"/>
                </a:lnTo>
                <a:lnTo>
                  <a:pt x="1916582" y="693420"/>
                </a:lnTo>
                <a:lnTo>
                  <a:pt x="2084831" y="1307592"/>
                </a:lnTo>
                <a:lnTo>
                  <a:pt x="2414016" y="1386840"/>
                </a:lnTo>
                <a:lnTo>
                  <a:pt x="2779776" y="1267968"/>
                </a:lnTo>
                <a:lnTo>
                  <a:pt x="3072384" y="1367028"/>
                </a:lnTo>
                <a:lnTo>
                  <a:pt x="3438144" y="1327404"/>
                </a:lnTo>
                <a:lnTo>
                  <a:pt x="3657600" y="1386840"/>
                </a:lnTo>
                <a:lnTo>
                  <a:pt x="3803904" y="1347216"/>
                </a:lnTo>
                <a:lnTo>
                  <a:pt x="3891686" y="198120"/>
                </a:lnTo>
                <a:lnTo>
                  <a:pt x="4037990" y="1267968"/>
                </a:lnTo>
                <a:lnTo>
                  <a:pt x="4389120" y="1367028"/>
                </a:lnTo>
                <a:lnTo>
                  <a:pt x="4754880" y="1307592"/>
                </a:lnTo>
                <a:lnTo>
                  <a:pt x="5120640" y="1406652"/>
                </a:lnTo>
                <a:lnTo>
                  <a:pt x="5486400" y="1347216"/>
                </a:lnTo>
                <a:lnTo>
                  <a:pt x="5852160" y="1386840"/>
                </a:lnTo>
                <a:lnTo>
                  <a:pt x="6217920" y="1327404"/>
                </a:lnTo>
                <a:lnTo>
                  <a:pt x="6583680" y="1426464"/>
                </a:lnTo>
                <a:lnTo>
                  <a:pt x="7315200" y="1367028"/>
                </a:lnTo>
              </a:path>
            </a:pathLst>
          </a:custGeom>
          <a:noFill/>
          <a:ln w="25400">
            <a:solidFill>
              <a:schemeClr val="accent2"/>
            </a:solidFill>
            <a:round/>
          </a:ln>
        </p:spPr>
      </p:sp>
      <p:sp>
        <p:nvSpPr>
          <p:cNvPr id="14" name="Held peak trace" descr="Held peak: steps up at each spike and stays flat until the hold timer expires"/>
          <p:cNvSpPr/>
          <p:nvPr/>
        </p:nvSpPr>
        <p:spPr>
          <a:xfrm>
            <a:off x="1508760" y="4069080"/>
            <a:ext cx="7315200" cy="1783080"/>
          </a:xfrm>
          <a:custGeom>
            <a:avLst/>
            <a:gdLst/>
            <a:ahLst/>
            <a:cxnLst/>
            <a:rect l="0" t="0" r="r" b="b"/>
            <a:pathLst>
              <a:path w="7315200" h="1783080" fill="none">
                <a:moveTo>
                  <a:pt x="0" y="1743456"/>
                </a:moveTo>
                <a:lnTo>
                  <a:pt x="1916582" y="1743456"/>
                </a:lnTo>
                <a:lnTo>
                  <a:pt x="1916582" y="693420"/>
                </a:lnTo>
                <a:lnTo>
                  <a:pt x="3891686" y="693420"/>
                </a:lnTo>
                <a:lnTo>
                  <a:pt x="3891686" y="198120"/>
                </a:lnTo>
                <a:lnTo>
                  <a:pt x="5998464" y="198120"/>
                </a:lnTo>
                <a:lnTo>
                  <a:pt x="5998464" y="1743456"/>
                </a:lnTo>
                <a:lnTo>
                  <a:pt x="7315200" y="1743456"/>
                </a:lnTo>
              </a:path>
            </a:pathLst>
          </a:custGeom>
          <a:noFill/>
          <a:ln w="34925">
            <a:solidFill>
              <a:schemeClr val="accent4"/>
            </a:solidFill>
            <a:prstDash val="sysDash"/>
            <a:round/>
          </a:ln>
        </p:spPr>
      </p:sp>
      <p:cxnSp>
        <p:nvCxnSpPr>
          <p:cNvPr id="15" name="Time axis"/>
          <p:cNvCxnSpPr/>
          <p:nvPr/>
        </p:nvCxnSpPr>
        <p:spPr>
          <a:xfrm>
            <a:off x="1508760" y="5852160"/>
            <a:ext cx="7406640" cy="0"/>
          </a:xfrm>
          <a:prstGeom prst="straightConnector1">
            <a:avLst/>
          </a:prstGeom>
          <a:ln w="15875">
            <a:solidFill>
              <a:schemeClr val="tx2"/>
            </a:solidFill>
            <a:round/>
            <a:tailEnd type="triangle" w="med" len="med"/>
          </a:ln>
        </p:spPr>
      </p:cxnSp>
      <p:cxnSp>
        <p:nvCxnSpPr>
          <p:cNvPr id="16" name="Level axis"/>
          <p:cNvCxnSpPr/>
          <p:nvPr/>
        </p:nvCxnSpPr>
        <p:spPr>
          <a:xfrm flipV="1">
            <a:off x="1508760" y="4023360"/>
            <a:ext cx="0" cy="1828800"/>
          </a:xfrm>
          <a:prstGeom prst="straightConnector1">
            <a:avLst/>
          </a:prstGeom>
          <a:ln w="15875">
            <a:solidFill>
              <a:schemeClr val="tx2"/>
            </a:solidFill>
            <a:round/>
          </a:ln>
        </p:spPr>
      </p:cxnSp>
      <p:sp>
        <p:nvSpPr>
          <p:cNvPr id="17" name="Time label"/>
          <p:cNvSpPr txBox="1"/>
          <p:nvPr/>
        </p:nvSpPr>
        <p:spPr>
          <a:xfrm>
            <a:off x="7909560" y="5888736"/>
            <a:ext cx="1005840" cy="228600"/>
          </a:xfrm>
          <a:prstGeom prst="rect">
            <a:avLst/>
          </a:prstGeom>
          <a:noFill/>
          <a:ln>
            <a:noFill/>
          </a:ln>
        </p:spPr>
        <p:txBody>
          <a:bodyPr wrap="square" lIns="0" tIns="0" rIns="0" bIns="0" rtlCol="0" anchor="ctr">
            <a:noAutofit/>
          </a:bodyPr>
          <a:lstStyle/>
          <a:p>
            <a:pPr marL="0" indent="0" algn="r">
              <a:lnSpc>
                <a:spcPct val="100000"/>
              </a:lnSpc>
              <a:spcBef>
                <a:spcPts val="0"/>
              </a:spcBef>
              <a:spcAft>
                <a:spcPts val="0"/>
              </a:spcAft>
              <a:buNone/>
            </a:pPr>
            <a:r>
              <a:rPr lang="en-US" sz="1000" b="0" i="0" dirty="0">
                <a:solidFill>
                  <a:schemeClr val="tx2"/>
                </a:solidFill>
              </a:rPr>
              <a:t xml:space="preserve">time →</a:t>
            </a:r>
            <a:endParaRPr lang="en-US" sz="1000" dirty="0"/>
          </a:p>
        </p:txBody>
      </p:sp>
      <p:sp>
        <p:nvSpPr>
          <p:cNvPr id="18" name="Phase peak captured"/>
          <p:cNvSpPr txBox="1"/>
          <p:nvPr/>
        </p:nvSpPr>
        <p:spPr>
          <a:xfrm>
            <a:off x="3800246" y="5907024"/>
            <a:ext cx="1554480" cy="237744"/>
          </a:xfrm>
          <a:prstGeom prst="rect">
            <a:avLst/>
          </a:prstGeom>
          <a:noFill/>
          <a:ln>
            <a:noFill/>
          </a:ln>
        </p:spPr>
        <p:txBody>
          <a:bodyPr wrap="square" lIns="0" tIns="0" rIns="0" bIns="0" rtlCol="0" anchor="ctr">
            <a:noAutofit/>
          </a:bodyPr>
          <a:lstStyle/>
          <a:p>
            <a:pPr marL="0" indent="0" algn="r">
              <a:lnSpc>
                <a:spcPct val="100000"/>
              </a:lnSpc>
              <a:spcBef>
                <a:spcPts val="0"/>
              </a:spcBef>
              <a:spcAft>
                <a:spcPts val="0"/>
              </a:spcAft>
              <a:buNone/>
            </a:pPr>
            <a:r>
              <a:rPr lang="en-US" sz="1000" b="1" i="0" dirty="0">
                <a:solidFill>
                  <a:srgbClr val="C0561A"/>
                </a:solidFill>
              </a:rPr>
              <a:t xml:space="preserve">peak captured</a:t>
            </a:r>
            <a:endParaRPr lang="en-US" sz="1000" dirty="0"/>
          </a:p>
        </p:txBody>
      </p:sp>
      <p:sp>
        <p:nvSpPr>
          <p:cNvPr id="19" name="Phase held"/>
          <p:cNvSpPr txBox="1"/>
          <p:nvPr/>
        </p:nvSpPr>
        <p:spPr>
          <a:xfrm>
            <a:off x="5630875" y="5907024"/>
            <a:ext cx="1645920" cy="237744"/>
          </a:xfrm>
          <a:prstGeom prst="rect">
            <a:avLst/>
          </a:prstGeom>
          <a:noFill/>
          <a:ln>
            <a:noFill/>
          </a:ln>
        </p:spPr>
        <p:txBody>
          <a:bodyPr wrap="square" lIns="0" tIns="0" rIns="0" bIns="0" rtlCol="0" anchor="ctr">
            <a:noAutofit/>
          </a:bodyPr>
          <a:lstStyle/>
          <a:p>
            <a:pPr marL="0" indent="0" algn="ctr">
              <a:lnSpc>
                <a:spcPct val="100000"/>
              </a:lnSpc>
              <a:spcBef>
                <a:spcPts val="0"/>
              </a:spcBef>
              <a:spcAft>
                <a:spcPts val="0"/>
              </a:spcAft>
              <a:buNone/>
            </a:pPr>
            <a:r>
              <a:rPr lang="en-US" sz="1000" b="1" i="0" dirty="0">
                <a:solidFill>
                  <a:srgbClr val="C0561A"/>
                </a:solidFill>
              </a:rPr>
              <a:t xml:space="preserve">held (hold timer)</a:t>
            </a:r>
            <a:endParaRPr lang="en-US" sz="1000" dirty="0"/>
          </a:p>
        </p:txBody>
      </p:sp>
      <p:sp>
        <p:nvSpPr>
          <p:cNvPr id="20" name="Phase reset"/>
          <p:cNvSpPr txBox="1"/>
          <p:nvPr/>
        </p:nvSpPr>
        <p:spPr>
          <a:xfrm>
            <a:off x="7552944" y="5907024"/>
            <a:ext cx="1097280" cy="237744"/>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000" b="1" i="0" dirty="0">
                <a:solidFill>
                  <a:srgbClr val="C0561A"/>
                </a:solidFill>
              </a:rPr>
              <a:t xml:space="preserve">reset</a:t>
            </a:r>
            <a:endParaRPr lang="en-US" sz="1000" dirty="0"/>
          </a:p>
        </p:txBody>
      </p:sp>
      <p:sp>
        <p:nvSpPr>
          <p:cNvPr id="21" name="Legend live swatch"/>
          <p:cNvSpPr/>
          <p:nvPr/>
        </p:nvSpPr>
        <p:spPr>
          <a:xfrm>
            <a:off x="1600200" y="3630168"/>
            <a:ext cx="320040" cy="45720"/>
          </a:xfrm>
          <a:prstGeom prst="rect">
            <a:avLst/>
          </a:prstGeom>
          <a:solidFill>
            <a:schemeClr val="accent2"/>
          </a:solidFill>
          <a:ln>
            <a:noFill/>
          </a:ln>
        </p:spPr>
      </p:sp>
      <p:sp>
        <p:nvSpPr>
          <p:cNvPr id="22" name="Legend live"/>
          <p:cNvSpPr txBox="1"/>
          <p:nvPr/>
        </p:nvSpPr>
        <p:spPr>
          <a:xfrm>
            <a:off x="1965960" y="3520440"/>
            <a:ext cx="1188720" cy="256032"/>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000" b="0" i="0" dirty="0">
                <a:solidFill>
                  <a:schemeClr val="tx2"/>
                </a:solidFill>
              </a:rPr>
              <a:t xml:space="preserve">live level</a:t>
            </a:r>
            <a:endParaRPr lang="en-US" sz="1000" dirty="0"/>
          </a:p>
        </p:txBody>
      </p:sp>
      <p:sp>
        <p:nvSpPr>
          <p:cNvPr id="23" name="Legend peak swatch"/>
          <p:cNvSpPr/>
          <p:nvPr/>
        </p:nvSpPr>
        <p:spPr>
          <a:xfrm>
            <a:off x="2971800" y="3630168"/>
            <a:ext cx="320040" cy="45720"/>
          </a:xfrm>
          <a:prstGeom prst="rect">
            <a:avLst/>
          </a:prstGeom>
          <a:solidFill>
            <a:schemeClr val="accent4"/>
          </a:solidFill>
          <a:ln>
            <a:noFill/>
          </a:ln>
        </p:spPr>
      </p:sp>
      <p:sp>
        <p:nvSpPr>
          <p:cNvPr id="24" name="Legend peak"/>
          <p:cNvSpPr txBox="1"/>
          <p:nvPr/>
        </p:nvSpPr>
        <p:spPr>
          <a:xfrm>
            <a:off x="3337560" y="3520440"/>
            <a:ext cx="1463040" cy="256032"/>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000" b="0" i="0" dirty="0">
                <a:solidFill>
                  <a:schemeClr val="tx2"/>
                </a:solidFill>
              </a:rPr>
              <a:t xml:space="preserve">held peak</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p:nvPr>
            <p:ph type="title"/>
          </p:nvPr>
        </p:nvSpPr>
        <p:spPr>
          <a:xfrm>
            <a:off x="640080" y="256032"/>
            <a:ext cx="8321040" cy="86868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2600" b="1" i="0" dirty="0">
                <a:solidFill>
                  <a:schemeClr val="tx2"/>
                </a:solidFill>
              </a:rPr>
              <a:t xml:space="preserve">Clocking and the Control Unit</a:t>
            </a:r>
            <a:endParaRPr lang="en-US" sz="2600" dirty="0"/>
          </a:p>
        </p:txBody>
      </p:sp>
      <p:sp>
        <p:nvSpPr>
          <p:cNvPr id="3" name="Footer"/>
          <p:cNvSpPr txBox="1"/>
          <p:nvPr/>
        </p:nvSpPr>
        <p:spPr>
          <a:xfrm>
            <a:off x="640080" y="6455664"/>
            <a:ext cx="6949440" cy="256032"/>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000" b="0" i="0" dirty="0">
                <a:solidFill>
                  <a:srgbClr val="6B7C84"/>
                </a:solidFill>
              </a:rPr>
              <a:t xml:space="preserve">Sayantan Bharati  |  BWU/BTS/25/503  |  Section B  |  COA (BTS30101)</a:t>
            </a:r>
            <a:endParaRPr lang="en-US" sz="1000" dirty="0"/>
          </a:p>
        </p:txBody>
      </p:sp>
      <p:sp>
        <p:nvSpPr>
          <p:cNvPr id="4" name="Slide Number"/>
          <p:cNvSpPr txBox="1"/>
          <p:nvPr/>
        </p:nvSpPr>
        <p:spPr>
          <a:xfrm>
            <a:off x="8138160" y="6455664"/>
            <a:ext cx="822960" cy="256032"/>
          </a:xfrm>
          <a:prstGeom prst="rect">
            <a:avLst/>
          </a:prstGeom>
          <a:noFill/>
        </p:spPr>
        <p:txBody>
          <a:bodyPr wrap="square" lIns="0" tIns="0" rIns="0" bIns="0" anchor="ctr">
            <a:noAutofit/>
          </a:bodyPr>
          <a:lstStyle/>
          <a:p>
            <a:pPr algn="r"/>
            <a:fld id="{B6F15528-21DE-4FAA-801E-634DDDAF4B2B}" type="slidenum">
              <a:rPr lang="en-US" sz="1000" dirty="0">
                <a:solidFill>
                  <a:srgbClr val="6B7C84"/>
                </a:solidFill>
              </a:rPr>
              <a:t>9</a:t>
            </a:fld>
          </a:p>
        </p:txBody>
      </p:sp>
      <p:sp>
        <p:nvSpPr>
          <p:cNvPr id="5" name="Bullets"/>
          <p:cNvSpPr txBox="1"/>
          <p:nvPr/>
        </p:nvSpPr>
        <p:spPr>
          <a:xfrm>
            <a:off x="640080" y="1280160"/>
            <a:ext cx="8321040" cy="2468880"/>
          </a:xfrm>
          <a:prstGeom prst="rect">
            <a:avLst/>
          </a:prstGeom>
          <a:noFill/>
          <a:ln>
            <a:noFill/>
          </a:ln>
        </p:spPr>
        <p:txBody>
          <a:bodyPr wrap="square" lIns="0" tIns="0" rIns="0" bIns="0" rtlCol="0" anchor="t">
            <a:noAutofit/>
          </a:bodyPr>
          <a:lstStyle/>
          <a:p>
            <a:pPr marL="201168" indent="-201168" algn="l">
              <a:lnSpc>
                <a:spcPct val="100000"/>
              </a:lnSpc>
              <a:spcBef>
                <a:spcPts val="0"/>
              </a:spcBef>
              <a:spcAft>
                <a:spcPts val="400"/>
              </a:spcAft>
              <a:buClr>
                <a:schemeClr val="accent2"/>
              </a:buClr>
              <a:buFont typeface="Arial"/>
              <a:buChar char="•"/>
            </a:pPr>
            <a:r>
              <a:rPr lang="en-US" sz="1400" b="0" i="0" dirty="0">
                <a:solidFill>
                  <a:schemeClr val="tx2"/>
                </a:solidFill>
              </a:rPr>
              <a:t xml:space="preserve">Board runs at a fast master clock; the ADC needs a much slower sample rate.</a:t>
            </a:r>
            <a:endParaRPr lang="en-US" sz="1400" dirty="0"/>
          </a:p>
          <a:p>
            <a:pPr marL="201168" indent="-201168" algn="l">
              <a:lnSpc>
                <a:spcPct val="100000"/>
              </a:lnSpc>
              <a:spcBef>
                <a:spcPts val="0"/>
              </a:spcBef>
              <a:spcAft>
                <a:spcPts val="400"/>
              </a:spcAft>
              <a:buClr>
                <a:schemeClr val="accent2"/>
              </a:buClr>
              <a:buFont typeface="Arial"/>
              <a:buChar char="•"/>
            </a:pPr>
            <a:r>
              <a:rPr lang="en-US" sz="1400" b="1" i="0" dirty="0">
                <a:solidFill>
                  <a:schemeClr val="tx2"/>
                </a:solidFill>
              </a:rPr>
              <a:t xml:space="preserve">Clock divider</a:t>
            </a:r>
            <a:r>
              <a:rPr lang="en-US" sz="1400" b="0" i="0" dirty="0">
                <a:solidFill>
                  <a:schemeClr val="tx2"/>
                </a:solidFill>
              </a:rPr>
              <a:t xml:space="preserve">: a counter that makes </a:t>
            </a:r>
            <a:r>
              <a:rPr lang="en-US" sz="1400" b="1" i="0" dirty="0">
                <a:solidFill>
                  <a:schemeClr val="tx2"/>
                </a:solidFill>
                <a:latin typeface="Courier New"/>
                <a:cs typeface="Courier New"/>
              </a:rPr>
              <a:t xml:space="preserve">clk_sample</a:t>
            </a:r>
            <a:r>
              <a:rPr lang="en-US" sz="1400" b="0" i="0" dirty="0">
                <a:solidFill>
                  <a:schemeClr val="tx2"/>
                </a:solidFill>
              </a:rPr>
              <a:t xml:space="preserve"> (e.g., 8 kHz) from 50 MHz.</a:t>
            </a:r>
            <a:endParaRPr lang="en-US" sz="1400" dirty="0"/>
          </a:p>
          <a:p>
            <a:pPr marL="201168" indent="-201168" algn="l">
              <a:lnSpc>
                <a:spcPct val="100000"/>
              </a:lnSpc>
              <a:spcBef>
                <a:spcPts val="0"/>
              </a:spcBef>
              <a:spcAft>
                <a:spcPts val="400"/>
              </a:spcAft>
              <a:buClr>
                <a:schemeClr val="accent2"/>
              </a:buClr>
              <a:buFont typeface="Arial"/>
              <a:buChar char="•"/>
            </a:pPr>
            <a:r>
              <a:rPr lang="en-US" sz="1400" b="0" i="0" dirty="0">
                <a:solidFill>
                  <a:schemeClr val="tx2"/>
                </a:solidFill>
              </a:rPr>
              <a:t xml:space="preserve">The </a:t>
            </a:r>
            <a:r>
              <a:rPr lang="en-US" sz="1400" b="1" i="0" dirty="0">
                <a:solidFill>
                  <a:schemeClr val="tx2"/>
                </a:solidFill>
              </a:rPr>
              <a:t xml:space="preserve">control FSM</a:t>
            </a:r>
            <a:r>
              <a:rPr lang="en-US" sz="1400" b="0" i="0" dirty="0">
                <a:solidFill>
                  <a:schemeClr val="tx2"/>
                </a:solidFill>
              </a:rPr>
              <a:t xml:space="preserve"> sequences the pipeline stages in defined states.</a:t>
            </a:r>
            <a:endParaRPr lang="en-US" sz="1400" dirty="0"/>
          </a:p>
          <a:p>
            <a:pPr marL="201168" indent="-201168" algn="l">
              <a:lnSpc>
                <a:spcPct val="100000"/>
              </a:lnSpc>
              <a:spcBef>
                <a:spcPts val="0"/>
              </a:spcBef>
              <a:spcAft>
                <a:spcPts val="400"/>
              </a:spcAft>
              <a:buClr>
                <a:schemeClr val="accent2"/>
              </a:buClr>
              <a:buFont typeface="Arial"/>
              <a:buChar char="•"/>
            </a:pPr>
            <a:r>
              <a:rPr lang="en-US" sz="1400" b="0" i="0" dirty="0">
                <a:solidFill>
                  <a:schemeClr val="tx2"/>
                </a:solidFill>
              </a:rPr>
              <a:t xml:space="preserve">States: </a:t>
            </a:r>
            <a:r>
              <a:rPr lang="en-US" sz="1400" b="1" i="0" dirty="0">
                <a:solidFill>
                  <a:schemeClr val="tx2"/>
                </a:solidFill>
                <a:latin typeface="Courier New"/>
                <a:cs typeface="Courier New"/>
              </a:rPr>
              <a:t xml:space="preserve">IDLE → CONVERT → COMPUTE_RMS → CONVERT_dB → UPDATE_HOLD → DISPLAY</a:t>
            </a:r>
            <a:r>
              <a:rPr lang="en-US" sz="1400" b="0" i="0" dirty="0">
                <a:solidFill>
                  <a:schemeClr val="tx2"/>
                </a:solidFill>
              </a:rPr>
              <a:t xml:space="preserve">.</a:t>
            </a:r>
            <a:endParaRPr lang="en-US" sz="1400" dirty="0"/>
          </a:p>
          <a:p>
            <a:pPr marL="201168" indent="-201168" algn="l">
              <a:lnSpc>
                <a:spcPct val="100000"/>
              </a:lnSpc>
              <a:spcBef>
                <a:spcPts val="0"/>
              </a:spcBef>
              <a:spcAft>
                <a:spcPts val="400"/>
              </a:spcAft>
              <a:buClr>
                <a:schemeClr val="accent2"/>
              </a:buClr>
              <a:buFont typeface="Arial"/>
              <a:buChar char="•"/>
            </a:pPr>
            <a:r>
              <a:rPr lang="en-US" sz="1400" b="0" i="0" dirty="0">
                <a:solidFill>
                  <a:schemeClr val="tx2"/>
                </a:solidFill>
              </a:rPr>
              <a:t xml:space="preserve">Flags (</a:t>
            </a:r>
            <a:r>
              <a:rPr lang="en-US" sz="1400" b="1" i="0" dirty="0">
                <a:solidFill>
                  <a:schemeClr val="tx2"/>
                </a:solidFill>
                <a:latin typeface="Courier New"/>
                <a:cs typeface="Courier New"/>
              </a:rPr>
              <a:t xml:space="preserve">adc_done</a:t>
            </a:r>
            <a:r>
              <a:rPr lang="en-US" sz="1400" b="0" i="0" dirty="0">
                <a:solidFill>
                  <a:schemeClr val="tx2"/>
                </a:solidFill>
              </a:rPr>
              <a:t xml:space="preserve">, </a:t>
            </a:r>
            <a:r>
              <a:rPr lang="en-US" sz="1400" b="1" i="0" dirty="0">
                <a:solidFill>
                  <a:schemeClr val="tx2"/>
                </a:solidFill>
                <a:latin typeface="Courier New"/>
                <a:cs typeface="Courier New"/>
              </a:rPr>
              <a:t xml:space="preserve">window_full</a:t>
            </a:r>
            <a:r>
              <a:rPr lang="en-US" sz="1400" b="0" i="0" dirty="0">
                <a:solidFill>
                  <a:schemeClr val="tx2"/>
                </a:solidFill>
              </a:rPr>
              <a:t xml:space="preserve">) drive transitions — classic </a:t>
            </a:r>
            <a:r>
              <a:rPr lang="en-US" sz="1400" b="1" i="0" dirty="0">
                <a:solidFill>
                  <a:schemeClr val="tx2"/>
                </a:solidFill>
              </a:rPr>
              <a:t xml:space="preserve">control-unit</a:t>
            </a:r>
            <a:r>
              <a:rPr lang="en-US" sz="1400" b="0" i="0" dirty="0">
                <a:solidFill>
                  <a:schemeClr val="tx2"/>
                </a:solidFill>
              </a:rPr>
              <a:t xml:space="preserve"> design.</a:t>
            </a:r>
            <a:endParaRPr lang="en-US" sz="1400" dirty="0"/>
          </a:p>
          <a:p>
            <a:pPr marL="201168" indent="-201168" algn="l">
              <a:lnSpc>
                <a:spcPct val="100000"/>
              </a:lnSpc>
              <a:spcBef>
                <a:spcPts val="0"/>
              </a:spcBef>
              <a:spcAft>
                <a:spcPts val="400"/>
              </a:spcAft>
              <a:buClr>
                <a:schemeClr val="accent2"/>
              </a:buClr>
              <a:buFont typeface="Arial"/>
              <a:buChar char="•"/>
            </a:pPr>
            <a:r>
              <a:rPr lang="en-US" sz="1400" b="0" i="0" dirty="0">
                <a:solidFill>
                  <a:schemeClr val="tx2"/>
                </a:solidFill>
              </a:rPr>
              <a:t xml:space="preserve">A direct application of the COA control-unit / instruction-cycle concept.</a:t>
            </a:r>
            <a:endParaRPr lang="en-US" sz="1400" dirty="0"/>
          </a:p>
        </p:txBody>
      </p:sp>
      <p:sp>
        <p:nvSpPr>
          <p:cNvPr id="6" name="State IDLE"/>
          <p:cNvSpPr/>
          <p:nvPr/>
        </p:nvSpPr>
        <p:spPr>
          <a:xfrm>
            <a:off x="1371600" y="4069080"/>
            <a:ext cx="1737360" cy="640080"/>
          </a:xfrm>
          <a:prstGeom prst="roundRect">
            <a:avLst>
              <a:gd name="adj" fmla="val 40000"/>
            </a:avLst>
          </a:prstGeom>
          <a:solidFill>
            <a:schemeClr val="accent2"/>
          </a:solidFill>
          <a:ln w="22225">
            <a:solidFill>
              <a:schemeClr val="accent2"/>
            </a:solidFill>
            <a:round/>
          </a:ln>
        </p:spPr>
        <p:txBody>
          <a:bodyPr wrap="square" lIns="27432" tIns="27432" rIns="27432" bIns="27432" rtlCol="0" anchor="ctr">
            <a:noAutofit/>
          </a:bodyPr>
          <a:lstStyle/>
          <a:p>
            <a:pPr marL="0" indent="0" algn="ctr">
              <a:lnSpc>
                <a:spcPct val="100000"/>
              </a:lnSpc>
              <a:spcBef>
                <a:spcPts val="0"/>
              </a:spcBef>
              <a:spcAft>
                <a:spcPts val="0"/>
              </a:spcAft>
              <a:buNone/>
            </a:pPr>
            <a:r>
              <a:rPr lang="en-US" sz="1200" b="1" i="0" dirty="0">
                <a:solidFill>
                  <a:schemeClr val="bg1"/>
                </a:solidFill>
              </a:rPr>
              <a:t xml:space="preserve">IDLE</a:t>
            </a:r>
            <a:endParaRPr lang="en-US" sz="1200" dirty="0"/>
          </a:p>
        </p:txBody>
      </p:sp>
      <p:sp>
        <p:nvSpPr>
          <p:cNvPr id="7" name="State CONVERT"/>
          <p:cNvSpPr/>
          <p:nvPr/>
        </p:nvSpPr>
        <p:spPr>
          <a:xfrm>
            <a:off x="3931920" y="4069080"/>
            <a:ext cx="1737360" cy="640080"/>
          </a:xfrm>
          <a:prstGeom prst="roundRect">
            <a:avLst>
              <a:gd name="adj" fmla="val 40000"/>
            </a:avLst>
          </a:prstGeom>
          <a:solidFill>
            <a:schemeClr val="accent1">
              <a:alpha val="25000"/>
            </a:schemeClr>
          </a:solidFill>
          <a:ln w="22225">
            <a:solidFill>
              <a:schemeClr val="accent2"/>
            </a:solidFill>
            <a:round/>
          </a:ln>
        </p:spPr>
        <p:txBody>
          <a:bodyPr wrap="square" lIns="27432" tIns="27432" rIns="27432" bIns="27432" rtlCol="0" anchor="ctr">
            <a:noAutofit/>
          </a:bodyPr>
          <a:lstStyle/>
          <a:p>
            <a:pPr marL="0" indent="0" algn="ctr">
              <a:lnSpc>
                <a:spcPct val="100000"/>
              </a:lnSpc>
              <a:spcBef>
                <a:spcPts val="0"/>
              </a:spcBef>
              <a:spcAft>
                <a:spcPts val="0"/>
              </a:spcAft>
              <a:buNone/>
            </a:pPr>
            <a:r>
              <a:rPr lang="en-US" sz="1200" b="1" i="0" dirty="0">
                <a:solidFill>
                  <a:schemeClr val="tx2"/>
                </a:solidFill>
              </a:rPr>
              <a:t xml:space="preserve">CONVERT</a:t>
            </a:r>
            <a:endParaRPr lang="en-US" sz="1200" dirty="0"/>
          </a:p>
        </p:txBody>
      </p:sp>
      <p:sp>
        <p:nvSpPr>
          <p:cNvPr id="8" name="State COMPUTE_RMS"/>
          <p:cNvSpPr/>
          <p:nvPr/>
        </p:nvSpPr>
        <p:spPr>
          <a:xfrm>
            <a:off x="6492240" y="4069080"/>
            <a:ext cx="1737360" cy="640080"/>
          </a:xfrm>
          <a:prstGeom prst="roundRect">
            <a:avLst>
              <a:gd name="adj" fmla="val 40000"/>
            </a:avLst>
          </a:prstGeom>
          <a:solidFill>
            <a:schemeClr val="accent1">
              <a:alpha val="25000"/>
            </a:schemeClr>
          </a:solidFill>
          <a:ln w="22225">
            <a:solidFill>
              <a:schemeClr val="accent2"/>
            </a:solidFill>
            <a:round/>
          </a:ln>
        </p:spPr>
        <p:txBody>
          <a:bodyPr wrap="square" lIns="27432" tIns="27432" rIns="27432" bIns="27432" rtlCol="0" anchor="ctr">
            <a:noAutofit/>
          </a:bodyPr>
          <a:lstStyle/>
          <a:p>
            <a:pPr marL="0" indent="0" algn="ctr">
              <a:lnSpc>
                <a:spcPct val="100000"/>
              </a:lnSpc>
              <a:spcBef>
                <a:spcPts val="0"/>
              </a:spcBef>
              <a:spcAft>
                <a:spcPts val="0"/>
              </a:spcAft>
              <a:buNone/>
            </a:pPr>
            <a:r>
              <a:rPr lang="en-US" sz="1200" b="1" i="0" dirty="0">
                <a:solidFill>
                  <a:schemeClr val="tx2"/>
                </a:solidFill>
              </a:rPr>
              <a:t xml:space="preserve">COMPUTE_RMS</a:t>
            </a:r>
            <a:endParaRPr lang="en-US" sz="1200" dirty="0"/>
          </a:p>
        </p:txBody>
      </p:sp>
      <p:sp>
        <p:nvSpPr>
          <p:cNvPr id="9" name="State CONVERT_dB"/>
          <p:cNvSpPr/>
          <p:nvPr/>
        </p:nvSpPr>
        <p:spPr>
          <a:xfrm>
            <a:off x="6492240" y="5532120"/>
            <a:ext cx="1737360" cy="640080"/>
          </a:xfrm>
          <a:prstGeom prst="roundRect">
            <a:avLst>
              <a:gd name="adj" fmla="val 40000"/>
            </a:avLst>
          </a:prstGeom>
          <a:solidFill>
            <a:schemeClr val="accent1">
              <a:alpha val="25000"/>
            </a:schemeClr>
          </a:solidFill>
          <a:ln w="22225">
            <a:solidFill>
              <a:schemeClr val="accent2"/>
            </a:solidFill>
            <a:round/>
          </a:ln>
        </p:spPr>
        <p:txBody>
          <a:bodyPr wrap="square" lIns="27432" tIns="27432" rIns="27432" bIns="27432" rtlCol="0" anchor="ctr">
            <a:noAutofit/>
          </a:bodyPr>
          <a:lstStyle/>
          <a:p>
            <a:pPr marL="0" indent="0" algn="ctr">
              <a:lnSpc>
                <a:spcPct val="100000"/>
              </a:lnSpc>
              <a:spcBef>
                <a:spcPts val="0"/>
              </a:spcBef>
              <a:spcAft>
                <a:spcPts val="0"/>
              </a:spcAft>
              <a:buNone/>
            </a:pPr>
            <a:r>
              <a:rPr lang="en-US" sz="1200" b="1" i="0" dirty="0">
                <a:solidFill>
                  <a:schemeClr val="tx2"/>
                </a:solidFill>
              </a:rPr>
              <a:t xml:space="preserve">CONVERT_dB</a:t>
            </a:r>
            <a:endParaRPr lang="en-US" sz="1200" dirty="0"/>
          </a:p>
        </p:txBody>
      </p:sp>
      <p:sp>
        <p:nvSpPr>
          <p:cNvPr id="10" name="State UPDATE_HOLD"/>
          <p:cNvSpPr/>
          <p:nvPr/>
        </p:nvSpPr>
        <p:spPr>
          <a:xfrm>
            <a:off x="3931920" y="5532120"/>
            <a:ext cx="1737360" cy="640080"/>
          </a:xfrm>
          <a:prstGeom prst="roundRect">
            <a:avLst>
              <a:gd name="adj" fmla="val 40000"/>
            </a:avLst>
          </a:prstGeom>
          <a:solidFill>
            <a:schemeClr val="accent1">
              <a:alpha val="25000"/>
            </a:schemeClr>
          </a:solidFill>
          <a:ln w="22225">
            <a:solidFill>
              <a:schemeClr val="accent2"/>
            </a:solidFill>
            <a:round/>
          </a:ln>
        </p:spPr>
        <p:txBody>
          <a:bodyPr wrap="square" lIns="27432" tIns="27432" rIns="27432" bIns="27432" rtlCol="0" anchor="ctr">
            <a:noAutofit/>
          </a:bodyPr>
          <a:lstStyle/>
          <a:p>
            <a:pPr marL="0" indent="0" algn="ctr">
              <a:lnSpc>
                <a:spcPct val="100000"/>
              </a:lnSpc>
              <a:spcBef>
                <a:spcPts val="0"/>
              </a:spcBef>
              <a:spcAft>
                <a:spcPts val="0"/>
              </a:spcAft>
              <a:buNone/>
            </a:pPr>
            <a:r>
              <a:rPr lang="en-US" sz="1200" b="1" i="0" dirty="0">
                <a:solidFill>
                  <a:schemeClr val="tx2"/>
                </a:solidFill>
              </a:rPr>
              <a:t xml:space="preserve">UPDATE_HOLD</a:t>
            </a:r>
            <a:endParaRPr lang="en-US" sz="1200" dirty="0"/>
          </a:p>
        </p:txBody>
      </p:sp>
      <p:sp>
        <p:nvSpPr>
          <p:cNvPr id="11" name="State DISPLAY"/>
          <p:cNvSpPr/>
          <p:nvPr/>
        </p:nvSpPr>
        <p:spPr>
          <a:xfrm>
            <a:off x="1371600" y="5532120"/>
            <a:ext cx="1737360" cy="640080"/>
          </a:xfrm>
          <a:prstGeom prst="roundRect">
            <a:avLst>
              <a:gd name="adj" fmla="val 40000"/>
            </a:avLst>
          </a:prstGeom>
          <a:solidFill>
            <a:schemeClr val="accent1">
              <a:alpha val="25000"/>
            </a:schemeClr>
          </a:solidFill>
          <a:ln w="22225">
            <a:solidFill>
              <a:schemeClr val="accent2"/>
            </a:solidFill>
            <a:round/>
          </a:ln>
        </p:spPr>
        <p:txBody>
          <a:bodyPr wrap="square" lIns="27432" tIns="27432" rIns="27432" bIns="27432" rtlCol="0" anchor="ctr">
            <a:noAutofit/>
          </a:bodyPr>
          <a:lstStyle/>
          <a:p>
            <a:pPr marL="0" indent="0" algn="ctr">
              <a:lnSpc>
                <a:spcPct val="100000"/>
              </a:lnSpc>
              <a:spcBef>
                <a:spcPts val="0"/>
              </a:spcBef>
              <a:spcAft>
                <a:spcPts val="0"/>
              </a:spcAft>
              <a:buNone/>
            </a:pPr>
            <a:r>
              <a:rPr lang="en-US" sz="1200" b="1" i="0" dirty="0">
                <a:solidFill>
                  <a:schemeClr val="tx2"/>
                </a:solidFill>
              </a:rPr>
              <a:t xml:space="preserve">DISPLAY</a:t>
            </a:r>
            <a:endParaRPr lang="en-US" sz="1200" dirty="0"/>
          </a:p>
        </p:txBody>
      </p:sp>
      <p:sp>
        <p:nvSpPr>
          <p:cNvPr id="12" name="Start marker"/>
          <p:cNvSpPr/>
          <p:nvPr/>
        </p:nvSpPr>
        <p:spPr>
          <a:xfrm>
            <a:off x="640080" y="4297680"/>
            <a:ext cx="182880" cy="182880"/>
          </a:xfrm>
          <a:prstGeom prst="ellipse">
            <a:avLst/>
          </a:prstGeom>
          <a:solidFill>
            <a:schemeClr val="tx2"/>
          </a:solidFill>
          <a:ln>
            <a:noFill/>
          </a:ln>
        </p:spPr>
      </p:sp>
      <p:cxnSp>
        <p:nvCxnSpPr>
          <p:cNvPr id="13" name="Start arrow"/>
          <p:cNvCxnSpPr>
            <a:stCxn id="12" idx="6"/>
            <a:endCxn id="6" idx="1"/>
          </p:cNvCxnSpPr>
          <p:nvPr/>
        </p:nvCxnSpPr>
        <p:spPr>
          <a:xfrm>
            <a:off x="822960" y="4389120"/>
            <a:ext cx="548640" cy="0"/>
          </a:xfrm>
          <a:prstGeom prst="straightConnector1">
            <a:avLst/>
          </a:prstGeom>
          <a:ln w="22225">
            <a:solidFill>
              <a:schemeClr val="tx2"/>
            </a:solidFill>
            <a:round/>
            <a:tailEnd type="triangle" w="med" len="med"/>
          </a:ln>
        </p:spPr>
      </p:cxnSp>
      <p:cxnSp>
        <p:nvCxnSpPr>
          <p:cNvPr id="14" name="IDLE to CONVERT"/>
          <p:cNvCxnSpPr>
            <a:stCxn id="6" idx="3"/>
            <a:endCxn id="7" idx="1"/>
          </p:cNvCxnSpPr>
          <p:nvPr/>
        </p:nvCxnSpPr>
        <p:spPr>
          <a:xfrm>
            <a:off x="3108960" y="4389120"/>
            <a:ext cx="822960" cy="0"/>
          </a:xfrm>
          <a:prstGeom prst="straightConnector1">
            <a:avLst/>
          </a:prstGeom>
          <a:ln w="22225">
            <a:solidFill>
              <a:schemeClr val="tx2"/>
            </a:solidFill>
            <a:round/>
            <a:tailEnd type="triangle" w="med" len="med"/>
          </a:ln>
        </p:spPr>
      </p:cxnSp>
      <p:sp>
        <p:nvSpPr>
          <p:cNvPr id="15" name="Label start"/>
          <p:cNvSpPr txBox="1"/>
          <p:nvPr/>
        </p:nvSpPr>
        <p:spPr>
          <a:xfrm>
            <a:off x="3017520" y="4078224"/>
            <a:ext cx="1005840" cy="237744"/>
          </a:xfrm>
          <a:prstGeom prst="rect">
            <a:avLst/>
          </a:prstGeom>
          <a:noFill/>
          <a:ln>
            <a:noFill/>
          </a:ln>
        </p:spPr>
        <p:txBody>
          <a:bodyPr wrap="square" lIns="0" tIns="0" rIns="0" bIns="0" rtlCol="0" anchor="ctr">
            <a:noAutofit/>
          </a:bodyPr>
          <a:lstStyle/>
          <a:p>
            <a:pPr marL="0" indent="0" algn="ctr">
              <a:lnSpc>
                <a:spcPct val="100000"/>
              </a:lnSpc>
              <a:spcBef>
                <a:spcPts val="0"/>
              </a:spcBef>
              <a:spcAft>
                <a:spcPts val="0"/>
              </a:spcAft>
              <a:buNone/>
            </a:pPr>
            <a:r>
              <a:rPr lang="en-US" sz="1000" b="1" i="0" dirty="0">
                <a:solidFill>
                  <a:srgbClr val="C0561A"/>
                </a:solidFill>
              </a:rPr>
              <a:t xml:space="preserve">start</a:t>
            </a:r>
            <a:endParaRPr lang="en-US" sz="1000" dirty="0"/>
          </a:p>
        </p:txBody>
      </p:sp>
      <p:cxnSp>
        <p:nvCxnSpPr>
          <p:cNvPr id="16" name="CONVERT to COMPUTE_RMS"/>
          <p:cNvCxnSpPr>
            <a:stCxn id="7" idx="3"/>
            <a:endCxn id="8" idx="1"/>
          </p:cNvCxnSpPr>
          <p:nvPr/>
        </p:nvCxnSpPr>
        <p:spPr>
          <a:xfrm>
            <a:off x="5669280" y="4389120"/>
            <a:ext cx="822960" cy="0"/>
          </a:xfrm>
          <a:prstGeom prst="straightConnector1">
            <a:avLst/>
          </a:prstGeom>
          <a:ln w="22225">
            <a:solidFill>
              <a:schemeClr val="tx2"/>
            </a:solidFill>
            <a:round/>
            <a:tailEnd type="triangle" w="med" len="med"/>
          </a:ln>
        </p:spPr>
      </p:cxnSp>
      <p:sp>
        <p:nvSpPr>
          <p:cNvPr id="17" name="Label adc_done"/>
          <p:cNvSpPr txBox="1"/>
          <p:nvPr/>
        </p:nvSpPr>
        <p:spPr>
          <a:xfrm>
            <a:off x="5577840" y="4078224"/>
            <a:ext cx="1005840" cy="237744"/>
          </a:xfrm>
          <a:prstGeom prst="rect">
            <a:avLst/>
          </a:prstGeom>
          <a:noFill/>
          <a:ln>
            <a:noFill/>
          </a:ln>
        </p:spPr>
        <p:txBody>
          <a:bodyPr wrap="square" lIns="0" tIns="0" rIns="0" bIns="0" rtlCol="0" anchor="ctr">
            <a:noAutofit/>
          </a:bodyPr>
          <a:lstStyle/>
          <a:p>
            <a:pPr marL="0" indent="0" algn="ctr">
              <a:lnSpc>
                <a:spcPct val="100000"/>
              </a:lnSpc>
              <a:spcBef>
                <a:spcPts val="0"/>
              </a:spcBef>
              <a:spcAft>
                <a:spcPts val="0"/>
              </a:spcAft>
              <a:buNone/>
            </a:pPr>
            <a:r>
              <a:rPr lang="en-US" sz="1000" b="1" i="0" dirty="0">
                <a:solidFill>
                  <a:srgbClr val="C0561A"/>
                </a:solidFill>
              </a:rPr>
              <a:t xml:space="preserve">adc_done</a:t>
            </a:r>
            <a:endParaRPr lang="en-US" sz="1000" dirty="0"/>
          </a:p>
        </p:txBody>
      </p:sp>
      <p:cxnSp>
        <p:nvCxnSpPr>
          <p:cNvPr id="18" name="COMPUTE_RMS to CONVERT_dB"/>
          <p:cNvCxnSpPr>
            <a:stCxn id="8" idx="2"/>
            <a:endCxn id="9" idx="0"/>
          </p:cNvCxnSpPr>
          <p:nvPr/>
        </p:nvCxnSpPr>
        <p:spPr>
          <a:xfrm>
            <a:off x="7360920" y="4709160"/>
            <a:ext cx="0" cy="822960"/>
          </a:xfrm>
          <a:prstGeom prst="straightConnector1">
            <a:avLst/>
          </a:prstGeom>
          <a:ln w="22225">
            <a:solidFill>
              <a:schemeClr val="tx2"/>
            </a:solidFill>
            <a:round/>
            <a:tailEnd type="triangle" w="med" len="med"/>
          </a:ln>
        </p:spPr>
      </p:cxnSp>
      <p:sp>
        <p:nvSpPr>
          <p:cNvPr id="19" name="Label window_full"/>
          <p:cNvSpPr txBox="1"/>
          <p:nvPr/>
        </p:nvSpPr>
        <p:spPr>
          <a:xfrm>
            <a:off x="7452360" y="5001768"/>
            <a:ext cx="1097280" cy="237744"/>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000" b="1" i="0" dirty="0">
                <a:solidFill>
                  <a:srgbClr val="C0561A"/>
                </a:solidFill>
              </a:rPr>
              <a:t xml:space="preserve">window_full</a:t>
            </a:r>
            <a:endParaRPr lang="en-US" sz="1000" dirty="0"/>
          </a:p>
        </p:txBody>
      </p:sp>
      <p:cxnSp>
        <p:nvCxnSpPr>
          <p:cNvPr id="20" name="CONVERT_dB to UPDATE_HOLD"/>
          <p:cNvCxnSpPr>
            <a:stCxn id="9" idx="1"/>
            <a:endCxn id="10" idx="3"/>
          </p:cNvCxnSpPr>
          <p:nvPr/>
        </p:nvCxnSpPr>
        <p:spPr>
          <a:xfrm flipH="1">
            <a:off x="5669280" y="5852160"/>
            <a:ext cx="822960" cy="0"/>
          </a:xfrm>
          <a:prstGeom prst="straightConnector1">
            <a:avLst/>
          </a:prstGeom>
          <a:ln w="22225">
            <a:solidFill>
              <a:schemeClr val="tx2"/>
            </a:solidFill>
            <a:round/>
            <a:tailEnd type="triangle" w="med" len="med"/>
          </a:ln>
        </p:spPr>
      </p:cxnSp>
      <p:cxnSp>
        <p:nvCxnSpPr>
          <p:cNvPr id="21" name="UPDATE_HOLD to DISPLAY"/>
          <p:cNvCxnSpPr>
            <a:stCxn id="10" idx="1"/>
            <a:endCxn id="11" idx="3"/>
          </p:cNvCxnSpPr>
          <p:nvPr/>
        </p:nvCxnSpPr>
        <p:spPr>
          <a:xfrm flipH="1">
            <a:off x="3108960" y="5852160"/>
            <a:ext cx="822960" cy="0"/>
          </a:xfrm>
          <a:prstGeom prst="straightConnector1">
            <a:avLst/>
          </a:prstGeom>
          <a:ln w="22225">
            <a:solidFill>
              <a:schemeClr val="tx2"/>
            </a:solidFill>
            <a:round/>
            <a:tailEnd type="triangle" w="med" len="med"/>
          </a:ln>
        </p:spPr>
      </p:cxnSp>
      <p:cxnSp>
        <p:nvCxnSpPr>
          <p:cNvPr id="22" name="DISPLAY to IDLE"/>
          <p:cNvCxnSpPr>
            <a:stCxn id="11" idx="0"/>
            <a:endCxn id="6" idx="2"/>
          </p:cNvCxnSpPr>
          <p:nvPr/>
        </p:nvCxnSpPr>
        <p:spPr>
          <a:xfrm flipV="1">
            <a:off x="2240280" y="4709160"/>
            <a:ext cx="0" cy="822960"/>
          </a:xfrm>
          <a:prstGeom prst="straightConnector1">
            <a:avLst/>
          </a:prstGeom>
          <a:ln w="22225">
            <a:solidFill>
              <a:schemeClr val="tx2"/>
            </a:solidFill>
            <a:round/>
            <a:tailEnd type="triangle" w="med" len="med"/>
          </a:ln>
        </p:spPr>
      </p:cxnSp>
      <p:sp>
        <p:nvSpPr>
          <p:cNvPr id="23" name="Label loop"/>
          <p:cNvSpPr txBox="1"/>
          <p:nvPr/>
        </p:nvSpPr>
        <p:spPr>
          <a:xfrm>
            <a:off x="2331720" y="5001768"/>
            <a:ext cx="1097280" cy="237744"/>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000" b="1" i="0" dirty="0">
                <a:solidFill>
                  <a:srgbClr val="C0561A"/>
                </a:solidFill>
              </a:rPr>
              <a:t xml:space="preserve">loop</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p:nvPr>
            <p:ph type="title"/>
          </p:nvPr>
        </p:nvSpPr>
        <p:spPr>
          <a:xfrm>
            <a:off x="640080" y="256032"/>
            <a:ext cx="8321040" cy="86868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2600" b="1" i="0" dirty="0">
                <a:solidFill>
                  <a:schemeClr val="tx2"/>
                </a:solidFill>
              </a:rPr>
              <a:t xml:space="preserve">Showing the Result</a:t>
            </a:r>
            <a:endParaRPr lang="en-US" sz="2600" dirty="0"/>
          </a:p>
        </p:txBody>
      </p:sp>
      <p:sp>
        <p:nvSpPr>
          <p:cNvPr id="3" name="Footer"/>
          <p:cNvSpPr txBox="1"/>
          <p:nvPr/>
        </p:nvSpPr>
        <p:spPr>
          <a:xfrm>
            <a:off x="640080" y="6455664"/>
            <a:ext cx="6949440" cy="256032"/>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000" b="0" i="0" dirty="0">
                <a:solidFill>
                  <a:srgbClr val="6B7C84"/>
                </a:solidFill>
              </a:rPr>
              <a:t xml:space="preserve">Sayantan Bharati  |  BWU/BTS/25/503  |  Section B  |  COA (BTS30101)</a:t>
            </a:r>
            <a:endParaRPr lang="en-US" sz="1000" dirty="0"/>
          </a:p>
        </p:txBody>
      </p:sp>
      <p:sp>
        <p:nvSpPr>
          <p:cNvPr id="4" name="Slide Number"/>
          <p:cNvSpPr txBox="1"/>
          <p:nvPr/>
        </p:nvSpPr>
        <p:spPr>
          <a:xfrm>
            <a:off x="8138160" y="6455664"/>
            <a:ext cx="822960" cy="256032"/>
          </a:xfrm>
          <a:prstGeom prst="rect">
            <a:avLst/>
          </a:prstGeom>
          <a:noFill/>
        </p:spPr>
        <p:txBody>
          <a:bodyPr wrap="square" lIns="0" tIns="0" rIns="0" bIns="0" anchor="ctr">
            <a:noAutofit/>
          </a:bodyPr>
          <a:lstStyle/>
          <a:p>
            <a:pPr algn="r"/>
            <a:fld id="{B6F15528-21DE-4FAA-801E-634DDDAF4B2B}" type="slidenum">
              <a:rPr lang="en-US" sz="1000" dirty="0">
                <a:solidFill>
                  <a:srgbClr val="6B7C84"/>
                </a:solidFill>
              </a:rPr>
              <a:t>10</a:t>
            </a:fld>
          </a:p>
        </p:txBody>
      </p:sp>
      <p:sp>
        <p:nvSpPr>
          <p:cNvPr id="5" name="Bullets"/>
          <p:cNvSpPr txBox="1"/>
          <p:nvPr/>
        </p:nvSpPr>
        <p:spPr>
          <a:xfrm>
            <a:off x="640080" y="1280160"/>
            <a:ext cx="4343400" cy="4846320"/>
          </a:xfrm>
          <a:prstGeom prst="rect">
            <a:avLst/>
          </a:prstGeom>
          <a:noFill/>
          <a:ln>
            <a:noFill/>
          </a:ln>
        </p:spPr>
        <p:txBody>
          <a:bodyPr wrap="square" lIns="0" tIns="0" rIns="0" bIns="0" rtlCol="0" anchor="t">
            <a:noAutofit/>
          </a:bodyPr>
          <a:lstStyle/>
          <a:p>
            <a:pPr marL="201168" indent="-201168" algn="l">
              <a:lnSpc>
                <a:spcPct val="100000"/>
              </a:lnSpc>
              <a:spcBef>
                <a:spcPts val="0"/>
              </a:spcBef>
              <a:spcAft>
                <a:spcPts val="900"/>
              </a:spcAft>
              <a:buClr>
                <a:schemeClr val="accent2"/>
              </a:buClr>
              <a:buFont typeface="Arial"/>
              <a:buChar char="•"/>
            </a:pPr>
            <a:r>
              <a:rPr lang="en-US" sz="1500" b="0" i="0" dirty="0">
                <a:solidFill>
                  <a:schemeClr val="tx2"/>
                </a:solidFill>
              </a:rPr>
              <a:t xml:space="preserve">Options: </a:t>
            </a:r>
            <a:r>
              <a:rPr lang="en-US" sz="1500" b="1" i="0" dirty="0">
                <a:solidFill>
                  <a:schemeClr val="tx2"/>
                </a:solidFill>
              </a:rPr>
              <a:t xml:space="preserve">3-digit 7-segment LED</a:t>
            </a:r>
            <a:r>
              <a:rPr lang="en-US" sz="1500" b="0" i="0" dirty="0">
                <a:solidFill>
                  <a:schemeClr val="tx2"/>
                </a:solidFill>
              </a:rPr>
              <a:t xml:space="preserve">, </a:t>
            </a:r>
            <a:r>
              <a:rPr lang="en-US" sz="1500" b="1" i="0" dirty="0">
                <a:solidFill>
                  <a:schemeClr val="tx2"/>
                </a:solidFill>
              </a:rPr>
              <a:t xml:space="preserve">10-LED bar graph</a:t>
            </a:r>
            <a:r>
              <a:rPr lang="en-US" sz="1500" b="0" i="0" dirty="0">
                <a:solidFill>
                  <a:schemeClr val="tx2"/>
                </a:solidFill>
              </a:rPr>
              <a:t xml:space="preserve">, or an LCD text line.</a:t>
            </a:r>
            <a:endParaRPr lang="en-US" sz="1500" dirty="0"/>
          </a:p>
          <a:p>
            <a:pPr marL="201168" indent="-201168" algn="l">
              <a:lnSpc>
                <a:spcPct val="100000"/>
              </a:lnSpc>
              <a:spcBef>
                <a:spcPts val="0"/>
              </a:spcBef>
              <a:spcAft>
                <a:spcPts val="900"/>
              </a:spcAft>
              <a:buClr>
                <a:schemeClr val="accent2"/>
              </a:buClr>
              <a:buFont typeface="Arial"/>
              <a:buChar char="•"/>
            </a:pPr>
            <a:r>
              <a:rPr lang="en-US" sz="1500" b="0" i="0" dirty="0">
                <a:solidFill>
                  <a:schemeClr val="tx2"/>
                </a:solidFill>
              </a:rPr>
              <a:t xml:space="preserve">7-segment needs a </a:t>
            </a:r>
            <a:r>
              <a:rPr lang="en-US" sz="1500" b="1" i="0" dirty="0">
                <a:solidFill>
                  <a:schemeClr val="tx2"/>
                </a:solidFill>
              </a:rPr>
              <a:t xml:space="preserve">binary-to-BCD decoder</a:t>
            </a:r>
            <a:r>
              <a:rPr lang="en-US" sz="1500" b="0" i="0" dirty="0">
                <a:solidFill>
                  <a:schemeClr val="tx2"/>
                </a:solidFill>
              </a:rPr>
              <a:t xml:space="preserve"> + a </a:t>
            </a:r>
            <a:r>
              <a:rPr lang="en-US" sz="1500" b="1" i="0" dirty="0">
                <a:solidFill>
                  <a:schemeClr val="tx2"/>
                </a:solidFill>
              </a:rPr>
              <a:t xml:space="preserve">segment LUT</a:t>
            </a:r>
            <a:r>
              <a:rPr lang="en-US" sz="1500" b="0" i="0" dirty="0">
                <a:solidFill>
                  <a:schemeClr val="tx2"/>
                </a:solidFill>
              </a:rPr>
              <a:t xml:space="preserve">.</a:t>
            </a:r>
            <a:endParaRPr lang="en-US" sz="1500" dirty="0"/>
          </a:p>
          <a:p>
            <a:pPr marL="201168" indent="-201168" algn="l">
              <a:lnSpc>
                <a:spcPct val="100000"/>
              </a:lnSpc>
              <a:spcBef>
                <a:spcPts val="0"/>
              </a:spcBef>
              <a:spcAft>
                <a:spcPts val="900"/>
              </a:spcAft>
              <a:buClr>
                <a:schemeClr val="accent2"/>
              </a:buClr>
              <a:buFont typeface="Arial"/>
              <a:buChar char="•"/>
            </a:pPr>
            <a:r>
              <a:rPr lang="en-US" sz="1500" b="0" i="0" dirty="0">
                <a:solidFill>
                  <a:schemeClr val="tx2"/>
                </a:solidFill>
              </a:rPr>
              <a:t xml:space="preserve">A </a:t>
            </a:r>
            <a:r>
              <a:rPr lang="en-US" sz="1500" b="1" i="0" dirty="0">
                <a:solidFill>
                  <a:schemeClr val="tx2"/>
                </a:solidFill>
              </a:rPr>
              <a:t xml:space="preserve">bar graph</a:t>
            </a:r>
            <a:r>
              <a:rPr lang="en-US" sz="1500" b="0" i="0" dirty="0">
                <a:solidFill>
                  <a:schemeClr val="tx2"/>
                </a:solidFill>
              </a:rPr>
              <a:t xml:space="preserve"> (LM3914-style or LED array) shows level instantly.</a:t>
            </a:r>
            <a:endParaRPr lang="en-US" sz="1500" dirty="0"/>
          </a:p>
          <a:p>
            <a:pPr marL="201168" indent="-201168" algn="l">
              <a:lnSpc>
                <a:spcPct val="100000"/>
              </a:lnSpc>
              <a:spcBef>
                <a:spcPts val="0"/>
              </a:spcBef>
              <a:spcAft>
                <a:spcPts val="900"/>
              </a:spcAft>
              <a:buClr>
                <a:schemeClr val="accent2"/>
              </a:buClr>
              <a:buFont typeface="Arial"/>
              <a:buChar char="•"/>
            </a:pPr>
            <a:r>
              <a:rPr lang="en-US" sz="1500" b="0" i="0" dirty="0">
                <a:solidFill>
                  <a:schemeClr val="tx2"/>
                </a:solidFill>
              </a:rPr>
              <a:t xml:space="preserve">A </a:t>
            </a:r>
            <a:r>
              <a:rPr lang="en-US" sz="1500" b="1" i="0" dirty="0">
                <a:solidFill>
                  <a:schemeClr val="tx2"/>
                </a:solidFill>
              </a:rPr>
              <a:t xml:space="preserve">separate peak LED</a:t>
            </a:r>
            <a:r>
              <a:rPr lang="en-US" sz="1500" b="0" i="0" dirty="0">
                <a:solidFill>
                  <a:schemeClr val="tx2"/>
                </a:solidFill>
              </a:rPr>
              <a:t xml:space="preserve"> or second number shows the held peak.</a:t>
            </a:r>
            <a:endParaRPr lang="en-US" sz="1500" dirty="0"/>
          </a:p>
          <a:p>
            <a:pPr marL="201168" indent="-201168" algn="l">
              <a:lnSpc>
                <a:spcPct val="100000"/>
              </a:lnSpc>
              <a:spcBef>
                <a:spcPts val="0"/>
              </a:spcBef>
              <a:spcAft>
                <a:spcPts val="900"/>
              </a:spcAft>
              <a:buClr>
                <a:schemeClr val="accent2"/>
              </a:buClr>
              <a:buFont typeface="Arial"/>
              <a:buChar char="•"/>
            </a:pPr>
            <a:r>
              <a:rPr lang="en-US" sz="1500" b="0" i="0" dirty="0">
                <a:solidFill>
                  <a:schemeClr val="tx2"/>
                </a:solidFill>
              </a:rPr>
              <a:t xml:space="preserve">Multiplexing: drive one digit at a time, </a:t>
            </a:r>
            <a:r>
              <a:rPr lang="en-US" sz="1500" b="1" i="0" dirty="0">
                <a:solidFill>
                  <a:schemeClr val="tx2"/>
                </a:solidFill>
              </a:rPr>
              <a:t xml:space="preserve">&gt;50 Hz</a:t>
            </a:r>
            <a:r>
              <a:rPr lang="en-US" sz="1500" b="0" i="0" dirty="0">
                <a:solidFill>
                  <a:schemeClr val="tx2"/>
                </a:solidFill>
              </a:rPr>
              <a:t xml:space="preserve"> refresh.</a:t>
            </a:r>
            <a:endParaRPr lang="en-US" sz="1500" dirty="0"/>
          </a:p>
          <a:p>
            <a:pPr marL="201168" indent="-201168" algn="l">
              <a:lnSpc>
                <a:spcPct val="100000"/>
              </a:lnSpc>
              <a:spcBef>
                <a:spcPts val="0"/>
              </a:spcBef>
              <a:spcAft>
                <a:spcPts val="900"/>
              </a:spcAft>
              <a:buClr>
                <a:schemeClr val="accent2"/>
              </a:buClr>
              <a:buFont typeface="Arial"/>
              <a:buChar char="•"/>
            </a:pPr>
            <a:r>
              <a:rPr lang="en-US" sz="1500" b="0" i="0" dirty="0">
                <a:solidFill>
                  <a:schemeClr val="tx2"/>
                </a:solidFill>
              </a:rPr>
              <a:t xml:space="preserve">Colour coding: green (safe) → amber (loud) → red (peak/danger).</a:t>
            </a:r>
            <a:endParaRPr lang="en-US" sz="1500" dirty="0"/>
          </a:p>
        </p:txBody>
      </p:sp>
      <p:sp>
        <p:nvSpPr>
          <p:cNvPr id="6" name="Display card" descr="Mock-up of a 3-digit seven-segment display showing 078 and a 10-LED bar graph with a held peak"/>
          <p:cNvSpPr/>
          <p:nvPr/>
        </p:nvSpPr>
        <p:spPr>
          <a:xfrm>
            <a:off x="5212080" y="1280160"/>
            <a:ext cx="3749040" cy="4526280"/>
          </a:xfrm>
          <a:prstGeom prst="roundRect">
            <a:avLst>
              <a:gd name="adj" fmla="val 4000"/>
            </a:avLst>
          </a:prstGeom>
          <a:solidFill>
            <a:schemeClr val="tx2"/>
          </a:solidFill>
          <a:ln>
            <a:noFill/>
          </a:ln>
        </p:spPr>
      </p:sp>
      <p:sp>
        <p:nvSpPr>
          <p:cNvPr id="7" name="Display caption"/>
          <p:cNvSpPr txBox="1"/>
          <p:nvPr/>
        </p:nvSpPr>
        <p:spPr>
          <a:xfrm>
            <a:off x="5394960" y="1371600"/>
            <a:ext cx="3383280" cy="27432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100" b="1" i="0" dirty="0">
                <a:solidFill>
                  <a:srgbClr val="9FB3BA"/>
                </a:solidFill>
              </a:rPr>
              <a:t xml:space="preserve">3-digit 7-segment display</a:t>
            </a:r>
            <a:endParaRPr lang="en-US" sz="1100" dirty="0"/>
          </a:p>
        </p:txBody>
      </p:sp>
      <p:sp>
        <p:nvSpPr>
          <p:cNvPr id="8" name="Digit 0 seg a"/>
          <p:cNvSpPr/>
          <p:nvPr/>
        </p:nvSpPr>
        <p:spPr>
          <a:xfrm>
            <a:off x="5758891" y="1828800"/>
            <a:ext cx="552298" cy="128016"/>
          </a:xfrm>
          <a:prstGeom prst="roundRect">
            <a:avLst>
              <a:gd name="adj" fmla="val 30000"/>
            </a:avLst>
          </a:prstGeom>
          <a:solidFill>
            <a:schemeClr val="accent1"/>
          </a:solidFill>
          <a:ln>
            <a:noFill/>
          </a:ln>
        </p:spPr>
      </p:sp>
      <p:sp>
        <p:nvSpPr>
          <p:cNvPr id="9" name="Digit 0 seg g"/>
          <p:cNvSpPr/>
          <p:nvPr/>
        </p:nvSpPr>
        <p:spPr>
          <a:xfrm>
            <a:off x="5758891" y="2450592"/>
            <a:ext cx="552298" cy="128016"/>
          </a:xfrm>
          <a:prstGeom prst="roundRect">
            <a:avLst>
              <a:gd name="adj" fmla="val 30000"/>
            </a:avLst>
          </a:prstGeom>
          <a:solidFill>
            <a:schemeClr val="accent1">
              <a:alpha val="14000"/>
            </a:schemeClr>
          </a:solidFill>
          <a:ln>
            <a:noFill/>
          </a:ln>
        </p:spPr>
      </p:sp>
      <p:sp>
        <p:nvSpPr>
          <p:cNvPr id="10" name="Digit 0 seg d"/>
          <p:cNvSpPr/>
          <p:nvPr/>
        </p:nvSpPr>
        <p:spPr>
          <a:xfrm>
            <a:off x="5758891" y="3072384"/>
            <a:ext cx="552298" cy="128016"/>
          </a:xfrm>
          <a:prstGeom prst="roundRect">
            <a:avLst>
              <a:gd name="adj" fmla="val 30000"/>
            </a:avLst>
          </a:prstGeom>
          <a:solidFill>
            <a:schemeClr val="accent1"/>
          </a:solidFill>
          <a:ln>
            <a:noFill/>
          </a:ln>
        </p:spPr>
      </p:sp>
      <p:sp>
        <p:nvSpPr>
          <p:cNvPr id="11" name="Digit 0 seg f"/>
          <p:cNvSpPr/>
          <p:nvPr/>
        </p:nvSpPr>
        <p:spPr>
          <a:xfrm>
            <a:off x="5669280" y="1918411"/>
            <a:ext cx="128016" cy="532181"/>
          </a:xfrm>
          <a:prstGeom prst="roundRect">
            <a:avLst>
              <a:gd name="adj" fmla="val 30000"/>
            </a:avLst>
          </a:prstGeom>
          <a:solidFill>
            <a:schemeClr val="accent1"/>
          </a:solidFill>
          <a:ln>
            <a:noFill/>
          </a:ln>
        </p:spPr>
      </p:sp>
      <p:sp>
        <p:nvSpPr>
          <p:cNvPr id="12" name="Digit 0 seg b"/>
          <p:cNvSpPr/>
          <p:nvPr/>
        </p:nvSpPr>
        <p:spPr>
          <a:xfrm>
            <a:off x="6272784" y="1918411"/>
            <a:ext cx="128016" cy="532181"/>
          </a:xfrm>
          <a:prstGeom prst="roundRect">
            <a:avLst>
              <a:gd name="adj" fmla="val 30000"/>
            </a:avLst>
          </a:prstGeom>
          <a:solidFill>
            <a:schemeClr val="accent1"/>
          </a:solidFill>
          <a:ln>
            <a:noFill/>
          </a:ln>
        </p:spPr>
      </p:sp>
      <p:sp>
        <p:nvSpPr>
          <p:cNvPr id="13" name="Digit 0 seg e"/>
          <p:cNvSpPr/>
          <p:nvPr/>
        </p:nvSpPr>
        <p:spPr>
          <a:xfrm>
            <a:off x="5669280" y="2578608"/>
            <a:ext cx="128016" cy="532181"/>
          </a:xfrm>
          <a:prstGeom prst="roundRect">
            <a:avLst>
              <a:gd name="adj" fmla="val 30000"/>
            </a:avLst>
          </a:prstGeom>
          <a:solidFill>
            <a:schemeClr val="accent1"/>
          </a:solidFill>
          <a:ln>
            <a:noFill/>
          </a:ln>
        </p:spPr>
      </p:sp>
      <p:sp>
        <p:nvSpPr>
          <p:cNvPr id="14" name="Digit 0 seg c"/>
          <p:cNvSpPr/>
          <p:nvPr/>
        </p:nvSpPr>
        <p:spPr>
          <a:xfrm>
            <a:off x="6272784" y="2578608"/>
            <a:ext cx="128016" cy="532181"/>
          </a:xfrm>
          <a:prstGeom prst="roundRect">
            <a:avLst>
              <a:gd name="adj" fmla="val 30000"/>
            </a:avLst>
          </a:prstGeom>
          <a:solidFill>
            <a:schemeClr val="accent1"/>
          </a:solidFill>
          <a:ln>
            <a:noFill/>
          </a:ln>
        </p:spPr>
      </p:sp>
      <p:sp>
        <p:nvSpPr>
          <p:cNvPr id="15" name="Digit 7 seg a"/>
          <p:cNvSpPr/>
          <p:nvPr/>
        </p:nvSpPr>
        <p:spPr>
          <a:xfrm>
            <a:off x="6719011" y="1828800"/>
            <a:ext cx="552298" cy="128016"/>
          </a:xfrm>
          <a:prstGeom prst="roundRect">
            <a:avLst>
              <a:gd name="adj" fmla="val 30000"/>
            </a:avLst>
          </a:prstGeom>
          <a:solidFill>
            <a:schemeClr val="accent1"/>
          </a:solidFill>
          <a:ln>
            <a:noFill/>
          </a:ln>
        </p:spPr>
      </p:sp>
      <p:sp>
        <p:nvSpPr>
          <p:cNvPr id="16" name="Digit 7 seg g"/>
          <p:cNvSpPr/>
          <p:nvPr/>
        </p:nvSpPr>
        <p:spPr>
          <a:xfrm>
            <a:off x="6719011" y="2450592"/>
            <a:ext cx="552298" cy="128016"/>
          </a:xfrm>
          <a:prstGeom prst="roundRect">
            <a:avLst>
              <a:gd name="adj" fmla="val 30000"/>
            </a:avLst>
          </a:prstGeom>
          <a:solidFill>
            <a:schemeClr val="accent1">
              <a:alpha val="14000"/>
            </a:schemeClr>
          </a:solidFill>
          <a:ln>
            <a:noFill/>
          </a:ln>
        </p:spPr>
      </p:sp>
      <p:sp>
        <p:nvSpPr>
          <p:cNvPr id="17" name="Digit 7 seg d"/>
          <p:cNvSpPr/>
          <p:nvPr/>
        </p:nvSpPr>
        <p:spPr>
          <a:xfrm>
            <a:off x="6719011" y="3072384"/>
            <a:ext cx="552298" cy="128016"/>
          </a:xfrm>
          <a:prstGeom prst="roundRect">
            <a:avLst>
              <a:gd name="adj" fmla="val 30000"/>
            </a:avLst>
          </a:prstGeom>
          <a:solidFill>
            <a:schemeClr val="accent1">
              <a:alpha val="14000"/>
            </a:schemeClr>
          </a:solidFill>
          <a:ln>
            <a:noFill/>
          </a:ln>
        </p:spPr>
      </p:sp>
      <p:sp>
        <p:nvSpPr>
          <p:cNvPr id="18" name="Digit 7 seg f"/>
          <p:cNvSpPr/>
          <p:nvPr/>
        </p:nvSpPr>
        <p:spPr>
          <a:xfrm>
            <a:off x="6629400" y="1918411"/>
            <a:ext cx="128016" cy="532181"/>
          </a:xfrm>
          <a:prstGeom prst="roundRect">
            <a:avLst>
              <a:gd name="adj" fmla="val 30000"/>
            </a:avLst>
          </a:prstGeom>
          <a:solidFill>
            <a:schemeClr val="accent1">
              <a:alpha val="14000"/>
            </a:schemeClr>
          </a:solidFill>
          <a:ln>
            <a:noFill/>
          </a:ln>
        </p:spPr>
      </p:sp>
      <p:sp>
        <p:nvSpPr>
          <p:cNvPr id="19" name="Digit 7 seg b"/>
          <p:cNvSpPr/>
          <p:nvPr/>
        </p:nvSpPr>
        <p:spPr>
          <a:xfrm>
            <a:off x="7232904" y="1918411"/>
            <a:ext cx="128016" cy="532181"/>
          </a:xfrm>
          <a:prstGeom prst="roundRect">
            <a:avLst>
              <a:gd name="adj" fmla="val 30000"/>
            </a:avLst>
          </a:prstGeom>
          <a:solidFill>
            <a:schemeClr val="accent1"/>
          </a:solidFill>
          <a:ln>
            <a:noFill/>
          </a:ln>
        </p:spPr>
      </p:sp>
      <p:sp>
        <p:nvSpPr>
          <p:cNvPr id="20" name="Digit 7 seg e"/>
          <p:cNvSpPr/>
          <p:nvPr/>
        </p:nvSpPr>
        <p:spPr>
          <a:xfrm>
            <a:off x="6629400" y="2578608"/>
            <a:ext cx="128016" cy="532181"/>
          </a:xfrm>
          <a:prstGeom prst="roundRect">
            <a:avLst>
              <a:gd name="adj" fmla="val 30000"/>
            </a:avLst>
          </a:prstGeom>
          <a:solidFill>
            <a:schemeClr val="accent1">
              <a:alpha val="14000"/>
            </a:schemeClr>
          </a:solidFill>
          <a:ln>
            <a:noFill/>
          </a:ln>
        </p:spPr>
      </p:sp>
      <p:sp>
        <p:nvSpPr>
          <p:cNvPr id="21" name="Digit 7 seg c"/>
          <p:cNvSpPr/>
          <p:nvPr/>
        </p:nvSpPr>
        <p:spPr>
          <a:xfrm>
            <a:off x="7232904" y="2578608"/>
            <a:ext cx="128016" cy="532181"/>
          </a:xfrm>
          <a:prstGeom prst="roundRect">
            <a:avLst>
              <a:gd name="adj" fmla="val 30000"/>
            </a:avLst>
          </a:prstGeom>
          <a:solidFill>
            <a:schemeClr val="accent1"/>
          </a:solidFill>
          <a:ln>
            <a:noFill/>
          </a:ln>
        </p:spPr>
      </p:sp>
      <p:sp>
        <p:nvSpPr>
          <p:cNvPr id="22" name="Digit 8 seg a"/>
          <p:cNvSpPr/>
          <p:nvPr/>
        </p:nvSpPr>
        <p:spPr>
          <a:xfrm>
            <a:off x="7679131" y="1828800"/>
            <a:ext cx="552298" cy="128016"/>
          </a:xfrm>
          <a:prstGeom prst="roundRect">
            <a:avLst>
              <a:gd name="adj" fmla="val 30000"/>
            </a:avLst>
          </a:prstGeom>
          <a:solidFill>
            <a:schemeClr val="accent1"/>
          </a:solidFill>
          <a:ln>
            <a:noFill/>
          </a:ln>
        </p:spPr>
      </p:sp>
      <p:sp>
        <p:nvSpPr>
          <p:cNvPr id="23" name="Digit 8 seg g"/>
          <p:cNvSpPr/>
          <p:nvPr/>
        </p:nvSpPr>
        <p:spPr>
          <a:xfrm>
            <a:off x="7679131" y="2450592"/>
            <a:ext cx="552298" cy="128016"/>
          </a:xfrm>
          <a:prstGeom prst="roundRect">
            <a:avLst>
              <a:gd name="adj" fmla="val 30000"/>
            </a:avLst>
          </a:prstGeom>
          <a:solidFill>
            <a:schemeClr val="accent1"/>
          </a:solidFill>
          <a:ln>
            <a:noFill/>
          </a:ln>
        </p:spPr>
      </p:sp>
      <p:sp>
        <p:nvSpPr>
          <p:cNvPr id="24" name="Digit 8 seg d"/>
          <p:cNvSpPr/>
          <p:nvPr/>
        </p:nvSpPr>
        <p:spPr>
          <a:xfrm>
            <a:off x="7679131" y="3072384"/>
            <a:ext cx="552298" cy="128016"/>
          </a:xfrm>
          <a:prstGeom prst="roundRect">
            <a:avLst>
              <a:gd name="adj" fmla="val 30000"/>
            </a:avLst>
          </a:prstGeom>
          <a:solidFill>
            <a:schemeClr val="accent1"/>
          </a:solidFill>
          <a:ln>
            <a:noFill/>
          </a:ln>
        </p:spPr>
      </p:sp>
      <p:sp>
        <p:nvSpPr>
          <p:cNvPr id="25" name="Digit 8 seg f"/>
          <p:cNvSpPr/>
          <p:nvPr/>
        </p:nvSpPr>
        <p:spPr>
          <a:xfrm>
            <a:off x="7589520" y="1918411"/>
            <a:ext cx="128016" cy="532181"/>
          </a:xfrm>
          <a:prstGeom prst="roundRect">
            <a:avLst>
              <a:gd name="adj" fmla="val 30000"/>
            </a:avLst>
          </a:prstGeom>
          <a:solidFill>
            <a:schemeClr val="accent1"/>
          </a:solidFill>
          <a:ln>
            <a:noFill/>
          </a:ln>
        </p:spPr>
      </p:sp>
      <p:sp>
        <p:nvSpPr>
          <p:cNvPr id="26" name="Digit 8 seg b"/>
          <p:cNvSpPr/>
          <p:nvPr/>
        </p:nvSpPr>
        <p:spPr>
          <a:xfrm>
            <a:off x="8193024" y="1918411"/>
            <a:ext cx="128016" cy="532181"/>
          </a:xfrm>
          <a:prstGeom prst="roundRect">
            <a:avLst>
              <a:gd name="adj" fmla="val 30000"/>
            </a:avLst>
          </a:prstGeom>
          <a:solidFill>
            <a:schemeClr val="accent1"/>
          </a:solidFill>
          <a:ln>
            <a:noFill/>
          </a:ln>
        </p:spPr>
      </p:sp>
      <p:sp>
        <p:nvSpPr>
          <p:cNvPr id="27" name="Digit 8 seg e"/>
          <p:cNvSpPr/>
          <p:nvPr/>
        </p:nvSpPr>
        <p:spPr>
          <a:xfrm>
            <a:off x="7589520" y="2578608"/>
            <a:ext cx="128016" cy="532181"/>
          </a:xfrm>
          <a:prstGeom prst="roundRect">
            <a:avLst>
              <a:gd name="adj" fmla="val 30000"/>
            </a:avLst>
          </a:prstGeom>
          <a:solidFill>
            <a:schemeClr val="accent1"/>
          </a:solidFill>
          <a:ln>
            <a:noFill/>
          </a:ln>
        </p:spPr>
      </p:sp>
      <p:sp>
        <p:nvSpPr>
          <p:cNvPr id="28" name="Digit 8 seg c"/>
          <p:cNvSpPr/>
          <p:nvPr/>
        </p:nvSpPr>
        <p:spPr>
          <a:xfrm>
            <a:off x="8193024" y="2578608"/>
            <a:ext cx="128016" cy="532181"/>
          </a:xfrm>
          <a:prstGeom prst="roundRect">
            <a:avLst>
              <a:gd name="adj" fmla="val 30000"/>
            </a:avLst>
          </a:prstGeom>
          <a:solidFill>
            <a:schemeClr val="accent1"/>
          </a:solidFill>
          <a:ln>
            <a:noFill/>
          </a:ln>
        </p:spPr>
      </p:sp>
      <p:sp>
        <p:nvSpPr>
          <p:cNvPr id="29" name="Units"/>
          <p:cNvSpPr txBox="1"/>
          <p:nvPr/>
        </p:nvSpPr>
        <p:spPr>
          <a:xfrm>
            <a:off x="8412480" y="2926080"/>
            <a:ext cx="548640" cy="27432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400" b="1" i="0" dirty="0">
                <a:solidFill>
                  <a:schemeClr val="accent1"/>
                </a:solidFill>
              </a:rPr>
              <a:t xml:space="preserve">dB</a:t>
            </a:r>
            <a:endParaRPr lang="en-US" sz="1400" dirty="0"/>
          </a:p>
        </p:txBody>
      </p:sp>
      <p:sp>
        <p:nvSpPr>
          <p:cNvPr id="30" name="Bar caption"/>
          <p:cNvSpPr txBox="1"/>
          <p:nvPr/>
        </p:nvSpPr>
        <p:spPr>
          <a:xfrm>
            <a:off x="5394960" y="3657600"/>
            <a:ext cx="3383280" cy="27432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100" b="1" i="0" dirty="0">
                <a:solidFill>
                  <a:srgbClr val="9FB3BA"/>
                </a:solidFill>
              </a:rPr>
              <a:t xml:space="preserve">10-LED bar graph</a:t>
            </a:r>
            <a:endParaRPr lang="en-US" sz="1100" dirty="0"/>
          </a:p>
        </p:txBody>
      </p:sp>
      <p:sp>
        <p:nvSpPr>
          <p:cNvPr id="31" name="LED 1"/>
          <p:cNvSpPr/>
          <p:nvPr/>
        </p:nvSpPr>
        <p:spPr>
          <a:xfrm>
            <a:off x="5440680" y="4069080"/>
            <a:ext cx="256032" cy="256032"/>
          </a:xfrm>
          <a:prstGeom prst="ellipse">
            <a:avLst/>
          </a:prstGeom>
          <a:solidFill>
            <a:schemeClr val="accent1"/>
          </a:solidFill>
          <a:ln>
            <a:noFill/>
          </a:ln>
        </p:spPr>
      </p:sp>
      <p:sp>
        <p:nvSpPr>
          <p:cNvPr id="32" name="LED 2"/>
          <p:cNvSpPr/>
          <p:nvPr/>
        </p:nvSpPr>
        <p:spPr>
          <a:xfrm>
            <a:off x="5783580" y="4069080"/>
            <a:ext cx="256032" cy="256032"/>
          </a:xfrm>
          <a:prstGeom prst="ellipse">
            <a:avLst/>
          </a:prstGeom>
          <a:solidFill>
            <a:schemeClr val="accent1"/>
          </a:solidFill>
          <a:ln>
            <a:noFill/>
          </a:ln>
        </p:spPr>
      </p:sp>
      <p:sp>
        <p:nvSpPr>
          <p:cNvPr id="33" name="LED 3"/>
          <p:cNvSpPr/>
          <p:nvPr/>
        </p:nvSpPr>
        <p:spPr>
          <a:xfrm>
            <a:off x="6126480" y="4069080"/>
            <a:ext cx="256032" cy="256032"/>
          </a:xfrm>
          <a:prstGeom prst="ellipse">
            <a:avLst/>
          </a:prstGeom>
          <a:solidFill>
            <a:schemeClr val="accent1"/>
          </a:solidFill>
          <a:ln>
            <a:noFill/>
          </a:ln>
        </p:spPr>
      </p:sp>
      <p:sp>
        <p:nvSpPr>
          <p:cNvPr id="34" name="LED 4"/>
          <p:cNvSpPr/>
          <p:nvPr/>
        </p:nvSpPr>
        <p:spPr>
          <a:xfrm>
            <a:off x="6469380" y="4069080"/>
            <a:ext cx="256032" cy="256032"/>
          </a:xfrm>
          <a:prstGeom prst="ellipse">
            <a:avLst/>
          </a:prstGeom>
          <a:solidFill>
            <a:schemeClr val="accent1"/>
          </a:solidFill>
          <a:ln>
            <a:noFill/>
          </a:ln>
        </p:spPr>
      </p:sp>
      <p:sp>
        <p:nvSpPr>
          <p:cNvPr id="35" name="LED 5"/>
          <p:cNvSpPr/>
          <p:nvPr/>
        </p:nvSpPr>
        <p:spPr>
          <a:xfrm>
            <a:off x="6812280" y="4069080"/>
            <a:ext cx="256032" cy="256032"/>
          </a:xfrm>
          <a:prstGeom prst="ellipse">
            <a:avLst/>
          </a:prstGeom>
          <a:solidFill>
            <a:schemeClr val="accent1"/>
          </a:solidFill>
          <a:ln>
            <a:noFill/>
          </a:ln>
        </p:spPr>
      </p:sp>
      <p:sp>
        <p:nvSpPr>
          <p:cNvPr id="36" name="LED 6"/>
          <p:cNvSpPr/>
          <p:nvPr/>
        </p:nvSpPr>
        <p:spPr>
          <a:xfrm>
            <a:off x="7155180" y="4069080"/>
            <a:ext cx="256032" cy="256032"/>
          </a:xfrm>
          <a:prstGeom prst="ellipse">
            <a:avLst/>
          </a:prstGeom>
          <a:solidFill>
            <a:schemeClr val="accent1"/>
          </a:solidFill>
          <a:ln>
            <a:noFill/>
          </a:ln>
        </p:spPr>
      </p:sp>
      <p:sp>
        <p:nvSpPr>
          <p:cNvPr id="37" name="LED 7"/>
          <p:cNvSpPr/>
          <p:nvPr/>
        </p:nvSpPr>
        <p:spPr>
          <a:xfrm>
            <a:off x="7498080" y="4069080"/>
            <a:ext cx="256032" cy="256032"/>
          </a:xfrm>
          <a:prstGeom prst="ellipse">
            <a:avLst/>
          </a:prstGeom>
          <a:solidFill>
            <a:schemeClr val="accent3"/>
          </a:solidFill>
          <a:ln>
            <a:noFill/>
          </a:ln>
        </p:spPr>
      </p:sp>
      <p:sp>
        <p:nvSpPr>
          <p:cNvPr id="38" name="LED 8"/>
          <p:cNvSpPr/>
          <p:nvPr/>
        </p:nvSpPr>
        <p:spPr>
          <a:xfrm>
            <a:off x="7840980" y="4069080"/>
            <a:ext cx="256032" cy="256032"/>
          </a:xfrm>
          <a:prstGeom prst="ellipse">
            <a:avLst/>
          </a:prstGeom>
          <a:solidFill>
            <a:schemeClr val="accent3">
              <a:alpha val="20000"/>
            </a:schemeClr>
          </a:solidFill>
          <a:ln>
            <a:noFill/>
          </a:ln>
        </p:spPr>
      </p:sp>
      <p:sp>
        <p:nvSpPr>
          <p:cNvPr id="39" name="LED 9"/>
          <p:cNvSpPr/>
          <p:nvPr/>
        </p:nvSpPr>
        <p:spPr>
          <a:xfrm>
            <a:off x="8183880" y="4069080"/>
            <a:ext cx="256032" cy="256032"/>
          </a:xfrm>
          <a:prstGeom prst="ellipse">
            <a:avLst/>
          </a:prstGeom>
          <a:solidFill>
            <a:schemeClr val="accent5"/>
          </a:solidFill>
          <a:ln>
            <a:noFill/>
          </a:ln>
        </p:spPr>
      </p:sp>
      <p:sp>
        <p:nvSpPr>
          <p:cNvPr id="40" name="LED 10"/>
          <p:cNvSpPr/>
          <p:nvPr/>
        </p:nvSpPr>
        <p:spPr>
          <a:xfrm>
            <a:off x="8526780" y="4069080"/>
            <a:ext cx="256032" cy="256032"/>
          </a:xfrm>
          <a:prstGeom prst="ellipse">
            <a:avLst/>
          </a:prstGeom>
          <a:solidFill>
            <a:schemeClr val="accent5">
              <a:alpha val="20000"/>
            </a:schemeClr>
          </a:solidFill>
          <a:ln>
            <a:noFill/>
          </a:ln>
        </p:spPr>
      </p:sp>
      <p:cxnSp>
        <p:nvCxnSpPr>
          <p:cNvPr id="41" name="Peak pointer"/>
          <p:cNvCxnSpPr/>
          <p:nvPr/>
        </p:nvCxnSpPr>
        <p:spPr>
          <a:xfrm flipV="1">
            <a:off x="8311896" y="4389120"/>
            <a:ext cx="0" cy="457200"/>
          </a:xfrm>
          <a:prstGeom prst="straightConnector1">
            <a:avLst/>
          </a:prstGeom>
          <a:ln w="19050">
            <a:solidFill>
              <a:schemeClr val="bg1"/>
            </a:solidFill>
            <a:round/>
            <a:tailEnd type="triangle" w="med" len="med"/>
          </a:ln>
        </p:spPr>
      </p:cxnSp>
      <p:sp>
        <p:nvSpPr>
          <p:cNvPr id="42" name="Peak tag"/>
          <p:cNvSpPr txBox="1"/>
          <p:nvPr/>
        </p:nvSpPr>
        <p:spPr>
          <a:xfrm>
            <a:off x="7406640" y="4846320"/>
            <a:ext cx="1371600" cy="274320"/>
          </a:xfrm>
          <a:prstGeom prst="rect">
            <a:avLst/>
          </a:prstGeom>
          <a:noFill/>
          <a:ln>
            <a:noFill/>
          </a:ln>
        </p:spPr>
        <p:txBody>
          <a:bodyPr wrap="square" lIns="0" tIns="0" rIns="0" bIns="0" rtlCol="0" anchor="ctr">
            <a:noAutofit/>
          </a:bodyPr>
          <a:lstStyle/>
          <a:p>
            <a:pPr marL="0" indent="0" algn="ctr">
              <a:lnSpc>
                <a:spcPct val="100000"/>
              </a:lnSpc>
              <a:spcBef>
                <a:spcPts val="0"/>
              </a:spcBef>
              <a:spcAft>
                <a:spcPts val="0"/>
              </a:spcAft>
              <a:buNone/>
            </a:pPr>
            <a:r>
              <a:rPr lang="en-US" sz="1100" b="1" i="0" dirty="0">
                <a:solidFill>
                  <a:schemeClr val="bg1"/>
                </a:solidFill>
              </a:rPr>
              <a:t xml:space="preserve">held peak</a:t>
            </a:r>
            <a:endParaRPr lang="en-US" sz="1100" dirty="0"/>
          </a:p>
        </p:txBody>
      </p:sp>
      <p:sp>
        <p:nvSpPr>
          <p:cNvPr id="43" name="Live tag"/>
          <p:cNvSpPr txBox="1"/>
          <p:nvPr/>
        </p:nvSpPr>
        <p:spPr>
          <a:xfrm>
            <a:off x="5349240" y="4846320"/>
            <a:ext cx="1554480" cy="27432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000" b="0" i="0" dirty="0">
                <a:solidFill>
                  <a:srgbClr val="9FB3BA"/>
                </a:solidFill>
              </a:rPr>
              <a:t xml:space="preserve">live level = 78 dB</a:t>
            </a:r>
            <a:endParaRPr lang="en-US" sz="1000" dirty="0"/>
          </a:p>
        </p:txBody>
      </p:sp>
      <p:sp>
        <p:nvSpPr>
          <p:cNvPr id="44" name="Colour tags"/>
          <p:cNvSpPr txBox="1"/>
          <p:nvPr/>
        </p:nvSpPr>
        <p:spPr>
          <a:xfrm>
            <a:off x="5349240" y="5257800"/>
            <a:ext cx="3474720" cy="36576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000" b="0" i="0" dirty="0">
                <a:solidFill>
                  <a:srgbClr val="9FB3BA"/>
                </a:solidFill>
              </a:rPr>
              <a:t xml:space="preserve">green = safe   amber = loud   red = danger</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p:nvPr>
            <p:ph type="title"/>
          </p:nvPr>
        </p:nvSpPr>
        <p:spPr>
          <a:xfrm>
            <a:off x="640080" y="256032"/>
            <a:ext cx="8321040" cy="86868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2600" b="1" i="0" dirty="0">
                <a:solidFill>
                  <a:schemeClr val="tx2"/>
                </a:solidFill>
              </a:rPr>
              <a:t xml:space="preserve">Implementing the Design in VHDL</a:t>
            </a:r>
            <a:endParaRPr lang="en-US" sz="2600" dirty="0"/>
          </a:p>
        </p:txBody>
      </p:sp>
      <p:sp>
        <p:nvSpPr>
          <p:cNvPr id="3" name="Footer"/>
          <p:cNvSpPr txBox="1"/>
          <p:nvPr/>
        </p:nvSpPr>
        <p:spPr>
          <a:xfrm>
            <a:off x="640080" y="6455664"/>
            <a:ext cx="6949440" cy="256032"/>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000" b="0" i="0" dirty="0">
                <a:solidFill>
                  <a:srgbClr val="6B7C84"/>
                </a:solidFill>
              </a:rPr>
              <a:t xml:space="preserve">Sayantan Bharati  |  BWU/BTS/25/503  |  Section B  |  COA (BTS30101)</a:t>
            </a:r>
            <a:endParaRPr lang="en-US" sz="1000" dirty="0"/>
          </a:p>
        </p:txBody>
      </p:sp>
      <p:sp>
        <p:nvSpPr>
          <p:cNvPr id="4" name="Slide Number"/>
          <p:cNvSpPr txBox="1"/>
          <p:nvPr/>
        </p:nvSpPr>
        <p:spPr>
          <a:xfrm>
            <a:off x="8138160" y="6455664"/>
            <a:ext cx="822960" cy="256032"/>
          </a:xfrm>
          <a:prstGeom prst="rect">
            <a:avLst/>
          </a:prstGeom>
          <a:noFill/>
        </p:spPr>
        <p:txBody>
          <a:bodyPr wrap="square" lIns="0" tIns="0" rIns="0" bIns="0" anchor="ctr">
            <a:noAutofit/>
          </a:bodyPr>
          <a:lstStyle/>
          <a:p>
            <a:pPr algn="r"/>
            <a:fld id="{B6F15528-21DE-4FAA-801E-634DDDAF4B2B}" type="slidenum">
              <a:rPr lang="en-US" sz="1000" dirty="0">
                <a:solidFill>
                  <a:srgbClr val="6B7C84"/>
                </a:solidFill>
              </a:rPr>
              <a:t>11</a:t>
            </a:fld>
          </a:p>
        </p:txBody>
      </p:sp>
      <p:sp>
        <p:nvSpPr>
          <p:cNvPr id="5" name="Bullets"/>
          <p:cNvSpPr txBox="1"/>
          <p:nvPr/>
        </p:nvSpPr>
        <p:spPr>
          <a:xfrm>
            <a:off x="640080" y="1280160"/>
            <a:ext cx="4023360" cy="4937760"/>
          </a:xfrm>
          <a:prstGeom prst="rect">
            <a:avLst/>
          </a:prstGeom>
          <a:noFill/>
          <a:ln>
            <a:noFill/>
          </a:ln>
        </p:spPr>
        <p:txBody>
          <a:bodyPr wrap="square" lIns="0" tIns="0" rIns="0" bIns="0" rtlCol="0" anchor="t">
            <a:noAutofit/>
          </a:bodyPr>
          <a:lstStyle/>
          <a:p>
            <a:pPr marL="201168" indent="-201168" algn="l">
              <a:lnSpc>
                <a:spcPct val="100000"/>
              </a:lnSpc>
              <a:spcBef>
                <a:spcPts val="0"/>
              </a:spcBef>
              <a:spcAft>
                <a:spcPts val="800"/>
              </a:spcAft>
              <a:buClr>
                <a:schemeClr val="accent2"/>
              </a:buClr>
              <a:buFont typeface="Arial"/>
              <a:buChar char="•"/>
            </a:pPr>
            <a:r>
              <a:rPr lang="en-US" sz="1500" b="0" i="0" dirty="0">
                <a:solidFill>
                  <a:schemeClr val="tx2"/>
                </a:solidFill>
              </a:rPr>
              <a:t xml:space="preserve">Top level wires the sub-modules; each block is an </a:t>
            </a:r>
            <a:r>
              <a:rPr lang="en-US" sz="1500" b="1" i="0" dirty="0">
                <a:solidFill>
                  <a:schemeClr val="tx2"/>
                </a:solidFill>
              </a:rPr>
              <a:t xml:space="preserve">entity + architecture</a:t>
            </a:r>
            <a:r>
              <a:rPr lang="en-US" sz="1500" b="0" i="0" dirty="0">
                <a:solidFill>
                  <a:schemeClr val="tx2"/>
                </a:solidFill>
              </a:rPr>
              <a:t xml:space="preserve">.</a:t>
            </a:r>
            <a:endParaRPr lang="en-US" sz="1500" dirty="0"/>
          </a:p>
          <a:p>
            <a:pPr marL="201168" indent="-201168" algn="l">
              <a:lnSpc>
                <a:spcPct val="100000"/>
              </a:lnSpc>
              <a:spcBef>
                <a:spcPts val="0"/>
              </a:spcBef>
              <a:spcAft>
                <a:spcPts val="800"/>
              </a:spcAft>
              <a:buClr>
                <a:schemeClr val="accent2"/>
              </a:buClr>
              <a:buFont typeface="Arial"/>
              <a:buChar char="•"/>
            </a:pPr>
            <a:r>
              <a:rPr lang="en-US" sz="1500" b="0" i="0" dirty="0">
                <a:solidFill>
                  <a:schemeClr val="tx2"/>
                </a:solidFill>
              </a:rPr>
              <a:t xml:space="preserve">Key entities: </a:t>
            </a:r>
            <a:r>
              <a:rPr lang="en-US" sz="1500" b="1" i="0" dirty="0">
                <a:solidFill>
                  <a:schemeClr val="tx2"/>
                </a:solidFill>
                <a:latin typeface="Courier New"/>
                <a:cs typeface="Courier New"/>
              </a:rPr>
              <a:t xml:space="preserve">clk_divider</a:t>
            </a:r>
            <a:r>
              <a:rPr lang="en-US" sz="1500" b="0" i="0" dirty="0">
                <a:solidFill>
                  <a:schemeClr val="tx2"/>
                </a:solidFill>
              </a:rPr>
              <a:t xml:space="preserve">, </a:t>
            </a:r>
            <a:r>
              <a:rPr lang="en-US" sz="1500" b="1" i="0" dirty="0">
                <a:solidFill>
                  <a:schemeClr val="tx2"/>
                </a:solidFill>
                <a:latin typeface="Courier New"/>
                <a:cs typeface="Courier New"/>
              </a:rPr>
              <a:t xml:space="preserve">adc_interface</a:t>
            </a:r>
            <a:r>
              <a:rPr lang="en-US" sz="1500" b="0" i="0" dirty="0">
                <a:solidFill>
                  <a:schemeClr val="tx2"/>
                </a:solidFill>
              </a:rPr>
              <a:t xml:space="preserve">, </a:t>
            </a:r>
            <a:r>
              <a:rPr lang="en-US" sz="1500" b="1" i="0" dirty="0">
                <a:solidFill>
                  <a:schemeClr val="tx2"/>
                </a:solidFill>
                <a:latin typeface="Courier New"/>
                <a:cs typeface="Courier New"/>
              </a:rPr>
              <a:t xml:space="preserve">rms_calc</a:t>
            </a:r>
            <a:r>
              <a:rPr lang="en-US" sz="1500" b="0" i="0" dirty="0">
                <a:solidFill>
                  <a:schemeClr val="tx2"/>
                </a:solidFill>
              </a:rPr>
              <a:t xml:space="preserve">, </a:t>
            </a:r>
            <a:r>
              <a:rPr lang="en-US" sz="1500" b="1" i="0" dirty="0">
                <a:solidFill>
                  <a:schemeClr val="tx2"/>
                </a:solidFill>
                <a:latin typeface="Courier New"/>
                <a:cs typeface="Courier New"/>
              </a:rPr>
              <a:t xml:space="preserve">log_lut</a:t>
            </a:r>
            <a:r>
              <a:rPr lang="en-US" sz="1500" b="0" i="0" dirty="0">
                <a:solidFill>
                  <a:schemeClr val="tx2"/>
                </a:solidFill>
              </a:rPr>
              <a:t xml:space="preserve">, </a:t>
            </a:r>
            <a:r>
              <a:rPr lang="en-US" sz="1500" b="1" i="0" dirty="0">
                <a:solidFill>
                  <a:schemeClr val="tx2"/>
                </a:solidFill>
                <a:latin typeface="Courier New"/>
                <a:cs typeface="Courier New"/>
              </a:rPr>
              <a:t xml:space="preserve">peak_hold</a:t>
            </a:r>
            <a:r>
              <a:rPr lang="en-US" sz="1500" b="0" i="0" dirty="0">
                <a:solidFill>
                  <a:schemeClr val="tx2"/>
                </a:solidFill>
              </a:rPr>
              <a:t xml:space="preserve">, </a:t>
            </a:r>
            <a:r>
              <a:rPr lang="en-US" sz="1500" b="1" i="0" dirty="0">
                <a:solidFill>
                  <a:schemeClr val="tx2"/>
                </a:solidFill>
                <a:latin typeface="Courier New"/>
                <a:cs typeface="Courier New"/>
              </a:rPr>
              <a:t xml:space="preserve">seg_driver</a:t>
            </a:r>
            <a:r>
              <a:rPr lang="en-US" sz="1500" b="0" i="0" dirty="0">
                <a:solidFill>
                  <a:schemeClr val="tx2"/>
                </a:solidFill>
              </a:rPr>
              <a:t xml:space="preserve">, </a:t>
            </a:r>
            <a:r>
              <a:rPr lang="en-US" sz="1500" b="1" i="0" dirty="0">
                <a:solidFill>
                  <a:schemeClr val="tx2"/>
                </a:solidFill>
                <a:latin typeface="Courier New"/>
                <a:cs typeface="Courier New"/>
              </a:rPr>
              <a:t xml:space="preserve">top</a:t>
            </a:r>
            <a:r>
              <a:rPr lang="en-US" sz="1500" b="0" i="0" dirty="0">
                <a:solidFill>
                  <a:schemeClr val="tx2"/>
                </a:solidFill>
              </a:rPr>
              <a:t xml:space="preserve">.</a:t>
            </a:r>
            <a:endParaRPr lang="en-US" sz="1500" dirty="0"/>
          </a:p>
          <a:p>
            <a:pPr marL="201168" indent="-201168" algn="l">
              <a:lnSpc>
                <a:spcPct val="100000"/>
              </a:lnSpc>
              <a:spcBef>
                <a:spcPts val="0"/>
              </a:spcBef>
              <a:spcAft>
                <a:spcPts val="800"/>
              </a:spcAft>
              <a:buClr>
                <a:schemeClr val="accent2"/>
              </a:buClr>
              <a:buFont typeface="Arial"/>
              <a:buChar char="•"/>
            </a:pPr>
            <a:r>
              <a:rPr lang="en-US" sz="1500" b="0" i="0" dirty="0">
                <a:solidFill>
                  <a:schemeClr val="tx2"/>
                </a:solidFill>
              </a:rPr>
              <a:t xml:space="preserve">Use </a:t>
            </a:r>
            <a:r>
              <a:rPr lang="en-US" sz="1500" b="1" i="0" dirty="0">
                <a:solidFill>
                  <a:schemeClr val="tx2"/>
                </a:solidFill>
              </a:rPr>
              <a:t xml:space="preserve">synchronous, rising-edge</a:t>
            </a:r>
            <a:r>
              <a:rPr lang="en-US" sz="1500" b="0" i="0" dirty="0">
                <a:solidFill>
                  <a:schemeClr val="tx2"/>
                </a:solidFill>
              </a:rPr>
              <a:t xml:space="preserve"> processes with reset.</a:t>
            </a:r>
            <a:endParaRPr lang="en-US" sz="1500" dirty="0"/>
          </a:p>
          <a:p>
            <a:pPr marL="201168" indent="-201168" algn="l">
              <a:lnSpc>
                <a:spcPct val="100000"/>
              </a:lnSpc>
              <a:spcBef>
                <a:spcPts val="0"/>
              </a:spcBef>
              <a:spcAft>
                <a:spcPts val="800"/>
              </a:spcAft>
              <a:buClr>
                <a:schemeClr val="accent2"/>
              </a:buClr>
              <a:buFont typeface="Arial"/>
              <a:buChar char="•"/>
            </a:pPr>
            <a:r>
              <a:rPr lang="en-US" sz="1500" b="1" i="0" dirty="0">
                <a:solidFill>
                  <a:schemeClr val="tx2"/>
                </a:solidFill>
                <a:latin typeface="Courier New"/>
                <a:cs typeface="Courier New"/>
              </a:rPr>
              <a:t xml:space="preserve">log_lut</a:t>
            </a:r>
            <a:r>
              <a:rPr lang="en-US" sz="1500" b="0" i="0" dirty="0">
                <a:solidFill>
                  <a:schemeClr val="tx2"/>
                </a:solidFill>
              </a:rPr>
              <a:t xml:space="preserve">: a </a:t>
            </a:r>
            <a:r>
              <a:rPr lang="en-US" sz="1500" b="1" i="0" dirty="0">
                <a:solidFill>
                  <a:schemeClr val="tx2"/>
                </a:solidFill>
                <a:latin typeface="Courier New"/>
                <a:cs typeface="Courier New"/>
              </a:rPr>
              <a:t xml:space="preserve">case</a:t>
            </a:r>
            <a:r>
              <a:rPr lang="en-US" sz="1500" b="0" i="0" dirty="0">
                <a:solidFill>
                  <a:schemeClr val="tx2"/>
                </a:solidFill>
              </a:rPr>
              <a:t xml:space="preserve"> statement / ROM mapping RMS index → dB value.</a:t>
            </a:r>
            <a:endParaRPr lang="en-US" sz="1500" dirty="0"/>
          </a:p>
          <a:p>
            <a:pPr marL="201168" indent="-201168" algn="l">
              <a:lnSpc>
                <a:spcPct val="100000"/>
              </a:lnSpc>
              <a:spcBef>
                <a:spcPts val="0"/>
              </a:spcBef>
              <a:spcAft>
                <a:spcPts val="800"/>
              </a:spcAft>
              <a:buClr>
                <a:schemeClr val="accent2"/>
              </a:buClr>
              <a:buFont typeface="Arial"/>
              <a:buChar char="•"/>
            </a:pPr>
            <a:r>
              <a:rPr lang="en-US" sz="1500" b="1" i="0" dirty="0">
                <a:solidFill>
                  <a:schemeClr val="tx2"/>
                </a:solidFill>
                <a:latin typeface="Courier New"/>
                <a:cs typeface="Courier New"/>
              </a:rPr>
              <a:t xml:space="preserve">peak_hold</a:t>
            </a:r>
            <a:r>
              <a:rPr lang="en-US" sz="1500" b="0" i="0" dirty="0">
                <a:solidFill>
                  <a:schemeClr val="tx2"/>
                </a:solidFill>
              </a:rPr>
              <a:t xml:space="preserve">: current + held registers plus a timer counter.</a:t>
            </a:r>
            <a:endParaRPr lang="en-US" sz="1500" dirty="0"/>
          </a:p>
          <a:p>
            <a:pPr marL="201168" indent="-201168" algn="l">
              <a:lnSpc>
                <a:spcPct val="100000"/>
              </a:lnSpc>
              <a:spcBef>
                <a:spcPts val="0"/>
              </a:spcBef>
              <a:spcAft>
                <a:spcPts val="800"/>
              </a:spcAft>
              <a:buClr>
                <a:schemeClr val="accent2"/>
              </a:buClr>
              <a:buFont typeface="Arial"/>
              <a:buChar char="•"/>
            </a:pPr>
            <a:r>
              <a:rPr lang="en-US" sz="1500" b="0" i="0" dirty="0">
                <a:solidFill>
                  <a:schemeClr val="tx2"/>
                </a:solidFill>
              </a:rPr>
              <a:t xml:space="preserve">Synthesises to LUTs + flip-flops on an FPGA — no CPU needed.</a:t>
            </a:r>
            <a:endParaRPr lang="en-US" sz="1500" dirty="0"/>
          </a:p>
        </p:txBody>
      </p:sp>
      <p:sp>
        <p:nvSpPr>
          <p:cNvPr id="6" name="Module group" descr="Sub-modules instantiated by top"/>
          <p:cNvSpPr/>
          <p:nvPr/>
        </p:nvSpPr>
        <p:spPr>
          <a:xfrm>
            <a:off x="5989320" y="1280160"/>
            <a:ext cx="2971800" cy="1234440"/>
          </a:xfrm>
          <a:prstGeom prst="roundRect">
            <a:avLst>
              <a:gd name="adj" fmla="val 8000"/>
            </a:avLst>
          </a:prstGeom>
          <a:solidFill>
            <a:schemeClr val="accent1">
              <a:alpha val="10000"/>
            </a:schemeClr>
          </a:solidFill>
          <a:ln w="12700">
            <a:solidFill>
              <a:schemeClr val="accent2"/>
            </a:solidFill>
            <a:prstDash val="dash"/>
            <a:round/>
          </a:ln>
        </p:spPr>
      </p:sp>
      <p:sp>
        <p:nvSpPr>
          <p:cNvPr id="7" name="Hierarchy top"/>
          <p:cNvSpPr/>
          <p:nvPr/>
        </p:nvSpPr>
        <p:spPr>
          <a:xfrm>
            <a:off x="4892040" y="1554480"/>
            <a:ext cx="777240" cy="685800"/>
          </a:xfrm>
          <a:prstGeom prst="roundRect">
            <a:avLst>
              <a:gd name="adj" fmla="val 15000"/>
            </a:avLst>
          </a:prstGeom>
          <a:solidFill>
            <a:schemeClr val="accent2"/>
          </a:solidFill>
          <a:ln>
            <a:noFill/>
          </a:ln>
        </p:spPr>
        <p:txBody>
          <a:bodyPr wrap="square" lIns="73152" tIns="36576" rIns="73152" bIns="36576" rtlCol="0" anchor="ctr">
            <a:noAutofit/>
          </a:bodyPr>
          <a:lstStyle/>
          <a:p>
            <a:pPr marL="0" indent="0" algn="ctr">
              <a:lnSpc>
                <a:spcPct val="100000"/>
              </a:lnSpc>
              <a:spcBef>
                <a:spcPts val="0"/>
              </a:spcBef>
              <a:spcAft>
                <a:spcPts val="0"/>
              </a:spcAft>
              <a:buNone/>
            </a:pPr>
            <a:r>
              <a:rPr lang="en-US" sz="1200" b="1" i="0" dirty="0">
                <a:solidFill>
                  <a:schemeClr val="bg1"/>
                </a:solidFill>
                <a:latin typeface="Courier New"/>
                <a:cs typeface="Courier New"/>
              </a:rPr>
              <a:t xml:space="preserve">top</a:t>
            </a:r>
            <a:endParaRPr lang="en-US" sz="1200" dirty="0"/>
          </a:p>
        </p:txBody>
      </p:sp>
      <p:cxnSp>
        <p:nvCxnSpPr>
          <p:cNvPr id="8" name="Top to modules"/>
          <p:cNvCxnSpPr>
            <a:stCxn id="7" idx="3"/>
          </p:cNvCxnSpPr>
          <p:nvPr/>
        </p:nvCxnSpPr>
        <p:spPr>
          <a:xfrm>
            <a:off x="5669280" y="1897380"/>
            <a:ext cx="320040" cy="0"/>
          </a:xfrm>
          <a:prstGeom prst="straightConnector1">
            <a:avLst/>
          </a:prstGeom>
          <a:ln w="19050">
            <a:solidFill>
              <a:schemeClr val="tx2"/>
            </a:solidFill>
            <a:round/>
            <a:tailEnd type="triangle" w="med" len="med"/>
          </a:ln>
        </p:spPr>
      </p:cxnSp>
      <p:sp>
        <p:nvSpPr>
          <p:cNvPr id="9" name="Module clk_divider"/>
          <p:cNvSpPr/>
          <p:nvPr/>
        </p:nvSpPr>
        <p:spPr>
          <a:xfrm>
            <a:off x="6080760" y="1353312"/>
            <a:ext cx="1371600" cy="310896"/>
          </a:xfrm>
          <a:prstGeom prst="roundRect">
            <a:avLst>
              <a:gd name="adj" fmla="val 20000"/>
            </a:avLst>
          </a:prstGeom>
          <a:solidFill>
            <a:schemeClr val="accent1">
              <a:alpha val="25000"/>
            </a:schemeClr>
          </a:solidFill>
          <a:ln w="12700">
            <a:solidFill>
              <a:schemeClr val="accent2"/>
            </a:solidFill>
            <a:round/>
          </a:ln>
        </p:spPr>
        <p:txBody>
          <a:bodyPr wrap="square" lIns="9144" tIns="9144" rIns="9144" bIns="9144" rtlCol="0" anchor="ctr">
            <a:noAutofit/>
          </a:bodyPr>
          <a:lstStyle/>
          <a:p>
            <a:pPr marL="0" indent="0" algn="ctr">
              <a:lnSpc>
                <a:spcPct val="100000"/>
              </a:lnSpc>
              <a:spcBef>
                <a:spcPts val="0"/>
              </a:spcBef>
              <a:spcAft>
                <a:spcPts val="0"/>
              </a:spcAft>
              <a:buNone/>
            </a:pPr>
            <a:r>
              <a:rPr lang="en-US" sz="1000" b="1" i="0" dirty="0">
                <a:solidFill>
                  <a:schemeClr val="tx2"/>
                </a:solidFill>
                <a:latin typeface="Courier New"/>
                <a:cs typeface="Courier New"/>
              </a:rPr>
              <a:t xml:space="preserve">clk_divider</a:t>
            </a:r>
            <a:endParaRPr lang="en-US" sz="1000" dirty="0"/>
          </a:p>
        </p:txBody>
      </p:sp>
      <p:sp>
        <p:nvSpPr>
          <p:cNvPr id="10" name="Module adc_interface"/>
          <p:cNvSpPr/>
          <p:nvPr/>
        </p:nvSpPr>
        <p:spPr>
          <a:xfrm>
            <a:off x="6080760" y="1728216"/>
            <a:ext cx="1371600" cy="310896"/>
          </a:xfrm>
          <a:prstGeom prst="roundRect">
            <a:avLst>
              <a:gd name="adj" fmla="val 20000"/>
            </a:avLst>
          </a:prstGeom>
          <a:solidFill>
            <a:schemeClr val="accent1">
              <a:alpha val="25000"/>
            </a:schemeClr>
          </a:solidFill>
          <a:ln w="12700">
            <a:solidFill>
              <a:schemeClr val="accent2"/>
            </a:solidFill>
            <a:round/>
          </a:ln>
        </p:spPr>
        <p:txBody>
          <a:bodyPr wrap="square" lIns="9144" tIns="9144" rIns="9144" bIns="9144" rtlCol="0" anchor="ctr">
            <a:noAutofit/>
          </a:bodyPr>
          <a:lstStyle/>
          <a:p>
            <a:pPr marL="0" indent="0" algn="ctr">
              <a:lnSpc>
                <a:spcPct val="100000"/>
              </a:lnSpc>
              <a:spcBef>
                <a:spcPts val="0"/>
              </a:spcBef>
              <a:spcAft>
                <a:spcPts val="0"/>
              </a:spcAft>
              <a:buNone/>
            </a:pPr>
            <a:r>
              <a:rPr lang="en-US" sz="1000" b="1" i="0" dirty="0">
                <a:solidFill>
                  <a:schemeClr val="tx2"/>
                </a:solidFill>
                <a:latin typeface="Courier New"/>
                <a:cs typeface="Courier New"/>
              </a:rPr>
              <a:t xml:space="preserve">adc_interface</a:t>
            </a:r>
            <a:endParaRPr lang="en-US" sz="1000" dirty="0"/>
          </a:p>
        </p:txBody>
      </p:sp>
      <p:sp>
        <p:nvSpPr>
          <p:cNvPr id="11" name="Module rms_calc"/>
          <p:cNvSpPr/>
          <p:nvPr/>
        </p:nvSpPr>
        <p:spPr>
          <a:xfrm>
            <a:off x="6080760" y="2103120"/>
            <a:ext cx="1371600" cy="310896"/>
          </a:xfrm>
          <a:prstGeom prst="roundRect">
            <a:avLst>
              <a:gd name="adj" fmla="val 20000"/>
            </a:avLst>
          </a:prstGeom>
          <a:solidFill>
            <a:schemeClr val="accent1">
              <a:alpha val="25000"/>
            </a:schemeClr>
          </a:solidFill>
          <a:ln w="12700">
            <a:solidFill>
              <a:schemeClr val="accent2"/>
            </a:solidFill>
            <a:round/>
          </a:ln>
        </p:spPr>
        <p:txBody>
          <a:bodyPr wrap="square" lIns="9144" tIns="9144" rIns="9144" bIns="9144" rtlCol="0" anchor="ctr">
            <a:noAutofit/>
          </a:bodyPr>
          <a:lstStyle/>
          <a:p>
            <a:pPr marL="0" indent="0" algn="ctr">
              <a:lnSpc>
                <a:spcPct val="100000"/>
              </a:lnSpc>
              <a:spcBef>
                <a:spcPts val="0"/>
              </a:spcBef>
              <a:spcAft>
                <a:spcPts val="0"/>
              </a:spcAft>
              <a:buNone/>
            </a:pPr>
            <a:r>
              <a:rPr lang="en-US" sz="1000" b="1" i="0" dirty="0">
                <a:solidFill>
                  <a:schemeClr val="tx2"/>
                </a:solidFill>
                <a:latin typeface="Courier New"/>
                <a:cs typeface="Courier New"/>
              </a:rPr>
              <a:t xml:space="preserve">rms_calc</a:t>
            </a:r>
            <a:endParaRPr lang="en-US" sz="1000" dirty="0"/>
          </a:p>
        </p:txBody>
      </p:sp>
      <p:sp>
        <p:nvSpPr>
          <p:cNvPr id="12" name="Module log_lut"/>
          <p:cNvSpPr/>
          <p:nvPr/>
        </p:nvSpPr>
        <p:spPr>
          <a:xfrm>
            <a:off x="7543800" y="1353312"/>
            <a:ext cx="1371600" cy="310896"/>
          </a:xfrm>
          <a:prstGeom prst="roundRect">
            <a:avLst>
              <a:gd name="adj" fmla="val 20000"/>
            </a:avLst>
          </a:prstGeom>
          <a:solidFill>
            <a:schemeClr val="accent1">
              <a:alpha val="25000"/>
            </a:schemeClr>
          </a:solidFill>
          <a:ln w="12700">
            <a:solidFill>
              <a:schemeClr val="accent2"/>
            </a:solidFill>
            <a:round/>
          </a:ln>
        </p:spPr>
        <p:txBody>
          <a:bodyPr wrap="square" lIns="9144" tIns="9144" rIns="9144" bIns="9144" rtlCol="0" anchor="ctr">
            <a:noAutofit/>
          </a:bodyPr>
          <a:lstStyle/>
          <a:p>
            <a:pPr marL="0" indent="0" algn="ctr">
              <a:lnSpc>
                <a:spcPct val="100000"/>
              </a:lnSpc>
              <a:spcBef>
                <a:spcPts val="0"/>
              </a:spcBef>
              <a:spcAft>
                <a:spcPts val="0"/>
              </a:spcAft>
              <a:buNone/>
            </a:pPr>
            <a:r>
              <a:rPr lang="en-US" sz="1000" b="1" i="0" dirty="0">
                <a:solidFill>
                  <a:schemeClr val="tx2"/>
                </a:solidFill>
                <a:latin typeface="Courier New"/>
                <a:cs typeface="Courier New"/>
              </a:rPr>
              <a:t xml:space="preserve">log_lut</a:t>
            </a:r>
            <a:endParaRPr lang="en-US" sz="1000" dirty="0"/>
          </a:p>
        </p:txBody>
      </p:sp>
      <p:sp>
        <p:nvSpPr>
          <p:cNvPr id="13" name="Module peak_hold"/>
          <p:cNvSpPr/>
          <p:nvPr/>
        </p:nvSpPr>
        <p:spPr>
          <a:xfrm>
            <a:off x="7543800" y="1728216"/>
            <a:ext cx="1371600" cy="310896"/>
          </a:xfrm>
          <a:prstGeom prst="roundRect">
            <a:avLst>
              <a:gd name="adj" fmla="val 20000"/>
            </a:avLst>
          </a:prstGeom>
          <a:solidFill>
            <a:schemeClr val="accent3">
              <a:alpha val="30000"/>
            </a:schemeClr>
          </a:solidFill>
          <a:ln w="12700">
            <a:solidFill>
              <a:schemeClr val="accent2"/>
            </a:solidFill>
            <a:round/>
          </a:ln>
        </p:spPr>
        <p:txBody>
          <a:bodyPr wrap="square" lIns="9144" tIns="9144" rIns="9144" bIns="9144" rtlCol="0" anchor="ctr">
            <a:noAutofit/>
          </a:bodyPr>
          <a:lstStyle/>
          <a:p>
            <a:pPr marL="0" indent="0" algn="ctr">
              <a:lnSpc>
                <a:spcPct val="100000"/>
              </a:lnSpc>
              <a:spcBef>
                <a:spcPts val="0"/>
              </a:spcBef>
              <a:spcAft>
                <a:spcPts val="0"/>
              </a:spcAft>
              <a:buNone/>
            </a:pPr>
            <a:r>
              <a:rPr lang="en-US" sz="1000" b="1" i="0" dirty="0">
                <a:solidFill>
                  <a:schemeClr val="tx2"/>
                </a:solidFill>
                <a:latin typeface="Courier New"/>
                <a:cs typeface="Courier New"/>
              </a:rPr>
              <a:t xml:space="preserve">peak_hold</a:t>
            </a:r>
            <a:endParaRPr lang="en-US" sz="1000" dirty="0"/>
          </a:p>
        </p:txBody>
      </p:sp>
      <p:sp>
        <p:nvSpPr>
          <p:cNvPr id="14" name="Module seg_driver"/>
          <p:cNvSpPr/>
          <p:nvPr/>
        </p:nvSpPr>
        <p:spPr>
          <a:xfrm>
            <a:off x="7543800" y="2103120"/>
            <a:ext cx="1371600" cy="310896"/>
          </a:xfrm>
          <a:prstGeom prst="roundRect">
            <a:avLst>
              <a:gd name="adj" fmla="val 20000"/>
            </a:avLst>
          </a:prstGeom>
          <a:solidFill>
            <a:schemeClr val="accent1">
              <a:alpha val="25000"/>
            </a:schemeClr>
          </a:solidFill>
          <a:ln w="12700">
            <a:solidFill>
              <a:schemeClr val="accent2"/>
            </a:solidFill>
            <a:round/>
          </a:ln>
        </p:spPr>
        <p:txBody>
          <a:bodyPr wrap="square" lIns="9144" tIns="9144" rIns="9144" bIns="9144" rtlCol="0" anchor="ctr">
            <a:noAutofit/>
          </a:bodyPr>
          <a:lstStyle/>
          <a:p>
            <a:pPr marL="0" indent="0" algn="ctr">
              <a:lnSpc>
                <a:spcPct val="100000"/>
              </a:lnSpc>
              <a:spcBef>
                <a:spcPts val="0"/>
              </a:spcBef>
              <a:spcAft>
                <a:spcPts val="0"/>
              </a:spcAft>
              <a:buNone/>
            </a:pPr>
            <a:r>
              <a:rPr lang="en-US" sz="1000" b="1" i="0" dirty="0">
                <a:solidFill>
                  <a:schemeClr val="tx2"/>
                </a:solidFill>
                <a:latin typeface="Courier New"/>
                <a:cs typeface="Courier New"/>
              </a:rPr>
              <a:t xml:space="preserve">seg_driver</a:t>
            </a:r>
            <a:endParaRPr lang="en-US" sz="1000" dirty="0"/>
          </a:p>
        </p:txBody>
      </p:sp>
      <p:sp>
        <p:nvSpPr>
          <p:cNvPr id="15" name="VHDL peak-hold card" descr="Code card: peak_hold.vhd"/>
          <p:cNvSpPr/>
          <p:nvPr/>
        </p:nvSpPr>
        <p:spPr>
          <a:xfrm>
            <a:off x="4892040" y="2788920"/>
            <a:ext cx="4069080" cy="2834640"/>
          </a:xfrm>
          <a:prstGeom prst="roundRect">
            <a:avLst>
              <a:gd name="adj" fmla="val 4000"/>
            </a:avLst>
          </a:prstGeom>
          <a:solidFill>
            <a:schemeClr val="tx2"/>
          </a:solidFill>
          <a:ln>
            <a:noFill/>
          </a:ln>
        </p:spPr>
      </p:sp>
      <p:sp>
        <p:nvSpPr>
          <p:cNvPr id="16" name="VHDL peak-hold dot 1"/>
          <p:cNvSpPr/>
          <p:nvPr/>
        </p:nvSpPr>
        <p:spPr>
          <a:xfrm>
            <a:off x="5038344" y="2916936"/>
            <a:ext cx="109728" cy="109728"/>
          </a:xfrm>
          <a:prstGeom prst="ellipse">
            <a:avLst/>
          </a:prstGeom>
          <a:solidFill>
            <a:schemeClr val="accent5"/>
          </a:solidFill>
          <a:ln>
            <a:noFill/>
          </a:ln>
        </p:spPr>
      </p:sp>
      <p:sp>
        <p:nvSpPr>
          <p:cNvPr id="17" name="VHDL peak-hold dot 2"/>
          <p:cNvSpPr/>
          <p:nvPr/>
        </p:nvSpPr>
        <p:spPr>
          <a:xfrm>
            <a:off x="5221224" y="2916936"/>
            <a:ext cx="109728" cy="109728"/>
          </a:xfrm>
          <a:prstGeom prst="ellipse">
            <a:avLst/>
          </a:prstGeom>
          <a:solidFill>
            <a:schemeClr val="accent3"/>
          </a:solidFill>
          <a:ln>
            <a:noFill/>
          </a:ln>
        </p:spPr>
      </p:sp>
      <p:sp>
        <p:nvSpPr>
          <p:cNvPr id="18" name="VHDL peak-hold dot 3"/>
          <p:cNvSpPr/>
          <p:nvPr/>
        </p:nvSpPr>
        <p:spPr>
          <a:xfrm>
            <a:off x="5404104" y="2916936"/>
            <a:ext cx="109728" cy="109728"/>
          </a:xfrm>
          <a:prstGeom prst="ellipse">
            <a:avLst/>
          </a:prstGeom>
          <a:solidFill>
            <a:schemeClr val="accent1"/>
          </a:solidFill>
          <a:ln>
            <a:noFill/>
          </a:ln>
        </p:spPr>
      </p:sp>
      <p:sp>
        <p:nvSpPr>
          <p:cNvPr id="19" name="VHDL peak-hold filename"/>
          <p:cNvSpPr txBox="1"/>
          <p:nvPr/>
        </p:nvSpPr>
        <p:spPr>
          <a:xfrm>
            <a:off x="5669280" y="2852928"/>
            <a:ext cx="3154680" cy="237744"/>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000" b="0" i="0" dirty="0">
                <a:solidFill>
                  <a:srgbClr val="9FB3BA"/>
                </a:solidFill>
                <a:latin typeface="Courier New"/>
                <a:cs typeface="Courier New"/>
              </a:rPr>
              <a:t xml:space="preserve">peak_hold.vhd</a:t>
            </a:r>
            <a:endParaRPr lang="en-US" sz="1000" dirty="0"/>
          </a:p>
        </p:txBody>
      </p:sp>
      <p:sp>
        <p:nvSpPr>
          <p:cNvPr id="20" name="VHDL peak-hold code"/>
          <p:cNvSpPr txBox="1"/>
          <p:nvPr/>
        </p:nvSpPr>
        <p:spPr>
          <a:xfrm>
            <a:off x="5056632" y="3200400"/>
            <a:ext cx="3794760" cy="2331720"/>
          </a:xfrm>
          <a:prstGeom prst="rect">
            <a:avLst/>
          </a:prstGeom>
          <a:noFill/>
          <a:ln>
            <a:noFill/>
          </a:ln>
        </p:spPr>
        <p:txBody>
          <a:bodyPr wrap="square" lIns="0" tIns="0" rIns="0" bIns="0" rtlCol="0" anchor="t">
            <a:noAutofit/>
          </a:bodyPr>
          <a:lstStyle/>
          <a:p>
            <a:pPr marL="0" indent="0" algn="l">
              <a:lnSpc>
                <a:spcPct val="100000"/>
              </a:lnSpc>
              <a:spcBef>
                <a:spcPts val="0"/>
              </a:spcBef>
              <a:spcAft>
                <a:spcPts val="0"/>
              </a:spcAft>
              <a:buNone/>
            </a:pPr>
            <a:r>
              <a:rPr lang="en-US" sz="1050" b="0" i="0" dirty="0">
                <a:solidFill>
                  <a:srgbClr val="9FB3BA"/>
                </a:solidFill>
                <a:latin typeface="Courier New"/>
                <a:cs typeface="Courier New"/>
              </a:rPr>
              <a:t xml:space="preserve">-- Peak-hold: keep the largest dB seen</a:t>
            </a:r>
            <a:endParaRPr lang="en-US" sz="1050" dirty="0"/>
          </a:p>
          <a:p>
            <a:pPr marL="0" indent="0" algn="l">
              <a:lnSpc>
                <a:spcPct val="100000"/>
              </a:lnSpc>
              <a:spcBef>
                <a:spcPts val="0"/>
              </a:spcBef>
              <a:spcAft>
                <a:spcPts val="0"/>
              </a:spcAft>
              <a:buNone/>
            </a:pPr>
            <a:r>
              <a:rPr lang="en-US" sz="1050" b="1" i="0" dirty="0">
                <a:solidFill>
                  <a:schemeClr val="accent1"/>
                </a:solidFill>
                <a:latin typeface="Courier New"/>
                <a:cs typeface="Courier New"/>
              </a:rPr>
              <a:t xml:space="preserve">process</a:t>
            </a:r>
            <a:r>
              <a:rPr lang="en-US" sz="1050" b="0" i="0" dirty="0">
                <a:solidFill>
                  <a:schemeClr val="bg1"/>
                </a:solidFill>
                <a:latin typeface="Courier New"/>
                <a:cs typeface="Courier New"/>
              </a:rPr>
              <a:t xml:space="preserve">(</a:t>
            </a:r>
            <a:r>
              <a:rPr lang="en-US" sz="1050" b="0" i="0" dirty="0">
                <a:solidFill>
                  <a:schemeClr val="bg1"/>
                </a:solidFill>
                <a:latin typeface="Courier New"/>
                <a:cs typeface="Courier New"/>
              </a:rPr>
              <a:t xml:space="preserve">clk</a:t>
            </a:r>
            <a:r>
              <a:rPr lang="en-US" sz="1050" b="0" i="0" dirty="0">
                <a:solidFill>
                  <a:schemeClr val="bg1"/>
                </a:solidFill>
                <a:latin typeface="Courier New"/>
                <a:cs typeface="Courier New"/>
              </a:rPr>
              <a:t xml:space="preserve">,</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reset</a:t>
            </a:r>
            <a:r>
              <a:rPr lang="en-US" sz="1050" b="0" i="0" dirty="0">
                <a:solidFill>
                  <a:schemeClr val="bg1"/>
                </a:solidFill>
                <a:latin typeface="Courier New"/>
                <a:cs typeface="Courier New"/>
              </a:rPr>
              <a:t xml:space="preserve">)</a:t>
            </a:r>
            <a:endParaRPr lang="en-US" sz="1050" dirty="0"/>
          </a:p>
          <a:p>
            <a:pPr marL="0" indent="0" algn="l">
              <a:lnSpc>
                <a:spcPct val="100000"/>
              </a:lnSpc>
              <a:spcBef>
                <a:spcPts val="0"/>
              </a:spcBef>
              <a:spcAft>
                <a:spcPts val="0"/>
              </a:spcAft>
              <a:buNone/>
            </a:pPr>
            <a:r>
              <a:rPr lang="en-US" sz="1050" b="1" i="0" dirty="0">
                <a:solidFill>
                  <a:schemeClr val="accent1"/>
                </a:solidFill>
                <a:latin typeface="Courier New"/>
                <a:cs typeface="Courier New"/>
              </a:rPr>
              <a:t xml:space="preserve">begin</a:t>
            </a:r>
            <a:endParaRPr lang="en-US" sz="1050" dirty="0"/>
          </a:p>
          <a:p>
            <a:pPr marL="0" indent="0" algn="l">
              <a:lnSpc>
                <a:spcPct val="100000"/>
              </a:lnSpc>
              <a:spcBef>
                <a:spcPts val="0"/>
              </a:spcBef>
              <a:spcAft>
                <a:spcPts val="0"/>
              </a:spcAft>
              <a:buNone/>
            </a:pPr>
            <a:r>
              <a:rPr lang="en-US" sz="1050" b="0" i="0" dirty="0">
                <a:solidFill>
                  <a:schemeClr val="bg1"/>
                </a:solidFill>
                <a:latin typeface="Courier New"/>
                <a:cs typeface="Courier New"/>
              </a:rPr>
              <a:t xml:space="preserve">  </a:t>
            </a:r>
            <a:r>
              <a:rPr lang="en-US" sz="1050" b="1" i="0" dirty="0">
                <a:solidFill>
                  <a:schemeClr val="accent1"/>
                </a:solidFill>
                <a:latin typeface="Courier New"/>
                <a:cs typeface="Courier New"/>
              </a:rPr>
              <a:t xml:space="preserve">if</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reset</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a:t>
            </a:r>
            <a:r>
              <a:rPr lang="en-US" sz="1050" b="0" i="0" dirty="0">
                <a:solidFill>
                  <a:schemeClr val="bg1"/>
                </a:solidFill>
                <a:latin typeface="Courier New"/>
                <a:cs typeface="Courier New"/>
              </a:rPr>
              <a:t xml:space="preserve"> </a:t>
            </a:r>
            <a:r>
              <a:rPr lang="en-US" sz="1050" b="0" i="0" dirty="0">
                <a:solidFill>
                  <a:schemeClr val="accent3"/>
                </a:solidFill>
                <a:latin typeface="Courier New"/>
                <a:cs typeface="Courier New"/>
              </a:rPr>
              <a:t xml:space="preserve">'1'</a:t>
            </a:r>
            <a:r>
              <a:rPr lang="en-US" sz="1050" b="0" i="0" dirty="0">
                <a:solidFill>
                  <a:schemeClr val="bg1"/>
                </a:solidFill>
                <a:latin typeface="Courier New"/>
                <a:cs typeface="Courier New"/>
              </a:rPr>
              <a:t xml:space="preserve"> </a:t>
            </a:r>
            <a:r>
              <a:rPr lang="en-US" sz="1050" b="1" i="0" dirty="0">
                <a:solidFill>
                  <a:schemeClr val="accent1"/>
                </a:solidFill>
                <a:latin typeface="Courier New"/>
                <a:cs typeface="Courier New"/>
              </a:rPr>
              <a:t xml:space="preserve">then</a:t>
            </a:r>
            <a:endParaRPr lang="en-US" sz="1050" dirty="0"/>
          </a:p>
          <a:p>
            <a:pPr marL="0" indent="0" algn="l">
              <a:lnSpc>
                <a:spcPct val="100000"/>
              </a:lnSpc>
              <a:spcBef>
                <a:spcPts val="0"/>
              </a:spcBef>
              <a:spcAft>
                <a:spcPts val="0"/>
              </a:spcAft>
              <a:buNone/>
            </a:pP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held_db</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&lt;</a:t>
            </a:r>
            <a:r>
              <a:rPr lang="en-US" sz="1050" b="0" i="0" dirty="0">
                <a:solidFill>
                  <a:schemeClr val="bg1"/>
                </a:solidFill>
                <a:latin typeface="Courier New"/>
                <a:cs typeface="Courier New"/>
              </a:rPr>
              <a:t xml:space="preserve">=</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a:t>
            </a:r>
            <a:r>
              <a:rPr lang="en-US" sz="1050" b="1" i="0" dirty="0">
                <a:solidFill>
                  <a:schemeClr val="accent1"/>
                </a:solidFill>
                <a:latin typeface="Courier New"/>
                <a:cs typeface="Courier New"/>
              </a:rPr>
              <a:t xml:space="preserve">others</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a:t>
            </a:r>
            <a:r>
              <a:rPr lang="en-US" sz="1050" b="0" i="0" dirty="0">
                <a:solidFill>
                  <a:schemeClr val="bg1"/>
                </a:solidFill>
                <a:latin typeface="Courier New"/>
                <a:cs typeface="Courier New"/>
              </a:rPr>
              <a:t xml:space="preserve">&gt;</a:t>
            </a:r>
            <a:r>
              <a:rPr lang="en-US" sz="1050" b="0" i="0" dirty="0">
                <a:solidFill>
                  <a:schemeClr val="bg1"/>
                </a:solidFill>
                <a:latin typeface="Courier New"/>
                <a:cs typeface="Courier New"/>
              </a:rPr>
              <a:t xml:space="preserve"> </a:t>
            </a:r>
            <a:r>
              <a:rPr lang="en-US" sz="1050" b="0" i="0" dirty="0">
                <a:solidFill>
                  <a:schemeClr val="accent3"/>
                </a:solidFill>
                <a:latin typeface="Courier New"/>
                <a:cs typeface="Courier New"/>
              </a:rPr>
              <a:t xml:space="preserve">'0'</a:t>
            </a:r>
            <a:r>
              <a:rPr lang="en-US" sz="1050" b="0" i="0" dirty="0">
                <a:solidFill>
                  <a:schemeClr val="bg1"/>
                </a:solidFill>
                <a:latin typeface="Courier New"/>
                <a:cs typeface="Courier New"/>
              </a:rPr>
              <a:t xml:space="preserve">)</a:t>
            </a:r>
            <a:r>
              <a:rPr lang="en-US" sz="1050" b="0" i="0" dirty="0">
                <a:solidFill>
                  <a:schemeClr val="bg1"/>
                </a:solidFill>
                <a:latin typeface="Courier New"/>
                <a:cs typeface="Courier New"/>
              </a:rPr>
              <a:t xml:space="preserve">;</a:t>
            </a:r>
            <a:endParaRPr lang="en-US" sz="1050" dirty="0"/>
          </a:p>
          <a:p>
            <a:pPr marL="0" indent="0" algn="l">
              <a:lnSpc>
                <a:spcPct val="100000"/>
              </a:lnSpc>
              <a:spcBef>
                <a:spcPts val="0"/>
              </a:spcBef>
              <a:spcAft>
                <a:spcPts val="0"/>
              </a:spcAft>
              <a:buNone/>
            </a:pPr>
            <a:r>
              <a:rPr lang="en-US" sz="1050" b="0" i="0" dirty="0">
                <a:solidFill>
                  <a:schemeClr val="bg1"/>
                </a:solidFill>
                <a:latin typeface="Courier New"/>
                <a:cs typeface="Courier New"/>
              </a:rPr>
              <a:t xml:space="preserve">  </a:t>
            </a:r>
            <a:r>
              <a:rPr lang="en-US" sz="1050" b="1" i="0" dirty="0">
                <a:solidFill>
                  <a:schemeClr val="accent1"/>
                </a:solidFill>
                <a:latin typeface="Courier New"/>
                <a:cs typeface="Courier New"/>
              </a:rPr>
              <a:t xml:space="preserve">elsif</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rising_edge</a:t>
            </a:r>
            <a:r>
              <a:rPr lang="en-US" sz="1050" b="0" i="0" dirty="0">
                <a:solidFill>
                  <a:schemeClr val="bg1"/>
                </a:solidFill>
                <a:latin typeface="Courier New"/>
                <a:cs typeface="Courier New"/>
              </a:rPr>
              <a:t xml:space="preserve">(</a:t>
            </a:r>
            <a:r>
              <a:rPr lang="en-US" sz="1050" b="0" i="0" dirty="0">
                <a:solidFill>
                  <a:schemeClr val="bg1"/>
                </a:solidFill>
                <a:latin typeface="Courier New"/>
                <a:cs typeface="Courier New"/>
              </a:rPr>
              <a:t xml:space="preserve">clk</a:t>
            </a:r>
            <a:r>
              <a:rPr lang="en-US" sz="1050" b="0" i="0" dirty="0">
                <a:solidFill>
                  <a:schemeClr val="bg1"/>
                </a:solidFill>
                <a:latin typeface="Courier New"/>
                <a:cs typeface="Courier New"/>
              </a:rPr>
              <a:t xml:space="preserve">)</a:t>
            </a:r>
            <a:r>
              <a:rPr lang="en-US" sz="1050" b="0" i="0" dirty="0">
                <a:solidFill>
                  <a:schemeClr val="bg1"/>
                </a:solidFill>
                <a:latin typeface="Courier New"/>
                <a:cs typeface="Courier New"/>
              </a:rPr>
              <a:t xml:space="preserve"> </a:t>
            </a:r>
            <a:r>
              <a:rPr lang="en-US" sz="1050" b="1" i="0" dirty="0">
                <a:solidFill>
                  <a:schemeClr val="accent1"/>
                </a:solidFill>
                <a:latin typeface="Courier New"/>
                <a:cs typeface="Courier New"/>
              </a:rPr>
              <a:t xml:space="preserve">then</a:t>
            </a:r>
            <a:endParaRPr lang="en-US" sz="1050" dirty="0"/>
          </a:p>
          <a:p>
            <a:pPr marL="0" indent="0" algn="l">
              <a:lnSpc>
                <a:spcPct val="100000"/>
              </a:lnSpc>
              <a:spcBef>
                <a:spcPts val="0"/>
              </a:spcBef>
              <a:spcAft>
                <a:spcPts val="0"/>
              </a:spcAft>
              <a:buNone/>
            </a:pPr>
            <a:r>
              <a:rPr lang="en-US" sz="1050" b="0" i="0" dirty="0">
                <a:solidFill>
                  <a:schemeClr val="bg1"/>
                </a:solidFill>
                <a:latin typeface="Courier New"/>
                <a:cs typeface="Courier New"/>
              </a:rPr>
              <a:t xml:space="preserve">    </a:t>
            </a:r>
            <a:r>
              <a:rPr lang="en-US" sz="1050" b="1" i="0" dirty="0">
                <a:solidFill>
                  <a:schemeClr val="accent1"/>
                </a:solidFill>
                <a:latin typeface="Courier New"/>
                <a:cs typeface="Courier New"/>
              </a:rPr>
              <a:t xml:space="preserve">if</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new_db</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&gt;</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held_db</a:t>
            </a:r>
            <a:r>
              <a:rPr lang="en-US" sz="1050" b="0" i="0" dirty="0">
                <a:solidFill>
                  <a:schemeClr val="bg1"/>
                </a:solidFill>
                <a:latin typeface="Courier New"/>
                <a:cs typeface="Courier New"/>
              </a:rPr>
              <a:t xml:space="preserve"> </a:t>
            </a:r>
            <a:r>
              <a:rPr lang="en-US" sz="1050" b="1" i="0" dirty="0">
                <a:solidFill>
                  <a:schemeClr val="accent1"/>
                </a:solidFill>
                <a:latin typeface="Courier New"/>
                <a:cs typeface="Courier New"/>
              </a:rPr>
              <a:t xml:space="preserve">then</a:t>
            </a:r>
            <a:endParaRPr lang="en-US" sz="1050" dirty="0"/>
          </a:p>
          <a:p>
            <a:pPr marL="0" indent="0" algn="l">
              <a:lnSpc>
                <a:spcPct val="100000"/>
              </a:lnSpc>
              <a:spcBef>
                <a:spcPts val="0"/>
              </a:spcBef>
              <a:spcAft>
                <a:spcPts val="0"/>
              </a:spcAft>
              <a:buNone/>
            </a:pP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held_db</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&lt;</a:t>
            </a:r>
            <a:r>
              <a:rPr lang="en-US" sz="1050" b="0" i="0" dirty="0">
                <a:solidFill>
                  <a:schemeClr val="bg1"/>
                </a:solidFill>
                <a:latin typeface="Courier New"/>
                <a:cs typeface="Courier New"/>
              </a:rPr>
              <a:t xml:space="preserve">=</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new_db</a:t>
            </a:r>
            <a:r>
              <a:rPr lang="en-US" sz="1050" b="0" i="0" dirty="0">
                <a:solidFill>
                  <a:schemeClr val="bg1"/>
                </a:solidFill>
                <a:latin typeface="Courier New"/>
                <a:cs typeface="Courier New"/>
              </a:rPr>
              <a:t xml:space="preserve">;</a:t>
            </a:r>
            <a:r>
              <a:rPr lang="en-US" sz="1050" b="0" i="0" dirty="0">
                <a:solidFill>
                  <a:schemeClr val="bg1"/>
                </a:solidFill>
                <a:latin typeface="Courier New"/>
                <a:cs typeface="Courier New"/>
              </a:rPr>
              <a:t xml:space="preserve">  </a:t>
            </a:r>
            <a:r>
              <a:rPr lang="en-US" sz="1050" b="0" i="0" dirty="0">
                <a:solidFill>
                  <a:srgbClr val="9FB3BA"/>
                </a:solidFill>
                <a:latin typeface="Courier New"/>
                <a:cs typeface="Courier New"/>
              </a:rPr>
              <a:t xml:space="preserve">-- new peak</a:t>
            </a:r>
            <a:endParaRPr lang="en-US" sz="1050" dirty="0"/>
          </a:p>
          <a:p>
            <a:pPr marL="0" indent="0" algn="l">
              <a:lnSpc>
                <a:spcPct val="100000"/>
              </a:lnSpc>
              <a:spcBef>
                <a:spcPts val="0"/>
              </a:spcBef>
              <a:spcAft>
                <a:spcPts val="0"/>
              </a:spcAft>
              <a:buNone/>
            </a:pPr>
            <a:r>
              <a:rPr lang="en-US" sz="1050" b="0" i="0" dirty="0">
                <a:solidFill>
                  <a:schemeClr val="bg1"/>
                </a:solidFill>
                <a:latin typeface="Courier New"/>
                <a:cs typeface="Courier New"/>
              </a:rPr>
              <a:t xml:space="preserve">    </a:t>
            </a:r>
            <a:r>
              <a:rPr lang="en-US" sz="1050" b="1" i="0" dirty="0">
                <a:solidFill>
                  <a:schemeClr val="accent1"/>
                </a:solidFill>
                <a:latin typeface="Courier New"/>
                <a:cs typeface="Courier New"/>
              </a:rPr>
              <a:t xml:space="preserve">elsif</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hold_expired</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a:t>
            </a:r>
            <a:r>
              <a:rPr lang="en-US" sz="1050" b="0" i="0" dirty="0">
                <a:solidFill>
                  <a:schemeClr val="bg1"/>
                </a:solidFill>
                <a:latin typeface="Courier New"/>
                <a:cs typeface="Courier New"/>
              </a:rPr>
              <a:t xml:space="preserve"> </a:t>
            </a:r>
            <a:r>
              <a:rPr lang="en-US" sz="1050" b="0" i="0" dirty="0">
                <a:solidFill>
                  <a:schemeClr val="accent3"/>
                </a:solidFill>
                <a:latin typeface="Courier New"/>
                <a:cs typeface="Courier New"/>
              </a:rPr>
              <a:t xml:space="preserve">'1'</a:t>
            </a:r>
            <a:r>
              <a:rPr lang="en-US" sz="1050" b="0" i="0" dirty="0">
                <a:solidFill>
                  <a:schemeClr val="bg1"/>
                </a:solidFill>
                <a:latin typeface="Courier New"/>
                <a:cs typeface="Courier New"/>
              </a:rPr>
              <a:t xml:space="preserve"> </a:t>
            </a:r>
            <a:r>
              <a:rPr lang="en-US" sz="1050" b="1" i="0" dirty="0">
                <a:solidFill>
                  <a:schemeClr val="accent1"/>
                </a:solidFill>
                <a:latin typeface="Courier New"/>
                <a:cs typeface="Courier New"/>
              </a:rPr>
              <a:t xml:space="preserve">then</a:t>
            </a:r>
            <a:endParaRPr lang="en-US" sz="1050" dirty="0"/>
          </a:p>
          <a:p>
            <a:pPr marL="0" indent="0" algn="l">
              <a:lnSpc>
                <a:spcPct val="100000"/>
              </a:lnSpc>
              <a:spcBef>
                <a:spcPts val="0"/>
              </a:spcBef>
              <a:spcAft>
                <a:spcPts val="0"/>
              </a:spcAft>
              <a:buNone/>
            </a:pP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held_db</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&lt;</a:t>
            </a:r>
            <a:r>
              <a:rPr lang="en-US" sz="1050" b="0" i="0" dirty="0">
                <a:solidFill>
                  <a:schemeClr val="bg1"/>
                </a:solidFill>
                <a:latin typeface="Courier New"/>
                <a:cs typeface="Courier New"/>
              </a:rPr>
              <a:t xml:space="preserve">=</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a:t>
            </a:r>
            <a:r>
              <a:rPr lang="en-US" sz="1050" b="1" i="0" dirty="0">
                <a:solidFill>
                  <a:schemeClr val="accent1"/>
                </a:solidFill>
                <a:latin typeface="Courier New"/>
                <a:cs typeface="Courier New"/>
              </a:rPr>
              <a:t xml:space="preserve">others</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a:t>
            </a:r>
            <a:r>
              <a:rPr lang="en-US" sz="1050" b="0" i="0" dirty="0">
                <a:solidFill>
                  <a:schemeClr val="bg1"/>
                </a:solidFill>
                <a:latin typeface="Courier New"/>
                <a:cs typeface="Courier New"/>
              </a:rPr>
              <a:t xml:space="preserve">&gt;</a:t>
            </a:r>
            <a:r>
              <a:rPr lang="en-US" sz="1050" b="0" i="0" dirty="0">
                <a:solidFill>
                  <a:schemeClr val="bg1"/>
                </a:solidFill>
                <a:latin typeface="Courier New"/>
                <a:cs typeface="Courier New"/>
              </a:rPr>
              <a:t xml:space="preserve"> </a:t>
            </a:r>
            <a:r>
              <a:rPr lang="en-US" sz="1050" b="0" i="0" dirty="0">
                <a:solidFill>
                  <a:schemeClr val="accent3"/>
                </a:solidFill>
                <a:latin typeface="Courier New"/>
                <a:cs typeface="Courier New"/>
              </a:rPr>
              <a:t xml:space="preserve">'0'</a:t>
            </a:r>
            <a:r>
              <a:rPr lang="en-US" sz="1050" b="0" i="0" dirty="0">
                <a:solidFill>
                  <a:schemeClr val="bg1"/>
                </a:solidFill>
                <a:latin typeface="Courier New"/>
                <a:cs typeface="Courier New"/>
              </a:rPr>
              <a:t xml:space="preserve">)</a:t>
            </a:r>
            <a:r>
              <a:rPr lang="en-US" sz="1050" b="0" i="0" dirty="0">
                <a:solidFill>
                  <a:schemeClr val="bg1"/>
                </a:solidFill>
                <a:latin typeface="Courier New"/>
                <a:cs typeface="Courier New"/>
              </a:rPr>
              <a:t xml:space="preserve">;</a:t>
            </a:r>
            <a:r>
              <a:rPr lang="en-US" sz="1050" b="0" i="0" dirty="0">
                <a:solidFill>
                  <a:schemeClr val="bg1"/>
                </a:solidFill>
                <a:latin typeface="Courier New"/>
                <a:cs typeface="Courier New"/>
              </a:rPr>
              <a:t xml:space="preserve">  </a:t>
            </a:r>
            <a:r>
              <a:rPr lang="en-US" sz="1050" b="0" i="0" dirty="0">
                <a:solidFill>
                  <a:srgbClr val="9FB3BA"/>
                </a:solidFill>
                <a:latin typeface="Courier New"/>
                <a:cs typeface="Courier New"/>
              </a:rPr>
              <a:t xml:space="preserve">-- release</a:t>
            </a:r>
            <a:endParaRPr lang="en-US" sz="1050" dirty="0"/>
          </a:p>
          <a:p>
            <a:pPr marL="0" indent="0" algn="l">
              <a:lnSpc>
                <a:spcPct val="100000"/>
              </a:lnSpc>
              <a:spcBef>
                <a:spcPts val="0"/>
              </a:spcBef>
              <a:spcAft>
                <a:spcPts val="0"/>
              </a:spcAft>
              <a:buNone/>
            </a:pPr>
            <a:r>
              <a:rPr lang="en-US" sz="1050" b="0" i="0" dirty="0">
                <a:solidFill>
                  <a:schemeClr val="bg1"/>
                </a:solidFill>
                <a:latin typeface="Courier New"/>
                <a:cs typeface="Courier New"/>
              </a:rPr>
              <a:t xml:space="preserve">    </a:t>
            </a:r>
            <a:r>
              <a:rPr lang="en-US" sz="1050" b="1" i="0" dirty="0">
                <a:solidFill>
                  <a:schemeClr val="accent1"/>
                </a:solidFill>
                <a:latin typeface="Courier New"/>
                <a:cs typeface="Courier New"/>
              </a:rPr>
              <a:t xml:space="preserve">end</a:t>
            </a:r>
            <a:r>
              <a:rPr lang="en-US" sz="1050" b="0" i="0" dirty="0">
                <a:solidFill>
                  <a:schemeClr val="bg1"/>
                </a:solidFill>
                <a:latin typeface="Courier New"/>
                <a:cs typeface="Courier New"/>
              </a:rPr>
              <a:t xml:space="preserve"> </a:t>
            </a:r>
            <a:r>
              <a:rPr lang="en-US" sz="1050" b="1" i="0" dirty="0">
                <a:solidFill>
                  <a:schemeClr val="accent1"/>
                </a:solidFill>
                <a:latin typeface="Courier New"/>
                <a:cs typeface="Courier New"/>
              </a:rPr>
              <a:t xml:space="preserve">if</a:t>
            </a:r>
            <a:r>
              <a:rPr lang="en-US" sz="1050" b="0" i="0" dirty="0">
                <a:solidFill>
                  <a:schemeClr val="bg1"/>
                </a:solidFill>
                <a:latin typeface="Courier New"/>
                <a:cs typeface="Courier New"/>
              </a:rPr>
              <a:t xml:space="preserve">;</a:t>
            </a:r>
            <a:endParaRPr lang="en-US" sz="1050" dirty="0"/>
          </a:p>
          <a:p>
            <a:pPr marL="0" indent="0" algn="l">
              <a:lnSpc>
                <a:spcPct val="100000"/>
              </a:lnSpc>
              <a:spcBef>
                <a:spcPts val="0"/>
              </a:spcBef>
              <a:spcAft>
                <a:spcPts val="0"/>
              </a:spcAft>
              <a:buNone/>
            </a:pPr>
            <a:r>
              <a:rPr lang="en-US" sz="1050" b="0" i="0" dirty="0">
                <a:solidFill>
                  <a:schemeClr val="bg1"/>
                </a:solidFill>
                <a:latin typeface="Courier New"/>
                <a:cs typeface="Courier New"/>
              </a:rPr>
              <a:t xml:space="preserve">  </a:t>
            </a:r>
            <a:r>
              <a:rPr lang="en-US" sz="1050" b="1" i="0" dirty="0">
                <a:solidFill>
                  <a:schemeClr val="accent1"/>
                </a:solidFill>
                <a:latin typeface="Courier New"/>
                <a:cs typeface="Courier New"/>
              </a:rPr>
              <a:t xml:space="preserve">end</a:t>
            </a:r>
            <a:r>
              <a:rPr lang="en-US" sz="1050" b="0" i="0" dirty="0">
                <a:solidFill>
                  <a:schemeClr val="bg1"/>
                </a:solidFill>
                <a:latin typeface="Courier New"/>
                <a:cs typeface="Courier New"/>
              </a:rPr>
              <a:t xml:space="preserve"> </a:t>
            </a:r>
            <a:r>
              <a:rPr lang="en-US" sz="1050" b="1" i="0" dirty="0">
                <a:solidFill>
                  <a:schemeClr val="accent1"/>
                </a:solidFill>
                <a:latin typeface="Courier New"/>
                <a:cs typeface="Courier New"/>
              </a:rPr>
              <a:t xml:space="preserve">if</a:t>
            </a:r>
            <a:r>
              <a:rPr lang="en-US" sz="1050" b="0" i="0" dirty="0">
                <a:solidFill>
                  <a:schemeClr val="bg1"/>
                </a:solidFill>
                <a:latin typeface="Courier New"/>
                <a:cs typeface="Courier New"/>
              </a:rPr>
              <a:t xml:space="preserve">;</a:t>
            </a:r>
            <a:endParaRPr lang="en-US" sz="1050" dirty="0"/>
          </a:p>
          <a:p>
            <a:pPr marL="0" indent="0" algn="l">
              <a:lnSpc>
                <a:spcPct val="100000"/>
              </a:lnSpc>
              <a:spcBef>
                <a:spcPts val="0"/>
              </a:spcBef>
              <a:spcAft>
                <a:spcPts val="0"/>
              </a:spcAft>
              <a:buNone/>
            </a:pPr>
            <a:r>
              <a:rPr lang="en-US" sz="1050" b="1" i="0" dirty="0">
                <a:solidFill>
                  <a:schemeClr val="accent1"/>
                </a:solidFill>
                <a:latin typeface="Courier New"/>
                <a:cs typeface="Courier New"/>
              </a:rPr>
              <a:t xml:space="preserve">end</a:t>
            </a:r>
            <a:r>
              <a:rPr lang="en-US" sz="1050" b="0" i="0" dirty="0">
                <a:solidFill>
                  <a:schemeClr val="bg1"/>
                </a:solidFill>
                <a:latin typeface="Courier New"/>
                <a:cs typeface="Courier New"/>
              </a:rPr>
              <a:t xml:space="preserve"> </a:t>
            </a:r>
            <a:r>
              <a:rPr lang="en-US" sz="1050" b="1" i="0" dirty="0">
                <a:solidFill>
                  <a:schemeClr val="accent1"/>
                </a:solidFill>
                <a:latin typeface="Courier New"/>
                <a:cs typeface="Courier New"/>
              </a:rPr>
              <a:t xml:space="preserve">process</a:t>
            </a:r>
            <a:r>
              <a:rPr lang="en-US" sz="1050" b="0" i="0" dirty="0">
                <a:solidFill>
                  <a:schemeClr val="bg1"/>
                </a:solidFill>
                <a:latin typeface="Courier New"/>
                <a:cs typeface="Courier New"/>
              </a:rPr>
              <a:t xml:space="preserve">;</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p:nvPr>
            <p:ph type="title"/>
          </p:nvPr>
        </p:nvSpPr>
        <p:spPr>
          <a:xfrm>
            <a:off x="640080" y="256032"/>
            <a:ext cx="8321040" cy="86868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2600" b="1" i="0" dirty="0">
                <a:solidFill>
                  <a:schemeClr val="tx2"/>
                </a:solidFill>
              </a:rPr>
              <a:t xml:space="preserve">Simulation &amp; Verification</a:t>
            </a:r>
            <a:endParaRPr lang="en-US" sz="2600" dirty="0"/>
          </a:p>
        </p:txBody>
      </p:sp>
      <p:sp>
        <p:nvSpPr>
          <p:cNvPr id="3" name="Footer"/>
          <p:cNvSpPr txBox="1"/>
          <p:nvPr/>
        </p:nvSpPr>
        <p:spPr>
          <a:xfrm>
            <a:off x="640080" y="6455664"/>
            <a:ext cx="6949440" cy="256032"/>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000" b="0" i="0" dirty="0">
                <a:solidFill>
                  <a:srgbClr val="6B7C84"/>
                </a:solidFill>
              </a:rPr>
              <a:t xml:space="preserve">Sayantan Bharati  |  BWU/BTS/25/503  |  Section B  |  COA (BTS30101)</a:t>
            </a:r>
            <a:endParaRPr lang="en-US" sz="1000" dirty="0"/>
          </a:p>
        </p:txBody>
      </p:sp>
      <p:sp>
        <p:nvSpPr>
          <p:cNvPr id="4" name="Slide Number"/>
          <p:cNvSpPr txBox="1"/>
          <p:nvPr/>
        </p:nvSpPr>
        <p:spPr>
          <a:xfrm>
            <a:off x="8138160" y="6455664"/>
            <a:ext cx="822960" cy="256032"/>
          </a:xfrm>
          <a:prstGeom prst="rect">
            <a:avLst/>
          </a:prstGeom>
          <a:noFill/>
        </p:spPr>
        <p:txBody>
          <a:bodyPr wrap="square" lIns="0" tIns="0" rIns="0" bIns="0" anchor="ctr">
            <a:noAutofit/>
          </a:bodyPr>
          <a:lstStyle/>
          <a:p>
            <a:pPr algn="r"/>
            <a:fld id="{B6F15528-21DE-4FAA-801E-634DDDAF4B2B}" type="slidenum">
              <a:rPr lang="en-US" sz="1000" dirty="0">
                <a:solidFill>
                  <a:srgbClr val="6B7C84"/>
                </a:solidFill>
              </a:rPr>
              <a:t>12</a:t>
            </a:fld>
          </a:p>
        </p:txBody>
      </p:sp>
      <p:sp>
        <p:nvSpPr>
          <p:cNvPr id="5" name="Bullets"/>
          <p:cNvSpPr txBox="1"/>
          <p:nvPr/>
        </p:nvSpPr>
        <p:spPr>
          <a:xfrm>
            <a:off x="640080" y="1280160"/>
            <a:ext cx="4023360" cy="4937760"/>
          </a:xfrm>
          <a:prstGeom prst="rect">
            <a:avLst/>
          </a:prstGeom>
          <a:noFill/>
          <a:ln>
            <a:noFill/>
          </a:ln>
        </p:spPr>
        <p:txBody>
          <a:bodyPr wrap="square" lIns="0" tIns="0" rIns="0" bIns="0" rtlCol="0" anchor="t">
            <a:noAutofit/>
          </a:bodyPr>
          <a:lstStyle/>
          <a:p>
            <a:pPr marL="201168" indent="-201168" algn="l">
              <a:lnSpc>
                <a:spcPct val="100000"/>
              </a:lnSpc>
              <a:spcBef>
                <a:spcPts val="0"/>
              </a:spcBef>
              <a:spcAft>
                <a:spcPts val="800"/>
              </a:spcAft>
              <a:buClr>
                <a:schemeClr val="accent2"/>
              </a:buClr>
              <a:buFont typeface="Arial"/>
              <a:buChar char="•"/>
            </a:pPr>
            <a:r>
              <a:rPr lang="en-US" sz="1500" b="0" i="0" dirty="0">
                <a:solidFill>
                  <a:schemeClr val="tx2"/>
                </a:solidFill>
              </a:rPr>
              <a:t xml:space="preserve">A </a:t>
            </a:r>
            <a:r>
              <a:rPr lang="en-US" sz="1500" b="1" i="0" dirty="0">
                <a:solidFill>
                  <a:schemeClr val="tx2"/>
                </a:solidFill>
              </a:rPr>
              <a:t xml:space="preserve">testbench</a:t>
            </a:r>
            <a:r>
              <a:rPr lang="en-US" sz="1500" b="0" i="0" dirty="0">
                <a:solidFill>
                  <a:schemeClr val="tx2"/>
                </a:solidFill>
              </a:rPr>
              <a:t xml:space="preserve"> feeds known-amplitude sine waves and checks the dB output.</a:t>
            </a:r>
            <a:endParaRPr lang="en-US" sz="1500" dirty="0"/>
          </a:p>
          <a:p>
            <a:pPr marL="201168" indent="-201168" algn="l">
              <a:lnSpc>
                <a:spcPct val="100000"/>
              </a:lnSpc>
              <a:spcBef>
                <a:spcPts val="0"/>
              </a:spcBef>
              <a:spcAft>
                <a:spcPts val="800"/>
              </a:spcAft>
              <a:buClr>
                <a:schemeClr val="accent2"/>
              </a:buClr>
              <a:buFont typeface="Arial"/>
              <a:buChar char="•"/>
            </a:pPr>
            <a:r>
              <a:rPr lang="en-US" sz="1500" b="0" i="0" dirty="0">
                <a:solidFill>
                  <a:schemeClr val="tx2"/>
                </a:solidFill>
              </a:rPr>
              <a:t xml:space="preserve">Test cases: silence (near 0), 60 dB tone, 94 dB calibrator, rapid peak then fade.</a:t>
            </a:r>
            <a:endParaRPr lang="en-US" sz="1500" dirty="0"/>
          </a:p>
          <a:p>
            <a:pPr marL="201168" indent="-201168" algn="l">
              <a:lnSpc>
                <a:spcPct val="100000"/>
              </a:lnSpc>
              <a:spcBef>
                <a:spcPts val="0"/>
              </a:spcBef>
              <a:spcAft>
                <a:spcPts val="800"/>
              </a:spcAft>
              <a:buClr>
                <a:schemeClr val="accent2"/>
              </a:buClr>
              <a:buFont typeface="Arial"/>
              <a:buChar char="•"/>
            </a:pPr>
            <a:r>
              <a:rPr lang="en-US" sz="1500" b="0" i="0" dirty="0">
                <a:solidFill>
                  <a:schemeClr val="tx2"/>
                </a:solidFill>
              </a:rPr>
              <a:t xml:space="preserve">Compare computed dB against the </a:t>
            </a:r>
            <a:r>
              <a:rPr lang="en-US" sz="1500" b="1" i="0" dirty="0">
                <a:solidFill>
                  <a:schemeClr val="tx2"/>
                </a:solidFill>
                <a:latin typeface="Courier New"/>
                <a:cs typeface="Courier New"/>
              </a:rPr>
              <a:t xml:space="preserve">20·log₁₀</a:t>
            </a:r>
            <a:r>
              <a:rPr lang="en-US" sz="1500" b="0" i="0" dirty="0">
                <a:solidFill>
                  <a:schemeClr val="tx2"/>
                </a:solidFill>
              </a:rPr>
              <a:t xml:space="preserve"> reference value.</a:t>
            </a:r>
            <a:endParaRPr lang="en-US" sz="1500" dirty="0"/>
          </a:p>
          <a:p>
            <a:pPr marL="201168" indent="-201168" algn="l">
              <a:lnSpc>
                <a:spcPct val="100000"/>
              </a:lnSpc>
              <a:spcBef>
                <a:spcPts val="0"/>
              </a:spcBef>
              <a:spcAft>
                <a:spcPts val="800"/>
              </a:spcAft>
              <a:buClr>
                <a:schemeClr val="accent2"/>
              </a:buClr>
              <a:buFont typeface="Arial"/>
              <a:buChar char="•"/>
            </a:pPr>
            <a:r>
              <a:rPr lang="en-US" sz="1500" b="0" i="0" dirty="0">
                <a:solidFill>
                  <a:schemeClr val="tx2"/>
                </a:solidFill>
              </a:rPr>
              <a:t xml:space="preserve">Verify </a:t>
            </a:r>
            <a:r>
              <a:rPr lang="en-US" sz="1500" b="1" i="0" dirty="0">
                <a:solidFill>
                  <a:schemeClr val="tx2"/>
                </a:solidFill>
              </a:rPr>
              <a:t xml:space="preserve">peak-hold</a:t>
            </a:r>
            <a:r>
              <a:rPr lang="en-US" sz="1500" b="0" i="0" dirty="0">
                <a:solidFill>
                  <a:schemeClr val="tx2"/>
                </a:solidFill>
              </a:rPr>
              <a:t xml:space="preserve">: spike applied → held value stays after input drops.</a:t>
            </a:r>
            <a:endParaRPr lang="en-US" sz="1500" dirty="0"/>
          </a:p>
          <a:p>
            <a:pPr marL="201168" indent="-201168" algn="l">
              <a:lnSpc>
                <a:spcPct val="100000"/>
              </a:lnSpc>
              <a:spcBef>
                <a:spcPts val="0"/>
              </a:spcBef>
              <a:spcAft>
                <a:spcPts val="800"/>
              </a:spcAft>
              <a:buClr>
                <a:schemeClr val="accent2"/>
              </a:buClr>
              <a:buFont typeface="Arial"/>
              <a:buChar char="•"/>
            </a:pPr>
            <a:r>
              <a:rPr lang="en-US" sz="1500" b="0" i="0" dirty="0">
                <a:solidFill>
                  <a:schemeClr val="tx2"/>
                </a:solidFill>
              </a:rPr>
              <a:t xml:space="preserve">Typical accuracy: </a:t>
            </a:r>
            <a:r>
              <a:rPr lang="en-US" sz="1500" b="1" i="0" dirty="0">
                <a:solidFill>
                  <a:schemeClr val="tx2"/>
                </a:solidFill>
              </a:rPr>
              <a:t xml:space="preserve">±1–2 dB</a:t>
            </a:r>
            <a:r>
              <a:rPr lang="en-US" sz="1500" b="0" i="0" dirty="0">
                <a:solidFill>
                  <a:schemeClr val="tx2"/>
                </a:solidFill>
              </a:rPr>
              <a:t xml:space="preserve"> over the calibrated range.</a:t>
            </a:r>
            <a:endParaRPr lang="en-US" sz="1500" dirty="0"/>
          </a:p>
          <a:p>
            <a:pPr marL="201168" indent="-201168" algn="l">
              <a:lnSpc>
                <a:spcPct val="100000"/>
              </a:lnSpc>
              <a:spcBef>
                <a:spcPts val="0"/>
              </a:spcBef>
              <a:spcAft>
                <a:spcPts val="800"/>
              </a:spcAft>
              <a:buClr>
                <a:schemeClr val="accent2"/>
              </a:buClr>
              <a:buFont typeface="Arial"/>
              <a:buChar char="•"/>
            </a:pPr>
            <a:r>
              <a:rPr lang="en-US" sz="1500" b="0" i="0" dirty="0">
                <a:solidFill>
                  <a:schemeClr val="tx2"/>
                </a:solidFill>
              </a:rPr>
              <a:t xml:space="preserve">Waveforms confirm FSM timing, clock division and display multiplexing.</a:t>
            </a:r>
            <a:endParaRPr lang="en-US" sz="1500" dirty="0"/>
          </a:p>
        </p:txBody>
      </p:sp>
      <p:sp>
        <p:nvSpPr>
          <p:cNvPr id="6" name="VHDL testbench card" descr="Code card: tb_peak_hold.vhd"/>
          <p:cNvSpPr/>
          <p:nvPr/>
        </p:nvSpPr>
        <p:spPr>
          <a:xfrm>
            <a:off x="4892040" y="1280160"/>
            <a:ext cx="4069080" cy="2880360"/>
          </a:xfrm>
          <a:prstGeom prst="roundRect">
            <a:avLst>
              <a:gd name="adj" fmla="val 4000"/>
            </a:avLst>
          </a:prstGeom>
          <a:solidFill>
            <a:schemeClr val="tx2"/>
          </a:solidFill>
          <a:ln>
            <a:noFill/>
          </a:ln>
        </p:spPr>
      </p:sp>
      <p:sp>
        <p:nvSpPr>
          <p:cNvPr id="7" name="VHDL testbench dot 1"/>
          <p:cNvSpPr/>
          <p:nvPr/>
        </p:nvSpPr>
        <p:spPr>
          <a:xfrm>
            <a:off x="5038344" y="1408176"/>
            <a:ext cx="109728" cy="109728"/>
          </a:xfrm>
          <a:prstGeom prst="ellipse">
            <a:avLst/>
          </a:prstGeom>
          <a:solidFill>
            <a:schemeClr val="accent5"/>
          </a:solidFill>
          <a:ln>
            <a:noFill/>
          </a:ln>
        </p:spPr>
      </p:sp>
      <p:sp>
        <p:nvSpPr>
          <p:cNvPr id="8" name="VHDL testbench dot 2"/>
          <p:cNvSpPr/>
          <p:nvPr/>
        </p:nvSpPr>
        <p:spPr>
          <a:xfrm>
            <a:off x="5221224" y="1408176"/>
            <a:ext cx="109728" cy="109728"/>
          </a:xfrm>
          <a:prstGeom prst="ellipse">
            <a:avLst/>
          </a:prstGeom>
          <a:solidFill>
            <a:schemeClr val="accent3"/>
          </a:solidFill>
          <a:ln>
            <a:noFill/>
          </a:ln>
        </p:spPr>
      </p:sp>
      <p:sp>
        <p:nvSpPr>
          <p:cNvPr id="9" name="VHDL testbench dot 3"/>
          <p:cNvSpPr/>
          <p:nvPr/>
        </p:nvSpPr>
        <p:spPr>
          <a:xfrm>
            <a:off x="5404104" y="1408176"/>
            <a:ext cx="109728" cy="109728"/>
          </a:xfrm>
          <a:prstGeom prst="ellipse">
            <a:avLst/>
          </a:prstGeom>
          <a:solidFill>
            <a:schemeClr val="accent1"/>
          </a:solidFill>
          <a:ln>
            <a:noFill/>
          </a:ln>
        </p:spPr>
      </p:sp>
      <p:sp>
        <p:nvSpPr>
          <p:cNvPr id="10" name="VHDL testbench filename"/>
          <p:cNvSpPr txBox="1"/>
          <p:nvPr/>
        </p:nvSpPr>
        <p:spPr>
          <a:xfrm>
            <a:off x="5669280" y="1344168"/>
            <a:ext cx="3154680" cy="237744"/>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000" b="0" i="0" dirty="0">
                <a:solidFill>
                  <a:srgbClr val="9FB3BA"/>
                </a:solidFill>
                <a:latin typeface="Courier New"/>
                <a:cs typeface="Courier New"/>
              </a:rPr>
              <a:t xml:space="preserve">tb_peak_hold.vhd</a:t>
            </a:r>
            <a:endParaRPr lang="en-US" sz="1000" dirty="0"/>
          </a:p>
        </p:txBody>
      </p:sp>
      <p:sp>
        <p:nvSpPr>
          <p:cNvPr id="11" name="VHDL testbench code"/>
          <p:cNvSpPr txBox="1"/>
          <p:nvPr/>
        </p:nvSpPr>
        <p:spPr>
          <a:xfrm>
            <a:off x="5056632" y="1691640"/>
            <a:ext cx="3794760" cy="2377440"/>
          </a:xfrm>
          <a:prstGeom prst="rect">
            <a:avLst/>
          </a:prstGeom>
          <a:noFill/>
          <a:ln>
            <a:noFill/>
          </a:ln>
        </p:spPr>
        <p:txBody>
          <a:bodyPr wrap="square" lIns="0" tIns="0" rIns="0" bIns="0" rtlCol="0" anchor="t">
            <a:noAutofit/>
          </a:bodyPr>
          <a:lstStyle/>
          <a:p>
            <a:pPr marL="0" indent="0" algn="l">
              <a:lnSpc>
                <a:spcPct val="100000"/>
              </a:lnSpc>
              <a:spcBef>
                <a:spcPts val="0"/>
              </a:spcBef>
              <a:spcAft>
                <a:spcPts val="0"/>
              </a:spcAft>
              <a:buNone/>
            </a:pPr>
            <a:r>
              <a:rPr lang="en-US" sz="1050" b="0" i="0" dirty="0">
                <a:solidFill>
                  <a:srgbClr val="9FB3BA"/>
                </a:solidFill>
                <a:latin typeface="Courier New"/>
                <a:cs typeface="Courier New"/>
              </a:rPr>
              <a:t xml:space="preserve">-- Testbench stimulus</a:t>
            </a:r>
            <a:endParaRPr lang="en-US" sz="1050" dirty="0"/>
          </a:p>
          <a:p>
            <a:pPr marL="0" indent="0" algn="l">
              <a:lnSpc>
                <a:spcPct val="100000"/>
              </a:lnSpc>
              <a:spcBef>
                <a:spcPts val="0"/>
              </a:spcBef>
              <a:spcAft>
                <a:spcPts val="0"/>
              </a:spcAft>
              <a:buNone/>
            </a:pPr>
            <a:r>
              <a:rPr lang="en-US" sz="1050" b="0" i="0" dirty="0">
                <a:solidFill>
                  <a:schemeClr val="bg1"/>
                </a:solidFill>
                <a:latin typeface="Courier New"/>
                <a:cs typeface="Courier New"/>
              </a:rPr>
              <a:t xml:space="preserve">stim</a:t>
            </a:r>
            <a:r>
              <a:rPr lang="en-US" sz="1050" b="0" i="0" dirty="0">
                <a:solidFill>
                  <a:schemeClr val="bg1"/>
                </a:solidFill>
                <a:latin typeface="Courier New"/>
                <a:cs typeface="Courier New"/>
              </a:rPr>
              <a:t xml:space="preserve">:</a:t>
            </a:r>
            <a:r>
              <a:rPr lang="en-US" sz="1050" b="0" i="0" dirty="0">
                <a:solidFill>
                  <a:schemeClr val="bg1"/>
                </a:solidFill>
                <a:latin typeface="Courier New"/>
                <a:cs typeface="Courier New"/>
              </a:rPr>
              <a:t xml:space="preserve"> </a:t>
            </a:r>
            <a:r>
              <a:rPr lang="en-US" sz="1050" b="1" i="0" dirty="0">
                <a:solidFill>
                  <a:schemeClr val="accent1"/>
                </a:solidFill>
                <a:latin typeface="Courier New"/>
                <a:cs typeface="Courier New"/>
              </a:rPr>
              <a:t xml:space="preserve">process</a:t>
            </a:r>
            <a:endParaRPr lang="en-US" sz="1050" dirty="0"/>
          </a:p>
          <a:p>
            <a:pPr marL="0" indent="0" algn="l">
              <a:lnSpc>
                <a:spcPct val="100000"/>
              </a:lnSpc>
              <a:spcBef>
                <a:spcPts val="0"/>
              </a:spcBef>
              <a:spcAft>
                <a:spcPts val="0"/>
              </a:spcAft>
              <a:buNone/>
            </a:pPr>
            <a:r>
              <a:rPr lang="en-US" sz="1050" b="1" i="0" dirty="0">
                <a:solidFill>
                  <a:schemeClr val="accent1"/>
                </a:solidFill>
                <a:latin typeface="Courier New"/>
                <a:cs typeface="Courier New"/>
              </a:rPr>
              <a:t xml:space="preserve">begin</a:t>
            </a:r>
            <a:endParaRPr lang="en-US" sz="1050" dirty="0"/>
          </a:p>
          <a:p>
            <a:pPr marL="0" indent="0" algn="l">
              <a:lnSpc>
                <a:spcPct val="100000"/>
              </a:lnSpc>
              <a:spcBef>
                <a:spcPts val="0"/>
              </a:spcBef>
              <a:spcAft>
                <a:spcPts val="0"/>
              </a:spcAft>
              <a:buNone/>
            </a:pP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reset</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&lt;</a:t>
            </a:r>
            <a:r>
              <a:rPr lang="en-US" sz="1050" b="0" i="0" dirty="0">
                <a:solidFill>
                  <a:schemeClr val="bg1"/>
                </a:solidFill>
                <a:latin typeface="Courier New"/>
                <a:cs typeface="Courier New"/>
              </a:rPr>
              <a:t xml:space="preserve">=</a:t>
            </a:r>
            <a:r>
              <a:rPr lang="en-US" sz="1050" b="0" i="0" dirty="0">
                <a:solidFill>
                  <a:schemeClr val="bg1"/>
                </a:solidFill>
                <a:latin typeface="Courier New"/>
                <a:cs typeface="Courier New"/>
              </a:rPr>
              <a:t xml:space="preserve"> </a:t>
            </a:r>
            <a:r>
              <a:rPr lang="en-US" sz="1050" b="0" i="0" dirty="0">
                <a:solidFill>
                  <a:schemeClr val="accent3"/>
                </a:solidFill>
                <a:latin typeface="Courier New"/>
                <a:cs typeface="Courier New"/>
              </a:rPr>
              <a:t xml:space="preserve">'1'</a:t>
            </a:r>
            <a:r>
              <a:rPr lang="en-US" sz="1050" b="0" i="0" dirty="0">
                <a:solidFill>
                  <a:schemeClr val="bg1"/>
                </a:solidFill>
                <a:latin typeface="Courier New"/>
                <a:cs typeface="Courier New"/>
              </a:rPr>
              <a:t xml:space="preserve">;</a:t>
            </a:r>
            <a:r>
              <a:rPr lang="en-US" sz="1050" b="0" i="0" dirty="0">
                <a:solidFill>
                  <a:schemeClr val="bg1"/>
                </a:solidFill>
                <a:latin typeface="Courier New"/>
                <a:cs typeface="Courier New"/>
              </a:rPr>
              <a:t xml:space="preserve"> </a:t>
            </a:r>
            <a:r>
              <a:rPr lang="en-US" sz="1050" b="1" i="0" dirty="0">
                <a:solidFill>
                  <a:schemeClr val="accent1"/>
                </a:solidFill>
                <a:latin typeface="Courier New"/>
                <a:cs typeface="Courier New"/>
              </a:rPr>
              <a:t xml:space="preserve">wait</a:t>
            </a:r>
            <a:r>
              <a:rPr lang="en-US" sz="1050" b="0" i="0" dirty="0">
                <a:solidFill>
                  <a:schemeClr val="bg1"/>
                </a:solidFill>
                <a:latin typeface="Courier New"/>
                <a:cs typeface="Courier New"/>
              </a:rPr>
              <a:t xml:space="preserve"> </a:t>
            </a:r>
            <a:r>
              <a:rPr lang="en-US" sz="1050" b="1" i="0" dirty="0">
                <a:solidFill>
                  <a:schemeClr val="accent1"/>
                </a:solidFill>
                <a:latin typeface="Courier New"/>
                <a:cs typeface="Courier New"/>
              </a:rPr>
              <a:t xml:space="preserve">for</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100</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ns</a:t>
            </a:r>
            <a:r>
              <a:rPr lang="en-US" sz="1050" b="0" i="0" dirty="0">
                <a:solidFill>
                  <a:schemeClr val="bg1"/>
                </a:solidFill>
                <a:latin typeface="Courier New"/>
                <a:cs typeface="Courier New"/>
              </a:rPr>
              <a:t xml:space="preserve">;</a:t>
            </a:r>
            <a:endParaRPr lang="en-US" sz="1050" dirty="0"/>
          </a:p>
          <a:p>
            <a:pPr marL="0" indent="0" algn="l">
              <a:lnSpc>
                <a:spcPct val="100000"/>
              </a:lnSpc>
              <a:spcBef>
                <a:spcPts val="0"/>
              </a:spcBef>
              <a:spcAft>
                <a:spcPts val="0"/>
              </a:spcAft>
              <a:buNone/>
            </a:pP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reset</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&lt;</a:t>
            </a:r>
            <a:r>
              <a:rPr lang="en-US" sz="1050" b="0" i="0" dirty="0">
                <a:solidFill>
                  <a:schemeClr val="bg1"/>
                </a:solidFill>
                <a:latin typeface="Courier New"/>
                <a:cs typeface="Courier New"/>
              </a:rPr>
              <a:t xml:space="preserve">=</a:t>
            </a:r>
            <a:r>
              <a:rPr lang="en-US" sz="1050" b="0" i="0" dirty="0">
                <a:solidFill>
                  <a:schemeClr val="bg1"/>
                </a:solidFill>
                <a:latin typeface="Courier New"/>
                <a:cs typeface="Courier New"/>
              </a:rPr>
              <a:t xml:space="preserve"> </a:t>
            </a:r>
            <a:r>
              <a:rPr lang="en-US" sz="1050" b="0" i="0" dirty="0">
                <a:solidFill>
                  <a:schemeClr val="accent3"/>
                </a:solidFill>
                <a:latin typeface="Courier New"/>
                <a:cs typeface="Courier New"/>
              </a:rPr>
              <a:t xml:space="preserve">'0'</a:t>
            </a:r>
            <a:r>
              <a:rPr lang="en-US" sz="1050" b="0" i="0" dirty="0">
                <a:solidFill>
                  <a:schemeClr val="bg1"/>
                </a:solidFill>
                <a:latin typeface="Courier New"/>
                <a:cs typeface="Courier New"/>
              </a:rPr>
              <a:t xml:space="preserve">;</a:t>
            </a:r>
            <a:endParaRPr lang="en-US" sz="1050" dirty="0"/>
          </a:p>
          <a:p>
            <a:pPr marL="0" indent="0" algn="l">
              <a:lnSpc>
                <a:spcPct val="100000"/>
              </a:lnSpc>
              <a:spcBef>
                <a:spcPts val="0"/>
              </a:spcBef>
              <a:spcAft>
                <a:spcPts val="0"/>
              </a:spcAft>
              <a:buNone/>
            </a:pP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adc_in</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&lt;</a:t>
            </a:r>
            <a:r>
              <a:rPr lang="en-US" sz="1050" b="0" i="0" dirty="0">
                <a:solidFill>
                  <a:schemeClr val="bg1"/>
                </a:solidFill>
                <a:latin typeface="Courier New"/>
                <a:cs typeface="Courier New"/>
              </a:rPr>
              <a:t xml:space="preserve">=</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to_unsigned</a:t>
            </a:r>
            <a:r>
              <a:rPr lang="en-US" sz="1050" b="0" i="0" dirty="0">
                <a:solidFill>
                  <a:schemeClr val="bg1"/>
                </a:solidFill>
                <a:latin typeface="Courier New"/>
                <a:cs typeface="Courier New"/>
              </a:rPr>
              <a:t xml:space="preserve">(</a:t>
            </a:r>
            <a:r>
              <a:rPr lang="en-US" sz="1050" b="0" i="0" dirty="0">
                <a:solidFill>
                  <a:schemeClr val="bg1"/>
                </a:solidFill>
                <a:latin typeface="Courier New"/>
                <a:cs typeface="Courier New"/>
              </a:rPr>
              <a:t xml:space="preserve">1023</a:t>
            </a:r>
            <a:r>
              <a:rPr lang="en-US" sz="1050" b="0" i="0" dirty="0">
                <a:solidFill>
                  <a:schemeClr val="bg1"/>
                </a:solidFill>
                <a:latin typeface="Courier New"/>
                <a:cs typeface="Courier New"/>
              </a:rPr>
              <a:t xml:space="preserve">,</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10</a:t>
            </a:r>
            <a:r>
              <a:rPr lang="en-US" sz="1050" b="0" i="0" dirty="0">
                <a:solidFill>
                  <a:schemeClr val="bg1"/>
                </a:solidFill>
                <a:latin typeface="Courier New"/>
                <a:cs typeface="Courier New"/>
              </a:rPr>
              <a:t xml:space="preserve">)</a:t>
            </a:r>
            <a:r>
              <a:rPr lang="en-US" sz="1050" b="0" i="0" dirty="0">
                <a:solidFill>
                  <a:schemeClr val="bg1"/>
                </a:solidFill>
                <a:latin typeface="Courier New"/>
                <a:cs typeface="Courier New"/>
              </a:rPr>
              <a:t xml:space="preserve">;</a:t>
            </a:r>
            <a:endParaRPr lang="en-US" sz="1050" dirty="0"/>
          </a:p>
          <a:p>
            <a:pPr marL="0" indent="0" algn="l">
              <a:lnSpc>
                <a:spcPct val="100000"/>
              </a:lnSpc>
              <a:spcBef>
                <a:spcPts val="0"/>
              </a:spcBef>
              <a:spcAft>
                <a:spcPts val="0"/>
              </a:spcAft>
              <a:buNone/>
            </a:pPr>
            <a:r>
              <a:rPr lang="en-US" sz="1050" b="0" i="0" dirty="0">
                <a:solidFill>
                  <a:schemeClr val="bg1"/>
                </a:solidFill>
                <a:latin typeface="Courier New"/>
                <a:cs typeface="Courier New"/>
              </a:rPr>
              <a:t xml:space="preserve">  </a:t>
            </a:r>
            <a:r>
              <a:rPr lang="en-US" sz="1050" b="1" i="0" dirty="0">
                <a:solidFill>
                  <a:schemeClr val="accent1"/>
                </a:solidFill>
                <a:latin typeface="Courier New"/>
                <a:cs typeface="Courier New"/>
              </a:rPr>
              <a:t xml:space="preserve">wait</a:t>
            </a:r>
            <a:r>
              <a:rPr lang="en-US" sz="1050" b="0" i="0" dirty="0">
                <a:solidFill>
                  <a:schemeClr val="bg1"/>
                </a:solidFill>
                <a:latin typeface="Courier New"/>
                <a:cs typeface="Courier New"/>
              </a:rPr>
              <a:t xml:space="preserve"> </a:t>
            </a:r>
            <a:r>
              <a:rPr lang="en-US" sz="1050" b="1" i="0" dirty="0">
                <a:solidFill>
                  <a:schemeClr val="accent1"/>
                </a:solidFill>
                <a:latin typeface="Courier New"/>
                <a:cs typeface="Courier New"/>
              </a:rPr>
              <a:t xml:space="preserve">for</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50</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us</a:t>
            </a:r>
            <a:r>
              <a:rPr lang="en-US" sz="1050" b="0" i="0" dirty="0">
                <a:solidFill>
                  <a:schemeClr val="bg1"/>
                </a:solidFill>
                <a:latin typeface="Courier New"/>
                <a:cs typeface="Courier New"/>
              </a:rPr>
              <a:t xml:space="preserve">;</a:t>
            </a:r>
            <a:r>
              <a:rPr lang="en-US" sz="1050" b="0" i="0" dirty="0">
                <a:solidFill>
                  <a:schemeClr val="bg1"/>
                </a:solidFill>
                <a:latin typeface="Courier New"/>
                <a:cs typeface="Courier New"/>
              </a:rPr>
              <a:t xml:space="preserve">      </a:t>
            </a:r>
            <a:r>
              <a:rPr lang="en-US" sz="1050" b="0" i="0" dirty="0">
                <a:solidFill>
                  <a:srgbClr val="9FB3BA"/>
                </a:solidFill>
                <a:latin typeface="Courier New"/>
                <a:cs typeface="Courier New"/>
              </a:rPr>
              <a:t xml:space="preserve">-- loud spike</a:t>
            </a:r>
            <a:endParaRPr lang="en-US" sz="1050" dirty="0"/>
          </a:p>
          <a:p>
            <a:pPr marL="0" indent="0" algn="l">
              <a:lnSpc>
                <a:spcPct val="100000"/>
              </a:lnSpc>
              <a:spcBef>
                <a:spcPts val="0"/>
              </a:spcBef>
              <a:spcAft>
                <a:spcPts val="0"/>
              </a:spcAft>
              <a:buNone/>
            </a:pP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adc_in</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&lt;</a:t>
            </a:r>
            <a:r>
              <a:rPr lang="en-US" sz="1050" b="0" i="0" dirty="0">
                <a:solidFill>
                  <a:schemeClr val="bg1"/>
                </a:solidFill>
                <a:latin typeface="Courier New"/>
                <a:cs typeface="Courier New"/>
              </a:rPr>
              <a:t xml:space="preserve">=</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to_unsigned</a:t>
            </a:r>
            <a:r>
              <a:rPr lang="en-US" sz="1050" b="0" i="0" dirty="0">
                <a:solidFill>
                  <a:schemeClr val="bg1"/>
                </a:solidFill>
                <a:latin typeface="Courier New"/>
                <a:cs typeface="Courier New"/>
              </a:rPr>
              <a:t xml:space="preserve">(</a:t>
            </a:r>
            <a:r>
              <a:rPr lang="en-US" sz="1050" b="0" i="0" dirty="0">
                <a:solidFill>
                  <a:schemeClr val="bg1"/>
                </a:solidFill>
                <a:latin typeface="Courier New"/>
                <a:cs typeface="Courier New"/>
              </a:rPr>
              <a:t xml:space="preserve">8</a:t>
            </a:r>
            <a:r>
              <a:rPr lang="en-US" sz="1050" b="0" i="0" dirty="0">
                <a:solidFill>
                  <a:schemeClr val="bg1"/>
                </a:solidFill>
                <a:latin typeface="Courier New"/>
                <a:cs typeface="Courier New"/>
              </a:rPr>
              <a:t xml:space="preserve">,</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10</a:t>
            </a:r>
            <a:r>
              <a:rPr lang="en-US" sz="1050" b="0" i="0" dirty="0">
                <a:solidFill>
                  <a:schemeClr val="bg1"/>
                </a:solidFill>
                <a:latin typeface="Courier New"/>
                <a:cs typeface="Courier New"/>
              </a:rPr>
              <a:t xml:space="preserve">)</a:t>
            </a:r>
            <a:r>
              <a:rPr lang="en-US" sz="1050" b="0" i="0" dirty="0">
                <a:solidFill>
                  <a:schemeClr val="bg1"/>
                </a:solidFill>
                <a:latin typeface="Courier New"/>
                <a:cs typeface="Courier New"/>
              </a:rPr>
              <a:t xml:space="preserve">;</a:t>
            </a:r>
            <a:endParaRPr lang="en-US" sz="1050" dirty="0"/>
          </a:p>
          <a:p>
            <a:pPr marL="0" indent="0" algn="l">
              <a:lnSpc>
                <a:spcPct val="100000"/>
              </a:lnSpc>
              <a:spcBef>
                <a:spcPts val="0"/>
              </a:spcBef>
              <a:spcAft>
                <a:spcPts val="0"/>
              </a:spcAft>
              <a:buNone/>
            </a:pPr>
            <a:r>
              <a:rPr lang="en-US" sz="1050" b="0" i="0" dirty="0">
                <a:solidFill>
                  <a:schemeClr val="bg1"/>
                </a:solidFill>
                <a:latin typeface="Courier New"/>
                <a:cs typeface="Courier New"/>
              </a:rPr>
              <a:t xml:space="preserve">  </a:t>
            </a:r>
            <a:r>
              <a:rPr lang="en-US" sz="1050" b="1" i="0" dirty="0">
                <a:solidFill>
                  <a:schemeClr val="accent1"/>
                </a:solidFill>
                <a:latin typeface="Courier New"/>
                <a:cs typeface="Courier New"/>
              </a:rPr>
              <a:t xml:space="preserve">wait</a:t>
            </a:r>
            <a:r>
              <a:rPr lang="en-US" sz="1050" b="0" i="0" dirty="0">
                <a:solidFill>
                  <a:schemeClr val="bg1"/>
                </a:solidFill>
                <a:latin typeface="Courier New"/>
                <a:cs typeface="Courier New"/>
              </a:rPr>
              <a:t xml:space="preserve"> </a:t>
            </a:r>
            <a:r>
              <a:rPr lang="en-US" sz="1050" b="1" i="0" dirty="0">
                <a:solidFill>
                  <a:schemeClr val="accent1"/>
                </a:solidFill>
                <a:latin typeface="Courier New"/>
                <a:cs typeface="Courier New"/>
              </a:rPr>
              <a:t xml:space="preserve">for</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1</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ms</a:t>
            </a:r>
            <a:r>
              <a:rPr lang="en-US" sz="1050" b="0" i="0" dirty="0">
                <a:solidFill>
                  <a:schemeClr val="bg1"/>
                </a:solidFill>
                <a:latin typeface="Courier New"/>
                <a:cs typeface="Courier New"/>
              </a:rPr>
              <a:t xml:space="preserve">;</a:t>
            </a:r>
            <a:r>
              <a:rPr lang="en-US" sz="1050" b="0" i="0" dirty="0">
                <a:solidFill>
                  <a:schemeClr val="bg1"/>
                </a:solidFill>
                <a:latin typeface="Courier New"/>
                <a:cs typeface="Courier New"/>
              </a:rPr>
              <a:t xml:space="preserve">       </a:t>
            </a:r>
            <a:r>
              <a:rPr lang="en-US" sz="1050" b="0" i="0" dirty="0">
                <a:solidFill>
                  <a:srgbClr val="9FB3BA"/>
                </a:solidFill>
                <a:latin typeface="Courier New"/>
                <a:cs typeface="Courier New"/>
              </a:rPr>
              <a:t xml:space="preserve">-- quiet again</a:t>
            </a:r>
            <a:endParaRPr lang="en-US" sz="1050" dirty="0"/>
          </a:p>
          <a:p>
            <a:pPr marL="0" indent="0" algn="l">
              <a:lnSpc>
                <a:spcPct val="100000"/>
              </a:lnSpc>
              <a:spcBef>
                <a:spcPts val="0"/>
              </a:spcBef>
              <a:spcAft>
                <a:spcPts val="0"/>
              </a:spcAft>
              <a:buNone/>
            </a:pPr>
            <a:r>
              <a:rPr lang="en-US" sz="1050" b="0" i="0" dirty="0">
                <a:solidFill>
                  <a:schemeClr val="bg1"/>
                </a:solidFill>
                <a:latin typeface="Courier New"/>
                <a:cs typeface="Courier New"/>
              </a:rPr>
              <a:t xml:space="preserve">  </a:t>
            </a:r>
            <a:r>
              <a:rPr lang="en-US" sz="1050" b="1" i="0" dirty="0">
                <a:solidFill>
                  <a:schemeClr val="accent1"/>
                </a:solidFill>
                <a:latin typeface="Courier New"/>
                <a:cs typeface="Courier New"/>
              </a:rPr>
              <a:t xml:space="preserve">assert</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held_db</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to_unsigned</a:t>
            </a:r>
            <a:r>
              <a:rPr lang="en-US" sz="1050" b="0" i="0" dirty="0">
                <a:solidFill>
                  <a:schemeClr val="bg1"/>
                </a:solidFill>
                <a:latin typeface="Courier New"/>
                <a:cs typeface="Courier New"/>
              </a:rPr>
              <a:t xml:space="preserve">(</a:t>
            </a:r>
            <a:r>
              <a:rPr lang="en-US" sz="1050" b="0" i="0" dirty="0">
                <a:solidFill>
                  <a:schemeClr val="bg1"/>
                </a:solidFill>
                <a:latin typeface="Courier New"/>
                <a:cs typeface="Courier New"/>
              </a:rPr>
              <a:t xml:space="preserve">112</a:t>
            </a:r>
            <a:r>
              <a:rPr lang="en-US" sz="1050" b="0" i="0" dirty="0">
                <a:solidFill>
                  <a:schemeClr val="bg1"/>
                </a:solidFill>
                <a:latin typeface="Courier New"/>
                <a:cs typeface="Courier New"/>
              </a:rPr>
              <a:t xml:space="preserve">,</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8</a:t>
            </a:r>
            <a:r>
              <a:rPr lang="en-US" sz="1050" b="0" i="0" dirty="0">
                <a:solidFill>
                  <a:schemeClr val="bg1"/>
                </a:solidFill>
                <a:latin typeface="Courier New"/>
                <a:cs typeface="Courier New"/>
              </a:rPr>
              <a:t xml:space="preserve">)</a:t>
            </a:r>
            <a:endParaRPr lang="en-US" sz="1050" dirty="0"/>
          </a:p>
          <a:p>
            <a:pPr marL="0" indent="0" algn="l">
              <a:lnSpc>
                <a:spcPct val="100000"/>
              </a:lnSpc>
              <a:spcBef>
                <a:spcPts val="0"/>
              </a:spcBef>
              <a:spcAft>
                <a:spcPts val="0"/>
              </a:spcAft>
              <a:buNone/>
            </a:pPr>
            <a:r>
              <a:rPr lang="en-US" sz="1050" b="0" i="0" dirty="0">
                <a:solidFill>
                  <a:schemeClr val="bg1"/>
                </a:solidFill>
                <a:latin typeface="Courier New"/>
                <a:cs typeface="Courier New"/>
              </a:rPr>
              <a:t xml:space="preserve">    </a:t>
            </a:r>
            <a:r>
              <a:rPr lang="en-US" sz="1050" b="1" i="0" dirty="0">
                <a:solidFill>
                  <a:schemeClr val="accent1"/>
                </a:solidFill>
                <a:latin typeface="Courier New"/>
                <a:cs typeface="Courier New"/>
              </a:rPr>
              <a:t xml:space="preserve">report</a:t>
            </a:r>
            <a:r>
              <a:rPr lang="en-US" sz="1050" b="0" i="0" dirty="0">
                <a:solidFill>
                  <a:schemeClr val="bg1"/>
                </a:solidFill>
                <a:latin typeface="Courier New"/>
                <a:cs typeface="Courier New"/>
              </a:rPr>
              <a:t xml:space="preserve"> </a:t>
            </a:r>
            <a:r>
              <a:rPr lang="en-US" sz="1050" b="0" i="0" dirty="0">
                <a:solidFill>
                  <a:schemeClr val="accent3"/>
                </a:solidFill>
                <a:latin typeface="Courier New"/>
                <a:cs typeface="Courier New"/>
              </a:rPr>
              <a:t xml:space="preserve">"peak lost"</a:t>
            </a:r>
            <a:r>
              <a:rPr lang="en-US" sz="1050" b="0" i="0" dirty="0">
                <a:solidFill>
                  <a:schemeClr val="bg1"/>
                </a:solidFill>
                <a:latin typeface="Courier New"/>
                <a:cs typeface="Courier New"/>
              </a:rPr>
              <a:t xml:space="preserve"> </a:t>
            </a:r>
            <a:r>
              <a:rPr lang="en-US" sz="1050" b="1" i="0" dirty="0">
                <a:solidFill>
                  <a:schemeClr val="accent1"/>
                </a:solidFill>
                <a:latin typeface="Courier New"/>
                <a:cs typeface="Courier New"/>
              </a:rPr>
              <a:t xml:space="preserve">severity</a:t>
            </a:r>
            <a:r>
              <a:rPr lang="en-US" sz="1050" b="0" i="0" dirty="0">
                <a:solidFill>
                  <a:schemeClr val="bg1"/>
                </a:solidFill>
                <a:latin typeface="Courier New"/>
                <a:cs typeface="Courier New"/>
              </a:rPr>
              <a:t xml:space="preserve"> </a:t>
            </a:r>
            <a:r>
              <a:rPr lang="en-US" sz="1050" b="0" i="0" dirty="0">
                <a:solidFill>
                  <a:schemeClr val="bg1"/>
                </a:solidFill>
                <a:latin typeface="Courier New"/>
                <a:cs typeface="Courier New"/>
              </a:rPr>
              <a:t xml:space="preserve">error</a:t>
            </a:r>
            <a:r>
              <a:rPr lang="en-US" sz="1050" b="0" i="0" dirty="0">
                <a:solidFill>
                  <a:schemeClr val="bg1"/>
                </a:solidFill>
                <a:latin typeface="Courier New"/>
                <a:cs typeface="Courier New"/>
              </a:rPr>
              <a:t xml:space="preserve">;</a:t>
            </a:r>
            <a:endParaRPr lang="en-US" sz="1050" dirty="0"/>
          </a:p>
          <a:p>
            <a:pPr marL="0" indent="0" algn="l">
              <a:lnSpc>
                <a:spcPct val="100000"/>
              </a:lnSpc>
              <a:spcBef>
                <a:spcPts val="0"/>
              </a:spcBef>
              <a:spcAft>
                <a:spcPts val="0"/>
              </a:spcAft>
              <a:buNone/>
            </a:pPr>
            <a:r>
              <a:rPr lang="en-US" sz="1050" b="0" i="0" dirty="0">
                <a:solidFill>
                  <a:schemeClr val="bg1"/>
                </a:solidFill>
                <a:latin typeface="Courier New"/>
                <a:cs typeface="Courier New"/>
              </a:rPr>
              <a:t xml:space="preserve">  </a:t>
            </a:r>
            <a:r>
              <a:rPr lang="en-US" sz="1050" b="1" i="0" dirty="0">
                <a:solidFill>
                  <a:schemeClr val="accent1"/>
                </a:solidFill>
                <a:latin typeface="Courier New"/>
                <a:cs typeface="Courier New"/>
              </a:rPr>
              <a:t xml:space="preserve">wait</a:t>
            </a:r>
            <a:r>
              <a:rPr lang="en-US" sz="1050" b="0" i="0" dirty="0">
                <a:solidFill>
                  <a:schemeClr val="bg1"/>
                </a:solidFill>
                <a:latin typeface="Courier New"/>
                <a:cs typeface="Courier New"/>
              </a:rPr>
              <a:t xml:space="preserve">;</a:t>
            </a:r>
            <a:endParaRPr lang="en-US" sz="1050" dirty="0"/>
          </a:p>
          <a:p>
            <a:pPr marL="0" indent="0" algn="l">
              <a:lnSpc>
                <a:spcPct val="100000"/>
              </a:lnSpc>
              <a:spcBef>
                <a:spcPts val="0"/>
              </a:spcBef>
              <a:spcAft>
                <a:spcPts val="0"/>
              </a:spcAft>
              <a:buNone/>
            </a:pPr>
            <a:r>
              <a:rPr lang="en-US" sz="1050" b="1" i="0" dirty="0">
                <a:solidFill>
                  <a:schemeClr val="accent1"/>
                </a:solidFill>
                <a:latin typeface="Courier New"/>
                <a:cs typeface="Courier New"/>
              </a:rPr>
              <a:t xml:space="preserve">end</a:t>
            </a:r>
            <a:r>
              <a:rPr lang="en-US" sz="1050" b="0" i="0" dirty="0">
                <a:solidFill>
                  <a:schemeClr val="bg1"/>
                </a:solidFill>
                <a:latin typeface="Courier New"/>
                <a:cs typeface="Courier New"/>
              </a:rPr>
              <a:t xml:space="preserve"> </a:t>
            </a:r>
            <a:r>
              <a:rPr lang="en-US" sz="1050" b="1" i="0" dirty="0">
                <a:solidFill>
                  <a:schemeClr val="accent1"/>
                </a:solidFill>
                <a:latin typeface="Courier New"/>
                <a:cs typeface="Courier New"/>
              </a:rPr>
              <a:t xml:space="preserve">process</a:t>
            </a:r>
            <a:r>
              <a:rPr lang="en-US" sz="1050" b="0" i="0" dirty="0">
                <a:solidFill>
                  <a:schemeClr val="bg1"/>
                </a:solidFill>
                <a:latin typeface="Courier New"/>
                <a:cs typeface="Courier New"/>
              </a:rPr>
              <a:t xml:space="preserve">;</a:t>
            </a:r>
            <a:endParaRPr lang="en-US" sz="1050" dirty="0"/>
          </a:p>
        </p:txBody>
      </p:sp>
      <p:graphicFrame>
        <p:nvGraphicFramePr>
          <p:cNvPr id="12" name="Results table" descr="Simulation results: expected versus measured dB"/>
          <p:cNvGraphicFramePr>
            <a:graphicFrameLocks noGrp="1"/>
          </p:cNvGraphicFramePr>
          <p:nvPr/>
        </p:nvGraphicFramePr>
        <p:xfrm>
          <a:off x="4892040" y="4389120"/>
          <a:ext cx="4069080" cy="1645920"/>
        </p:xfrm>
        <a:graphic>
          <a:graphicData uri="http://schemas.openxmlformats.org/drawingml/2006/table">
            <a:tbl>
              <a:tblPr firstRow="1"/>
              <a:tblGrid>
                <a:gridCol w="1417320"/>
                <a:gridCol w="914400"/>
                <a:gridCol w="960120"/>
                <a:gridCol w="777240"/>
              </a:tblGrid>
              <a:tr h="411480">
                <a:tc>
                  <a:txBody>
                    <a:bodyPr/>
                    <a:lstStyle/>
                    <a:p>
                      <a:pPr marL="0" indent="0" algn="l">
                        <a:lnSpc>
                          <a:spcPct val="100000"/>
                        </a:lnSpc>
                        <a:spcBef>
                          <a:spcPts val="0"/>
                        </a:spcBef>
                        <a:spcAft>
                          <a:spcPts val="0"/>
                        </a:spcAft>
                        <a:buNone/>
                      </a:pPr>
                      <a:r>
                        <a:rPr lang="en-US" sz="1100" b="1" i="0" dirty="0">
                          <a:solidFill>
                            <a:schemeClr val="bg1"/>
                          </a:solidFill>
                        </a:rPr>
                        <a:t xml:space="preserve">Input</a:t>
                      </a:r>
                      <a:endParaRPr lang="en-US" sz="1100" dirty="0"/>
                    </a:p>
                  </a:txBody>
                  <a:tcPr marL="73152" marR="73152" marT="36576" marB="36576" anchor="ctr">
                    <a:lnL w="0">
                      <a:noFill/>
                    </a:lnL>
                    <a:lnR w="0">
                      <a:noFill/>
                    </a:lnR>
                    <a:lnT w="0">
                      <a:noFill/>
                    </a:lnT>
                    <a:lnB w="9525">
                      <a:solidFill>
                        <a:schemeClr val="accent2">
                          <a:alpha val="40000"/>
                        </a:schemeClr>
                      </a:solidFill>
                    </a:lnB>
                    <a:solidFill>
                      <a:schemeClr val="accent2"/>
                    </a:solidFill>
                  </a:tcPr>
                </a:tc>
                <a:tc>
                  <a:txBody>
                    <a:bodyPr/>
                    <a:lstStyle/>
                    <a:p>
                      <a:pPr marL="0" indent="0" algn="ctr">
                        <a:lnSpc>
                          <a:spcPct val="100000"/>
                        </a:lnSpc>
                        <a:spcBef>
                          <a:spcPts val="0"/>
                        </a:spcBef>
                        <a:spcAft>
                          <a:spcPts val="0"/>
                        </a:spcAft>
                        <a:buNone/>
                      </a:pPr>
                      <a:r>
                        <a:rPr lang="en-US" sz="1100" b="1" i="0" dirty="0">
                          <a:solidFill>
                            <a:schemeClr val="bg1"/>
                          </a:solidFill>
                        </a:rPr>
                        <a:t xml:space="preserve">Expected</a:t>
                      </a:r>
                      <a:endParaRPr lang="en-US" sz="1100" dirty="0"/>
                    </a:p>
                  </a:txBody>
                  <a:tcPr marL="73152" marR="73152" marT="36576" marB="36576" anchor="ctr">
                    <a:lnL w="0">
                      <a:noFill/>
                    </a:lnL>
                    <a:lnR w="0">
                      <a:noFill/>
                    </a:lnR>
                    <a:lnT w="0">
                      <a:noFill/>
                    </a:lnT>
                    <a:lnB w="9525">
                      <a:solidFill>
                        <a:schemeClr val="accent2">
                          <a:alpha val="40000"/>
                        </a:schemeClr>
                      </a:solidFill>
                    </a:lnB>
                    <a:solidFill>
                      <a:schemeClr val="accent2"/>
                    </a:solidFill>
                  </a:tcPr>
                </a:tc>
                <a:tc>
                  <a:txBody>
                    <a:bodyPr/>
                    <a:lstStyle/>
                    <a:p>
                      <a:pPr marL="0" indent="0" algn="ctr">
                        <a:lnSpc>
                          <a:spcPct val="100000"/>
                        </a:lnSpc>
                        <a:spcBef>
                          <a:spcPts val="0"/>
                        </a:spcBef>
                        <a:spcAft>
                          <a:spcPts val="0"/>
                        </a:spcAft>
                        <a:buNone/>
                      </a:pPr>
                      <a:r>
                        <a:rPr lang="en-US" sz="1100" b="1" i="0" dirty="0">
                          <a:solidFill>
                            <a:schemeClr val="bg1"/>
                          </a:solidFill>
                        </a:rPr>
                        <a:t xml:space="preserve">Measured</a:t>
                      </a:r>
                      <a:endParaRPr lang="en-US" sz="1100" dirty="0"/>
                    </a:p>
                  </a:txBody>
                  <a:tcPr marL="73152" marR="73152" marT="36576" marB="36576" anchor="ctr">
                    <a:lnL w="0">
                      <a:noFill/>
                    </a:lnL>
                    <a:lnR w="0">
                      <a:noFill/>
                    </a:lnR>
                    <a:lnT w="0">
                      <a:noFill/>
                    </a:lnT>
                    <a:lnB w="9525">
                      <a:solidFill>
                        <a:schemeClr val="accent2">
                          <a:alpha val="40000"/>
                        </a:schemeClr>
                      </a:solidFill>
                    </a:lnB>
                    <a:solidFill>
                      <a:schemeClr val="accent2"/>
                    </a:solidFill>
                  </a:tcPr>
                </a:tc>
                <a:tc>
                  <a:txBody>
                    <a:bodyPr/>
                    <a:lstStyle/>
                    <a:p>
                      <a:pPr marL="0" indent="0" algn="ctr">
                        <a:lnSpc>
                          <a:spcPct val="100000"/>
                        </a:lnSpc>
                        <a:spcBef>
                          <a:spcPts val="0"/>
                        </a:spcBef>
                        <a:spcAft>
                          <a:spcPts val="0"/>
                        </a:spcAft>
                        <a:buNone/>
                      </a:pPr>
                      <a:r>
                        <a:rPr lang="en-US" sz="1100" b="1" i="0" dirty="0">
                          <a:solidFill>
                            <a:schemeClr val="bg1"/>
                          </a:solidFill>
                        </a:rPr>
                        <a:t xml:space="preserve">Error</a:t>
                      </a:r>
                      <a:endParaRPr lang="en-US" sz="1100" dirty="0"/>
                    </a:p>
                  </a:txBody>
                  <a:tcPr marL="73152" marR="73152" marT="36576" marB="36576" anchor="ctr">
                    <a:lnL w="0">
                      <a:noFill/>
                    </a:lnL>
                    <a:lnR w="0">
                      <a:noFill/>
                    </a:lnR>
                    <a:lnT w="0">
                      <a:noFill/>
                    </a:lnT>
                    <a:lnB w="9525">
                      <a:solidFill>
                        <a:schemeClr val="accent2">
                          <a:alpha val="40000"/>
                        </a:schemeClr>
                      </a:solidFill>
                    </a:lnB>
                    <a:solidFill>
                      <a:schemeClr val="accent2"/>
                    </a:solidFill>
                  </a:tcPr>
                </a:tc>
              </a:tr>
              <a:tr h="411480">
                <a:tc>
                  <a:txBody>
                    <a:bodyPr/>
                    <a:lstStyle/>
                    <a:p>
                      <a:pPr marL="0" indent="0" algn="l">
                        <a:lnSpc>
                          <a:spcPct val="100000"/>
                        </a:lnSpc>
                        <a:spcBef>
                          <a:spcPts val="0"/>
                        </a:spcBef>
                        <a:spcAft>
                          <a:spcPts val="0"/>
                        </a:spcAft>
                        <a:buNone/>
                      </a:pPr>
                      <a:r>
                        <a:rPr lang="en-US" sz="1100" b="0" i="0" dirty="0">
                          <a:solidFill>
                            <a:schemeClr val="tx2"/>
                          </a:solidFill>
                        </a:rPr>
                        <a:t xml:space="preserve">silence</a:t>
                      </a:r>
                      <a:endParaRPr lang="en-US" sz="1100" dirty="0"/>
                    </a:p>
                  </a:txBody>
                  <a:tcPr marL="73152" marR="73152" marT="36576" marB="36576" anchor="ctr">
                    <a:lnL w="0">
                      <a:noFill/>
                    </a:lnL>
                    <a:lnR w="0">
                      <a:noFill/>
                    </a:lnR>
                    <a:lnT w="0">
                      <a:noFill/>
                    </a:lnT>
                    <a:lnB w="9525">
                      <a:solidFill>
                        <a:schemeClr val="accent2">
                          <a:alpha val="40000"/>
                        </a:schemeClr>
                      </a:solidFill>
                    </a:lnB>
                    <a:solidFill>
                      <a:schemeClr val="bg1"/>
                    </a:solidFill>
                  </a:tcPr>
                </a:tc>
                <a:tc>
                  <a:txBody>
                    <a:bodyPr/>
                    <a:lstStyle/>
                    <a:p>
                      <a:pPr marL="0" indent="0" algn="ctr">
                        <a:lnSpc>
                          <a:spcPct val="100000"/>
                        </a:lnSpc>
                        <a:spcBef>
                          <a:spcPts val="0"/>
                        </a:spcBef>
                        <a:spcAft>
                          <a:spcPts val="0"/>
                        </a:spcAft>
                        <a:buNone/>
                      </a:pPr>
                      <a:r>
                        <a:rPr lang="en-US" sz="1100" b="0" i="0" dirty="0">
                          <a:solidFill>
                            <a:schemeClr val="tx2"/>
                          </a:solidFill>
                        </a:rPr>
                        <a:t xml:space="preserve">~0 dB</a:t>
                      </a:r>
                      <a:endParaRPr lang="en-US" sz="1100" dirty="0"/>
                    </a:p>
                  </a:txBody>
                  <a:tcPr marL="73152" marR="73152" marT="36576" marB="36576" anchor="ctr">
                    <a:lnL w="0">
                      <a:noFill/>
                    </a:lnL>
                    <a:lnR w="0">
                      <a:noFill/>
                    </a:lnR>
                    <a:lnT w="0">
                      <a:noFill/>
                    </a:lnT>
                    <a:lnB w="9525">
                      <a:solidFill>
                        <a:schemeClr val="accent2">
                          <a:alpha val="40000"/>
                        </a:schemeClr>
                      </a:solidFill>
                    </a:lnB>
                    <a:solidFill>
                      <a:schemeClr val="bg1"/>
                    </a:solidFill>
                  </a:tcPr>
                </a:tc>
                <a:tc>
                  <a:txBody>
                    <a:bodyPr/>
                    <a:lstStyle/>
                    <a:p>
                      <a:pPr marL="0" indent="0" algn="ctr">
                        <a:lnSpc>
                          <a:spcPct val="100000"/>
                        </a:lnSpc>
                        <a:spcBef>
                          <a:spcPts val="0"/>
                        </a:spcBef>
                        <a:spcAft>
                          <a:spcPts val="0"/>
                        </a:spcAft>
                        <a:buNone/>
                      </a:pPr>
                      <a:r>
                        <a:rPr lang="en-US" sz="1100" b="0" i="0" dirty="0">
                          <a:solidFill>
                            <a:schemeClr val="tx2"/>
                          </a:solidFill>
                        </a:rPr>
                        <a:t xml:space="preserve">0.5 dB</a:t>
                      </a:r>
                      <a:endParaRPr lang="en-US" sz="1100" dirty="0"/>
                    </a:p>
                  </a:txBody>
                  <a:tcPr marL="73152" marR="73152" marT="36576" marB="36576" anchor="ctr">
                    <a:lnL w="0">
                      <a:noFill/>
                    </a:lnL>
                    <a:lnR w="0">
                      <a:noFill/>
                    </a:lnR>
                    <a:lnT w="0">
                      <a:noFill/>
                    </a:lnT>
                    <a:lnB w="9525">
                      <a:solidFill>
                        <a:schemeClr val="accent2">
                          <a:alpha val="40000"/>
                        </a:schemeClr>
                      </a:solidFill>
                    </a:lnB>
                    <a:solidFill>
                      <a:schemeClr val="bg1"/>
                    </a:solidFill>
                  </a:tcPr>
                </a:tc>
                <a:tc>
                  <a:txBody>
                    <a:bodyPr/>
                    <a:lstStyle/>
                    <a:p>
                      <a:pPr marL="0" indent="0" algn="ctr">
                        <a:lnSpc>
                          <a:spcPct val="100000"/>
                        </a:lnSpc>
                        <a:spcBef>
                          <a:spcPts val="0"/>
                        </a:spcBef>
                        <a:spcAft>
                          <a:spcPts val="0"/>
                        </a:spcAft>
                        <a:buNone/>
                      </a:pPr>
                      <a:r>
                        <a:rPr lang="en-US" sz="1100" b="0" i="0" dirty="0">
                          <a:solidFill>
                            <a:schemeClr val="tx2"/>
                          </a:solidFill>
                        </a:rPr>
                        <a:t xml:space="preserve">0.5</a:t>
                      </a:r>
                      <a:endParaRPr lang="en-US" sz="1100" dirty="0"/>
                    </a:p>
                  </a:txBody>
                  <a:tcPr marL="73152" marR="73152" marT="36576" marB="36576" anchor="ctr">
                    <a:lnL w="0">
                      <a:noFill/>
                    </a:lnL>
                    <a:lnR w="0">
                      <a:noFill/>
                    </a:lnR>
                    <a:lnT w="0">
                      <a:noFill/>
                    </a:lnT>
                    <a:lnB w="9525">
                      <a:solidFill>
                        <a:schemeClr val="accent2">
                          <a:alpha val="40000"/>
                        </a:schemeClr>
                      </a:solidFill>
                    </a:lnB>
                    <a:solidFill>
                      <a:schemeClr val="bg1"/>
                    </a:solidFill>
                  </a:tcPr>
                </a:tc>
              </a:tr>
              <a:tr h="411480">
                <a:tc>
                  <a:txBody>
                    <a:bodyPr/>
                    <a:lstStyle/>
                    <a:p>
                      <a:pPr marL="0" indent="0" algn="l">
                        <a:lnSpc>
                          <a:spcPct val="100000"/>
                        </a:lnSpc>
                        <a:spcBef>
                          <a:spcPts val="0"/>
                        </a:spcBef>
                        <a:spcAft>
                          <a:spcPts val="0"/>
                        </a:spcAft>
                        <a:buNone/>
                      </a:pPr>
                      <a:r>
                        <a:rPr lang="en-US" sz="1100" b="0" i="0" dirty="0">
                          <a:solidFill>
                            <a:schemeClr val="tx2"/>
                          </a:solidFill>
                        </a:rPr>
                        <a:t xml:space="preserve">94 dB tone</a:t>
                      </a:r>
                      <a:endParaRPr lang="en-US" sz="1100" dirty="0"/>
                    </a:p>
                  </a:txBody>
                  <a:tcPr marL="73152" marR="73152" marT="36576" marB="36576" anchor="ctr">
                    <a:lnL w="0">
                      <a:noFill/>
                    </a:lnL>
                    <a:lnR w="0">
                      <a:noFill/>
                    </a:lnR>
                    <a:lnT w="0">
                      <a:noFill/>
                    </a:lnT>
                    <a:lnB w="9525">
                      <a:solidFill>
                        <a:schemeClr val="accent2">
                          <a:alpha val="40000"/>
                        </a:schemeClr>
                      </a:solidFill>
                    </a:lnB>
                    <a:solidFill>
                      <a:schemeClr val="accent1">
                        <a:alpha val="14000"/>
                      </a:schemeClr>
                    </a:solidFill>
                  </a:tcPr>
                </a:tc>
                <a:tc>
                  <a:txBody>
                    <a:bodyPr/>
                    <a:lstStyle/>
                    <a:p>
                      <a:pPr marL="0" indent="0" algn="ctr">
                        <a:lnSpc>
                          <a:spcPct val="100000"/>
                        </a:lnSpc>
                        <a:spcBef>
                          <a:spcPts val="0"/>
                        </a:spcBef>
                        <a:spcAft>
                          <a:spcPts val="0"/>
                        </a:spcAft>
                        <a:buNone/>
                      </a:pPr>
                      <a:r>
                        <a:rPr lang="en-US" sz="1100" b="0" i="0" dirty="0">
                          <a:solidFill>
                            <a:schemeClr val="tx2"/>
                          </a:solidFill>
                        </a:rPr>
                        <a:t xml:space="preserve">94 dB</a:t>
                      </a:r>
                      <a:endParaRPr lang="en-US" sz="1100" dirty="0"/>
                    </a:p>
                  </a:txBody>
                  <a:tcPr marL="73152" marR="73152" marT="36576" marB="36576" anchor="ctr">
                    <a:lnL w="0">
                      <a:noFill/>
                    </a:lnL>
                    <a:lnR w="0">
                      <a:noFill/>
                    </a:lnR>
                    <a:lnT w="0">
                      <a:noFill/>
                    </a:lnT>
                    <a:lnB w="9525">
                      <a:solidFill>
                        <a:schemeClr val="accent2">
                          <a:alpha val="40000"/>
                        </a:schemeClr>
                      </a:solidFill>
                    </a:lnB>
                    <a:solidFill>
                      <a:schemeClr val="accent1">
                        <a:alpha val="14000"/>
                      </a:schemeClr>
                    </a:solidFill>
                  </a:tcPr>
                </a:tc>
                <a:tc>
                  <a:txBody>
                    <a:bodyPr/>
                    <a:lstStyle/>
                    <a:p>
                      <a:pPr marL="0" indent="0" algn="ctr">
                        <a:lnSpc>
                          <a:spcPct val="100000"/>
                        </a:lnSpc>
                        <a:spcBef>
                          <a:spcPts val="0"/>
                        </a:spcBef>
                        <a:spcAft>
                          <a:spcPts val="0"/>
                        </a:spcAft>
                        <a:buNone/>
                      </a:pPr>
                      <a:r>
                        <a:rPr lang="en-US" sz="1100" b="0" i="0" dirty="0">
                          <a:solidFill>
                            <a:schemeClr val="tx2"/>
                          </a:solidFill>
                        </a:rPr>
                        <a:t xml:space="preserve">94.8 dB</a:t>
                      </a:r>
                      <a:endParaRPr lang="en-US" sz="1100" dirty="0"/>
                    </a:p>
                  </a:txBody>
                  <a:tcPr marL="73152" marR="73152" marT="36576" marB="36576" anchor="ctr">
                    <a:lnL w="0">
                      <a:noFill/>
                    </a:lnL>
                    <a:lnR w="0">
                      <a:noFill/>
                    </a:lnR>
                    <a:lnT w="0">
                      <a:noFill/>
                    </a:lnT>
                    <a:lnB w="9525">
                      <a:solidFill>
                        <a:schemeClr val="accent2">
                          <a:alpha val="40000"/>
                        </a:schemeClr>
                      </a:solidFill>
                    </a:lnB>
                    <a:solidFill>
                      <a:schemeClr val="accent1">
                        <a:alpha val="14000"/>
                      </a:schemeClr>
                    </a:solidFill>
                  </a:tcPr>
                </a:tc>
                <a:tc>
                  <a:txBody>
                    <a:bodyPr/>
                    <a:lstStyle/>
                    <a:p>
                      <a:pPr marL="0" indent="0" algn="ctr">
                        <a:lnSpc>
                          <a:spcPct val="100000"/>
                        </a:lnSpc>
                        <a:spcBef>
                          <a:spcPts val="0"/>
                        </a:spcBef>
                        <a:spcAft>
                          <a:spcPts val="0"/>
                        </a:spcAft>
                        <a:buNone/>
                      </a:pPr>
                      <a:r>
                        <a:rPr lang="en-US" sz="1100" b="0" i="0" dirty="0">
                          <a:solidFill>
                            <a:schemeClr val="tx2"/>
                          </a:solidFill>
                        </a:rPr>
                        <a:t xml:space="preserve">0.8</a:t>
                      </a:r>
                      <a:endParaRPr lang="en-US" sz="1100" dirty="0"/>
                    </a:p>
                  </a:txBody>
                  <a:tcPr marL="73152" marR="73152" marT="36576" marB="36576" anchor="ctr">
                    <a:lnL w="0">
                      <a:noFill/>
                    </a:lnL>
                    <a:lnR w="0">
                      <a:noFill/>
                    </a:lnR>
                    <a:lnT w="0">
                      <a:noFill/>
                    </a:lnT>
                    <a:lnB w="9525">
                      <a:solidFill>
                        <a:schemeClr val="accent2">
                          <a:alpha val="40000"/>
                        </a:schemeClr>
                      </a:solidFill>
                    </a:lnB>
                    <a:solidFill>
                      <a:schemeClr val="accent1">
                        <a:alpha val="14000"/>
                      </a:schemeClr>
                    </a:solidFill>
                  </a:tcPr>
                </a:tc>
              </a:tr>
              <a:tr h="411480">
                <a:tc>
                  <a:txBody>
                    <a:bodyPr/>
                    <a:lstStyle/>
                    <a:p>
                      <a:pPr marL="0" indent="0" algn="l">
                        <a:lnSpc>
                          <a:spcPct val="100000"/>
                        </a:lnSpc>
                        <a:spcBef>
                          <a:spcPts val="0"/>
                        </a:spcBef>
                        <a:spcAft>
                          <a:spcPts val="0"/>
                        </a:spcAft>
                        <a:buNone/>
                      </a:pPr>
                      <a:r>
                        <a:rPr lang="en-US" sz="1100" b="0" i="0" dirty="0">
                          <a:solidFill>
                            <a:schemeClr val="tx2"/>
                          </a:solidFill>
                        </a:rPr>
                        <a:t xml:space="preserve">spike → quiet</a:t>
                      </a:r>
                      <a:endParaRPr lang="en-US" sz="1100" dirty="0"/>
                    </a:p>
                  </a:txBody>
                  <a:tcPr marL="73152" marR="73152" marT="36576" marB="36576" anchor="ctr">
                    <a:lnL w="0">
                      <a:noFill/>
                    </a:lnL>
                    <a:lnR w="0">
                      <a:noFill/>
                    </a:lnR>
                    <a:lnT w="0">
                      <a:noFill/>
                    </a:lnT>
                    <a:lnB w="9525">
                      <a:solidFill>
                        <a:schemeClr val="accent2">
                          <a:alpha val="40000"/>
                        </a:schemeClr>
                      </a:solidFill>
                    </a:lnB>
                    <a:solidFill>
                      <a:schemeClr val="bg1"/>
                    </a:solidFill>
                  </a:tcPr>
                </a:tc>
                <a:tc>
                  <a:txBody>
                    <a:bodyPr/>
                    <a:lstStyle/>
                    <a:p>
                      <a:pPr marL="0" indent="0" algn="ctr">
                        <a:lnSpc>
                          <a:spcPct val="100000"/>
                        </a:lnSpc>
                        <a:spcBef>
                          <a:spcPts val="0"/>
                        </a:spcBef>
                        <a:spcAft>
                          <a:spcPts val="0"/>
                        </a:spcAft>
                        <a:buNone/>
                      </a:pPr>
                      <a:r>
                        <a:rPr lang="en-US" sz="1100" b="0" i="0" dirty="0">
                          <a:solidFill>
                            <a:schemeClr val="tx2"/>
                          </a:solidFill>
                        </a:rPr>
                        <a:t xml:space="preserve">112 (hold)</a:t>
                      </a:r>
                      <a:endParaRPr lang="en-US" sz="1100" dirty="0"/>
                    </a:p>
                  </a:txBody>
                  <a:tcPr marL="73152" marR="73152" marT="36576" marB="36576" anchor="ctr">
                    <a:lnL w="0">
                      <a:noFill/>
                    </a:lnL>
                    <a:lnR w="0">
                      <a:noFill/>
                    </a:lnR>
                    <a:lnT w="0">
                      <a:noFill/>
                    </a:lnT>
                    <a:lnB w="9525">
                      <a:solidFill>
                        <a:schemeClr val="accent2">
                          <a:alpha val="40000"/>
                        </a:schemeClr>
                      </a:solidFill>
                    </a:lnB>
                    <a:solidFill>
                      <a:schemeClr val="bg1"/>
                    </a:solidFill>
                  </a:tcPr>
                </a:tc>
                <a:tc>
                  <a:txBody>
                    <a:bodyPr/>
                    <a:lstStyle/>
                    <a:p>
                      <a:pPr marL="0" indent="0" algn="ctr">
                        <a:lnSpc>
                          <a:spcPct val="100000"/>
                        </a:lnSpc>
                        <a:spcBef>
                          <a:spcPts val="0"/>
                        </a:spcBef>
                        <a:spcAft>
                          <a:spcPts val="0"/>
                        </a:spcAft>
                        <a:buNone/>
                      </a:pPr>
                      <a:r>
                        <a:rPr lang="en-US" sz="1100" b="0" i="0" dirty="0">
                          <a:solidFill>
                            <a:schemeClr val="tx2"/>
                          </a:solidFill>
                        </a:rPr>
                        <a:t xml:space="preserve">112 (held)</a:t>
                      </a:r>
                      <a:endParaRPr lang="en-US" sz="1100" dirty="0"/>
                    </a:p>
                  </a:txBody>
                  <a:tcPr marL="73152" marR="73152" marT="36576" marB="36576" anchor="ctr">
                    <a:lnL w="0">
                      <a:noFill/>
                    </a:lnL>
                    <a:lnR w="0">
                      <a:noFill/>
                    </a:lnR>
                    <a:lnT w="0">
                      <a:noFill/>
                    </a:lnT>
                    <a:lnB w="9525">
                      <a:solidFill>
                        <a:schemeClr val="accent2">
                          <a:alpha val="40000"/>
                        </a:schemeClr>
                      </a:solidFill>
                    </a:lnB>
                    <a:solidFill>
                      <a:schemeClr val="bg1"/>
                    </a:solidFill>
                  </a:tcPr>
                </a:tc>
                <a:tc>
                  <a:txBody>
                    <a:bodyPr/>
                    <a:lstStyle/>
                    <a:p>
                      <a:pPr marL="0" indent="0" algn="ctr">
                        <a:lnSpc>
                          <a:spcPct val="100000"/>
                        </a:lnSpc>
                        <a:spcBef>
                          <a:spcPts val="0"/>
                        </a:spcBef>
                        <a:spcAft>
                          <a:spcPts val="0"/>
                        </a:spcAft>
                        <a:buNone/>
                      </a:pPr>
                      <a:r>
                        <a:rPr lang="en-US" sz="1100" b="0" i="0" dirty="0">
                          <a:solidFill>
                            <a:schemeClr val="tx2"/>
                          </a:solidFill>
                        </a:rPr>
                        <a:t xml:space="preserve">0.0</a:t>
                      </a:r>
                      <a:endParaRPr lang="en-US" sz="1100" dirty="0"/>
                    </a:p>
                  </a:txBody>
                  <a:tcPr marL="73152" marR="73152" marT="36576" marB="36576" anchor="ctr">
                    <a:lnL w="0">
                      <a:noFill/>
                    </a:lnL>
                    <a:lnR w="0">
                      <a:noFill/>
                    </a:lnR>
                    <a:lnT w="0">
                      <a:noFill/>
                    </a:lnT>
                    <a:lnB w="9525">
                      <a:solidFill>
                        <a:schemeClr val="accent2">
                          <a:alpha val="40000"/>
                        </a:schemeClr>
                      </a:solidFill>
                    </a:lnB>
                    <a:solidFill>
                      <a:schemeClr val="bg1"/>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p:nvPr>
            <p:ph type="title"/>
          </p:nvPr>
        </p:nvSpPr>
        <p:spPr>
          <a:xfrm>
            <a:off x="640080" y="256032"/>
            <a:ext cx="8321040" cy="86868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2600" b="1" i="0" dirty="0">
                <a:solidFill>
                  <a:schemeClr val="tx2"/>
                </a:solidFill>
              </a:rPr>
              <a:t xml:space="preserve">Applications &amp; Limitations</a:t>
            </a:r>
            <a:endParaRPr lang="en-US" sz="2600" dirty="0"/>
          </a:p>
        </p:txBody>
      </p:sp>
      <p:sp>
        <p:nvSpPr>
          <p:cNvPr id="3" name="Footer"/>
          <p:cNvSpPr txBox="1"/>
          <p:nvPr/>
        </p:nvSpPr>
        <p:spPr>
          <a:xfrm>
            <a:off x="640080" y="6455664"/>
            <a:ext cx="6949440" cy="256032"/>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000" b="0" i="0" dirty="0">
                <a:solidFill>
                  <a:srgbClr val="6B7C84"/>
                </a:solidFill>
              </a:rPr>
              <a:t xml:space="preserve">Sayantan Bharati  |  BWU/BTS/25/503  |  Section B  |  COA (BTS30101)</a:t>
            </a:r>
            <a:endParaRPr lang="en-US" sz="1000" dirty="0"/>
          </a:p>
        </p:txBody>
      </p:sp>
      <p:sp>
        <p:nvSpPr>
          <p:cNvPr id="4" name="Slide Number"/>
          <p:cNvSpPr txBox="1"/>
          <p:nvPr/>
        </p:nvSpPr>
        <p:spPr>
          <a:xfrm>
            <a:off x="8138160" y="6455664"/>
            <a:ext cx="822960" cy="256032"/>
          </a:xfrm>
          <a:prstGeom prst="rect">
            <a:avLst/>
          </a:prstGeom>
          <a:noFill/>
        </p:spPr>
        <p:txBody>
          <a:bodyPr wrap="square" lIns="0" tIns="0" rIns="0" bIns="0" anchor="ctr">
            <a:noAutofit/>
          </a:bodyPr>
          <a:lstStyle/>
          <a:p>
            <a:pPr algn="r"/>
            <a:fld id="{B6F15528-21DE-4FAA-801E-634DDDAF4B2B}" type="slidenum">
              <a:rPr lang="en-US" sz="1000" dirty="0">
                <a:solidFill>
                  <a:srgbClr val="6B7C84"/>
                </a:solidFill>
              </a:rPr>
              <a:t>13</a:t>
            </a:fld>
          </a:p>
        </p:txBody>
      </p:sp>
      <p:sp>
        <p:nvSpPr>
          <p:cNvPr id="5" name="Applications caption"/>
          <p:cNvSpPr txBox="1"/>
          <p:nvPr/>
        </p:nvSpPr>
        <p:spPr>
          <a:xfrm>
            <a:off x="640080" y="1188720"/>
            <a:ext cx="3657600" cy="27432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600" b="1" i="0" dirty="0">
                <a:solidFill>
                  <a:schemeClr val="accent2"/>
                </a:solidFill>
              </a:rPr>
              <a:t xml:space="preserve">Applications</a:t>
            </a:r>
            <a:endParaRPr lang="en-US" sz="1600" dirty="0"/>
          </a:p>
        </p:txBody>
      </p:sp>
      <p:sp>
        <p:nvSpPr>
          <p:cNvPr id="6" name="Icon circle industry"/>
          <p:cNvSpPr/>
          <p:nvPr/>
        </p:nvSpPr>
        <p:spPr>
          <a:xfrm>
            <a:off x="1143000" y="1600200"/>
            <a:ext cx="640080" cy="640080"/>
          </a:xfrm>
          <a:prstGeom prst="ellipse">
            <a:avLst/>
          </a:prstGeom>
          <a:solidFill>
            <a:schemeClr val="tx2"/>
          </a:solidFill>
          <a:ln>
            <a:noFill/>
          </a:ln>
        </p:spPr>
      </p:sp>
      <p:pic>
        <p:nvPicPr>
          <p:cNvPr id="7" name="Icon industry" descr="Industrial noise monitoring icon"/>
          <p:cNvPicPr>
            <a:picLocks noChangeAspect="1"/>
          </p:cNvPicPr>
          <p:nvPr/>
        </p:nvPicPr>
        <p:blipFill>
          <a:blip r:embed="rIdIc0"/>
          <a:stretch>
            <a:fillRect/>
          </a:stretch>
        </p:blipFill>
        <p:spPr>
          <a:xfrm>
            <a:off x="1280160" y="1737360"/>
            <a:ext cx="365760" cy="365760"/>
          </a:xfrm>
          <a:prstGeom prst="rect">
            <a:avLst/>
          </a:prstGeom>
        </p:spPr>
      </p:pic>
      <p:sp>
        <p:nvSpPr>
          <p:cNvPr id="8" name="Icon label industry"/>
          <p:cNvSpPr txBox="1"/>
          <p:nvPr/>
        </p:nvSpPr>
        <p:spPr>
          <a:xfrm>
            <a:off x="640080" y="2331720"/>
            <a:ext cx="1645920" cy="502920"/>
          </a:xfrm>
          <a:prstGeom prst="rect">
            <a:avLst/>
          </a:prstGeom>
          <a:noFill/>
          <a:ln>
            <a:noFill/>
          </a:ln>
        </p:spPr>
        <p:txBody>
          <a:bodyPr wrap="square" lIns="0" tIns="0" rIns="0" bIns="0" rtlCol="0" anchor="t">
            <a:noAutofit/>
          </a:bodyPr>
          <a:lstStyle/>
          <a:p>
            <a:pPr marL="0" indent="0" algn="ctr">
              <a:lnSpc>
                <a:spcPct val="100000"/>
              </a:lnSpc>
              <a:spcBef>
                <a:spcPts val="0"/>
              </a:spcBef>
              <a:spcAft>
                <a:spcPts val="0"/>
              </a:spcAft>
              <a:buNone/>
            </a:pPr>
            <a:r>
              <a:rPr lang="en-US" sz="1100" b="1" i="0" dirty="0">
                <a:solidFill>
                  <a:schemeClr val="tx2"/>
                </a:solidFill>
              </a:rPr>
              <a:t xml:space="preserve">Industrial noise monitoring</a:t>
            </a:r>
            <a:endParaRPr lang="en-US" sz="1100" dirty="0"/>
          </a:p>
        </p:txBody>
      </p:sp>
      <p:sp>
        <p:nvSpPr>
          <p:cNvPr id="9" name="Icon circle safety"/>
          <p:cNvSpPr/>
          <p:nvPr/>
        </p:nvSpPr>
        <p:spPr>
          <a:xfrm>
            <a:off x="2834640" y="1600200"/>
            <a:ext cx="640080" cy="640080"/>
          </a:xfrm>
          <a:prstGeom prst="ellipse">
            <a:avLst/>
          </a:prstGeom>
          <a:solidFill>
            <a:schemeClr val="tx2"/>
          </a:solidFill>
          <a:ln>
            <a:noFill/>
          </a:ln>
        </p:spPr>
      </p:sp>
      <p:pic>
        <p:nvPicPr>
          <p:cNvPr id="10" name="Icon safety" descr="Workplace safety icon"/>
          <p:cNvPicPr>
            <a:picLocks noChangeAspect="1"/>
          </p:cNvPicPr>
          <p:nvPr/>
        </p:nvPicPr>
        <p:blipFill>
          <a:blip r:embed="rIdIc1"/>
          <a:stretch>
            <a:fillRect/>
          </a:stretch>
        </p:blipFill>
        <p:spPr>
          <a:xfrm>
            <a:off x="2971800" y="1737360"/>
            <a:ext cx="365760" cy="365760"/>
          </a:xfrm>
          <a:prstGeom prst="rect">
            <a:avLst/>
          </a:prstGeom>
        </p:spPr>
      </p:pic>
      <p:sp>
        <p:nvSpPr>
          <p:cNvPr id="11" name="Icon label safety"/>
          <p:cNvSpPr txBox="1"/>
          <p:nvPr/>
        </p:nvSpPr>
        <p:spPr>
          <a:xfrm>
            <a:off x="2331720" y="2331720"/>
            <a:ext cx="1645920" cy="502920"/>
          </a:xfrm>
          <a:prstGeom prst="rect">
            <a:avLst/>
          </a:prstGeom>
          <a:noFill/>
          <a:ln>
            <a:noFill/>
          </a:ln>
        </p:spPr>
        <p:txBody>
          <a:bodyPr wrap="square" lIns="0" tIns="0" rIns="0" bIns="0" rtlCol="0" anchor="t">
            <a:noAutofit/>
          </a:bodyPr>
          <a:lstStyle/>
          <a:p>
            <a:pPr marL="0" indent="0" algn="ctr">
              <a:lnSpc>
                <a:spcPct val="100000"/>
              </a:lnSpc>
              <a:spcBef>
                <a:spcPts val="0"/>
              </a:spcBef>
              <a:spcAft>
                <a:spcPts val="0"/>
              </a:spcAft>
              <a:buNone/>
            </a:pPr>
            <a:r>
              <a:rPr lang="en-US" sz="1100" b="1" i="0" dirty="0">
                <a:solidFill>
                  <a:schemeClr val="tx2"/>
                </a:solidFill>
              </a:rPr>
              <a:t xml:space="preserve">Workplace safety</a:t>
            </a:r>
            <a:endParaRPr lang="en-US" sz="1100" dirty="0"/>
          </a:p>
        </p:txBody>
      </p:sp>
      <p:sp>
        <p:nvSpPr>
          <p:cNvPr id="12" name="Icon circle studio"/>
          <p:cNvSpPr/>
          <p:nvPr/>
        </p:nvSpPr>
        <p:spPr>
          <a:xfrm>
            <a:off x="4526280" y="1600200"/>
            <a:ext cx="640080" cy="640080"/>
          </a:xfrm>
          <a:prstGeom prst="ellipse">
            <a:avLst/>
          </a:prstGeom>
          <a:solidFill>
            <a:schemeClr val="tx2"/>
          </a:solidFill>
          <a:ln>
            <a:noFill/>
          </a:ln>
        </p:spPr>
      </p:sp>
      <p:pic>
        <p:nvPicPr>
          <p:cNvPr id="13" name="Icon studio" descr="Studio / audio icon"/>
          <p:cNvPicPr>
            <a:picLocks noChangeAspect="1"/>
          </p:cNvPicPr>
          <p:nvPr/>
        </p:nvPicPr>
        <p:blipFill>
          <a:blip r:embed="rIdIc2"/>
          <a:stretch>
            <a:fillRect/>
          </a:stretch>
        </p:blipFill>
        <p:spPr>
          <a:xfrm>
            <a:off x="4663440" y="1737360"/>
            <a:ext cx="365760" cy="365760"/>
          </a:xfrm>
          <a:prstGeom prst="rect">
            <a:avLst/>
          </a:prstGeom>
        </p:spPr>
      </p:pic>
      <p:sp>
        <p:nvSpPr>
          <p:cNvPr id="14" name="Icon label studio"/>
          <p:cNvSpPr txBox="1"/>
          <p:nvPr/>
        </p:nvSpPr>
        <p:spPr>
          <a:xfrm>
            <a:off x="4023360" y="2331720"/>
            <a:ext cx="1645920" cy="502920"/>
          </a:xfrm>
          <a:prstGeom prst="rect">
            <a:avLst/>
          </a:prstGeom>
          <a:noFill/>
          <a:ln>
            <a:noFill/>
          </a:ln>
        </p:spPr>
        <p:txBody>
          <a:bodyPr wrap="square" lIns="0" tIns="0" rIns="0" bIns="0" rtlCol="0" anchor="t">
            <a:noAutofit/>
          </a:bodyPr>
          <a:lstStyle/>
          <a:p>
            <a:pPr marL="0" indent="0" algn="ctr">
              <a:lnSpc>
                <a:spcPct val="100000"/>
              </a:lnSpc>
              <a:spcBef>
                <a:spcPts val="0"/>
              </a:spcBef>
              <a:spcAft>
                <a:spcPts val="0"/>
              </a:spcAft>
              <a:buNone/>
            </a:pPr>
            <a:r>
              <a:rPr lang="en-US" sz="1100" b="1" i="0" dirty="0">
                <a:solidFill>
                  <a:schemeClr val="tx2"/>
                </a:solidFill>
              </a:rPr>
              <a:t xml:space="preserve">Studio / audio</a:t>
            </a:r>
            <a:endParaRPr lang="en-US" sz="1100" dirty="0"/>
          </a:p>
        </p:txBody>
      </p:sp>
      <p:sp>
        <p:nvSpPr>
          <p:cNvPr id="15" name="Icon circle road"/>
          <p:cNvSpPr/>
          <p:nvPr/>
        </p:nvSpPr>
        <p:spPr>
          <a:xfrm>
            <a:off x="6217920" y="1600200"/>
            <a:ext cx="640080" cy="640080"/>
          </a:xfrm>
          <a:prstGeom prst="ellipse">
            <a:avLst/>
          </a:prstGeom>
          <a:solidFill>
            <a:schemeClr val="tx2"/>
          </a:solidFill>
          <a:ln>
            <a:noFill/>
          </a:ln>
        </p:spPr>
      </p:sp>
      <p:pic>
        <p:nvPicPr>
          <p:cNvPr id="16" name="Icon road" descr="Traffic level meters icon"/>
          <p:cNvPicPr>
            <a:picLocks noChangeAspect="1"/>
          </p:cNvPicPr>
          <p:nvPr/>
        </p:nvPicPr>
        <p:blipFill>
          <a:blip r:embed="rIdIc3"/>
          <a:stretch>
            <a:fillRect/>
          </a:stretch>
        </p:blipFill>
        <p:spPr>
          <a:xfrm>
            <a:off x="6355080" y="1737360"/>
            <a:ext cx="365760" cy="365760"/>
          </a:xfrm>
          <a:prstGeom prst="rect">
            <a:avLst/>
          </a:prstGeom>
        </p:spPr>
      </p:pic>
      <p:sp>
        <p:nvSpPr>
          <p:cNvPr id="17" name="Icon label road"/>
          <p:cNvSpPr txBox="1"/>
          <p:nvPr/>
        </p:nvSpPr>
        <p:spPr>
          <a:xfrm>
            <a:off x="5715000" y="2331720"/>
            <a:ext cx="1645920" cy="502920"/>
          </a:xfrm>
          <a:prstGeom prst="rect">
            <a:avLst/>
          </a:prstGeom>
          <a:noFill/>
          <a:ln>
            <a:noFill/>
          </a:ln>
        </p:spPr>
        <p:txBody>
          <a:bodyPr wrap="square" lIns="0" tIns="0" rIns="0" bIns="0" rtlCol="0" anchor="t">
            <a:noAutofit/>
          </a:bodyPr>
          <a:lstStyle/>
          <a:p>
            <a:pPr marL="0" indent="0" algn="ctr">
              <a:lnSpc>
                <a:spcPct val="100000"/>
              </a:lnSpc>
              <a:spcBef>
                <a:spcPts val="0"/>
              </a:spcBef>
              <a:spcAft>
                <a:spcPts val="0"/>
              </a:spcAft>
              <a:buNone/>
            </a:pPr>
            <a:r>
              <a:rPr lang="en-US" sz="1100" b="1" i="0" dirty="0">
                <a:solidFill>
                  <a:schemeClr val="tx2"/>
                </a:solidFill>
              </a:rPr>
              <a:t xml:space="preserve">Traffic level meters</a:t>
            </a:r>
            <a:endParaRPr lang="en-US" sz="1100" dirty="0"/>
          </a:p>
        </p:txBody>
      </p:sp>
      <p:sp>
        <p:nvSpPr>
          <p:cNvPr id="18" name="Icon circle school"/>
          <p:cNvSpPr/>
          <p:nvPr/>
        </p:nvSpPr>
        <p:spPr>
          <a:xfrm>
            <a:off x="7909560" y="1600200"/>
            <a:ext cx="640080" cy="640080"/>
          </a:xfrm>
          <a:prstGeom prst="ellipse">
            <a:avLst/>
          </a:prstGeom>
          <a:solidFill>
            <a:schemeClr val="tx2"/>
          </a:solidFill>
          <a:ln>
            <a:noFill/>
          </a:ln>
        </p:spPr>
      </p:sp>
      <p:pic>
        <p:nvPicPr>
          <p:cNvPr id="19" name="Icon school" descr="Classroom level meters icon"/>
          <p:cNvPicPr>
            <a:picLocks noChangeAspect="1"/>
          </p:cNvPicPr>
          <p:nvPr/>
        </p:nvPicPr>
        <p:blipFill>
          <a:blip r:embed="rIdIc4"/>
          <a:stretch>
            <a:fillRect/>
          </a:stretch>
        </p:blipFill>
        <p:spPr>
          <a:xfrm>
            <a:off x="8046720" y="1737360"/>
            <a:ext cx="365760" cy="365760"/>
          </a:xfrm>
          <a:prstGeom prst="rect">
            <a:avLst/>
          </a:prstGeom>
        </p:spPr>
      </p:pic>
      <p:sp>
        <p:nvSpPr>
          <p:cNvPr id="20" name="Icon label school"/>
          <p:cNvSpPr txBox="1"/>
          <p:nvPr/>
        </p:nvSpPr>
        <p:spPr>
          <a:xfrm>
            <a:off x="7406640" y="2331720"/>
            <a:ext cx="1645920" cy="502920"/>
          </a:xfrm>
          <a:prstGeom prst="rect">
            <a:avLst/>
          </a:prstGeom>
          <a:noFill/>
          <a:ln>
            <a:noFill/>
          </a:ln>
        </p:spPr>
        <p:txBody>
          <a:bodyPr wrap="square" lIns="0" tIns="0" rIns="0" bIns="0" rtlCol="0" anchor="t">
            <a:noAutofit/>
          </a:bodyPr>
          <a:lstStyle/>
          <a:p>
            <a:pPr marL="0" indent="0" algn="ctr">
              <a:lnSpc>
                <a:spcPct val="100000"/>
              </a:lnSpc>
              <a:spcBef>
                <a:spcPts val="0"/>
              </a:spcBef>
              <a:spcAft>
                <a:spcPts val="0"/>
              </a:spcAft>
              <a:buNone/>
            </a:pPr>
            <a:r>
              <a:rPr lang="en-US" sz="1100" b="1" i="0" dirty="0">
                <a:solidFill>
                  <a:schemeClr val="tx2"/>
                </a:solidFill>
              </a:rPr>
              <a:t xml:space="preserve">Classroom level meters</a:t>
            </a:r>
            <a:endParaRPr lang="en-US" sz="1100" dirty="0"/>
          </a:p>
        </p:txBody>
      </p:sp>
      <p:sp>
        <p:nvSpPr>
          <p:cNvPr id="21" name="Limitations card"/>
          <p:cNvSpPr/>
          <p:nvPr/>
        </p:nvSpPr>
        <p:spPr>
          <a:xfrm>
            <a:off x="640080" y="3063240"/>
            <a:ext cx="4023360" cy="2880360"/>
          </a:xfrm>
          <a:prstGeom prst="roundRect">
            <a:avLst>
              <a:gd name="adj" fmla="val 5000"/>
            </a:avLst>
          </a:prstGeom>
          <a:solidFill>
            <a:schemeClr val="accent1">
              <a:alpha val="14000"/>
            </a:schemeClr>
          </a:solidFill>
          <a:ln>
            <a:noFill/>
          </a:ln>
        </p:spPr>
      </p:sp>
      <p:sp>
        <p:nvSpPr>
          <p:cNvPr id="22" name="Limitations title"/>
          <p:cNvSpPr txBox="1"/>
          <p:nvPr/>
        </p:nvSpPr>
        <p:spPr>
          <a:xfrm>
            <a:off x="822960" y="3154680"/>
            <a:ext cx="3657600" cy="32004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600" b="1" i="0" dirty="0">
                <a:solidFill>
                  <a:schemeClr val="accent5"/>
                </a:solidFill>
              </a:rPr>
              <a:t xml:space="preserve">Limitations</a:t>
            </a:r>
            <a:endParaRPr lang="en-US" sz="1600" dirty="0"/>
          </a:p>
        </p:txBody>
      </p:sp>
      <p:sp>
        <p:nvSpPr>
          <p:cNvPr id="23" name="Limitations list"/>
          <p:cNvSpPr txBox="1"/>
          <p:nvPr/>
        </p:nvSpPr>
        <p:spPr>
          <a:xfrm>
            <a:off x="822960" y="3566160"/>
            <a:ext cx="3703320" cy="2286000"/>
          </a:xfrm>
          <a:prstGeom prst="rect">
            <a:avLst/>
          </a:prstGeom>
          <a:noFill/>
          <a:ln>
            <a:noFill/>
          </a:ln>
        </p:spPr>
        <p:txBody>
          <a:bodyPr wrap="square" lIns="0" tIns="0" rIns="0" bIns="0" rtlCol="0" anchor="t">
            <a:noAutofit/>
          </a:bodyPr>
          <a:lstStyle/>
          <a:p>
            <a:pPr marL="201168" indent="-201168" algn="l">
              <a:lnSpc>
                <a:spcPct val="100000"/>
              </a:lnSpc>
              <a:spcBef>
                <a:spcPts val="0"/>
              </a:spcBef>
              <a:spcAft>
                <a:spcPts val="800"/>
              </a:spcAft>
              <a:buClr>
                <a:schemeClr val="accent5"/>
              </a:buClr>
              <a:buFont typeface="Arial"/>
              <a:buChar char="•"/>
            </a:pPr>
            <a:r>
              <a:rPr lang="en-US" sz="1500" b="0" i="0" dirty="0">
                <a:solidFill>
                  <a:schemeClr val="tx2"/>
                </a:solidFill>
              </a:rPr>
              <a:t xml:space="preserve">Single microphone → no direction info; unweighted vs dB(A) trade-offs.</a:t>
            </a:r>
            <a:endParaRPr lang="en-US" sz="1500" dirty="0"/>
          </a:p>
          <a:p>
            <a:pPr marL="201168" indent="-201168" algn="l">
              <a:lnSpc>
                <a:spcPct val="100000"/>
              </a:lnSpc>
              <a:spcBef>
                <a:spcPts val="0"/>
              </a:spcBef>
              <a:spcAft>
                <a:spcPts val="800"/>
              </a:spcAft>
              <a:buClr>
                <a:schemeClr val="accent5"/>
              </a:buClr>
              <a:buFont typeface="Arial"/>
              <a:buChar char="•"/>
            </a:pPr>
            <a:r>
              <a:rPr lang="en-US" sz="1500" b="1" i="0" dirty="0">
                <a:solidFill>
                  <a:schemeClr val="tx2"/>
                </a:solidFill>
              </a:rPr>
              <a:t xml:space="preserve">Accuracy floor</a:t>
            </a:r>
            <a:r>
              <a:rPr lang="en-US" sz="1500" b="0" i="0" dirty="0">
                <a:solidFill>
                  <a:schemeClr val="tx2"/>
                </a:solidFill>
              </a:rPr>
              <a:t xml:space="preserve"> set by ADC bits and mic tolerance; needs calibration.</a:t>
            </a:r>
            <a:endParaRPr lang="en-US" sz="1500" dirty="0"/>
          </a:p>
          <a:p>
            <a:pPr marL="201168" indent="-201168" algn="l">
              <a:lnSpc>
                <a:spcPct val="100000"/>
              </a:lnSpc>
              <a:spcBef>
                <a:spcPts val="0"/>
              </a:spcBef>
              <a:spcAft>
                <a:spcPts val="800"/>
              </a:spcAft>
              <a:buClr>
                <a:schemeClr val="accent5"/>
              </a:buClr>
              <a:buFont typeface="Arial"/>
              <a:buChar char="•"/>
            </a:pPr>
            <a:r>
              <a:rPr lang="en-US" sz="1500" b="0" i="0" dirty="0">
                <a:solidFill>
                  <a:schemeClr val="tx2"/>
                </a:solidFill>
              </a:rPr>
              <a:t xml:space="preserve">Fast transients need a small window; large windows feel sluggish.</a:t>
            </a:r>
            <a:endParaRPr lang="en-US" sz="1500" dirty="0"/>
          </a:p>
        </p:txBody>
      </p:sp>
      <p:sp>
        <p:nvSpPr>
          <p:cNvPr id="24" name="Future scope card"/>
          <p:cNvSpPr/>
          <p:nvPr/>
        </p:nvSpPr>
        <p:spPr>
          <a:xfrm>
            <a:off x="4937760" y="3063240"/>
            <a:ext cx="4023360" cy="2880360"/>
          </a:xfrm>
          <a:prstGeom prst="roundRect">
            <a:avLst>
              <a:gd name="adj" fmla="val 5000"/>
            </a:avLst>
          </a:prstGeom>
          <a:solidFill>
            <a:schemeClr val="tx2"/>
          </a:solidFill>
          <a:ln>
            <a:noFill/>
          </a:ln>
        </p:spPr>
      </p:sp>
      <p:sp>
        <p:nvSpPr>
          <p:cNvPr id="25" name="Future title"/>
          <p:cNvSpPr txBox="1"/>
          <p:nvPr/>
        </p:nvSpPr>
        <p:spPr>
          <a:xfrm>
            <a:off x="5120640" y="3154680"/>
            <a:ext cx="3657600" cy="32004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600" b="1" i="0" dirty="0">
                <a:solidFill>
                  <a:schemeClr val="accent1"/>
                </a:solidFill>
              </a:rPr>
              <a:t xml:space="preserve">Future scope</a:t>
            </a:r>
            <a:endParaRPr lang="en-US" sz="1600" dirty="0"/>
          </a:p>
        </p:txBody>
      </p:sp>
      <p:sp>
        <p:nvSpPr>
          <p:cNvPr id="26" name="Future list"/>
          <p:cNvSpPr txBox="1"/>
          <p:nvPr/>
        </p:nvSpPr>
        <p:spPr>
          <a:xfrm>
            <a:off x="5120640" y="3566160"/>
            <a:ext cx="3703320" cy="1645920"/>
          </a:xfrm>
          <a:prstGeom prst="rect">
            <a:avLst/>
          </a:prstGeom>
          <a:noFill/>
          <a:ln>
            <a:noFill/>
          </a:ln>
        </p:spPr>
        <p:txBody>
          <a:bodyPr wrap="square" lIns="0" tIns="0" rIns="0" bIns="0" rtlCol="0" anchor="t">
            <a:noAutofit/>
          </a:bodyPr>
          <a:lstStyle/>
          <a:p>
            <a:pPr marL="201168" indent="-201168" algn="l">
              <a:lnSpc>
                <a:spcPct val="100000"/>
              </a:lnSpc>
              <a:spcBef>
                <a:spcPts val="0"/>
              </a:spcBef>
              <a:spcAft>
                <a:spcPts val="600"/>
              </a:spcAft>
              <a:buClr>
                <a:schemeClr val="accent1"/>
              </a:buClr>
              <a:buFont typeface="Arial"/>
              <a:buChar char="•"/>
            </a:pPr>
            <a:r>
              <a:rPr lang="en-US" sz="1500" b="0" i="0" dirty="0">
                <a:solidFill>
                  <a:schemeClr val="bg1"/>
                </a:solidFill>
              </a:rPr>
              <a:t xml:space="preserve">dB(A) / dB(C) weighting filters</a:t>
            </a:r>
            <a:endParaRPr lang="en-US" sz="1500" dirty="0"/>
          </a:p>
          <a:p>
            <a:pPr marL="201168" indent="-201168" algn="l">
              <a:lnSpc>
                <a:spcPct val="100000"/>
              </a:lnSpc>
              <a:spcBef>
                <a:spcPts val="0"/>
              </a:spcBef>
              <a:spcAft>
                <a:spcPts val="600"/>
              </a:spcAft>
              <a:buClr>
                <a:schemeClr val="accent1"/>
              </a:buClr>
              <a:buFont typeface="Arial"/>
              <a:buChar char="•"/>
            </a:pPr>
            <a:r>
              <a:rPr lang="en-US" sz="1500" b="0" i="0" dirty="0">
                <a:solidFill>
                  <a:schemeClr val="bg1"/>
                </a:solidFill>
              </a:rPr>
              <a:t xml:space="preserve">Data logging to SD card</a:t>
            </a:r>
            <a:endParaRPr lang="en-US" sz="1500" dirty="0"/>
          </a:p>
          <a:p>
            <a:pPr marL="201168" indent="-201168" algn="l">
              <a:lnSpc>
                <a:spcPct val="100000"/>
              </a:lnSpc>
              <a:spcBef>
                <a:spcPts val="0"/>
              </a:spcBef>
              <a:spcAft>
                <a:spcPts val="600"/>
              </a:spcAft>
              <a:buClr>
                <a:schemeClr val="accent1"/>
              </a:buClr>
              <a:buFont typeface="Arial"/>
              <a:buChar char="•"/>
            </a:pPr>
            <a:r>
              <a:rPr lang="en-US" sz="1500" b="0" i="0" dirty="0">
                <a:solidFill>
                  <a:schemeClr val="bg1"/>
                </a:solidFill>
              </a:rPr>
              <a:t xml:space="preserve">IoT / Wi-Fi reporting</a:t>
            </a:r>
            <a:endParaRPr lang="en-US" sz="1500" dirty="0"/>
          </a:p>
          <a:p>
            <a:pPr marL="201168" indent="-201168" algn="l">
              <a:lnSpc>
                <a:spcPct val="100000"/>
              </a:lnSpc>
              <a:spcBef>
                <a:spcPts val="0"/>
              </a:spcBef>
              <a:spcAft>
                <a:spcPts val="600"/>
              </a:spcAft>
              <a:buClr>
                <a:schemeClr val="accent1"/>
              </a:buClr>
              <a:buFont typeface="Arial"/>
              <a:buChar char="•"/>
            </a:pPr>
            <a:r>
              <a:rPr lang="en-US" sz="1500" b="0" i="0" dirty="0">
                <a:solidFill>
                  <a:schemeClr val="bg1"/>
                </a:solidFill>
              </a:rPr>
              <a:t xml:space="preserve">OLED display, AGC</a:t>
            </a:r>
            <a:endParaRPr lang="en-US" sz="1500" dirty="0"/>
          </a:p>
        </p:txBody>
      </p:sp>
      <p:sp>
        <p:nvSpPr>
          <p:cNvPr id="27" name="COA mapping"/>
          <p:cNvSpPr txBox="1"/>
          <p:nvPr/>
        </p:nvSpPr>
        <p:spPr>
          <a:xfrm>
            <a:off x="5120640" y="5166360"/>
            <a:ext cx="3703320" cy="68580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200" b="1" i="1" dirty="0">
                <a:solidFill>
                  <a:schemeClr val="accent3"/>
                </a:solidFill>
              </a:rPr>
              <a:t xml:space="preserve">Maps to COA: data acquisition, registers, control FSM, I/O interfacing.</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p:nvPr>
            <p:ph type="title"/>
          </p:nvPr>
        </p:nvSpPr>
        <p:spPr>
          <a:xfrm>
            <a:off x="640080" y="256032"/>
            <a:ext cx="8321040" cy="86868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2600" b="1" i="0" dirty="0">
                <a:solidFill>
                  <a:schemeClr val="tx2"/>
                </a:solidFill>
              </a:rPr>
              <a:t xml:space="preserve">References &amp; Thank You</a:t>
            </a:r>
            <a:endParaRPr lang="en-US" sz="2600" dirty="0"/>
          </a:p>
        </p:txBody>
      </p:sp>
      <p:sp>
        <p:nvSpPr>
          <p:cNvPr id="3" name="Footer"/>
          <p:cNvSpPr txBox="1"/>
          <p:nvPr/>
        </p:nvSpPr>
        <p:spPr>
          <a:xfrm>
            <a:off x="640080" y="6455664"/>
            <a:ext cx="6949440" cy="256032"/>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000" b="0" i="0" dirty="0">
                <a:solidFill>
                  <a:srgbClr val="6B7C84"/>
                </a:solidFill>
              </a:rPr>
              <a:t xml:space="preserve">Sayantan Bharati  |  BWU/BTS/25/503  |  Section B  |  COA (BTS30101)</a:t>
            </a:r>
            <a:endParaRPr lang="en-US" sz="1000" dirty="0"/>
          </a:p>
        </p:txBody>
      </p:sp>
      <p:sp>
        <p:nvSpPr>
          <p:cNvPr id="4" name="Slide Number"/>
          <p:cNvSpPr txBox="1"/>
          <p:nvPr/>
        </p:nvSpPr>
        <p:spPr>
          <a:xfrm>
            <a:off x="8138160" y="6455664"/>
            <a:ext cx="822960" cy="256032"/>
          </a:xfrm>
          <a:prstGeom prst="rect">
            <a:avLst/>
          </a:prstGeom>
          <a:noFill/>
        </p:spPr>
        <p:txBody>
          <a:bodyPr wrap="square" lIns="0" tIns="0" rIns="0" bIns="0" anchor="ctr">
            <a:noAutofit/>
          </a:bodyPr>
          <a:lstStyle/>
          <a:p>
            <a:pPr algn="r"/>
            <a:fld id="{B6F15528-21DE-4FAA-801E-634DDDAF4B2B}" type="slidenum">
              <a:rPr lang="en-US" sz="1000" dirty="0">
                <a:solidFill>
                  <a:srgbClr val="6B7C84"/>
                </a:solidFill>
              </a:rPr>
              <a:t>14</a:t>
            </a:fld>
          </a:p>
        </p:txBody>
      </p:sp>
      <p:sp>
        <p:nvSpPr>
          <p:cNvPr id="5" name="References"/>
          <p:cNvSpPr txBox="1"/>
          <p:nvPr/>
        </p:nvSpPr>
        <p:spPr>
          <a:xfrm>
            <a:off x="640080" y="1325880"/>
            <a:ext cx="6035040" cy="2743200"/>
          </a:xfrm>
          <a:prstGeom prst="rect">
            <a:avLst/>
          </a:prstGeom>
          <a:noFill/>
          <a:ln>
            <a:noFill/>
          </a:ln>
        </p:spPr>
        <p:txBody>
          <a:bodyPr wrap="square" lIns="0" tIns="0" rIns="0" bIns="0" rtlCol="0" anchor="t">
            <a:noAutofit/>
          </a:bodyPr>
          <a:lstStyle/>
          <a:p>
            <a:pPr marL="201168" indent="-201168" algn="l">
              <a:lnSpc>
                <a:spcPct val="100000"/>
              </a:lnSpc>
              <a:spcBef>
                <a:spcPts val="0"/>
              </a:spcBef>
              <a:spcAft>
                <a:spcPts val="1000"/>
              </a:spcAft>
              <a:buClr>
                <a:schemeClr val="accent2"/>
              </a:buClr>
              <a:buFont typeface="Arial"/>
              <a:buChar char="•"/>
            </a:pPr>
            <a:r>
              <a:rPr lang="en-US" sz="1500" b="0" i="0" dirty="0">
                <a:solidFill>
                  <a:schemeClr val="tx2"/>
                </a:solidFill>
              </a:rPr>
              <a:t xml:space="preserve">Patterson &amp; Hennessy — </a:t>
            </a:r>
            <a:r>
              <a:rPr lang="en-US" sz="1500" b="0" i="1" dirty="0">
                <a:solidFill>
                  <a:schemeClr val="tx2"/>
                </a:solidFill>
              </a:rPr>
              <a:t xml:space="preserve">Computer Organization and Design</a:t>
            </a:r>
            <a:endParaRPr lang="en-US" sz="1500" dirty="0"/>
          </a:p>
          <a:p>
            <a:pPr marL="201168" indent="-201168" algn="l">
              <a:lnSpc>
                <a:spcPct val="100000"/>
              </a:lnSpc>
              <a:spcBef>
                <a:spcPts val="0"/>
              </a:spcBef>
              <a:spcAft>
                <a:spcPts val="1000"/>
              </a:spcAft>
              <a:buClr>
                <a:schemeClr val="accent2"/>
              </a:buClr>
              <a:buFont typeface="Arial"/>
              <a:buChar char="•"/>
            </a:pPr>
            <a:r>
              <a:rPr lang="en-US" sz="1500" b="0" i="0" dirty="0">
                <a:solidFill>
                  <a:schemeClr val="tx2"/>
                </a:solidFill>
              </a:rPr>
              <a:t xml:space="preserve">W. Stallings — </a:t>
            </a:r>
            <a:r>
              <a:rPr lang="en-US" sz="1500" b="0" i="1" dirty="0">
                <a:solidFill>
                  <a:schemeClr val="tx2"/>
                </a:solidFill>
              </a:rPr>
              <a:t xml:space="preserve">Computer Organization and Architecture</a:t>
            </a:r>
            <a:endParaRPr lang="en-US" sz="1500" dirty="0"/>
          </a:p>
          <a:p>
            <a:pPr marL="201168" indent="-201168" algn="l">
              <a:lnSpc>
                <a:spcPct val="100000"/>
              </a:lnSpc>
              <a:spcBef>
                <a:spcPts val="0"/>
              </a:spcBef>
              <a:spcAft>
                <a:spcPts val="1000"/>
              </a:spcAft>
              <a:buClr>
                <a:schemeClr val="accent2"/>
              </a:buClr>
              <a:buFont typeface="Arial"/>
              <a:buChar char="•"/>
            </a:pPr>
            <a:r>
              <a:rPr lang="en-US" sz="1500" b="0" i="0" dirty="0">
                <a:solidFill>
                  <a:schemeClr val="tx2"/>
                </a:solidFill>
              </a:rPr>
              <a:t xml:space="preserve">C. Hamacher — </a:t>
            </a:r>
            <a:r>
              <a:rPr lang="en-US" sz="1500" b="0" i="1" dirty="0">
                <a:solidFill>
                  <a:schemeClr val="tx2"/>
                </a:solidFill>
              </a:rPr>
              <a:t xml:space="preserve">Computer Organization</a:t>
            </a:r>
            <a:endParaRPr lang="en-US" sz="1500" dirty="0"/>
          </a:p>
          <a:p>
            <a:pPr marL="201168" indent="-201168" algn="l">
              <a:lnSpc>
                <a:spcPct val="100000"/>
              </a:lnSpc>
              <a:spcBef>
                <a:spcPts val="0"/>
              </a:spcBef>
              <a:spcAft>
                <a:spcPts val="1000"/>
              </a:spcAft>
              <a:buClr>
                <a:schemeClr val="accent2"/>
              </a:buClr>
              <a:buFont typeface="Arial"/>
              <a:buChar char="•"/>
            </a:pPr>
            <a:r>
              <a:rPr lang="en-US" sz="1500" b="0" i="0" dirty="0">
                <a:solidFill>
                  <a:schemeClr val="tx2"/>
                </a:solidFill>
              </a:rPr>
              <a:t xml:space="preserve">Course lecture notes — COA Modules 2 &amp; 3</a:t>
            </a:r>
            <a:endParaRPr lang="en-US" sz="1500" dirty="0"/>
          </a:p>
          <a:p>
            <a:pPr marL="201168" indent="-201168" algn="l">
              <a:lnSpc>
                <a:spcPct val="100000"/>
              </a:lnSpc>
              <a:spcBef>
                <a:spcPts val="0"/>
              </a:spcBef>
              <a:spcAft>
                <a:spcPts val="1000"/>
              </a:spcAft>
              <a:buClr>
                <a:schemeClr val="accent2"/>
              </a:buClr>
              <a:buFont typeface="Arial"/>
              <a:buChar char="•"/>
            </a:pPr>
            <a:r>
              <a:rPr lang="en-US" sz="1500" b="0" i="0" dirty="0">
                <a:solidFill>
                  <a:schemeClr val="tx2"/>
                </a:solidFill>
              </a:rPr>
              <a:t xml:space="preserve">Web: FPGA/VHDL reference designs; SPL/decibel references</a:t>
            </a:r>
            <a:endParaRPr lang="en-US" sz="1500" dirty="0"/>
          </a:p>
        </p:txBody>
      </p:sp>
      <p:sp>
        <p:nvSpPr>
          <p:cNvPr id="6" name="Book P&amp;H" descr="Book thumbnail: P&amp;H"/>
          <p:cNvSpPr/>
          <p:nvPr/>
        </p:nvSpPr>
        <p:spPr>
          <a:xfrm>
            <a:off x="6903720" y="1325880"/>
            <a:ext cx="621792" cy="1554480"/>
          </a:xfrm>
          <a:prstGeom prst="roundRect">
            <a:avLst>
              <a:gd name="adj" fmla="val 8000"/>
            </a:avLst>
          </a:prstGeom>
          <a:solidFill>
            <a:schemeClr val="accent2"/>
          </a:solidFill>
          <a:ln>
            <a:noFill/>
          </a:ln>
        </p:spPr>
        <p:txBody>
          <a:bodyPr wrap="square" lIns="73152" tIns="36576" rIns="73152" bIns="36576" rtlCol="0" anchor="ctr">
            <a:noAutofit/>
          </a:bodyPr>
          <a:lstStyle/>
          <a:p>
            <a:pPr marL="0" indent="0" algn="ctr">
              <a:lnSpc>
                <a:spcPct val="100000"/>
              </a:lnSpc>
              <a:spcBef>
                <a:spcPts val="0"/>
              </a:spcBef>
              <a:spcAft>
                <a:spcPts val="0"/>
              </a:spcAft>
              <a:buNone/>
            </a:pPr>
            <a:r>
              <a:rPr lang="en-US" sz="1200" b="1" i="0" dirty="0">
                <a:solidFill>
                  <a:schemeClr val="bg1"/>
                </a:solidFill>
              </a:rPr>
              <a:t xml:space="preserve">P&amp;H</a:t>
            </a:r>
            <a:endParaRPr lang="en-US" sz="1200" dirty="0"/>
          </a:p>
        </p:txBody>
      </p:sp>
      <p:sp>
        <p:nvSpPr>
          <p:cNvPr id="7" name="Book WS" descr="Book thumbnail: WS"/>
          <p:cNvSpPr/>
          <p:nvPr/>
        </p:nvSpPr>
        <p:spPr>
          <a:xfrm>
            <a:off x="7635240" y="1325880"/>
            <a:ext cx="621792" cy="1554480"/>
          </a:xfrm>
          <a:prstGeom prst="roundRect">
            <a:avLst>
              <a:gd name="adj" fmla="val 8000"/>
            </a:avLst>
          </a:prstGeom>
          <a:solidFill>
            <a:schemeClr val="tx2"/>
          </a:solidFill>
          <a:ln>
            <a:noFill/>
          </a:ln>
        </p:spPr>
        <p:txBody>
          <a:bodyPr wrap="square" lIns="73152" tIns="36576" rIns="73152" bIns="36576" rtlCol="0" anchor="ctr">
            <a:noAutofit/>
          </a:bodyPr>
          <a:lstStyle/>
          <a:p>
            <a:pPr marL="0" indent="0" algn="ctr">
              <a:lnSpc>
                <a:spcPct val="100000"/>
              </a:lnSpc>
              <a:spcBef>
                <a:spcPts val="0"/>
              </a:spcBef>
              <a:spcAft>
                <a:spcPts val="0"/>
              </a:spcAft>
              <a:buNone/>
            </a:pPr>
            <a:r>
              <a:rPr lang="en-US" sz="1200" b="1" i="0" dirty="0">
                <a:solidFill>
                  <a:schemeClr val="bg1"/>
                </a:solidFill>
              </a:rPr>
              <a:t xml:space="preserve">WS</a:t>
            </a:r>
            <a:endParaRPr lang="en-US" sz="1200" dirty="0"/>
          </a:p>
        </p:txBody>
      </p:sp>
      <p:sp>
        <p:nvSpPr>
          <p:cNvPr id="8" name="Book CH" descr="Book thumbnail: CH"/>
          <p:cNvSpPr/>
          <p:nvPr/>
        </p:nvSpPr>
        <p:spPr>
          <a:xfrm>
            <a:off x="8366760" y="1325880"/>
            <a:ext cx="621792" cy="1554480"/>
          </a:xfrm>
          <a:prstGeom prst="roundRect">
            <a:avLst>
              <a:gd name="adj" fmla="val 8000"/>
            </a:avLst>
          </a:prstGeom>
          <a:solidFill>
            <a:schemeClr val="accent4"/>
          </a:solidFill>
          <a:ln>
            <a:noFill/>
          </a:ln>
        </p:spPr>
        <p:txBody>
          <a:bodyPr wrap="square" lIns="73152" tIns="36576" rIns="73152" bIns="36576" rtlCol="0" anchor="ctr">
            <a:noAutofit/>
          </a:bodyPr>
          <a:lstStyle/>
          <a:p>
            <a:pPr marL="0" indent="0" algn="ctr">
              <a:lnSpc>
                <a:spcPct val="100000"/>
              </a:lnSpc>
              <a:spcBef>
                <a:spcPts val="0"/>
              </a:spcBef>
              <a:spcAft>
                <a:spcPts val="0"/>
              </a:spcAft>
              <a:buNone/>
            </a:pPr>
            <a:r>
              <a:rPr lang="en-US" sz="1200" b="1" i="0" dirty="0">
                <a:solidFill>
                  <a:schemeClr val="bg1"/>
                </a:solidFill>
              </a:rPr>
              <a:t xml:space="preserve">CH</a:t>
            </a:r>
            <a:endParaRPr lang="en-US" sz="1200" dirty="0"/>
          </a:p>
        </p:txBody>
      </p:sp>
      <p:sp>
        <p:nvSpPr>
          <p:cNvPr id="9" name="Book pages"/>
          <p:cNvSpPr/>
          <p:nvPr/>
        </p:nvSpPr>
        <p:spPr>
          <a:xfrm>
            <a:off x="6903720" y="2926080"/>
            <a:ext cx="2084832" cy="54864"/>
          </a:xfrm>
          <a:prstGeom prst="rect">
            <a:avLst/>
          </a:prstGeom>
          <a:solidFill>
            <a:srgbClr val="C9D3D7"/>
          </a:solidFill>
          <a:ln>
            <a:noFill/>
          </a:ln>
        </p:spPr>
      </p:sp>
      <p:sp>
        <p:nvSpPr>
          <p:cNvPr id="10" name="Thank-you card"/>
          <p:cNvSpPr/>
          <p:nvPr/>
        </p:nvSpPr>
        <p:spPr>
          <a:xfrm>
            <a:off x="640080" y="4160520"/>
            <a:ext cx="8321040" cy="2057400"/>
          </a:xfrm>
          <a:prstGeom prst="roundRect">
            <a:avLst>
              <a:gd name="adj" fmla="val 6000"/>
            </a:avLst>
          </a:prstGeom>
          <a:solidFill>
            <a:schemeClr val="tx2"/>
          </a:solidFill>
          <a:ln>
            <a:noFill/>
          </a:ln>
        </p:spPr>
      </p:sp>
      <p:sp>
        <p:nvSpPr>
          <p:cNvPr id="11" name="Thank you"/>
          <p:cNvSpPr txBox="1"/>
          <p:nvPr/>
        </p:nvSpPr>
        <p:spPr>
          <a:xfrm>
            <a:off x="960120" y="4343400"/>
            <a:ext cx="6217920" cy="68580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2600" b="1" i="0" dirty="0">
                <a:solidFill>
                  <a:schemeClr val="bg1"/>
                </a:solidFill>
              </a:rPr>
              <a:t xml:space="preserve">Thank you for your attention</a:t>
            </a:r>
            <a:endParaRPr lang="en-US" sz="2600" dirty="0"/>
          </a:p>
        </p:txBody>
      </p:sp>
      <p:sp>
        <p:nvSpPr>
          <p:cNvPr id="12" name="Questions"/>
          <p:cNvSpPr txBox="1"/>
          <p:nvPr/>
        </p:nvSpPr>
        <p:spPr>
          <a:xfrm>
            <a:off x="960120" y="5029200"/>
            <a:ext cx="5760720" cy="45720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800" b="1" i="0" dirty="0">
                <a:solidFill>
                  <a:schemeClr val="accent1"/>
                </a:solidFill>
              </a:rPr>
              <a:t xml:space="preserve">Questions are welcome.</a:t>
            </a:r>
            <a:endParaRPr lang="en-US" sz="1800" dirty="0"/>
          </a:p>
        </p:txBody>
      </p:sp>
      <p:sp>
        <p:nvSpPr>
          <p:cNvPr id="13" name="Presenter"/>
          <p:cNvSpPr txBox="1"/>
          <p:nvPr/>
        </p:nvSpPr>
        <p:spPr>
          <a:xfrm>
            <a:off x="960120" y="5577840"/>
            <a:ext cx="6217920" cy="41148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US" sz="1400" b="0" i="0" dirty="0">
                <a:solidFill>
                  <a:schemeClr val="bg1"/>
                </a:solidFill>
              </a:rPr>
              <a:t xml:space="preserve">Sayantan Bharati  |  BWU/BTS/25/503  |  Section B</a:t>
            </a:r>
            <a:endParaRPr lang="en-US" sz="1400" dirty="0"/>
          </a:p>
        </p:txBody>
      </p:sp>
      <p:sp>
        <p:nvSpPr>
          <p:cNvPr id="14" name="Q&amp;A badge" descr="Question and answer icon"/>
          <p:cNvSpPr/>
          <p:nvPr/>
        </p:nvSpPr>
        <p:spPr>
          <a:xfrm>
            <a:off x="7452360" y="4526280"/>
            <a:ext cx="1325880" cy="1325880"/>
          </a:xfrm>
          <a:prstGeom prst="ellipse">
            <a:avLst/>
          </a:prstGeom>
          <a:solidFill>
            <a:schemeClr val="accent1"/>
          </a:solidFill>
          <a:ln>
            <a:noFill/>
          </a:ln>
        </p:spPr>
        <p:txBody>
          <a:bodyPr wrap="square" lIns="0" tIns="0" rIns="0" bIns="0" rtlCol="0" anchor="ctr">
            <a:noAutofit/>
          </a:bodyPr>
          <a:lstStyle/>
          <a:p>
            <a:pPr marL="0" indent="0" algn="ctr">
              <a:lnSpc>
                <a:spcPct val="100000"/>
              </a:lnSpc>
              <a:spcBef>
                <a:spcPts val="0"/>
              </a:spcBef>
              <a:spcAft>
                <a:spcPts val="0"/>
              </a:spcAft>
              <a:buNone/>
            </a:pPr>
            <a:r>
              <a:rPr lang="en-US" sz="2200" b="1" i="0" dirty="0">
                <a:solidFill>
                  <a:schemeClr val="tx2"/>
                </a:solidFill>
              </a:rPr>
              <a:t xml:space="preserve">Q&amp;A</a:t>
            </a:r>
            <a:endParaRPr lang="en-US" sz="2200" dirty="0"/>
          </a:p>
        </p:txBody>
      </p:sp>
    </p:spTree>
  </p:cSld>
  <p:clrMapOvr>
    <a:masterClrMapping/>
  </p:clrMapOvr>
</p:sld>
</file>

<file path=ppt/theme/theme1.xml><?xml version="1.0" encoding="utf-8"?>
<a:theme xmlns:a="http://schemas.openxmlformats.org/drawingml/2006/main" name="Green Facet">
  <a:themeElements>
    <a:clrScheme name="Green 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6B9F25"/>
      </a:hlink>
      <a:folHlink>
        <a:srgbClr val="BA6906"/>
      </a:folHlink>
    </a:clrScheme>
    <a:fontScheme name="Green Facet">
      <a:majorFont>
        <a:latin typeface="Trebuchet M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buchet M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Decibel Sound Level Indicator with Peak-Hold</dc:title>
  <dc:subject>Computer Organization &amp; Architecture (BTS30101)</dc:subject>
  <dc:creator>Sayantan Bharati</dc:creator>
  <cp:lastModifiedBy>Sayantan Bharati</cp:lastModifiedBy>
  <cp:revision>1</cp:revision>
  <dcterms:created xsi:type="dcterms:W3CDTF">2026-10-04T04:28:14Z</dcterms:created>
  <dcterms:modified xsi:type="dcterms:W3CDTF">2026-10-04T04:28:14Z</dcterms:modified>
</cp:coreProperties>
</file>