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007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a digital sound level meter with peak-hold, written in VHDL. This presentation focuses on the digital design only: the entity, the registers, the comparator and the testbench.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non-digital slide. The microphone, amplifier and ADC are abstracted into one box. From the din bus onward, everything is VHDL and register-level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entity is the hardware boundary. A clock, a reset and an 8-bit sample come in. Two 8-bit values go out: the registered sample and the held peak.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hardware. The sample is captured into a variable d. It goes straight to the db register. In parallel, a comparator checks d against p, and p is the register that remembers the peak, fed back into the comparator.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design lives in one clocked process. The reset is checked inside the clock edge, so it is synchronous. Reset forces both outputs and the internal peak register to zero.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peak-hold. If the new sample is larger than the stored one, overwrite it. Otherwise the register keeps its value. Nothing else is needed, and p can only go down through reset.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subtle point in the code. d is a variable, so it updates immediately. p is a signal, so peak sees the old value of p. The table shows it: at 125 ns p becomes 30 but peak still shows 10. One clock later peak shows 30.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testbench has no ports. It instantiates the design, generates a 10 nanosecond clock, applies reset, then drives ten sample values for 100 nanoseconds each, with a second reset in the middle of the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two rows. The sample values go up to 90, then drop to 60 and 40, and the peak stays at 90. A0 raises the peak. The reset clears it to zero, and the next sample, 80, starts a new peak.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registers, a comparator, clocked logic and a synchronous reset are enough to build a working peak-hold. The natural next steps are a log lookup table for true decibel output and a hold timer. Thank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
        <p:nvSpPr>
          <p:cNvPr id="12" name="deco left"/>
          <p:cNvSpPr/>
          <p:nvPr/>
        </p:nvSpPr>
        <p:spPr>
          <a:xfrm>
            <a:off x="0" y="0"/>
            <a:ext cx="838200" cy="5667375"/>
          </a:xfrm>
          <a:custGeom>
            <a:avLst/>
            <a:gdLst/>
            <a:ahLst/>
            <a:cxnLst/>
            <a:rect l="l" t="t" r="r" b="b"/>
            <a:pathLst>
              <a:path w="838200" h="5667375">
                <a:moveTo>
                  <a:pt x="838200" y="0"/>
                </a:moveTo>
                <a:lnTo>
                  <a:pt x="0" y="5667375"/>
                </a:lnTo>
                <a:lnTo>
                  <a:pt x="0" y="0"/>
                </a:lnTo>
                <a:close/>
              </a:path>
            </a:pathLst>
          </a:custGeom>
          <a:solidFill>
            <a:srgbClr val="90C226">
              <a:alpha val="85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ayout">
    <p:bg>
      <p:bgPr>
        <a:solidFill>
          <a:srgbClr val="FFFFFF"/>
        </a:solidFill>
        <a:effectLst/>
      </p:bgPr>
    </p:bg>
    <p:spTree>
      <p:nvGrpSpPr>
        <p:cNvPr id="1" name=""/>
        <p:cNvGrpSpPr/>
        <p:nvPr/>
      </p:nvGrpSpPr>
      <p:grpSpPr>
        <a:xfrm>
          <a:off x="0" y="0"/>
          <a:ext cx="0" cy="0"/>
          <a:chOff x="0" y="0"/>
          <a:chExt cx="0" cy="0"/>
        </a:xfrm>
      </p:grpSpPr>
      <p:sp>
        <p:nvSpPr>
          <p:cNvPr id="3" name="deco line 1"/>
          <p:cNvSpPr/>
          <p:nvPr/>
        </p:nvSpPr>
        <p:spPr>
          <a:xfrm>
            <a:off x="9377680" y="0"/>
            <a:ext cx="1219200" cy="6858000"/>
          </a:xfrm>
          <a:prstGeom prst="line">
            <a:avLst/>
          </a:prstGeom>
          <a:noFill/>
          <a:ln w="9525">
            <a:solidFill>
              <a:srgbClr val="BFBFBF"/>
            </a:solidFill>
            <a:prstDash val="solid"/>
          </a:ln>
        </p:spPr>
        <p:txBody>
          <a:bodyPr/>
          <a:lstStyle/>
          <a:p>
            <a:endParaRPr lang="en-IN"/>
          </a:p>
        </p:txBody>
      </p:sp>
      <p:sp>
        <p:nvSpPr>
          <p:cNvPr id="4" name="deco line 2"/>
          <p:cNvSpPr/>
          <p:nvPr/>
        </p:nvSpPr>
        <p:spPr>
          <a:xfrm flipV="1">
            <a:off x="7434580" y="3690620"/>
            <a:ext cx="4763770" cy="3167380"/>
          </a:xfrm>
          <a:prstGeom prst="line">
            <a:avLst/>
          </a:prstGeom>
          <a:noFill/>
          <a:ln w="9525">
            <a:solidFill>
              <a:srgbClr val="D9D9D9"/>
            </a:solidFill>
            <a:prstDash val="solid"/>
          </a:ln>
        </p:spPr>
        <p:txBody>
          <a:bodyPr/>
          <a:lstStyle/>
          <a:p>
            <a:endParaRPr lang="en-IN"/>
          </a:p>
        </p:txBody>
      </p:sp>
      <p:sp>
        <p:nvSpPr>
          <p:cNvPr id="5" name="deco r1"/>
          <p:cNvSpPr/>
          <p:nvPr/>
        </p:nvSpPr>
        <p:spPr>
          <a:xfrm>
            <a:off x="9182100" y="0"/>
            <a:ext cx="3009900" cy="6858000"/>
          </a:xfrm>
          <a:custGeom>
            <a:avLst/>
            <a:gdLst/>
            <a:ahLst/>
            <a:cxnLst/>
            <a:rect l="l" t="t" r="r" b="b"/>
            <a:pathLst>
              <a:path w="3009900" h="6858000">
                <a:moveTo>
                  <a:pt x="2047240" y="0"/>
                </a:moveTo>
                <a:lnTo>
                  <a:pt x="3009900" y="0"/>
                </a:lnTo>
                <a:lnTo>
                  <a:pt x="3009900" y="6858000"/>
                </a:lnTo>
                <a:lnTo>
                  <a:pt x="0" y="6858000"/>
                </a:lnTo>
                <a:close/>
              </a:path>
            </a:pathLst>
          </a:custGeom>
          <a:solidFill>
            <a:srgbClr val="90C226">
              <a:alpha val="30000"/>
            </a:srgbClr>
          </a:solidFill>
          <a:ln/>
        </p:spPr>
        <p:txBody>
          <a:bodyPr/>
          <a:lstStyle/>
          <a:p>
            <a:endParaRPr lang="en-IN"/>
          </a:p>
        </p:txBody>
      </p:sp>
      <p:sp>
        <p:nvSpPr>
          <p:cNvPr id="6" name="deco r2"/>
          <p:cNvSpPr/>
          <p:nvPr/>
        </p:nvSpPr>
        <p:spPr>
          <a:xfrm>
            <a:off x="9601200" y="0"/>
            <a:ext cx="2590800" cy="6858000"/>
          </a:xfrm>
          <a:custGeom>
            <a:avLst/>
            <a:gdLst/>
            <a:ahLst/>
            <a:cxnLst/>
            <a:rect l="l" t="t" r="r" b="b"/>
            <a:pathLst>
              <a:path w="2590800" h="6858000">
                <a:moveTo>
                  <a:pt x="0" y="0"/>
                </a:moveTo>
                <a:lnTo>
                  <a:pt x="2590800" y="0"/>
                </a:lnTo>
                <a:lnTo>
                  <a:pt x="2590800" y="6858000"/>
                </a:lnTo>
                <a:lnTo>
                  <a:pt x="1210310" y="6858000"/>
                </a:lnTo>
                <a:close/>
              </a:path>
            </a:pathLst>
          </a:custGeom>
          <a:solidFill>
            <a:srgbClr val="90C226">
              <a:alpha val="20000"/>
            </a:srgbClr>
          </a:solidFill>
          <a:ln/>
        </p:spPr>
        <p:txBody>
          <a:bodyPr/>
          <a:lstStyle/>
          <a:p>
            <a:endParaRPr lang="en-IN"/>
          </a:p>
        </p:txBody>
      </p:sp>
      <p:sp>
        <p:nvSpPr>
          <p:cNvPr id="7" name="deco r3"/>
          <p:cNvSpPr/>
          <p:nvPr/>
        </p:nvSpPr>
        <p:spPr>
          <a:xfrm>
            <a:off x="8934450" y="3048000"/>
            <a:ext cx="3257550" cy="3810000"/>
          </a:xfrm>
          <a:custGeom>
            <a:avLst/>
            <a:gdLst/>
            <a:ahLst/>
            <a:cxnLst/>
            <a:rect l="l" t="t" r="r" b="b"/>
            <a:pathLst>
              <a:path w="3257550" h="3810000">
                <a:moveTo>
                  <a:pt x="0" y="3810000"/>
                </a:moveTo>
                <a:lnTo>
                  <a:pt x="3257550" y="0"/>
                </a:lnTo>
                <a:lnTo>
                  <a:pt x="3257550" y="3810000"/>
                </a:lnTo>
                <a:close/>
              </a:path>
            </a:pathLst>
          </a:custGeom>
          <a:solidFill>
            <a:srgbClr val="54A021">
              <a:alpha val="72000"/>
            </a:srgbClr>
          </a:solidFill>
          <a:ln/>
        </p:spPr>
        <p:txBody>
          <a:bodyPr/>
          <a:lstStyle/>
          <a:p>
            <a:endParaRPr lang="en-IN"/>
          </a:p>
        </p:txBody>
      </p:sp>
      <p:sp>
        <p:nvSpPr>
          <p:cNvPr id="8" name="deco r4"/>
          <p:cNvSpPr/>
          <p:nvPr/>
        </p:nvSpPr>
        <p:spPr>
          <a:xfrm>
            <a:off x="9334500" y="0"/>
            <a:ext cx="2857500" cy="6858000"/>
          </a:xfrm>
          <a:custGeom>
            <a:avLst/>
            <a:gdLst/>
            <a:ahLst/>
            <a:cxnLst/>
            <a:rect l="l" t="t" r="r" b="b"/>
            <a:pathLst>
              <a:path w="2857500" h="6858000">
                <a:moveTo>
                  <a:pt x="0" y="0"/>
                </a:moveTo>
                <a:lnTo>
                  <a:pt x="2857500" y="0"/>
                </a:lnTo>
                <a:lnTo>
                  <a:pt x="2857500" y="6858000"/>
                </a:lnTo>
                <a:lnTo>
                  <a:pt x="2473960" y="6858000"/>
                </a:lnTo>
                <a:close/>
              </a:path>
            </a:pathLst>
          </a:custGeom>
          <a:solidFill>
            <a:srgbClr val="3F7819">
              <a:alpha val="70000"/>
            </a:srgbClr>
          </a:solidFill>
          <a:ln/>
        </p:spPr>
        <p:txBody>
          <a:bodyPr/>
          <a:lstStyle/>
          <a:p>
            <a:endParaRPr lang="en-IN"/>
          </a:p>
        </p:txBody>
      </p:sp>
      <p:sp>
        <p:nvSpPr>
          <p:cNvPr id="9" name="deco r5"/>
          <p:cNvSpPr/>
          <p:nvPr/>
        </p:nvSpPr>
        <p:spPr>
          <a:xfrm>
            <a:off x="10896600" y="0"/>
            <a:ext cx="1295400" cy="6858000"/>
          </a:xfrm>
          <a:custGeom>
            <a:avLst/>
            <a:gdLst/>
            <a:ahLst/>
            <a:cxnLst/>
            <a:rect l="l" t="t" r="r" b="b"/>
            <a:pathLst>
              <a:path w="1295400" h="6858000">
                <a:moveTo>
                  <a:pt x="1023620" y="0"/>
                </a:moveTo>
                <a:lnTo>
                  <a:pt x="1295400" y="0"/>
                </a:lnTo>
                <a:lnTo>
                  <a:pt x="1295400" y="6858000"/>
                </a:lnTo>
                <a:lnTo>
                  <a:pt x="0" y="6858000"/>
                </a:lnTo>
                <a:close/>
              </a:path>
            </a:pathLst>
          </a:custGeom>
          <a:solidFill>
            <a:srgbClr val="C0E474">
              <a:alpha val="70000"/>
            </a:srgbClr>
          </a:solidFill>
          <a:ln/>
        </p:spPr>
        <p:txBody>
          <a:bodyPr/>
          <a:lstStyle/>
          <a:p>
            <a:endParaRPr lang="en-IN"/>
          </a:p>
        </p:txBody>
      </p:sp>
      <p:sp>
        <p:nvSpPr>
          <p:cNvPr id="10" name="deco r6"/>
          <p:cNvSpPr/>
          <p:nvPr/>
        </p:nvSpPr>
        <p:spPr>
          <a:xfrm>
            <a:off x="10934700" y="0"/>
            <a:ext cx="1257300" cy="6858000"/>
          </a:xfrm>
          <a:custGeom>
            <a:avLst/>
            <a:gdLst/>
            <a:ahLst/>
            <a:cxnLst/>
            <a:rect l="l" t="t" r="r" b="b"/>
            <a:pathLst>
              <a:path w="1257300" h="6858000">
                <a:moveTo>
                  <a:pt x="0" y="0"/>
                </a:moveTo>
                <a:lnTo>
                  <a:pt x="1257300" y="0"/>
                </a:lnTo>
                <a:lnTo>
                  <a:pt x="1257300" y="6858000"/>
                </a:lnTo>
                <a:lnTo>
                  <a:pt x="1116330" y="6858000"/>
                </a:lnTo>
                <a:close/>
              </a:path>
            </a:pathLst>
          </a:custGeom>
          <a:solidFill>
            <a:srgbClr val="90C226">
              <a:alpha val="65000"/>
            </a:srgbClr>
          </a:solidFill>
          <a:ln/>
        </p:spPr>
        <p:txBody>
          <a:bodyPr/>
          <a:lstStyle/>
          <a:p>
            <a:endParaRPr lang="en-IN"/>
          </a:p>
        </p:txBody>
      </p:sp>
      <p:sp>
        <p:nvSpPr>
          <p:cNvPr id="11" name="deco r7"/>
          <p:cNvSpPr/>
          <p:nvPr/>
        </p:nvSpPr>
        <p:spPr>
          <a:xfrm>
            <a:off x="10373360" y="3591560"/>
            <a:ext cx="1818640" cy="3266440"/>
          </a:xfrm>
          <a:custGeom>
            <a:avLst/>
            <a:gdLst/>
            <a:ahLst/>
            <a:cxnLst/>
            <a:rect l="l" t="t" r="r" b="b"/>
            <a:pathLst>
              <a:path w="1818640" h="3266440">
                <a:moveTo>
                  <a:pt x="0" y="3266440"/>
                </a:moveTo>
                <a:lnTo>
                  <a:pt x="1818640" y="0"/>
                </a:lnTo>
                <a:lnTo>
                  <a:pt x="1818640" y="3266440"/>
                </a:lnTo>
                <a:close/>
              </a:path>
            </a:pathLst>
          </a:custGeom>
          <a:solidFill>
            <a:srgbClr val="90C226">
              <a:alpha val="80000"/>
            </a:srgbClr>
          </a:solidFill>
          <a:ln/>
        </p:spPr>
        <p:txBody>
          <a:bodyPr/>
          <a:lstStyle/>
          <a:p>
            <a:endParaRPr lang="en-IN"/>
          </a:p>
        </p:txBody>
      </p:sp>
      <p:sp>
        <p:nvSpPr>
          <p:cNvPr id="12" name="deco left"/>
          <p:cNvSpPr/>
          <p:nvPr/>
        </p:nvSpPr>
        <p:spPr>
          <a:xfrm>
            <a:off x="0" y="4010025"/>
            <a:ext cx="447675" cy="2847975"/>
          </a:xfrm>
          <a:custGeom>
            <a:avLst/>
            <a:gdLst/>
            <a:ahLst/>
            <a:cxnLst/>
            <a:rect l="l" t="t" r="r" b="b"/>
            <a:pathLst>
              <a:path w="447675" h="2847975">
                <a:moveTo>
                  <a:pt x="0" y="2847975"/>
                </a:moveTo>
                <a:lnTo>
                  <a:pt x="0" y="0"/>
                </a:lnTo>
                <a:lnTo>
                  <a:pt x="447675" y="2847975"/>
                </a:lnTo>
                <a:close/>
              </a:path>
            </a:pathLst>
          </a:custGeom>
          <a:solidFill>
            <a:srgbClr val="90C226">
              <a:alpha val="85000"/>
            </a:srgbClr>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A537D1-2FA9-3C66-335F-5DE361E1064E}"/>
              </a:ext>
            </a:extLst>
          </p:cNvPr>
          <p:cNvPicPr>
            <a:picLocks noChangeAspect="1"/>
          </p:cNvPicPr>
          <p:nvPr userDrawn="1"/>
        </p:nvPicPr>
        <p:blipFill>
          <a:blip r:embed="rId5">
            <a:alphaModFix amt="20000"/>
          </a:blip>
          <a:stretch>
            <a:fillRect/>
          </a:stretch>
        </p:blipFill>
        <p:spPr>
          <a:xfrm>
            <a:off x="1755837" y="0"/>
            <a:ext cx="7024053" cy="6858000"/>
          </a:xfrm>
          <a:prstGeom prst="rect">
            <a:avLst/>
          </a:prstGeom>
        </p:spPr>
      </p:pic>
      <p:pic>
        <p:nvPicPr>
          <p:cNvPr id="5" name="Picture 4">
            <a:extLst>
              <a:ext uri="{FF2B5EF4-FFF2-40B4-BE49-F238E27FC236}">
                <a16:creationId xmlns:a16="http://schemas.microsoft.com/office/drawing/2014/main" id="{44F0BA22-FC1B-FC67-D7FA-1D6CFA0058BC}"/>
              </a:ext>
            </a:extLst>
          </p:cNvPr>
          <p:cNvPicPr>
            <a:picLocks noChangeAspect="1"/>
          </p:cNvPicPr>
          <p:nvPr userDrawn="1"/>
        </p:nvPicPr>
        <p:blipFill>
          <a:blip r:embed="rId5"/>
          <a:stretch>
            <a:fillRect/>
          </a:stretch>
        </p:blipFill>
        <p:spPr>
          <a:xfrm>
            <a:off x="34504" y="34504"/>
            <a:ext cx="506556" cy="49458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Sayantan-B-dev/SM_BtechSyllabusBWU/tree/main/3rdSem/Assignments/pptx/coa/code"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p:cNvSpPr txBox="1"/>
          <p:nvPr/>
        </p:nvSpPr>
        <p:spPr>
          <a:xfrm>
            <a:off x="1280160" y="1371600"/>
            <a:ext cx="7498080" cy="1737360"/>
          </a:xfrm>
          <a:prstGeom prst="rect">
            <a:avLst/>
          </a:prstGeom>
          <a:noFill/>
          <a:ln>
            <a:noFill/>
          </a:ln>
        </p:spPr>
        <p:txBody>
          <a:bodyPr wrap="square" lIns="0" tIns="0" rIns="0" bIns="0" anchor="b">
            <a:noAutofit/>
          </a:bodyPr>
          <a:lstStyle/>
          <a:p>
            <a:r>
              <a:rPr lang="en-IN" sz="4000" b="1" dirty="0"/>
              <a:t>Digital Decibel Sound Level Indicator with Peak-Hold</a:t>
            </a:r>
            <a:endParaRPr lang="en-US" sz="4000" b="1" i="0" dirty="0">
              <a:solidFill>
                <a:srgbClr val="2C3C43"/>
              </a:solidFill>
            </a:endParaRPr>
          </a:p>
        </p:txBody>
      </p:sp>
      <p:sp>
        <p:nvSpPr>
          <p:cNvPr id="4" name="Subtitle"/>
          <p:cNvSpPr txBox="1"/>
          <p:nvPr/>
        </p:nvSpPr>
        <p:spPr>
          <a:xfrm>
            <a:off x="1280160" y="3246120"/>
            <a:ext cx="7498080" cy="457200"/>
          </a:xfrm>
          <a:prstGeom prst="rect">
            <a:avLst/>
          </a:prstGeom>
          <a:noFill/>
          <a:ln>
            <a:noFill/>
          </a:ln>
        </p:spPr>
        <p:txBody>
          <a:bodyPr wrap="square" lIns="0" tIns="0" rIns="0" bIns="0" anchor="t">
            <a:noAutofit/>
          </a:bodyPr>
          <a:lstStyle/>
          <a:p>
            <a:pPr algn="l">
              <a:spcBef>
                <a:spcPts val="0"/>
              </a:spcBef>
              <a:spcAft>
                <a:spcPts val="0"/>
              </a:spcAft>
            </a:pPr>
            <a:r>
              <a:rPr lang="en-US" sz="2000" b="0" i="0" dirty="0">
                <a:solidFill>
                  <a:srgbClr val="4E7A12"/>
                </a:solidFill>
              </a:rPr>
              <a:t>A register-level design in VHDL</a:t>
            </a:r>
          </a:p>
        </p:txBody>
      </p:sp>
      <p:sp>
        <p:nvSpPr>
          <p:cNvPr id="5" name="Details"/>
          <p:cNvSpPr txBox="1"/>
          <p:nvPr/>
        </p:nvSpPr>
        <p:spPr>
          <a:xfrm>
            <a:off x="1280160" y="4023360"/>
            <a:ext cx="7315200" cy="1737360"/>
          </a:xfrm>
          <a:prstGeom prst="rect">
            <a:avLst/>
          </a:prstGeom>
          <a:noFill/>
          <a:ln>
            <a:noFill/>
          </a:ln>
        </p:spPr>
        <p:txBody>
          <a:bodyPr wrap="square" lIns="0" tIns="0" rIns="0" bIns="0" anchor="t">
            <a:noAutofit/>
          </a:bodyPr>
          <a:lstStyle/>
          <a:p>
            <a:pPr algn="l">
              <a:spcBef>
                <a:spcPts val="0"/>
              </a:spcBef>
              <a:spcAft>
                <a:spcPts val="300"/>
              </a:spcAft>
            </a:pPr>
            <a:r>
              <a:rPr lang="en-US" sz="1400" b="1" i="0" dirty="0">
                <a:solidFill>
                  <a:srgbClr val="2C3C43"/>
                </a:solidFill>
              </a:rPr>
              <a:t>Computer Organization &amp; Architecture (BTS30101)</a:t>
            </a:r>
          </a:p>
          <a:p>
            <a:pPr algn="l">
              <a:spcBef>
                <a:spcPts val="0"/>
              </a:spcBef>
              <a:spcAft>
                <a:spcPts val="300"/>
              </a:spcAft>
            </a:pPr>
            <a:r>
              <a:rPr lang="en-US" sz="1400" b="0" i="0" dirty="0">
                <a:solidFill>
                  <a:srgbClr val="2C3C43"/>
                </a:solidFill>
              </a:rPr>
              <a:t>Sayantan Bharati  |  BWU/BTS/25/503  |  Section B</a:t>
            </a:r>
          </a:p>
          <a:p>
            <a:pPr algn="l">
              <a:spcBef>
                <a:spcPts val="0"/>
              </a:spcBef>
              <a:spcAft>
                <a:spcPts val="300"/>
              </a:spcAft>
            </a:pPr>
            <a:r>
              <a:rPr lang="en-US" sz="1400" b="0" i="0" dirty="0">
                <a:solidFill>
                  <a:srgbClr val="2C3C43"/>
                </a:solidFill>
              </a:rPr>
              <a:t>B.Tech CSE, Batch 2025  |  Faculty: Dr. Subhankar Shome</a:t>
            </a:r>
          </a:p>
          <a:p>
            <a:pPr algn="l">
              <a:spcBef>
                <a:spcPts val="0"/>
              </a:spcBef>
              <a:spcAft>
                <a:spcPts val="0"/>
              </a:spcAft>
            </a:pPr>
            <a:r>
              <a:rPr lang="en-US" sz="1400" b="0" i="0" dirty="0">
                <a:solidFill>
                  <a:srgbClr val="2C3C43"/>
                </a:solidFill>
              </a:rPr>
              <a:t>Brainware University  |  03-11-2026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Where the Design Starts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The analog world ends at one 8-bit bus</a:t>
            </a:r>
          </a:p>
        </p:txBody>
      </p:sp>
      <p:sp>
        <p:nvSpPr>
          <p:cNvPr id="5" name="Analog block"/>
          <p:cNvSpPr/>
          <p:nvPr/>
        </p:nvSpPr>
        <p:spPr>
          <a:xfrm>
            <a:off x="731520" y="2057400"/>
            <a:ext cx="2011680" cy="1097280"/>
          </a:xfrm>
          <a:prstGeom prst="roundRect">
            <a:avLst>
              <a:gd name="adj" fmla="val 8000"/>
            </a:avLst>
          </a:prstGeom>
          <a:solidFill>
            <a:srgbClr val="FFFFFF"/>
          </a:solidFill>
          <a:ln w="12700">
            <a:solidFill>
              <a:srgbClr val="6B7A80"/>
            </a:solidFill>
            <a:prstDash val="dash"/>
          </a:ln>
        </p:spPr>
        <p:txBody>
          <a:bodyPr wrap="square" lIns="91440" tIns="91440" rIns="91440" bIns="91440" anchor="ctr">
            <a:noAutofit/>
          </a:bodyPr>
          <a:lstStyle/>
          <a:p>
            <a:pPr algn="ctr">
              <a:spcBef>
                <a:spcPts val="0"/>
              </a:spcBef>
              <a:spcAft>
                <a:spcPts val="300"/>
              </a:spcAft>
            </a:pPr>
            <a:r>
              <a:rPr lang="en-US" sz="1400" b="0" i="0" dirty="0">
                <a:solidFill>
                  <a:srgbClr val="6B7A80"/>
                </a:solidFill>
              </a:rPr>
              <a:t>Mic, amp, filter, ADC</a:t>
            </a:r>
          </a:p>
          <a:p>
            <a:pPr algn="ctr">
              <a:spcBef>
                <a:spcPts val="0"/>
              </a:spcBef>
              <a:spcAft>
                <a:spcPts val="0"/>
              </a:spcAft>
            </a:pPr>
            <a:r>
              <a:rPr lang="en-US" sz="1200" b="0" i="1" dirty="0">
                <a:solidFill>
                  <a:srgbClr val="6B7A80"/>
                </a:solidFill>
              </a:rPr>
              <a:t>analog, abstracted</a:t>
            </a:r>
          </a:p>
        </p:txBody>
      </p:sp>
      <p:cxnSp>
        <p:nvCxnSpPr>
          <p:cNvPr id="6" name="A1"/>
          <p:cNvCxnSpPr/>
          <p:nvPr/>
        </p:nvCxnSpPr>
        <p:spPr>
          <a:xfrm>
            <a:off x="2743200" y="2606040"/>
            <a:ext cx="731520" cy="0"/>
          </a:xfrm>
          <a:prstGeom prst="line">
            <a:avLst/>
          </a:prstGeom>
          <a:ln w="22225">
            <a:solidFill>
              <a:srgbClr val="2C3C43"/>
            </a:solidFill>
            <a:tailEnd type="triangle"/>
          </a:ln>
        </p:spPr>
      </p:cxnSp>
      <p:sp>
        <p:nvSpPr>
          <p:cNvPr id="7" name="din label"/>
          <p:cNvSpPr txBox="1"/>
          <p:nvPr/>
        </p:nvSpPr>
        <p:spPr>
          <a:xfrm>
            <a:off x="2697480" y="2194560"/>
            <a:ext cx="868680" cy="320040"/>
          </a:xfrm>
          <a:prstGeom prst="rect">
            <a:avLst/>
          </a:prstGeom>
          <a:noFill/>
          <a:ln>
            <a:noFill/>
          </a:ln>
        </p:spPr>
        <p:txBody>
          <a:bodyPr wrap="square" lIns="0" tIns="0" rIns="0" bIns="0" anchor="t">
            <a:noAutofit/>
          </a:bodyPr>
          <a:lstStyle/>
          <a:p>
            <a:pPr algn="ctr">
              <a:spcBef>
                <a:spcPts val="0"/>
              </a:spcBef>
              <a:spcAft>
                <a:spcPts val="0"/>
              </a:spcAft>
            </a:pPr>
            <a:r>
              <a:rPr lang="en-US" sz="1200" b="1" i="0" dirty="0">
                <a:solidFill>
                  <a:srgbClr val="4E7A12"/>
                </a:solidFill>
                <a:latin typeface="Courier New"/>
                <a:cs typeface="Courier New"/>
              </a:rPr>
              <a:t>din[7:0]</a:t>
            </a:r>
          </a:p>
        </p:txBody>
      </p:sp>
      <p:sp>
        <p:nvSpPr>
          <p:cNvPr id="8" name="DUT"/>
          <p:cNvSpPr/>
          <p:nvPr/>
        </p:nvSpPr>
        <p:spPr>
          <a:xfrm>
            <a:off x="3474720" y="2057400"/>
            <a:ext cx="2011680" cy="1097280"/>
          </a:xfrm>
          <a:prstGeom prst="roundRect">
            <a:avLst>
              <a:gd name="adj" fmla="val 8000"/>
            </a:avLst>
          </a:prstGeom>
          <a:solidFill>
            <a:srgbClr val="90C226"/>
          </a:solidFill>
          <a:ln>
            <a:noFill/>
          </a:ln>
        </p:spPr>
        <p:txBody>
          <a:bodyPr wrap="square" lIns="91440" tIns="91440" rIns="91440" bIns="91440" anchor="ctr">
            <a:noAutofit/>
          </a:bodyPr>
          <a:lstStyle/>
          <a:p>
            <a:pPr algn="ctr">
              <a:spcBef>
                <a:spcPts val="0"/>
              </a:spcBef>
              <a:spcAft>
                <a:spcPts val="200"/>
              </a:spcAft>
            </a:pPr>
            <a:r>
              <a:rPr lang="en-US" sz="1600" b="1" i="0" dirty="0">
                <a:solidFill>
                  <a:srgbClr val="2C3C43"/>
                </a:solidFill>
              </a:rPr>
              <a:t>sound_meter</a:t>
            </a:r>
          </a:p>
          <a:p>
            <a:pPr algn="ctr">
              <a:spcBef>
                <a:spcPts val="0"/>
              </a:spcBef>
              <a:spcAft>
                <a:spcPts val="0"/>
              </a:spcAft>
            </a:pPr>
            <a:r>
              <a:rPr lang="en-US" sz="1300" b="0" i="0" dirty="0">
                <a:solidFill>
                  <a:srgbClr val="2C3C43"/>
                </a:solidFill>
              </a:rPr>
              <a:t>VHDL, clocked</a:t>
            </a:r>
          </a:p>
        </p:txBody>
      </p:sp>
      <p:cxnSp>
        <p:nvCxnSpPr>
          <p:cNvPr id="9" name="A2"/>
          <p:cNvCxnSpPr/>
          <p:nvPr/>
        </p:nvCxnSpPr>
        <p:spPr>
          <a:xfrm>
            <a:off x="5486400" y="2606040"/>
            <a:ext cx="548640" cy="0"/>
          </a:xfrm>
          <a:prstGeom prst="line">
            <a:avLst/>
          </a:prstGeom>
          <a:ln w="22225">
            <a:solidFill>
              <a:srgbClr val="2C3C43"/>
            </a:solidFill>
            <a:tailEnd type="triangle"/>
          </a:ln>
        </p:spPr>
      </p:cxnSp>
      <p:sp>
        <p:nvSpPr>
          <p:cNvPr id="10" name="db"/>
          <p:cNvSpPr/>
          <p:nvPr/>
        </p:nvSpPr>
        <p:spPr>
          <a:xfrm>
            <a:off x="6035040" y="1920240"/>
            <a:ext cx="1554480" cy="50292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latin typeface="Courier New"/>
                <a:cs typeface="Courier New"/>
              </a:rPr>
              <a:t>db[7:0]</a:t>
            </a:r>
          </a:p>
        </p:txBody>
      </p:sp>
      <p:sp>
        <p:nvSpPr>
          <p:cNvPr id="11" name="peak"/>
          <p:cNvSpPr/>
          <p:nvPr/>
        </p:nvSpPr>
        <p:spPr>
          <a:xfrm>
            <a:off x="6035040" y="2788920"/>
            <a:ext cx="1554480" cy="50292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latin typeface="Courier New"/>
                <a:cs typeface="Courier New"/>
              </a:rPr>
              <a:t>peak[7:0]</a:t>
            </a:r>
          </a:p>
        </p:txBody>
      </p:sp>
      <p:sp>
        <p:nvSpPr>
          <p:cNvPr id="12" name="Assume"/>
          <p:cNvSpPr/>
          <p:nvPr/>
        </p:nvSpPr>
        <p:spPr>
          <a:xfrm>
            <a:off x="731520" y="3749040"/>
            <a:ext cx="2194560" cy="210312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Assume</a:t>
            </a:r>
          </a:p>
          <a:p>
            <a:pPr algn="l">
              <a:spcBef>
                <a:spcPts val="0"/>
              </a:spcBef>
              <a:spcAft>
                <a:spcPts val="200"/>
              </a:spcAft>
            </a:pPr>
            <a:r>
              <a:rPr lang="en-US" sz="1400" b="0" i="0" dirty="0">
                <a:solidFill>
                  <a:srgbClr val="2C3C43"/>
                </a:solidFill>
              </a:rPr>
              <a:t>The ADC hands the design one 8-bit unsigned sample per clock.</a:t>
            </a:r>
          </a:p>
        </p:txBody>
      </p:sp>
      <p:sp>
        <p:nvSpPr>
          <p:cNvPr id="13" name="Study"/>
          <p:cNvSpPr/>
          <p:nvPr/>
        </p:nvSpPr>
        <p:spPr>
          <a:xfrm>
            <a:off x="3108960" y="3749040"/>
            <a:ext cx="2194560" cy="210312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Study</a:t>
            </a:r>
          </a:p>
          <a:p>
            <a:pPr algn="l">
              <a:spcBef>
                <a:spcPts val="0"/>
              </a:spcBef>
              <a:spcAft>
                <a:spcPts val="200"/>
              </a:spcAft>
            </a:pPr>
            <a:r>
              <a:rPr lang="en-US" sz="1400" b="0" i="0" dirty="0">
                <a:solidFill>
                  <a:srgbClr val="2C3C43"/>
                </a:solidFill>
              </a:rPr>
              <a:t>Entity, registers, comparator, synchronous reset, testbench.</a:t>
            </a:r>
          </a:p>
        </p:txBody>
      </p:sp>
      <p:sp>
        <p:nvSpPr>
          <p:cNvPr id="14" name="Skip"/>
          <p:cNvSpPr/>
          <p:nvPr/>
        </p:nvSpPr>
        <p:spPr>
          <a:xfrm>
            <a:off x="5486400" y="3749040"/>
            <a:ext cx="2103120" cy="210312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6B7A80"/>
                </a:solidFill>
              </a:rPr>
              <a:t>Skip</a:t>
            </a:r>
          </a:p>
          <a:p>
            <a:pPr algn="l">
              <a:spcBef>
                <a:spcPts val="0"/>
              </a:spcBef>
              <a:spcAft>
                <a:spcPts val="200"/>
              </a:spcAft>
            </a:pPr>
            <a:r>
              <a:rPr lang="en-US" sz="1400" b="0" i="0" dirty="0">
                <a:solidFill>
                  <a:srgbClr val="2C3C43"/>
                </a:solidFill>
              </a:rPr>
              <a:t>Microphone, amplifier and ADC circuit. Not part of this design.</a:t>
            </a:r>
          </a:p>
        </p:txBody>
      </p:sp>
      <p:sp>
        <p:nvSpPr>
          <p:cNvPr id="15"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The Interface: Entity</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Five ports define the whole design</a:t>
            </a:r>
          </a:p>
        </p:txBody>
      </p:sp>
      <p:sp>
        <p:nvSpPr>
          <p:cNvPr id="5" name="Entity code"/>
          <p:cNvSpPr/>
          <p:nvPr/>
        </p:nvSpPr>
        <p:spPr>
          <a:xfrm>
            <a:off x="731520" y="1783080"/>
            <a:ext cx="6949440" cy="224942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400" b="0" i="0" dirty="0">
                <a:solidFill>
                  <a:srgbClr val="E6ECEF"/>
                </a:solidFill>
                <a:latin typeface="Courier New"/>
                <a:cs typeface="Courier New"/>
              </a:rPr>
              <a:t>entity sound_meter is</a:t>
            </a:r>
          </a:p>
          <a:p>
            <a:pPr algn="l">
              <a:spcBef>
                <a:spcPts val="0"/>
              </a:spcBef>
              <a:spcAft>
                <a:spcPts val="0"/>
              </a:spcAft>
            </a:pPr>
            <a:r>
              <a:rPr lang="en-US" sz="1400" b="0" i="0" dirty="0">
                <a:solidFill>
                  <a:srgbClr val="E6ECEF"/>
                </a:solidFill>
                <a:latin typeface="Courier New"/>
                <a:cs typeface="Courier New"/>
              </a:rPr>
              <a:t>    Port (</a:t>
            </a:r>
          </a:p>
          <a:p>
            <a:pPr algn="l">
              <a:spcBef>
                <a:spcPts val="0"/>
              </a:spcBef>
              <a:spcAft>
                <a:spcPts val="0"/>
              </a:spcAft>
            </a:pPr>
            <a:r>
              <a:rPr lang="en-US" sz="1400" b="0" i="0" dirty="0">
                <a:solidFill>
                  <a:srgbClr val="E6ECEF"/>
                </a:solidFill>
                <a:latin typeface="Courier New"/>
                <a:cs typeface="Courier New"/>
              </a:rPr>
              <a:t>        clk  : in  STD_LOGIC;</a:t>
            </a:r>
          </a:p>
          <a:p>
            <a:pPr algn="l">
              <a:spcBef>
                <a:spcPts val="0"/>
              </a:spcBef>
              <a:spcAft>
                <a:spcPts val="0"/>
              </a:spcAft>
            </a:pPr>
            <a:r>
              <a:rPr lang="en-US" sz="1400" b="0" i="0" dirty="0">
                <a:solidFill>
                  <a:srgbClr val="E6ECEF"/>
                </a:solidFill>
                <a:latin typeface="Courier New"/>
                <a:cs typeface="Courier New"/>
              </a:rPr>
              <a:t>        rst  : in  STD_LOGIC;</a:t>
            </a:r>
          </a:p>
          <a:p>
            <a:pPr algn="l">
              <a:spcBef>
                <a:spcPts val="0"/>
              </a:spcBef>
              <a:spcAft>
                <a:spcPts val="0"/>
              </a:spcAft>
            </a:pPr>
            <a:r>
              <a:rPr lang="en-US" sz="1400" b="0" i="0" dirty="0">
                <a:solidFill>
                  <a:srgbClr val="E6ECEF"/>
                </a:solidFill>
                <a:latin typeface="Courier New"/>
                <a:cs typeface="Courier New"/>
              </a:rPr>
              <a:t>        din  : in  STD_LOGIC_VECTOR(7 downto 0);</a:t>
            </a:r>
          </a:p>
          <a:p>
            <a:pPr algn="l">
              <a:spcBef>
                <a:spcPts val="0"/>
              </a:spcBef>
              <a:spcAft>
                <a:spcPts val="0"/>
              </a:spcAft>
            </a:pPr>
            <a:r>
              <a:rPr lang="en-US" sz="1400" b="0" i="0" dirty="0">
                <a:solidFill>
                  <a:srgbClr val="E6ECEF"/>
                </a:solidFill>
                <a:latin typeface="Courier New"/>
                <a:cs typeface="Courier New"/>
              </a:rPr>
              <a:t>        db   : out STD_LOGIC_VECTOR(7 downto 0);</a:t>
            </a:r>
          </a:p>
          <a:p>
            <a:pPr algn="l">
              <a:spcBef>
                <a:spcPts val="0"/>
              </a:spcBef>
              <a:spcAft>
                <a:spcPts val="0"/>
              </a:spcAft>
            </a:pPr>
            <a:r>
              <a:rPr lang="en-US" sz="1400" b="0" i="0" dirty="0">
                <a:solidFill>
                  <a:srgbClr val="E6ECEF"/>
                </a:solidFill>
                <a:latin typeface="Courier New"/>
                <a:cs typeface="Courier New"/>
              </a:rPr>
              <a:t>        peak : out STD_LOGIC_VECTOR(7 downto 0)</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end sound_meter;</a:t>
            </a:r>
          </a:p>
        </p:txBody>
      </p:sp>
      <p:sp>
        <p:nvSpPr>
          <p:cNvPr id="6" name="Port clk"/>
          <p:cNvSpPr/>
          <p:nvPr/>
        </p:nvSpPr>
        <p:spPr>
          <a:xfrm>
            <a:off x="731520" y="4297680"/>
            <a:ext cx="1325880" cy="1188720"/>
          </a:xfrm>
          <a:prstGeom prst="roundRect">
            <a:avLst>
              <a:gd name="adj" fmla="val 8000"/>
            </a:avLst>
          </a:prstGeom>
          <a:solidFill>
            <a:srgbClr val="F3F5F6"/>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clk</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1 bit</a:t>
            </a:r>
          </a:p>
        </p:txBody>
      </p:sp>
      <p:sp>
        <p:nvSpPr>
          <p:cNvPr id="7" name="Port rst"/>
          <p:cNvSpPr/>
          <p:nvPr/>
        </p:nvSpPr>
        <p:spPr>
          <a:xfrm>
            <a:off x="2148840" y="4297680"/>
            <a:ext cx="1325880" cy="1188720"/>
          </a:xfrm>
          <a:prstGeom prst="roundRect">
            <a:avLst>
              <a:gd name="adj" fmla="val 8000"/>
            </a:avLst>
          </a:prstGeom>
          <a:solidFill>
            <a:srgbClr val="F3F5F6"/>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rst</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1 bit</a:t>
            </a:r>
          </a:p>
        </p:txBody>
      </p:sp>
      <p:sp>
        <p:nvSpPr>
          <p:cNvPr id="8" name="Port din"/>
          <p:cNvSpPr/>
          <p:nvPr/>
        </p:nvSpPr>
        <p:spPr>
          <a:xfrm>
            <a:off x="356616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din</a:t>
            </a:r>
          </a:p>
          <a:p>
            <a:pPr algn="ctr">
              <a:spcBef>
                <a:spcPts val="0"/>
              </a:spcBef>
              <a:spcAft>
                <a:spcPts val="0"/>
              </a:spcAft>
            </a:pPr>
            <a:r>
              <a:rPr lang="en-US" sz="1300" b="1" i="0" dirty="0">
                <a:solidFill>
                  <a:srgbClr val="4E7A12"/>
                </a:solidFill>
              </a:rPr>
              <a:t>in</a:t>
            </a:r>
          </a:p>
          <a:p>
            <a:pPr algn="ctr">
              <a:spcBef>
                <a:spcPts val="0"/>
              </a:spcBef>
              <a:spcAft>
                <a:spcPts val="0"/>
              </a:spcAft>
            </a:pPr>
            <a:r>
              <a:rPr lang="en-US" sz="1300" b="0" i="0" dirty="0">
                <a:solidFill>
                  <a:srgbClr val="2C3C43"/>
                </a:solidFill>
              </a:rPr>
              <a:t>8 bit</a:t>
            </a:r>
          </a:p>
        </p:txBody>
      </p:sp>
      <p:sp>
        <p:nvSpPr>
          <p:cNvPr id="9" name="Port db"/>
          <p:cNvSpPr/>
          <p:nvPr/>
        </p:nvSpPr>
        <p:spPr>
          <a:xfrm>
            <a:off x="498348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db</a:t>
            </a:r>
          </a:p>
          <a:p>
            <a:pPr algn="ctr">
              <a:spcBef>
                <a:spcPts val="0"/>
              </a:spcBef>
              <a:spcAft>
                <a:spcPts val="0"/>
              </a:spcAft>
            </a:pPr>
            <a:r>
              <a:rPr lang="en-US" sz="1300" b="1" i="0" dirty="0">
                <a:solidFill>
                  <a:srgbClr val="4E7A12"/>
                </a:solidFill>
              </a:rPr>
              <a:t>out</a:t>
            </a:r>
          </a:p>
          <a:p>
            <a:pPr algn="ctr">
              <a:spcBef>
                <a:spcPts val="0"/>
              </a:spcBef>
              <a:spcAft>
                <a:spcPts val="0"/>
              </a:spcAft>
            </a:pPr>
            <a:r>
              <a:rPr lang="en-US" sz="1300" b="0" i="0" dirty="0">
                <a:solidFill>
                  <a:srgbClr val="2C3C43"/>
                </a:solidFill>
              </a:rPr>
              <a:t>8 bit</a:t>
            </a:r>
          </a:p>
        </p:txBody>
      </p:sp>
      <p:sp>
        <p:nvSpPr>
          <p:cNvPr id="10" name="Port peak"/>
          <p:cNvSpPr/>
          <p:nvPr/>
        </p:nvSpPr>
        <p:spPr>
          <a:xfrm>
            <a:off x="6400800" y="4297680"/>
            <a:ext cx="1325880" cy="1188720"/>
          </a:xfrm>
          <a:prstGeom prst="roundRect">
            <a:avLst>
              <a:gd name="adj" fmla="val 8000"/>
            </a:avLst>
          </a:prstGeom>
          <a:solidFill>
            <a:srgbClr val="EAF4D3"/>
          </a:solidFill>
          <a:ln>
            <a:noFill/>
          </a:ln>
        </p:spPr>
        <p:txBody>
          <a:bodyPr wrap="square" lIns="45720" tIns="45720" rIns="45720" bIns="45720" anchor="ctr">
            <a:noAutofit/>
          </a:bodyPr>
          <a:lstStyle/>
          <a:p>
            <a:pPr algn="ctr">
              <a:spcBef>
                <a:spcPts val="0"/>
              </a:spcBef>
              <a:spcAft>
                <a:spcPts val="200"/>
              </a:spcAft>
            </a:pPr>
            <a:r>
              <a:rPr lang="en-US" sz="1500" b="1" i="0" dirty="0">
                <a:solidFill>
                  <a:srgbClr val="2C3C43"/>
                </a:solidFill>
                <a:latin typeface="Courier New"/>
                <a:cs typeface="Courier New"/>
              </a:rPr>
              <a:t>peak</a:t>
            </a:r>
          </a:p>
          <a:p>
            <a:pPr algn="ctr">
              <a:spcBef>
                <a:spcPts val="0"/>
              </a:spcBef>
              <a:spcAft>
                <a:spcPts val="0"/>
              </a:spcAft>
            </a:pPr>
            <a:r>
              <a:rPr lang="en-US" sz="1300" b="1" i="0" dirty="0">
                <a:solidFill>
                  <a:srgbClr val="4E7A12"/>
                </a:solidFill>
              </a:rPr>
              <a:t>out</a:t>
            </a:r>
          </a:p>
          <a:p>
            <a:pPr algn="ctr">
              <a:spcBef>
                <a:spcPts val="0"/>
              </a:spcBef>
              <a:spcAft>
                <a:spcPts val="0"/>
              </a:spcAft>
            </a:pPr>
            <a:r>
              <a:rPr lang="en-US" sz="1300" b="0" i="0" dirty="0">
                <a:solidFill>
                  <a:srgbClr val="2C3C43"/>
                </a:solidFill>
              </a:rPr>
              <a:t>8 bit</a:t>
            </a:r>
          </a:p>
        </p:txBody>
      </p:sp>
      <p:sp>
        <p:nvSpPr>
          <p:cNvPr id="11" name="Cap"/>
          <p:cNvSpPr txBox="1"/>
          <p:nvPr/>
        </p:nvSpPr>
        <p:spPr>
          <a:xfrm>
            <a:off x="731520" y="5669280"/>
            <a:ext cx="6949440" cy="36576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6B7A80"/>
                </a:solidFill>
              </a:rPr>
              <a:t>8-bit data width: values 0 to 255.</a:t>
            </a:r>
          </a:p>
        </p:txBody>
      </p:sp>
      <p:sp>
        <p:nvSpPr>
          <p:cNvPr id="12"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Datapath View</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Two registers and one comparator</a:t>
            </a:r>
          </a:p>
        </p:txBody>
      </p:sp>
      <p:sp>
        <p:nvSpPr>
          <p:cNvPr id="5" name="din"/>
          <p:cNvSpPr/>
          <p:nvPr/>
        </p:nvSpPr>
        <p:spPr>
          <a:xfrm>
            <a:off x="731520" y="2468880"/>
            <a:ext cx="914400" cy="640080"/>
          </a:xfrm>
          <a:prstGeom prst="roundRect">
            <a:avLst>
              <a:gd name="adj" fmla="val 8000"/>
            </a:avLst>
          </a:prstGeom>
          <a:solidFill>
            <a:srgbClr val="F3F5F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latin typeface="Courier New"/>
                <a:cs typeface="Courier New"/>
              </a:rPr>
              <a:t>din</a:t>
            </a:r>
          </a:p>
        </p:txBody>
      </p:sp>
      <p:cxnSp>
        <p:nvCxnSpPr>
          <p:cNvPr id="6" name="a1"/>
          <p:cNvCxnSpPr/>
          <p:nvPr/>
        </p:nvCxnSpPr>
        <p:spPr>
          <a:xfrm>
            <a:off x="1645920" y="2788920"/>
            <a:ext cx="548640" cy="0"/>
          </a:xfrm>
          <a:prstGeom prst="line">
            <a:avLst/>
          </a:prstGeom>
          <a:ln w="22225">
            <a:solidFill>
              <a:srgbClr val="2C3C43"/>
            </a:solidFill>
            <a:tailEnd type="triangle"/>
          </a:ln>
        </p:spPr>
      </p:cxnSp>
      <p:sp>
        <p:nvSpPr>
          <p:cNvPr id="7" name="d"/>
          <p:cNvSpPr/>
          <p:nvPr/>
        </p:nvSpPr>
        <p:spPr>
          <a:xfrm>
            <a:off x="2194560" y="2468880"/>
            <a:ext cx="1371600" cy="640080"/>
          </a:xfrm>
          <a:prstGeom prst="roundRect">
            <a:avLst>
              <a:gd name="adj" fmla="val 8000"/>
            </a:avLst>
          </a:prstGeom>
          <a:solidFill>
            <a:srgbClr val="EAF4D3"/>
          </a:solidFill>
          <a:ln>
            <a:noFill/>
          </a:ln>
        </p:spPr>
        <p:txBody>
          <a:bodyPr wrap="square" lIns="27432" tIns="27432" rIns="27432" bIns="27432" anchor="ctr">
            <a:noAutofit/>
          </a:bodyPr>
          <a:lstStyle/>
          <a:p>
            <a:pPr algn="ctr">
              <a:spcBef>
                <a:spcPts val="0"/>
              </a:spcBef>
              <a:spcAft>
                <a:spcPts val="0"/>
              </a:spcAft>
            </a:pPr>
            <a:r>
              <a:rPr lang="en-US" sz="1400" b="1" i="0" dirty="0">
                <a:solidFill>
                  <a:srgbClr val="2C3C43"/>
                </a:solidFill>
                <a:latin typeface="Courier New"/>
                <a:cs typeface="Courier New"/>
              </a:rPr>
              <a:t>d</a:t>
            </a:r>
          </a:p>
          <a:p>
            <a:pPr algn="ctr">
              <a:spcBef>
                <a:spcPts val="0"/>
              </a:spcBef>
              <a:spcAft>
                <a:spcPts val="0"/>
              </a:spcAft>
            </a:pPr>
            <a:r>
              <a:rPr lang="en-US" sz="1100" b="0" i="0" dirty="0">
                <a:solidFill>
                  <a:srgbClr val="6B7A80"/>
                </a:solidFill>
              </a:rPr>
              <a:t>variable</a:t>
            </a:r>
          </a:p>
        </p:txBody>
      </p:sp>
      <p:cxnSp>
        <p:nvCxnSpPr>
          <p:cNvPr id="8" name="a2"/>
          <p:cNvCxnSpPr/>
          <p:nvPr/>
        </p:nvCxnSpPr>
        <p:spPr>
          <a:xfrm flipV="1">
            <a:off x="3566160" y="1920240"/>
            <a:ext cx="548640" cy="731520"/>
          </a:xfrm>
          <a:prstGeom prst="line">
            <a:avLst/>
          </a:prstGeom>
          <a:ln w="22225">
            <a:solidFill>
              <a:srgbClr val="2C3C43"/>
            </a:solidFill>
            <a:tailEnd type="triangle"/>
          </a:ln>
        </p:spPr>
      </p:cxnSp>
      <p:cxnSp>
        <p:nvCxnSpPr>
          <p:cNvPr id="9" name="a3"/>
          <p:cNvCxnSpPr/>
          <p:nvPr/>
        </p:nvCxnSpPr>
        <p:spPr>
          <a:xfrm>
            <a:off x="3566160" y="2926080"/>
            <a:ext cx="548640" cy="731520"/>
          </a:xfrm>
          <a:prstGeom prst="line">
            <a:avLst/>
          </a:prstGeom>
          <a:ln w="22225">
            <a:solidFill>
              <a:srgbClr val="2C3C43"/>
            </a:solidFill>
            <a:tailEnd type="triangle"/>
          </a:ln>
        </p:spPr>
      </p:cxnSp>
      <p:sp>
        <p:nvSpPr>
          <p:cNvPr id="10" name="db reg"/>
          <p:cNvSpPr/>
          <p:nvPr/>
        </p:nvSpPr>
        <p:spPr>
          <a:xfrm>
            <a:off x="4114800" y="1645920"/>
            <a:ext cx="1280160" cy="54864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rPr>
              <a:t>db reg</a:t>
            </a:r>
          </a:p>
        </p:txBody>
      </p:sp>
      <p:cxnSp>
        <p:nvCxnSpPr>
          <p:cNvPr id="11" name="a4"/>
          <p:cNvCxnSpPr/>
          <p:nvPr/>
        </p:nvCxnSpPr>
        <p:spPr>
          <a:xfrm>
            <a:off x="5394960" y="1920240"/>
            <a:ext cx="640080" cy="0"/>
          </a:xfrm>
          <a:prstGeom prst="line">
            <a:avLst/>
          </a:prstGeom>
          <a:ln w="22225">
            <a:solidFill>
              <a:srgbClr val="2C3C43"/>
            </a:solidFill>
            <a:tailEnd type="triangle"/>
          </a:ln>
        </p:spPr>
      </p:cxnSp>
      <p:sp>
        <p:nvSpPr>
          <p:cNvPr id="12" name="db out"/>
          <p:cNvSpPr/>
          <p:nvPr/>
        </p:nvSpPr>
        <p:spPr>
          <a:xfrm>
            <a:off x="6035040" y="1645920"/>
            <a:ext cx="1188720" cy="548640"/>
          </a:xfrm>
          <a:prstGeom prst="roundRect">
            <a:avLst>
              <a:gd name="adj" fmla="val 8000"/>
            </a:avLst>
          </a:prstGeom>
          <a:solidFill>
            <a:srgbClr val="F3F5F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latin typeface="Courier New"/>
                <a:cs typeface="Courier New"/>
              </a:rPr>
              <a:t>db</a:t>
            </a:r>
          </a:p>
        </p:txBody>
      </p:sp>
      <p:sp>
        <p:nvSpPr>
          <p:cNvPr id="13" name="cmp"/>
          <p:cNvSpPr/>
          <p:nvPr/>
        </p:nvSpPr>
        <p:spPr>
          <a:xfrm>
            <a:off x="4114800" y="3383280"/>
            <a:ext cx="1280160" cy="640080"/>
          </a:xfrm>
          <a:prstGeom prst="roundRect">
            <a:avLst>
              <a:gd name="adj" fmla="val 8000"/>
            </a:avLst>
          </a:prstGeom>
          <a:solidFill>
            <a:srgbClr val="90C226"/>
          </a:solidFill>
          <a:ln>
            <a:noFill/>
          </a:ln>
        </p:spPr>
        <p:txBody>
          <a:bodyPr wrap="square" lIns="91440" tIns="91440" rIns="91440" bIns="91440" anchor="ctr">
            <a:noAutofit/>
          </a:bodyPr>
          <a:lstStyle/>
          <a:p>
            <a:pPr algn="ctr">
              <a:spcBef>
                <a:spcPts val="0"/>
              </a:spcBef>
              <a:spcAft>
                <a:spcPts val="0"/>
              </a:spcAft>
            </a:pPr>
            <a:r>
              <a:rPr lang="en-US" sz="1400" b="1" i="0" dirty="0">
                <a:solidFill>
                  <a:srgbClr val="2C3C43"/>
                </a:solidFill>
              </a:rPr>
              <a:t>d &gt; p ?</a:t>
            </a:r>
          </a:p>
        </p:txBody>
      </p:sp>
      <p:cxnSp>
        <p:nvCxnSpPr>
          <p:cNvPr id="14" name="a5"/>
          <p:cNvCxnSpPr/>
          <p:nvPr/>
        </p:nvCxnSpPr>
        <p:spPr>
          <a:xfrm>
            <a:off x="5394960" y="3703320"/>
            <a:ext cx="365760" cy="0"/>
          </a:xfrm>
          <a:prstGeom prst="line">
            <a:avLst/>
          </a:prstGeom>
          <a:ln w="22225">
            <a:solidFill>
              <a:srgbClr val="2C3C43"/>
            </a:solidFill>
            <a:tailEnd type="triangle"/>
          </a:ln>
        </p:spPr>
      </p:cxnSp>
      <p:sp>
        <p:nvSpPr>
          <p:cNvPr id="15" name="p reg"/>
          <p:cNvSpPr/>
          <p:nvPr/>
        </p:nvSpPr>
        <p:spPr>
          <a:xfrm>
            <a:off x="5760720" y="3383280"/>
            <a:ext cx="1005840" cy="640080"/>
          </a:xfrm>
          <a:prstGeom prst="roundRect">
            <a:avLst>
              <a:gd name="adj" fmla="val 8000"/>
            </a:avLst>
          </a:prstGeom>
          <a:solidFill>
            <a:srgbClr val="2C3C43"/>
          </a:solidFill>
          <a:ln>
            <a:noFill/>
          </a:ln>
        </p:spPr>
        <p:txBody>
          <a:bodyPr wrap="square" lIns="91440" tIns="91440" rIns="91440" bIns="91440" anchor="ctr">
            <a:noAutofit/>
          </a:bodyPr>
          <a:lstStyle/>
          <a:p>
            <a:pPr algn="ctr">
              <a:spcBef>
                <a:spcPts val="0"/>
              </a:spcBef>
              <a:spcAft>
                <a:spcPts val="0"/>
              </a:spcAft>
            </a:pPr>
            <a:r>
              <a:rPr lang="en-US" sz="1400" b="1" i="0" dirty="0">
                <a:solidFill>
                  <a:srgbClr val="FFFFFF"/>
                </a:solidFill>
              </a:rPr>
              <a:t>p reg</a:t>
            </a:r>
          </a:p>
        </p:txBody>
      </p:sp>
      <p:cxnSp>
        <p:nvCxnSpPr>
          <p:cNvPr id="16" name="a6"/>
          <p:cNvCxnSpPr/>
          <p:nvPr/>
        </p:nvCxnSpPr>
        <p:spPr>
          <a:xfrm>
            <a:off x="6766560" y="3703320"/>
            <a:ext cx="274320" cy="0"/>
          </a:xfrm>
          <a:prstGeom prst="line">
            <a:avLst/>
          </a:prstGeom>
          <a:ln w="22225">
            <a:solidFill>
              <a:srgbClr val="2C3C43"/>
            </a:solidFill>
            <a:tailEnd type="triangle"/>
          </a:ln>
        </p:spPr>
      </p:cxnSp>
      <p:sp>
        <p:nvSpPr>
          <p:cNvPr id="17" name="peak out"/>
          <p:cNvSpPr txBox="1"/>
          <p:nvPr/>
        </p:nvSpPr>
        <p:spPr>
          <a:xfrm>
            <a:off x="7040880" y="3429000"/>
            <a:ext cx="731520" cy="548640"/>
          </a:xfrm>
          <a:prstGeom prst="rect">
            <a:avLst/>
          </a:prstGeom>
          <a:noFill/>
          <a:ln>
            <a:noFill/>
          </a:ln>
        </p:spPr>
        <p:txBody>
          <a:bodyPr wrap="square" lIns="0" tIns="0" rIns="0" bIns="0" anchor="ctr">
            <a:noAutofit/>
          </a:bodyPr>
          <a:lstStyle/>
          <a:p>
            <a:pPr algn="l">
              <a:spcBef>
                <a:spcPts val="0"/>
              </a:spcBef>
              <a:spcAft>
                <a:spcPts val="0"/>
              </a:spcAft>
            </a:pPr>
            <a:r>
              <a:rPr lang="en-US" sz="1400" b="1" i="0" dirty="0">
                <a:solidFill>
                  <a:srgbClr val="2C3C43"/>
                </a:solidFill>
                <a:latin typeface="Courier New"/>
                <a:cs typeface="Courier New"/>
              </a:rPr>
              <a:t>peak</a:t>
            </a:r>
          </a:p>
        </p:txBody>
      </p:sp>
      <p:cxnSp>
        <p:nvCxnSpPr>
          <p:cNvPr id="18" name="f1"/>
          <p:cNvCxnSpPr/>
          <p:nvPr/>
        </p:nvCxnSpPr>
        <p:spPr>
          <a:xfrm>
            <a:off x="6263640" y="4023360"/>
            <a:ext cx="0" cy="365760"/>
          </a:xfrm>
          <a:prstGeom prst="line">
            <a:avLst/>
          </a:prstGeom>
          <a:ln w="22225">
            <a:solidFill>
              <a:srgbClr val="4E7A12"/>
            </a:solidFill>
          </a:ln>
        </p:spPr>
      </p:cxnSp>
      <p:cxnSp>
        <p:nvCxnSpPr>
          <p:cNvPr id="19" name="f2"/>
          <p:cNvCxnSpPr/>
          <p:nvPr/>
        </p:nvCxnSpPr>
        <p:spPr>
          <a:xfrm flipH="1">
            <a:off x="4754880" y="4389120"/>
            <a:ext cx="1508760" cy="0"/>
          </a:xfrm>
          <a:prstGeom prst="line">
            <a:avLst/>
          </a:prstGeom>
          <a:ln w="22225">
            <a:solidFill>
              <a:srgbClr val="4E7A12"/>
            </a:solidFill>
          </a:ln>
        </p:spPr>
      </p:cxnSp>
      <p:cxnSp>
        <p:nvCxnSpPr>
          <p:cNvPr id="20" name="f3"/>
          <p:cNvCxnSpPr/>
          <p:nvPr/>
        </p:nvCxnSpPr>
        <p:spPr>
          <a:xfrm flipV="1">
            <a:off x="4754880" y="4023360"/>
            <a:ext cx="0" cy="365760"/>
          </a:xfrm>
          <a:prstGeom prst="line">
            <a:avLst/>
          </a:prstGeom>
          <a:ln w="22225">
            <a:solidFill>
              <a:srgbClr val="4E7A12"/>
            </a:solidFill>
            <a:tailEnd type="triangle"/>
          </a:ln>
        </p:spPr>
      </p:cxnSp>
      <p:sp>
        <p:nvSpPr>
          <p:cNvPr id="21" name="fb"/>
          <p:cNvSpPr txBox="1"/>
          <p:nvPr/>
        </p:nvSpPr>
        <p:spPr>
          <a:xfrm>
            <a:off x="4937760" y="4434840"/>
            <a:ext cx="2011680" cy="274320"/>
          </a:xfrm>
          <a:prstGeom prst="rect">
            <a:avLst/>
          </a:prstGeom>
          <a:noFill/>
          <a:ln>
            <a:noFill/>
          </a:ln>
        </p:spPr>
        <p:txBody>
          <a:bodyPr wrap="square" lIns="0" tIns="0" rIns="0" bIns="0" anchor="t">
            <a:noAutofit/>
          </a:bodyPr>
          <a:lstStyle/>
          <a:p>
            <a:pPr algn="l">
              <a:spcBef>
                <a:spcPts val="0"/>
              </a:spcBef>
              <a:spcAft>
                <a:spcPts val="0"/>
              </a:spcAft>
            </a:pPr>
            <a:r>
              <a:rPr lang="en-US" sz="1200" b="0" i="1" dirty="0">
                <a:solidFill>
                  <a:srgbClr val="4E7A12"/>
                </a:solidFill>
              </a:rPr>
              <a:t>feedback of p</a:t>
            </a:r>
          </a:p>
        </p:txBody>
      </p:sp>
      <p:sp>
        <p:nvSpPr>
          <p:cNvPr id="22" name="cap"/>
          <p:cNvSpPr txBox="1"/>
          <p:nvPr/>
        </p:nvSpPr>
        <p:spPr>
          <a:xfrm>
            <a:off x="731520" y="5029200"/>
            <a:ext cx="6858000" cy="82296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2C3C43"/>
                </a:solidFill>
              </a:rPr>
              <a:t>No arithmetic beyond one compare. The peak is simply the largest value p has stored so far.</a:t>
            </a:r>
          </a:p>
        </p:txBody>
      </p:sp>
      <p:sp>
        <p:nvSpPr>
          <p:cNvPr id="23"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Clocked Process and Reset</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Everything happens on the rising clock edge</a:t>
            </a:r>
          </a:p>
        </p:txBody>
      </p:sp>
      <p:sp>
        <p:nvSpPr>
          <p:cNvPr id="5" name="Process code"/>
          <p:cNvSpPr/>
          <p:nvPr/>
        </p:nvSpPr>
        <p:spPr>
          <a:xfrm>
            <a:off x="731520" y="1783080"/>
            <a:ext cx="4480560" cy="290474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300" b="0" i="0" dirty="0">
                <a:solidFill>
                  <a:srgbClr val="E6ECEF"/>
                </a:solidFill>
                <a:latin typeface="Courier New"/>
                <a:cs typeface="Courier New"/>
              </a:rPr>
              <a:t>process(clk)</a:t>
            </a:r>
          </a:p>
          <a:p>
            <a:pPr algn="l">
              <a:spcBef>
                <a:spcPts val="0"/>
              </a:spcBef>
              <a:spcAft>
                <a:spcPts val="0"/>
              </a:spcAft>
            </a:pPr>
            <a:r>
              <a:rPr lang="en-US" sz="1300" b="0" i="0" dirty="0">
                <a:solidFill>
                  <a:srgbClr val="E6ECEF"/>
                </a:solidFill>
                <a:latin typeface="Courier New"/>
                <a:cs typeface="Courier New"/>
              </a:rPr>
              <a:t>  variable d : unsigned(7 downto 0);</a:t>
            </a:r>
          </a:p>
          <a:p>
            <a:pPr algn="l">
              <a:spcBef>
                <a:spcPts val="0"/>
              </a:spcBef>
              <a:spcAft>
                <a:spcPts val="0"/>
              </a:spcAft>
            </a:pPr>
            <a:r>
              <a:rPr lang="en-US" sz="1300" b="0" i="0" dirty="0">
                <a:solidFill>
                  <a:srgbClr val="E6ECEF"/>
                </a:solidFill>
                <a:latin typeface="Courier New"/>
                <a:cs typeface="Courier New"/>
              </a:rPr>
              <a:t>begin</a:t>
            </a:r>
          </a:p>
          <a:p>
            <a:pPr algn="l">
              <a:spcBef>
                <a:spcPts val="0"/>
              </a:spcBef>
              <a:spcAft>
                <a:spcPts val="0"/>
              </a:spcAft>
            </a:pPr>
            <a:r>
              <a:rPr lang="en-US" sz="1300" b="0" i="0" dirty="0">
                <a:solidFill>
                  <a:srgbClr val="E6ECEF"/>
                </a:solidFill>
                <a:latin typeface="Courier New"/>
                <a:cs typeface="Courier New"/>
              </a:rPr>
              <a:t>  if rising_edge(clk) then</a:t>
            </a:r>
          </a:p>
          <a:p>
            <a:pPr algn="l">
              <a:spcBef>
                <a:spcPts val="0"/>
              </a:spcBef>
              <a:spcAft>
                <a:spcPts val="0"/>
              </a:spcAft>
            </a:pPr>
            <a:r>
              <a:rPr lang="en-US" sz="1300" b="1" i="0" dirty="0">
                <a:solidFill>
                  <a:srgbClr val="C8E67A"/>
                </a:solidFill>
                <a:latin typeface="Courier New"/>
                <a:cs typeface="Courier New"/>
              </a:rPr>
              <a:t>    if rst = '1' then</a:t>
            </a:r>
          </a:p>
          <a:p>
            <a:pPr algn="l">
              <a:spcBef>
                <a:spcPts val="0"/>
              </a:spcBef>
              <a:spcAft>
                <a:spcPts val="0"/>
              </a:spcAft>
            </a:pPr>
            <a:r>
              <a:rPr lang="en-US" sz="1300" b="1" i="0" dirty="0">
                <a:solidFill>
                  <a:srgbClr val="C8E67A"/>
                </a:solidFill>
                <a:latin typeface="Courier New"/>
                <a:cs typeface="Courier New"/>
              </a:rPr>
              <a:t>      db   &lt;= (others =&gt; '0');</a:t>
            </a:r>
          </a:p>
          <a:p>
            <a:pPr algn="l">
              <a:spcBef>
                <a:spcPts val="0"/>
              </a:spcBef>
              <a:spcAft>
                <a:spcPts val="0"/>
              </a:spcAft>
            </a:pPr>
            <a:r>
              <a:rPr lang="en-US" sz="1300" b="1" i="0" dirty="0">
                <a:solidFill>
                  <a:srgbClr val="C8E67A"/>
                </a:solidFill>
                <a:latin typeface="Courier New"/>
                <a:cs typeface="Courier New"/>
              </a:rPr>
              <a:t>      peak &lt;= (others =&gt; '0');</a:t>
            </a:r>
          </a:p>
          <a:p>
            <a:pPr algn="l">
              <a:spcBef>
                <a:spcPts val="0"/>
              </a:spcBef>
              <a:spcAft>
                <a:spcPts val="0"/>
              </a:spcAft>
            </a:pPr>
            <a:r>
              <a:rPr lang="en-US" sz="1300" b="1" i="0" dirty="0">
                <a:solidFill>
                  <a:srgbClr val="C8E67A"/>
                </a:solidFill>
                <a:latin typeface="Courier New"/>
                <a:cs typeface="Courier New"/>
              </a:rPr>
              <a:t>      p    &lt;= (others =&gt; '0');</a:t>
            </a:r>
          </a:p>
          <a:p>
            <a:pPr algn="l">
              <a:spcBef>
                <a:spcPts val="0"/>
              </a:spcBef>
              <a:spcAft>
                <a:spcPts val="0"/>
              </a:spcAft>
            </a:pPr>
            <a:r>
              <a:rPr lang="en-US" sz="1300" b="0" i="0" dirty="0">
                <a:solidFill>
                  <a:srgbClr val="E6ECEF"/>
                </a:solidFill>
                <a:latin typeface="Courier New"/>
                <a:cs typeface="Courier New"/>
              </a:rPr>
              <a:t>    else</a:t>
            </a:r>
          </a:p>
          <a:p>
            <a:pPr algn="l">
              <a:spcBef>
                <a:spcPts val="0"/>
              </a:spcBef>
              <a:spcAft>
                <a:spcPts val="0"/>
              </a:spcAft>
            </a:pPr>
            <a:r>
              <a:rPr lang="en-US" sz="1300" b="0" i="0" dirty="0">
                <a:solidFill>
                  <a:srgbClr val="E6ECEF"/>
                </a:solidFill>
                <a:latin typeface="Courier New"/>
                <a:cs typeface="Courier New"/>
              </a:rPr>
              <a:t>      -- datapath (next slide)</a:t>
            </a:r>
          </a:p>
          <a:p>
            <a:pPr algn="l">
              <a:spcBef>
                <a:spcPts val="0"/>
              </a:spcBef>
              <a:spcAft>
                <a:spcPts val="0"/>
              </a:spcAft>
            </a:pPr>
            <a:r>
              <a:rPr lang="en-US" sz="1300" b="0" i="0" dirty="0">
                <a:solidFill>
                  <a:srgbClr val="E6ECEF"/>
                </a:solidFill>
                <a:latin typeface="Courier New"/>
                <a:cs typeface="Courier New"/>
              </a:rPr>
              <a:t>    end if;</a:t>
            </a:r>
          </a:p>
          <a:p>
            <a:pPr algn="l">
              <a:spcBef>
                <a:spcPts val="0"/>
              </a:spcBef>
              <a:spcAft>
                <a:spcPts val="0"/>
              </a:spcAft>
            </a:pPr>
            <a:r>
              <a:rPr lang="en-US" sz="1300" b="0" i="0" dirty="0">
                <a:solidFill>
                  <a:srgbClr val="E6ECEF"/>
                </a:solidFill>
                <a:latin typeface="Courier New"/>
                <a:cs typeface="Courier New"/>
              </a:rPr>
              <a:t>  end if;</a:t>
            </a:r>
          </a:p>
          <a:p>
            <a:pPr algn="l">
              <a:spcBef>
                <a:spcPts val="0"/>
              </a:spcBef>
              <a:spcAft>
                <a:spcPts val="0"/>
              </a:spcAft>
            </a:pPr>
            <a:r>
              <a:rPr lang="en-US" sz="1300" b="0" i="0" dirty="0">
                <a:solidFill>
                  <a:srgbClr val="E6ECEF"/>
                </a:solidFill>
                <a:latin typeface="Courier New"/>
                <a:cs typeface="Courier New"/>
              </a:rPr>
              <a:t>end process;</a:t>
            </a:r>
          </a:p>
        </p:txBody>
      </p:sp>
      <p:sp>
        <p:nvSpPr>
          <p:cNvPr id="6" name="n1"/>
          <p:cNvSpPr/>
          <p:nvPr/>
        </p:nvSpPr>
        <p:spPr>
          <a:xfrm>
            <a:off x="5486400" y="1783080"/>
            <a:ext cx="2194560" cy="13258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Edge-triggered</a:t>
            </a:r>
          </a:p>
          <a:p>
            <a:pPr algn="l">
              <a:spcBef>
                <a:spcPts val="0"/>
              </a:spcBef>
              <a:spcAft>
                <a:spcPts val="200"/>
              </a:spcAft>
            </a:pPr>
            <a:r>
              <a:rPr lang="en-US" sz="1300" b="0" i="0" dirty="0">
                <a:solidFill>
                  <a:srgbClr val="2C3C43"/>
                </a:solidFill>
              </a:rPr>
              <a:t>rising_edge(clk): flip-flops.</a:t>
            </a:r>
          </a:p>
        </p:txBody>
      </p:sp>
      <p:sp>
        <p:nvSpPr>
          <p:cNvPr id="7" name="n2"/>
          <p:cNvSpPr/>
          <p:nvPr/>
        </p:nvSpPr>
        <p:spPr>
          <a:xfrm>
            <a:off x="5486400" y="3246120"/>
            <a:ext cx="2194560" cy="13258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Synchronous</a:t>
            </a:r>
          </a:p>
          <a:p>
            <a:pPr algn="l">
              <a:spcBef>
                <a:spcPts val="0"/>
              </a:spcBef>
              <a:spcAft>
                <a:spcPts val="200"/>
              </a:spcAft>
            </a:pPr>
            <a:r>
              <a:rPr lang="en-US" sz="1300" b="0" i="0" dirty="0">
                <a:solidFill>
                  <a:srgbClr val="2C3C43"/>
                </a:solidFill>
              </a:rPr>
              <a:t>rst is read only at a clock edge.</a:t>
            </a:r>
          </a:p>
        </p:txBody>
      </p:sp>
      <p:sp>
        <p:nvSpPr>
          <p:cNvPr id="8" name="n3"/>
          <p:cNvSpPr/>
          <p:nvPr/>
        </p:nvSpPr>
        <p:spPr>
          <a:xfrm>
            <a:off x="5486400" y="4709160"/>
            <a:ext cx="2194560" cy="10972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Reset state</a:t>
            </a:r>
          </a:p>
          <a:p>
            <a:pPr algn="l">
              <a:spcBef>
                <a:spcPts val="0"/>
              </a:spcBef>
              <a:spcAft>
                <a:spcPts val="200"/>
              </a:spcAft>
            </a:pPr>
            <a:r>
              <a:rPr lang="en-US" sz="1300" b="0" i="0" dirty="0">
                <a:solidFill>
                  <a:srgbClr val="2C3C43"/>
                </a:solidFill>
              </a:rPr>
              <a:t>db, peak, p all become 0.</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Peak-Hold: Compare and Store</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The core of the design in three lines</a:t>
            </a:r>
          </a:p>
        </p:txBody>
      </p:sp>
      <p:sp>
        <p:nvSpPr>
          <p:cNvPr id="5" name="Peak code"/>
          <p:cNvSpPr/>
          <p:nvPr/>
        </p:nvSpPr>
        <p:spPr>
          <a:xfrm>
            <a:off x="731520" y="1783080"/>
            <a:ext cx="4480560" cy="203606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400" b="0" i="0" dirty="0">
                <a:solidFill>
                  <a:srgbClr val="E6ECEF"/>
                </a:solidFill>
                <a:latin typeface="Courier New"/>
                <a:cs typeface="Courier New"/>
              </a:rPr>
              <a:t>d := unsigned(din);</a:t>
            </a:r>
          </a:p>
          <a:p>
            <a:pPr algn="l">
              <a:spcBef>
                <a:spcPts val="0"/>
              </a:spcBef>
              <a:spcAft>
                <a:spcPts val="0"/>
              </a:spcAft>
            </a:pPr>
            <a:r>
              <a:rPr lang="en-US" sz="1400" b="0" i="0" dirty="0">
                <a:solidFill>
                  <a:srgbClr val="E6ECEF"/>
                </a:solidFill>
                <a:latin typeface="Courier New"/>
                <a:cs typeface="Courier New"/>
              </a:rPr>
              <a:t>db &lt;= std_logic_vector(d);</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if d &gt; p then</a:t>
            </a:r>
          </a:p>
          <a:p>
            <a:pPr algn="l">
              <a:spcBef>
                <a:spcPts val="0"/>
              </a:spcBef>
              <a:spcAft>
                <a:spcPts val="0"/>
              </a:spcAft>
            </a:pPr>
            <a:r>
              <a:rPr lang="en-US" sz="1400" b="1" i="0" dirty="0">
                <a:solidFill>
                  <a:srgbClr val="C8E67A"/>
                </a:solidFill>
                <a:latin typeface="Courier New"/>
                <a:cs typeface="Courier New"/>
              </a:rPr>
              <a:t>  p &lt;= d;</a:t>
            </a:r>
          </a:p>
          <a:p>
            <a:pPr algn="l">
              <a:spcBef>
                <a:spcPts val="0"/>
              </a:spcBef>
              <a:spcAft>
                <a:spcPts val="0"/>
              </a:spcAft>
            </a:pPr>
            <a:r>
              <a:rPr lang="en-US" sz="1400" b="0" i="0" dirty="0">
                <a:solidFill>
                  <a:srgbClr val="E6ECEF"/>
                </a:solidFill>
                <a:latin typeface="Courier New"/>
                <a:cs typeface="Courier New"/>
              </a:rPr>
              <a:t>end if;</a:t>
            </a:r>
          </a:p>
          <a:p>
            <a:pPr algn="l">
              <a:spcBef>
                <a:spcPts val="0"/>
              </a:spcBef>
              <a:spcAft>
                <a:spcPts val="0"/>
              </a:spcAft>
            </a:pPr>
            <a:r>
              <a:rPr lang="en-US" sz="1400" b="0" i="0" dirty="0">
                <a:solidFill>
                  <a:srgbClr val="E6ECEF"/>
                </a:solidFill>
                <a:latin typeface="Courier New"/>
                <a:cs typeface="Courier New"/>
              </a:rPr>
              <a:t> </a:t>
            </a:r>
          </a:p>
          <a:p>
            <a:pPr algn="l">
              <a:spcBef>
                <a:spcPts val="0"/>
              </a:spcBef>
              <a:spcAft>
                <a:spcPts val="0"/>
              </a:spcAft>
            </a:pPr>
            <a:r>
              <a:rPr lang="en-US" sz="1400" b="0" i="0" dirty="0">
                <a:solidFill>
                  <a:srgbClr val="E6ECEF"/>
                </a:solidFill>
                <a:latin typeface="Courier New"/>
                <a:cs typeface="Courier New"/>
              </a:rPr>
              <a:t>peak &lt;= std_logic_vector(p);</a:t>
            </a:r>
          </a:p>
        </p:txBody>
      </p:sp>
      <p:sp>
        <p:nvSpPr>
          <p:cNvPr id="6" name="c1"/>
          <p:cNvSpPr/>
          <p:nvPr/>
        </p:nvSpPr>
        <p:spPr>
          <a:xfrm>
            <a:off x="5486400" y="1783080"/>
            <a:ext cx="2194560" cy="160020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d &gt; p</a:t>
            </a:r>
          </a:p>
          <a:p>
            <a:pPr algn="l">
              <a:spcBef>
                <a:spcPts val="0"/>
              </a:spcBef>
              <a:spcAft>
                <a:spcPts val="200"/>
              </a:spcAft>
            </a:pPr>
            <a:r>
              <a:rPr lang="en-US" sz="1400" b="0" i="0" dirty="0">
                <a:solidFill>
                  <a:srgbClr val="2C3C43"/>
                </a:solidFill>
              </a:rPr>
              <a:t>New maximum. Store it in p.</a:t>
            </a:r>
          </a:p>
        </p:txBody>
      </p:sp>
      <p:sp>
        <p:nvSpPr>
          <p:cNvPr id="7" name="c2"/>
          <p:cNvSpPr/>
          <p:nvPr/>
        </p:nvSpPr>
        <p:spPr>
          <a:xfrm>
            <a:off x="5486400" y="3520440"/>
            <a:ext cx="2194560" cy="160020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d &lt;= p</a:t>
            </a:r>
          </a:p>
          <a:p>
            <a:pPr algn="l">
              <a:spcBef>
                <a:spcPts val="0"/>
              </a:spcBef>
              <a:spcAft>
                <a:spcPts val="200"/>
              </a:spcAft>
            </a:pPr>
            <a:r>
              <a:rPr lang="en-US" sz="1400" b="0" i="0" dirty="0">
                <a:solidFill>
                  <a:srgbClr val="2C3C43"/>
                </a:solidFill>
              </a:rPr>
              <a:t>No branch taken. p keeps its old value.</a:t>
            </a:r>
          </a:p>
        </p:txBody>
      </p:sp>
      <p:sp>
        <p:nvSpPr>
          <p:cNvPr id="8" name="cap"/>
          <p:cNvSpPr txBox="1"/>
          <p:nvPr/>
        </p:nvSpPr>
        <p:spPr>
          <a:xfrm>
            <a:off x="731520" y="4343400"/>
            <a:ext cx="4572000" cy="1097280"/>
          </a:xfrm>
          <a:prstGeom prst="rect">
            <a:avLst/>
          </a:prstGeom>
          <a:noFill/>
          <a:ln>
            <a:noFill/>
          </a:ln>
        </p:spPr>
        <p:txBody>
          <a:bodyPr wrap="square" lIns="0" tIns="0" rIns="0" bIns="0" anchor="t">
            <a:noAutofit/>
          </a:bodyPr>
          <a:lstStyle/>
          <a:p>
            <a:pPr algn="l">
              <a:spcBef>
                <a:spcPts val="0"/>
              </a:spcBef>
              <a:spcAft>
                <a:spcPts val="0"/>
              </a:spcAft>
            </a:pPr>
            <a:r>
              <a:rPr lang="en-US" sz="1400" b="0" i="0" dirty="0">
                <a:solidFill>
                  <a:srgbClr val="2C3C43"/>
                </a:solidFill>
              </a:rPr>
              <a:t>p never decreases, except through reset. That is what makes it a hold.</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Variable vs Signal</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Why peak trails by one clock</a:t>
            </a:r>
          </a:p>
        </p:txBody>
      </p:sp>
      <p:sp>
        <p:nvSpPr>
          <p:cNvPr id="5" name="var"/>
          <p:cNvSpPr/>
          <p:nvPr/>
        </p:nvSpPr>
        <p:spPr>
          <a:xfrm>
            <a:off x="731520" y="1783080"/>
            <a:ext cx="3429000" cy="160020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variable d  :=</a:t>
            </a:r>
          </a:p>
          <a:p>
            <a:pPr algn="l">
              <a:spcBef>
                <a:spcPts val="0"/>
              </a:spcBef>
              <a:spcAft>
                <a:spcPts val="200"/>
              </a:spcAft>
            </a:pPr>
            <a:r>
              <a:rPr lang="en-US" sz="1300" b="0" i="0" dirty="0">
                <a:solidFill>
                  <a:srgbClr val="2C3C43"/>
                </a:solidFill>
              </a:rPr>
              <a:t>Updates immediately. Used for db and the compare in the same edge.</a:t>
            </a:r>
          </a:p>
        </p:txBody>
      </p:sp>
      <p:sp>
        <p:nvSpPr>
          <p:cNvPr id="6" name="sig"/>
          <p:cNvSpPr/>
          <p:nvPr/>
        </p:nvSpPr>
        <p:spPr>
          <a:xfrm>
            <a:off x="4343400" y="1783080"/>
            <a:ext cx="3337560" cy="160020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signal p  &lt;=</a:t>
            </a:r>
          </a:p>
          <a:p>
            <a:pPr algn="l">
              <a:spcBef>
                <a:spcPts val="0"/>
              </a:spcBef>
              <a:spcAft>
                <a:spcPts val="200"/>
              </a:spcAft>
            </a:pPr>
            <a:r>
              <a:rPr lang="en-US" sz="1300" b="0" i="0" dirty="0">
                <a:solidFill>
                  <a:srgbClr val="2C3C43"/>
                </a:solidFill>
              </a:rPr>
              <a:t>Updates after the edge. peak reads the old p.</a:t>
            </a:r>
          </a:p>
        </p:txBody>
      </p:sp>
      <p:sp>
        <p:nvSpPr>
          <p:cNvPr id="7" name="tcap"/>
          <p:cNvSpPr txBox="1"/>
          <p:nvPr/>
        </p:nvSpPr>
        <p:spPr>
          <a:xfrm>
            <a:off x="731520" y="3611880"/>
            <a:ext cx="6400800" cy="320040"/>
          </a:xfrm>
          <a:prstGeom prst="rect">
            <a:avLst/>
          </a:prstGeom>
          <a:noFill/>
          <a:ln>
            <a:noFill/>
          </a:ln>
        </p:spPr>
        <p:txBody>
          <a:bodyPr wrap="square" lIns="0" tIns="0" rIns="0" bIns="0" anchor="t">
            <a:noAutofit/>
          </a:bodyPr>
          <a:lstStyle/>
          <a:p>
            <a:pPr algn="l">
              <a:spcBef>
                <a:spcPts val="0"/>
              </a:spcBef>
              <a:spcAft>
                <a:spcPts val="0"/>
              </a:spcAft>
            </a:pPr>
            <a:r>
              <a:rPr lang="en-US" sz="1300" b="1" i="0" dirty="0">
                <a:solidFill>
                  <a:srgbClr val="2C3C43"/>
                </a:solidFill>
              </a:rPr>
              <a:t>Testbench instant: din changes from 10 to 30</a:t>
            </a:r>
          </a:p>
        </p:txBody>
      </p:sp>
      <p:sp>
        <p:nvSpPr>
          <p:cNvPr id="8" name="h1"/>
          <p:cNvSpPr/>
          <p:nvPr/>
        </p:nvSpPr>
        <p:spPr>
          <a:xfrm>
            <a:off x="2194560" y="3977640"/>
            <a:ext cx="2057400" cy="411480"/>
          </a:xfrm>
          <a:prstGeom prst="rect">
            <a:avLst/>
          </a:prstGeom>
          <a:solidFill>
            <a:srgbClr val="2C3C43"/>
          </a:solidFill>
          <a:ln>
            <a:noFill/>
          </a:ln>
        </p:spPr>
        <p:txBody>
          <a:bodyPr wrap="square" lIns="18288" tIns="18288" rIns="18288" bIns="18288" anchor="ctr">
            <a:noAutofit/>
          </a:bodyPr>
          <a:lstStyle/>
          <a:p>
            <a:pPr algn="ctr">
              <a:spcBef>
                <a:spcPts val="0"/>
              </a:spcBef>
              <a:spcAft>
                <a:spcPts val="0"/>
              </a:spcAft>
            </a:pPr>
            <a:r>
              <a:rPr lang="en-US" sz="1300" b="1" i="0" dirty="0">
                <a:solidFill>
                  <a:srgbClr val="FFFFFF"/>
                </a:solidFill>
              </a:rPr>
              <a:t>edge at 125 ns</a:t>
            </a:r>
          </a:p>
        </p:txBody>
      </p:sp>
      <p:sp>
        <p:nvSpPr>
          <p:cNvPr id="9" name="h2"/>
          <p:cNvSpPr/>
          <p:nvPr/>
        </p:nvSpPr>
        <p:spPr>
          <a:xfrm>
            <a:off x="4297680" y="3977640"/>
            <a:ext cx="2057400" cy="411480"/>
          </a:xfrm>
          <a:prstGeom prst="rect">
            <a:avLst/>
          </a:prstGeom>
          <a:solidFill>
            <a:srgbClr val="2C3C43"/>
          </a:solidFill>
          <a:ln>
            <a:noFill/>
          </a:ln>
        </p:spPr>
        <p:txBody>
          <a:bodyPr wrap="square" lIns="18288" tIns="18288" rIns="18288" bIns="18288" anchor="ctr">
            <a:noAutofit/>
          </a:bodyPr>
          <a:lstStyle/>
          <a:p>
            <a:pPr algn="ctr">
              <a:spcBef>
                <a:spcPts val="0"/>
              </a:spcBef>
              <a:spcAft>
                <a:spcPts val="0"/>
              </a:spcAft>
            </a:pPr>
            <a:r>
              <a:rPr lang="en-US" sz="1300" b="1" i="0" dirty="0">
                <a:solidFill>
                  <a:srgbClr val="FFFFFF"/>
                </a:solidFill>
              </a:rPr>
              <a:t>edge at 135 ns</a:t>
            </a:r>
          </a:p>
        </p:txBody>
      </p:sp>
      <p:sp>
        <p:nvSpPr>
          <p:cNvPr id="10" name="ldin"/>
          <p:cNvSpPr/>
          <p:nvPr/>
        </p:nvSpPr>
        <p:spPr>
          <a:xfrm>
            <a:off x="731520" y="44348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din</a:t>
            </a:r>
          </a:p>
        </p:txBody>
      </p:sp>
      <p:sp>
        <p:nvSpPr>
          <p:cNvPr id="11" name="din1"/>
          <p:cNvSpPr/>
          <p:nvPr/>
        </p:nvSpPr>
        <p:spPr>
          <a:xfrm>
            <a:off x="2194560" y="44348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2" name="din2"/>
          <p:cNvSpPr/>
          <p:nvPr/>
        </p:nvSpPr>
        <p:spPr>
          <a:xfrm>
            <a:off x="4297680" y="44348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3" name="lp"/>
          <p:cNvSpPr/>
          <p:nvPr/>
        </p:nvSpPr>
        <p:spPr>
          <a:xfrm>
            <a:off x="731520" y="48920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p</a:t>
            </a:r>
          </a:p>
        </p:txBody>
      </p:sp>
      <p:sp>
        <p:nvSpPr>
          <p:cNvPr id="14" name="p1"/>
          <p:cNvSpPr/>
          <p:nvPr/>
        </p:nvSpPr>
        <p:spPr>
          <a:xfrm>
            <a:off x="2194560" y="48920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5" name="p2"/>
          <p:cNvSpPr/>
          <p:nvPr/>
        </p:nvSpPr>
        <p:spPr>
          <a:xfrm>
            <a:off x="4297680" y="4892040"/>
            <a:ext cx="2057400" cy="41148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400" b="0" i="0" dirty="0">
                <a:solidFill>
                  <a:srgbClr val="2C3C43"/>
                </a:solidFill>
              </a:rPr>
              <a:t>30</a:t>
            </a:r>
          </a:p>
        </p:txBody>
      </p:sp>
      <p:sp>
        <p:nvSpPr>
          <p:cNvPr id="16" name="lpeak"/>
          <p:cNvSpPr/>
          <p:nvPr/>
        </p:nvSpPr>
        <p:spPr>
          <a:xfrm>
            <a:off x="731520" y="5349240"/>
            <a:ext cx="1417320" cy="41148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peak</a:t>
            </a:r>
          </a:p>
        </p:txBody>
      </p:sp>
      <p:sp>
        <p:nvSpPr>
          <p:cNvPr id="17" name="peak1"/>
          <p:cNvSpPr/>
          <p:nvPr/>
        </p:nvSpPr>
        <p:spPr>
          <a:xfrm>
            <a:off x="2194560" y="5349240"/>
            <a:ext cx="2057400" cy="411480"/>
          </a:xfrm>
          <a:prstGeom prst="rect">
            <a:avLst/>
          </a:prstGeom>
          <a:solidFill>
            <a:srgbClr val="FFFFFF"/>
          </a:solidFill>
          <a:ln w="12700">
            <a:solidFill>
              <a:srgbClr val="6B7A80"/>
            </a:solid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10</a:t>
            </a:r>
          </a:p>
        </p:txBody>
      </p:sp>
      <p:sp>
        <p:nvSpPr>
          <p:cNvPr id="18" name="peak2"/>
          <p:cNvSpPr/>
          <p:nvPr/>
        </p:nvSpPr>
        <p:spPr>
          <a:xfrm>
            <a:off x="4297680" y="5349240"/>
            <a:ext cx="2057400" cy="41148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400" b="1" i="0" dirty="0">
                <a:solidFill>
                  <a:srgbClr val="2C3C43"/>
                </a:solidFill>
              </a:rPr>
              <a:t>30</a:t>
            </a:r>
          </a:p>
        </p:txBody>
      </p:sp>
      <p:sp>
        <p:nvSpPr>
          <p:cNvPr id="19" name="cap"/>
          <p:cNvSpPr txBox="1"/>
          <p:nvPr/>
        </p:nvSpPr>
        <p:spPr>
          <a:xfrm>
            <a:off x="731520" y="5852160"/>
            <a:ext cx="6766560" cy="457200"/>
          </a:xfrm>
          <a:prstGeom prst="rect">
            <a:avLst/>
          </a:prstGeom>
          <a:noFill/>
          <a:ln>
            <a:noFill/>
          </a:ln>
        </p:spPr>
        <p:txBody>
          <a:bodyPr wrap="square" lIns="0" tIns="0" rIns="0" bIns="0" anchor="t">
            <a:noAutofit/>
          </a:bodyPr>
          <a:lstStyle/>
          <a:p>
            <a:pPr algn="l">
              <a:spcBef>
                <a:spcPts val="0"/>
              </a:spcBef>
              <a:spcAft>
                <a:spcPts val="0"/>
              </a:spcAft>
            </a:pPr>
            <a:r>
              <a:rPr lang="en-US" sz="1400" b="1" i="0" dirty="0">
                <a:solidFill>
                  <a:srgbClr val="4E7A12"/>
                </a:solidFill>
              </a:rPr>
              <a:t>peak = p delayed one clock.  db = din delayed one clock.</a:t>
            </a:r>
          </a:p>
        </p:txBody>
      </p:sp>
      <p:sp>
        <p:nvSpPr>
          <p:cNvPr id="20"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Testbench Structure</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Instantiate, clock, reset, stimulate</a:t>
            </a:r>
          </a:p>
        </p:txBody>
      </p:sp>
      <p:sp>
        <p:nvSpPr>
          <p:cNvPr id="5" name="TB code"/>
          <p:cNvSpPr/>
          <p:nvPr/>
        </p:nvSpPr>
        <p:spPr>
          <a:xfrm>
            <a:off x="731520" y="1783080"/>
            <a:ext cx="4480560" cy="2706624"/>
          </a:xfrm>
          <a:prstGeom prst="roundRect">
            <a:avLst>
              <a:gd name="adj" fmla="val 8000"/>
            </a:avLst>
          </a:prstGeom>
          <a:solidFill>
            <a:srgbClr val="2C3C43"/>
          </a:solidFill>
          <a:ln>
            <a:noFill/>
          </a:ln>
        </p:spPr>
        <p:txBody>
          <a:bodyPr wrap="square" lIns="164592" tIns="164592" rIns="164592" bIns="164592" anchor="t">
            <a:noAutofit/>
          </a:bodyPr>
          <a:lstStyle/>
          <a:p>
            <a:pPr algn="l">
              <a:spcBef>
                <a:spcPts val="0"/>
              </a:spcBef>
              <a:spcAft>
                <a:spcPts val="0"/>
              </a:spcAft>
            </a:pPr>
            <a:r>
              <a:rPr lang="en-US" sz="1300" b="0" i="0" dirty="0">
                <a:solidFill>
                  <a:srgbClr val="E6ECEF"/>
                </a:solidFill>
                <a:latin typeface="Courier New"/>
                <a:cs typeface="Courier New"/>
              </a:rPr>
              <a:t>uut: entity work.sound_meter</a:t>
            </a:r>
          </a:p>
          <a:p>
            <a:pPr algn="l">
              <a:spcBef>
                <a:spcPts val="0"/>
              </a:spcBef>
              <a:spcAft>
                <a:spcPts val="0"/>
              </a:spcAft>
            </a:pPr>
            <a:r>
              <a:rPr lang="en-US" sz="1300" b="0" i="0" dirty="0">
                <a:solidFill>
                  <a:srgbClr val="E6ECEF"/>
                </a:solidFill>
                <a:latin typeface="Courier New"/>
                <a:cs typeface="Courier New"/>
              </a:rPr>
              <a:t>  port map (clk =&gt; clk, rst =&gt; rst,</a:t>
            </a:r>
          </a:p>
          <a:p>
            <a:pPr algn="l">
              <a:spcBef>
                <a:spcPts val="0"/>
              </a:spcBef>
              <a:spcAft>
                <a:spcPts val="0"/>
              </a:spcAft>
            </a:pPr>
            <a:r>
              <a:rPr lang="en-US" sz="1300" b="0" i="0" dirty="0">
                <a:solidFill>
                  <a:srgbClr val="E6ECEF"/>
                </a:solidFill>
                <a:latin typeface="Courier New"/>
                <a:cs typeface="Courier New"/>
              </a:rPr>
              <a:t>            din =&gt; din, db =&gt; db,</a:t>
            </a:r>
          </a:p>
          <a:p>
            <a:pPr algn="l">
              <a:spcBef>
                <a:spcPts val="0"/>
              </a:spcBef>
              <a:spcAft>
                <a:spcPts val="0"/>
              </a:spcAft>
            </a:pPr>
            <a:r>
              <a:rPr lang="en-US" sz="1300" b="0" i="0" dirty="0">
                <a:solidFill>
                  <a:srgbClr val="E6ECEF"/>
                </a:solidFill>
                <a:latin typeface="Courier New"/>
                <a:cs typeface="Courier New"/>
              </a:rPr>
              <a:t>            peak =&gt; peak);</a:t>
            </a:r>
          </a:p>
          <a:p>
            <a:pPr algn="l">
              <a:spcBef>
                <a:spcPts val="0"/>
              </a:spcBef>
              <a:spcAft>
                <a:spcPts val="0"/>
              </a:spcAft>
            </a:pPr>
            <a:r>
              <a:rPr lang="en-US" sz="1300" b="0" i="0" dirty="0">
                <a:solidFill>
                  <a:srgbClr val="E6ECEF"/>
                </a:solidFill>
                <a:latin typeface="Courier New"/>
                <a:cs typeface="Courier New"/>
              </a:rPr>
              <a:t> </a:t>
            </a:r>
          </a:p>
          <a:p>
            <a:pPr algn="l">
              <a:spcBef>
                <a:spcPts val="0"/>
              </a:spcBef>
              <a:spcAft>
                <a:spcPts val="0"/>
              </a:spcAft>
            </a:pPr>
            <a:r>
              <a:rPr lang="en-US" sz="1300" b="0" i="0" dirty="0">
                <a:solidFill>
                  <a:srgbClr val="E6ECEF"/>
                </a:solidFill>
                <a:latin typeface="Courier New"/>
                <a:cs typeface="Courier New"/>
              </a:rPr>
              <a:t>clk &lt;= not clk after 5 ns;</a:t>
            </a:r>
          </a:p>
          <a:p>
            <a:pPr algn="l">
              <a:spcBef>
                <a:spcPts val="0"/>
              </a:spcBef>
              <a:spcAft>
                <a:spcPts val="0"/>
              </a:spcAft>
            </a:pPr>
            <a:r>
              <a:rPr lang="en-US" sz="1300" b="0" i="0" dirty="0">
                <a:solidFill>
                  <a:srgbClr val="E6ECEF"/>
                </a:solidFill>
                <a:latin typeface="Courier New"/>
                <a:cs typeface="Courier New"/>
              </a:rPr>
              <a:t> </a:t>
            </a:r>
          </a:p>
          <a:p>
            <a:pPr algn="l">
              <a:spcBef>
                <a:spcPts val="0"/>
              </a:spcBef>
              <a:spcAft>
                <a:spcPts val="0"/>
              </a:spcAft>
            </a:pPr>
            <a:r>
              <a:rPr lang="en-US" sz="1300" b="0" i="0" dirty="0">
                <a:solidFill>
                  <a:srgbClr val="E6ECEF"/>
                </a:solidFill>
                <a:latin typeface="Courier New"/>
                <a:cs typeface="Courier New"/>
              </a:rPr>
              <a:t>rst &lt;= '1'; wait for 20 ns;</a:t>
            </a:r>
          </a:p>
          <a:p>
            <a:pPr algn="l">
              <a:spcBef>
                <a:spcPts val="0"/>
              </a:spcBef>
              <a:spcAft>
                <a:spcPts val="0"/>
              </a:spcAft>
            </a:pPr>
            <a:r>
              <a:rPr lang="en-US" sz="1300" b="0" i="0" dirty="0">
                <a:solidFill>
                  <a:srgbClr val="E6ECEF"/>
                </a:solidFill>
                <a:latin typeface="Courier New"/>
                <a:cs typeface="Courier New"/>
              </a:rPr>
              <a:t>rst &lt;= '0';</a:t>
            </a:r>
          </a:p>
          <a:p>
            <a:pPr algn="l">
              <a:spcBef>
                <a:spcPts val="0"/>
              </a:spcBef>
              <a:spcAft>
                <a:spcPts val="0"/>
              </a:spcAft>
            </a:pPr>
            <a:r>
              <a:rPr lang="en-US" sz="1300" b="0" i="0" dirty="0">
                <a:solidFill>
                  <a:srgbClr val="E6ECEF"/>
                </a:solidFill>
                <a:latin typeface="Courier New"/>
                <a:cs typeface="Courier New"/>
              </a:rPr>
              <a:t>din &lt;= x"10"; wait for 100 ns;</a:t>
            </a:r>
          </a:p>
          <a:p>
            <a:pPr algn="l">
              <a:spcBef>
                <a:spcPts val="0"/>
              </a:spcBef>
              <a:spcAft>
                <a:spcPts val="0"/>
              </a:spcAft>
            </a:pPr>
            <a:r>
              <a:rPr lang="en-US" sz="1300" b="0" i="0" dirty="0">
                <a:solidFill>
                  <a:srgbClr val="E6ECEF"/>
                </a:solidFill>
                <a:latin typeface="Courier New"/>
                <a:cs typeface="Courier New"/>
              </a:rPr>
              <a:t>din &lt;= x"30"; wait for 100 ns;</a:t>
            </a:r>
          </a:p>
          <a:p>
            <a:pPr algn="l">
              <a:spcBef>
                <a:spcPts val="0"/>
              </a:spcBef>
              <a:spcAft>
                <a:spcPts val="0"/>
              </a:spcAft>
            </a:pPr>
            <a:r>
              <a:rPr lang="en-US" sz="1300" b="0" i="0" dirty="0">
                <a:solidFill>
                  <a:srgbClr val="E6ECEF"/>
                </a:solidFill>
                <a:latin typeface="Courier New"/>
                <a:cs typeface="Courier New"/>
              </a:rPr>
              <a:t>-- ... x"A0", x"20", x"00"</a:t>
            </a:r>
          </a:p>
        </p:txBody>
      </p:sp>
      <p:sp>
        <p:nvSpPr>
          <p:cNvPr id="6" name="t1"/>
          <p:cNvSpPr/>
          <p:nvPr/>
        </p:nvSpPr>
        <p:spPr>
          <a:xfrm>
            <a:off x="5486400" y="1783080"/>
            <a:ext cx="2194560" cy="13258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Clock</a:t>
            </a:r>
          </a:p>
          <a:p>
            <a:pPr algn="l">
              <a:spcBef>
                <a:spcPts val="0"/>
              </a:spcBef>
              <a:spcAft>
                <a:spcPts val="200"/>
              </a:spcAft>
            </a:pPr>
            <a:r>
              <a:rPr lang="en-US" sz="1300" b="0" i="0" dirty="0">
                <a:solidFill>
                  <a:srgbClr val="2C3C43"/>
                </a:solidFill>
              </a:rPr>
              <a:t>10 ns period, toggles every 5 ns.</a:t>
            </a:r>
          </a:p>
        </p:txBody>
      </p:sp>
      <p:sp>
        <p:nvSpPr>
          <p:cNvPr id="7" name="t2"/>
          <p:cNvSpPr/>
          <p:nvPr/>
        </p:nvSpPr>
        <p:spPr>
          <a:xfrm>
            <a:off x="5486400" y="3246120"/>
            <a:ext cx="2194560" cy="13258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Reset</a:t>
            </a:r>
          </a:p>
          <a:p>
            <a:pPr algn="l">
              <a:spcBef>
                <a:spcPts val="0"/>
              </a:spcBef>
              <a:spcAft>
                <a:spcPts val="200"/>
              </a:spcAft>
            </a:pPr>
            <a:r>
              <a:rPr lang="en-US" sz="1300" b="0" i="0" dirty="0">
                <a:solidFill>
                  <a:srgbClr val="2C3C43"/>
                </a:solidFill>
              </a:rPr>
              <a:t>20 ns at start, 30 ns mid-run.</a:t>
            </a:r>
          </a:p>
        </p:txBody>
      </p:sp>
      <p:sp>
        <p:nvSpPr>
          <p:cNvPr id="8" name="t3"/>
          <p:cNvSpPr/>
          <p:nvPr/>
        </p:nvSpPr>
        <p:spPr>
          <a:xfrm>
            <a:off x="5486400" y="4709160"/>
            <a:ext cx="2194560" cy="109728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Stimulus</a:t>
            </a:r>
          </a:p>
          <a:p>
            <a:pPr algn="l">
              <a:spcBef>
                <a:spcPts val="0"/>
              </a:spcBef>
              <a:spcAft>
                <a:spcPts val="200"/>
              </a:spcAft>
            </a:pPr>
            <a:r>
              <a:rPr lang="en-US" sz="1300" b="0" i="0" dirty="0">
                <a:solidFill>
                  <a:srgbClr val="2C3C43"/>
                </a:solidFill>
              </a:rPr>
              <a:t>10 values, 100 ns each.</a:t>
            </a:r>
          </a:p>
        </p:txBody>
      </p:sp>
      <p:sp>
        <p:nvSpPr>
          <p:cNvPr id="9"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Simulation Results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Settled value at the end of each 100 ns step</a:t>
            </a:r>
          </a:p>
        </p:txBody>
      </p:sp>
      <p:sp>
        <p:nvSpPr>
          <p:cNvPr id="5" name="ldin"/>
          <p:cNvSpPr/>
          <p:nvPr/>
        </p:nvSpPr>
        <p:spPr>
          <a:xfrm>
            <a:off x="731520" y="1920240"/>
            <a:ext cx="640080" cy="45720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din</a:t>
            </a:r>
          </a:p>
        </p:txBody>
      </p:sp>
      <p:sp>
        <p:nvSpPr>
          <p:cNvPr id="6" name="lpk"/>
          <p:cNvSpPr/>
          <p:nvPr/>
        </p:nvSpPr>
        <p:spPr>
          <a:xfrm>
            <a:off x="731520" y="2514600"/>
            <a:ext cx="640080" cy="457200"/>
          </a:xfrm>
          <a:prstGeom prst="rect">
            <a:avLst/>
          </a:prstGeom>
          <a:solidFill>
            <a:srgbClr val="FFFFF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peak</a:t>
            </a:r>
          </a:p>
        </p:txBody>
      </p:sp>
      <p:sp>
        <p:nvSpPr>
          <p:cNvPr id="7" name="din0"/>
          <p:cNvSpPr/>
          <p:nvPr/>
        </p:nvSpPr>
        <p:spPr>
          <a:xfrm>
            <a:off x="1417320"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10</a:t>
            </a:r>
          </a:p>
        </p:txBody>
      </p:sp>
      <p:sp>
        <p:nvSpPr>
          <p:cNvPr id="8" name="pk0"/>
          <p:cNvSpPr/>
          <p:nvPr/>
        </p:nvSpPr>
        <p:spPr>
          <a:xfrm>
            <a:off x="1417320"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10</a:t>
            </a:r>
          </a:p>
        </p:txBody>
      </p:sp>
      <p:sp>
        <p:nvSpPr>
          <p:cNvPr id="9" name="din1"/>
          <p:cNvSpPr/>
          <p:nvPr/>
        </p:nvSpPr>
        <p:spPr>
          <a:xfrm>
            <a:off x="193852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30</a:t>
            </a:r>
          </a:p>
        </p:txBody>
      </p:sp>
      <p:sp>
        <p:nvSpPr>
          <p:cNvPr id="10" name="pk1"/>
          <p:cNvSpPr/>
          <p:nvPr/>
        </p:nvSpPr>
        <p:spPr>
          <a:xfrm>
            <a:off x="1938528"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30</a:t>
            </a:r>
          </a:p>
        </p:txBody>
      </p:sp>
      <p:sp>
        <p:nvSpPr>
          <p:cNvPr id="11" name="din2"/>
          <p:cNvSpPr/>
          <p:nvPr/>
        </p:nvSpPr>
        <p:spPr>
          <a:xfrm>
            <a:off x="2459736"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50</a:t>
            </a:r>
          </a:p>
        </p:txBody>
      </p:sp>
      <p:sp>
        <p:nvSpPr>
          <p:cNvPr id="12" name="pk2"/>
          <p:cNvSpPr/>
          <p:nvPr/>
        </p:nvSpPr>
        <p:spPr>
          <a:xfrm>
            <a:off x="2459736"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50</a:t>
            </a:r>
          </a:p>
        </p:txBody>
      </p:sp>
      <p:sp>
        <p:nvSpPr>
          <p:cNvPr id="13" name="din3"/>
          <p:cNvSpPr/>
          <p:nvPr/>
        </p:nvSpPr>
        <p:spPr>
          <a:xfrm>
            <a:off x="2980944"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70</a:t>
            </a:r>
          </a:p>
        </p:txBody>
      </p:sp>
      <p:sp>
        <p:nvSpPr>
          <p:cNvPr id="14" name="pk3"/>
          <p:cNvSpPr/>
          <p:nvPr/>
        </p:nvSpPr>
        <p:spPr>
          <a:xfrm>
            <a:off x="2980944"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70</a:t>
            </a:r>
          </a:p>
        </p:txBody>
      </p:sp>
      <p:sp>
        <p:nvSpPr>
          <p:cNvPr id="15" name="din4"/>
          <p:cNvSpPr/>
          <p:nvPr/>
        </p:nvSpPr>
        <p:spPr>
          <a:xfrm>
            <a:off x="3502152"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16" name="pk4"/>
          <p:cNvSpPr/>
          <p:nvPr/>
        </p:nvSpPr>
        <p:spPr>
          <a:xfrm>
            <a:off x="3502152"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90</a:t>
            </a:r>
          </a:p>
        </p:txBody>
      </p:sp>
      <p:sp>
        <p:nvSpPr>
          <p:cNvPr id="17" name="din5"/>
          <p:cNvSpPr/>
          <p:nvPr/>
        </p:nvSpPr>
        <p:spPr>
          <a:xfrm>
            <a:off x="4023360"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60</a:t>
            </a:r>
          </a:p>
        </p:txBody>
      </p:sp>
      <p:sp>
        <p:nvSpPr>
          <p:cNvPr id="18" name="pk5"/>
          <p:cNvSpPr/>
          <p:nvPr/>
        </p:nvSpPr>
        <p:spPr>
          <a:xfrm>
            <a:off x="4023360"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19" name="din6"/>
          <p:cNvSpPr/>
          <p:nvPr/>
        </p:nvSpPr>
        <p:spPr>
          <a:xfrm>
            <a:off x="454456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40</a:t>
            </a:r>
          </a:p>
        </p:txBody>
      </p:sp>
      <p:sp>
        <p:nvSpPr>
          <p:cNvPr id="20" name="pk6"/>
          <p:cNvSpPr/>
          <p:nvPr/>
        </p:nvSpPr>
        <p:spPr>
          <a:xfrm>
            <a:off x="4544568"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90</a:t>
            </a:r>
          </a:p>
        </p:txBody>
      </p:sp>
      <p:sp>
        <p:nvSpPr>
          <p:cNvPr id="21" name="din7"/>
          <p:cNvSpPr/>
          <p:nvPr/>
        </p:nvSpPr>
        <p:spPr>
          <a:xfrm>
            <a:off x="5065776"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2" name="pk7"/>
          <p:cNvSpPr/>
          <p:nvPr/>
        </p:nvSpPr>
        <p:spPr>
          <a:xfrm>
            <a:off x="5065776"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A0</a:t>
            </a:r>
          </a:p>
        </p:txBody>
      </p:sp>
      <p:sp>
        <p:nvSpPr>
          <p:cNvPr id="23" name="din8"/>
          <p:cNvSpPr/>
          <p:nvPr/>
        </p:nvSpPr>
        <p:spPr>
          <a:xfrm>
            <a:off x="5586984"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20</a:t>
            </a:r>
          </a:p>
        </p:txBody>
      </p:sp>
      <p:sp>
        <p:nvSpPr>
          <p:cNvPr id="24" name="pk8"/>
          <p:cNvSpPr/>
          <p:nvPr/>
        </p:nvSpPr>
        <p:spPr>
          <a:xfrm>
            <a:off x="5586984"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5" name="din9"/>
          <p:cNvSpPr/>
          <p:nvPr/>
        </p:nvSpPr>
        <p:spPr>
          <a:xfrm>
            <a:off x="6108192"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00</a:t>
            </a:r>
          </a:p>
        </p:txBody>
      </p:sp>
      <p:sp>
        <p:nvSpPr>
          <p:cNvPr id="26" name="pk9"/>
          <p:cNvSpPr/>
          <p:nvPr/>
        </p:nvSpPr>
        <p:spPr>
          <a:xfrm>
            <a:off x="6108192" y="2514600"/>
            <a:ext cx="484632" cy="457200"/>
          </a:xfrm>
          <a:prstGeom prst="rect">
            <a:avLst/>
          </a:prstGeom>
          <a:solidFill>
            <a:srgbClr val="EAF4D3"/>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A0</a:t>
            </a:r>
          </a:p>
        </p:txBody>
      </p:sp>
      <p:sp>
        <p:nvSpPr>
          <p:cNvPr id="27" name="din10"/>
          <p:cNvSpPr/>
          <p:nvPr/>
        </p:nvSpPr>
        <p:spPr>
          <a:xfrm>
            <a:off x="6629400" y="1920240"/>
            <a:ext cx="484632" cy="457200"/>
          </a:xfrm>
          <a:prstGeom prst="rect">
            <a:avLst/>
          </a:prstGeom>
          <a:solidFill>
            <a:srgbClr val="F6D5CF"/>
          </a:solidFill>
          <a:ln>
            <a:noFill/>
          </a:ln>
        </p:spPr>
        <p:txBody>
          <a:bodyPr wrap="square" lIns="18288" tIns="18288" rIns="18288" bIns="18288" anchor="ctr">
            <a:noAutofit/>
          </a:bodyPr>
          <a:lstStyle/>
          <a:p>
            <a:pPr algn="ctr">
              <a:spcBef>
                <a:spcPts val="0"/>
              </a:spcBef>
              <a:spcAft>
                <a:spcPts val="0"/>
              </a:spcAft>
            </a:pPr>
            <a:r>
              <a:rPr lang="en-US" sz="1300" b="0" i="0" dirty="0">
                <a:solidFill>
                  <a:srgbClr val="C42F1A"/>
                </a:solidFill>
              </a:rPr>
              <a:t>R</a:t>
            </a:r>
          </a:p>
        </p:txBody>
      </p:sp>
      <p:sp>
        <p:nvSpPr>
          <p:cNvPr id="28" name="pk10"/>
          <p:cNvSpPr/>
          <p:nvPr/>
        </p:nvSpPr>
        <p:spPr>
          <a:xfrm>
            <a:off x="6629400" y="2514600"/>
            <a:ext cx="484632" cy="457200"/>
          </a:xfrm>
          <a:prstGeom prst="rect">
            <a:avLst/>
          </a:prstGeom>
          <a:solidFill>
            <a:srgbClr val="F6D5CF"/>
          </a:solidFill>
          <a:ln>
            <a:noFill/>
          </a:ln>
        </p:spPr>
        <p:txBody>
          <a:bodyPr wrap="square" lIns="18288" tIns="18288" rIns="18288" bIns="18288" anchor="ctr">
            <a:noAutofit/>
          </a:bodyPr>
          <a:lstStyle/>
          <a:p>
            <a:pPr algn="ctr">
              <a:spcBef>
                <a:spcPts val="0"/>
              </a:spcBef>
              <a:spcAft>
                <a:spcPts val="0"/>
              </a:spcAft>
            </a:pPr>
            <a:r>
              <a:rPr lang="en-US" sz="1300" b="1" i="0" dirty="0">
                <a:solidFill>
                  <a:srgbClr val="C42F1A"/>
                </a:solidFill>
              </a:rPr>
              <a:t>00</a:t>
            </a:r>
          </a:p>
        </p:txBody>
      </p:sp>
      <p:sp>
        <p:nvSpPr>
          <p:cNvPr id="29" name="din11"/>
          <p:cNvSpPr/>
          <p:nvPr/>
        </p:nvSpPr>
        <p:spPr>
          <a:xfrm>
            <a:off x="7150608" y="1920240"/>
            <a:ext cx="484632" cy="457200"/>
          </a:xfrm>
          <a:prstGeom prst="rect">
            <a:avLst/>
          </a:prstGeom>
          <a:solidFill>
            <a:srgbClr val="F3F5F6"/>
          </a:solidFill>
          <a:ln>
            <a:noFill/>
          </a:ln>
        </p:spPr>
        <p:txBody>
          <a:bodyPr wrap="square" lIns="18288" tIns="18288" rIns="18288" bIns="18288" anchor="ctr">
            <a:noAutofit/>
          </a:bodyPr>
          <a:lstStyle/>
          <a:p>
            <a:pPr algn="ctr">
              <a:spcBef>
                <a:spcPts val="0"/>
              </a:spcBef>
              <a:spcAft>
                <a:spcPts val="0"/>
              </a:spcAft>
            </a:pPr>
            <a:r>
              <a:rPr lang="en-US" sz="1300" b="0" i="0" dirty="0">
                <a:solidFill>
                  <a:srgbClr val="2C3C43"/>
                </a:solidFill>
              </a:rPr>
              <a:t>80</a:t>
            </a:r>
          </a:p>
        </p:txBody>
      </p:sp>
      <p:sp>
        <p:nvSpPr>
          <p:cNvPr id="30" name="pk11"/>
          <p:cNvSpPr/>
          <p:nvPr/>
        </p:nvSpPr>
        <p:spPr>
          <a:xfrm>
            <a:off x="7150608" y="2514600"/>
            <a:ext cx="484632" cy="457200"/>
          </a:xfrm>
          <a:prstGeom prst="rect">
            <a:avLst/>
          </a:prstGeom>
          <a:solidFill>
            <a:srgbClr val="90C226"/>
          </a:solidFill>
          <a:ln>
            <a:noFill/>
          </a:ln>
        </p:spPr>
        <p:txBody>
          <a:bodyPr wrap="square" lIns="18288" tIns="18288" rIns="18288" bIns="18288" anchor="ctr">
            <a:noAutofit/>
          </a:bodyPr>
          <a:lstStyle/>
          <a:p>
            <a:pPr algn="ctr">
              <a:spcBef>
                <a:spcPts val="0"/>
              </a:spcBef>
              <a:spcAft>
                <a:spcPts val="0"/>
              </a:spcAft>
            </a:pPr>
            <a:r>
              <a:rPr lang="en-US" sz="1300" b="1" i="0" dirty="0">
                <a:solidFill>
                  <a:srgbClr val="2C3C43"/>
                </a:solidFill>
              </a:rPr>
              <a:t>80</a:t>
            </a:r>
          </a:p>
        </p:txBody>
      </p:sp>
      <p:sp>
        <p:nvSpPr>
          <p:cNvPr id="31" name="R"/>
          <p:cNvSpPr txBox="1"/>
          <p:nvPr/>
        </p:nvSpPr>
        <p:spPr>
          <a:xfrm>
            <a:off x="731520" y="3063240"/>
            <a:ext cx="6949440" cy="274320"/>
          </a:xfrm>
          <a:prstGeom prst="rect">
            <a:avLst/>
          </a:prstGeom>
          <a:noFill/>
          <a:ln>
            <a:noFill/>
          </a:ln>
        </p:spPr>
        <p:txBody>
          <a:bodyPr wrap="square" lIns="0" tIns="0" rIns="0" bIns="0" anchor="t">
            <a:noAutofit/>
          </a:bodyPr>
          <a:lstStyle/>
          <a:p>
            <a:pPr algn="l">
              <a:spcBef>
                <a:spcPts val="0"/>
              </a:spcBef>
              <a:spcAft>
                <a:spcPts val="0"/>
              </a:spcAft>
            </a:pPr>
            <a:r>
              <a:rPr lang="en-US" sz="1200" b="0" i="1" dirty="0">
                <a:solidFill>
                  <a:srgbClr val="6B7A80"/>
                </a:solidFill>
              </a:rPr>
              <a:t>R = rst asserted. Green cells show the peak changing.</a:t>
            </a:r>
          </a:p>
        </p:txBody>
      </p:sp>
      <p:sp>
        <p:nvSpPr>
          <p:cNvPr id="32" name="r1"/>
          <p:cNvSpPr/>
          <p:nvPr/>
        </p:nvSpPr>
        <p:spPr>
          <a:xfrm>
            <a:off x="731520" y="3611880"/>
            <a:ext cx="2194560" cy="214884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Ignored</a:t>
            </a:r>
          </a:p>
          <a:p>
            <a:pPr algn="l">
              <a:spcBef>
                <a:spcPts val="0"/>
              </a:spcBef>
              <a:spcAft>
                <a:spcPts val="200"/>
              </a:spcAft>
            </a:pPr>
            <a:r>
              <a:rPr lang="en-US" sz="1400" b="0" i="0" dirty="0">
                <a:solidFill>
                  <a:srgbClr val="2C3C43"/>
                </a:solidFill>
              </a:rPr>
              <a:t>60 and 40 arrive after 90. peak stays at 90.</a:t>
            </a:r>
          </a:p>
        </p:txBody>
      </p:sp>
      <p:sp>
        <p:nvSpPr>
          <p:cNvPr id="33" name="r2"/>
          <p:cNvSpPr/>
          <p:nvPr/>
        </p:nvSpPr>
        <p:spPr>
          <a:xfrm>
            <a:off x="3108960" y="3611880"/>
            <a:ext cx="2194560" cy="214884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New max</a:t>
            </a:r>
          </a:p>
          <a:p>
            <a:pPr algn="l">
              <a:spcBef>
                <a:spcPts val="0"/>
              </a:spcBef>
              <a:spcAft>
                <a:spcPts val="200"/>
              </a:spcAft>
            </a:pPr>
            <a:r>
              <a:rPr lang="en-US" sz="1400" b="0" i="0" dirty="0">
                <a:solidFill>
                  <a:srgbClr val="2C3C43"/>
                </a:solidFill>
              </a:rPr>
              <a:t>A0 beats 90. peak moves up, then 20 and 00 are ignored.</a:t>
            </a:r>
          </a:p>
        </p:txBody>
      </p:sp>
      <p:sp>
        <p:nvSpPr>
          <p:cNvPr id="34" name="r3"/>
          <p:cNvSpPr/>
          <p:nvPr/>
        </p:nvSpPr>
        <p:spPr>
          <a:xfrm>
            <a:off x="5486400" y="3611880"/>
            <a:ext cx="2103120" cy="2148840"/>
          </a:xfrm>
          <a:prstGeom prst="roundRect">
            <a:avLst>
              <a:gd name="adj" fmla="val 8000"/>
            </a:avLst>
          </a:prstGeom>
          <a:noFill/>
          <a:ln>
            <a:noFill/>
          </a:ln>
        </p:spPr>
        <p:txBody>
          <a:bodyPr wrap="square" lIns="137160" tIns="137160" rIns="137160" bIns="137160" anchor="t">
            <a:noAutofit/>
          </a:bodyPr>
          <a:lstStyle/>
          <a:p>
            <a:pPr algn="l">
              <a:spcBef>
                <a:spcPts val="0"/>
              </a:spcBef>
              <a:spcAft>
                <a:spcPts val="400"/>
              </a:spcAft>
            </a:pPr>
            <a:r>
              <a:rPr lang="en-US" sz="1600" b="1" i="0" dirty="0">
                <a:solidFill>
                  <a:srgbClr val="C42F1A"/>
                </a:solidFill>
              </a:rPr>
              <a:t>Reset</a:t>
            </a:r>
          </a:p>
          <a:p>
            <a:pPr algn="l">
              <a:spcBef>
                <a:spcPts val="0"/>
              </a:spcBef>
              <a:spcAft>
                <a:spcPts val="200"/>
              </a:spcAft>
            </a:pPr>
            <a:r>
              <a:rPr lang="en-US" sz="1400" b="0" i="0" dirty="0">
                <a:solidFill>
                  <a:srgbClr val="2C3C43"/>
                </a:solidFill>
              </a:rPr>
              <a:t>rst clears peak to 00. Then 80 starts a new hold.</a:t>
            </a:r>
          </a:p>
        </p:txBody>
      </p:sp>
      <p:sp>
        <p:nvSpPr>
          <p:cNvPr id="35"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731520" y="411480"/>
            <a:ext cx="7955280" cy="731520"/>
          </a:xfrm>
          <a:prstGeom prst="rect">
            <a:avLst/>
          </a:prstGeom>
          <a:noFill/>
          <a:ln>
            <a:noFill/>
          </a:ln>
        </p:spPr>
        <p:txBody>
          <a:bodyPr wrap="square" lIns="0" tIns="0" rIns="0" bIns="0" anchor="b">
            <a:noAutofit/>
          </a:bodyPr>
          <a:lstStyle/>
          <a:p>
            <a:pPr algn="l">
              <a:spcBef>
                <a:spcPts val="0"/>
              </a:spcBef>
              <a:spcAft>
                <a:spcPts val="0"/>
              </a:spcAft>
            </a:pPr>
            <a:r>
              <a:rPr lang="en-US" sz="3200" b="1" i="0" dirty="0">
                <a:solidFill>
                  <a:srgbClr val="2C3C43"/>
                </a:solidFill>
              </a:rPr>
              <a:t>COA Concepts and Next Steps</a:t>
            </a:r>
          </a:p>
        </p:txBody>
      </p:sp>
      <p:sp>
        <p:nvSpPr>
          <p:cNvPr id="4" name="Subtitle"/>
          <p:cNvSpPr txBox="1"/>
          <p:nvPr/>
        </p:nvSpPr>
        <p:spPr>
          <a:xfrm>
            <a:off x="731520" y="1188720"/>
            <a:ext cx="7772400" cy="365760"/>
          </a:xfrm>
          <a:prstGeom prst="rect">
            <a:avLst/>
          </a:prstGeom>
          <a:noFill/>
          <a:ln>
            <a:noFill/>
          </a:ln>
        </p:spPr>
        <p:txBody>
          <a:bodyPr wrap="square" lIns="0" tIns="0" rIns="0" bIns="0" anchor="t">
            <a:noAutofit/>
          </a:bodyPr>
          <a:lstStyle/>
          <a:p>
            <a:pPr algn="l">
              <a:spcBef>
                <a:spcPts val="0"/>
              </a:spcBef>
              <a:spcAft>
                <a:spcPts val="0"/>
              </a:spcAft>
            </a:pPr>
            <a:r>
              <a:rPr lang="en-US" sz="1600" b="0" i="0" dirty="0">
                <a:solidFill>
                  <a:srgbClr val="4E7A12"/>
                </a:solidFill>
              </a:rPr>
              <a:t>What this small design demonstrates</a:t>
            </a:r>
          </a:p>
        </p:txBody>
      </p:sp>
      <p:sp>
        <p:nvSpPr>
          <p:cNvPr id="5" name="k1"/>
          <p:cNvSpPr/>
          <p:nvPr/>
        </p:nvSpPr>
        <p:spPr>
          <a:xfrm>
            <a:off x="731520" y="1783080"/>
            <a:ext cx="3383280" cy="1828800"/>
          </a:xfrm>
          <a:prstGeom prst="roundRect">
            <a:avLst>
              <a:gd name="adj" fmla="val 8000"/>
            </a:avLst>
          </a:prstGeom>
          <a:solidFill>
            <a:srgbClr val="EAF4D3"/>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In this design</a:t>
            </a:r>
          </a:p>
          <a:p>
            <a:pPr algn="l">
              <a:spcBef>
                <a:spcPts val="0"/>
              </a:spcBef>
              <a:spcAft>
                <a:spcPts val="200"/>
              </a:spcAft>
            </a:pPr>
            <a:r>
              <a:rPr lang="en-US" sz="1400" b="0" i="0" dirty="0">
                <a:solidFill>
                  <a:srgbClr val="2C3C43"/>
                </a:solidFill>
              </a:rPr>
              <a:t>Registers (p, db)</a:t>
            </a:r>
          </a:p>
          <a:p>
            <a:pPr algn="l">
              <a:spcBef>
                <a:spcPts val="0"/>
              </a:spcBef>
              <a:spcAft>
                <a:spcPts val="200"/>
              </a:spcAft>
            </a:pPr>
            <a:r>
              <a:rPr lang="en-US" sz="1400" b="0" i="0" dirty="0">
                <a:solidFill>
                  <a:srgbClr val="2C3C43"/>
                </a:solidFill>
              </a:rPr>
              <a:t>Comparator and feedback</a:t>
            </a:r>
          </a:p>
          <a:p>
            <a:pPr algn="l">
              <a:spcBef>
                <a:spcPts val="0"/>
              </a:spcBef>
              <a:spcAft>
                <a:spcPts val="200"/>
              </a:spcAft>
            </a:pPr>
            <a:r>
              <a:rPr lang="en-US" sz="1400" b="0" i="0" dirty="0">
                <a:solidFill>
                  <a:srgbClr val="2C3C43"/>
                </a:solidFill>
              </a:rPr>
              <a:t>Clocked sequential logic</a:t>
            </a:r>
          </a:p>
          <a:p>
            <a:pPr algn="l">
              <a:spcBef>
                <a:spcPts val="0"/>
              </a:spcBef>
              <a:spcAft>
                <a:spcPts val="200"/>
              </a:spcAft>
            </a:pPr>
            <a:r>
              <a:rPr lang="en-US" sz="1400" b="0" i="0" dirty="0">
                <a:solidFill>
                  <a:srgbClr val="2C3C43"/>
                </a:solidFill>
              </a:rPr>
              <a:t>Synchronous reset</a:t>
            </a:r>
          </a:p>
        </p:txBody>
      </p:sp>
      <p:sp>
        <p:nvSpPr>
          <p:cNvPr id="6" name="k2"/>
          <p:cNvSpPr/>
          <p:nvPr/>
        </p:nvSpPr>
        <p:spPr>
          <a:xfrm>
            <a:off x="4297680" y="1783080"/>
            <a:ext cx="3383280" cy="1828800"/>
          </a:xfrm>
          <a:prstGeom prst="roundRect">
            <a:avLst>
              <a:gd name="adj" fmla="val 8000"/>
            </a:avLst>
          </a:prstGeom>
          <a:solidFill>
            <a:srgbClr val="F3F5F6"/>
          </a:solidFill>
          <a:ln>
            <a:noFill/>
          </a:ln>
        </p:spPr>
        <p:txBody>
          <a:bodyPr wrap="square" lIns="137160" tIns="137160" rIns="137160" bIns="137160" anchor="t">
            <a:noAutofit/>
          </a:bodyPr>
          <a:lstStyle/>
          <a:p>
            <a:pPr algn="l">
              <a:spcBef>
                <a:spcPts val="0"/>
              </a:spcBef>
              <a:spcAft>
                <a:spcPts val="400"/>
              </a:spcAft>
            </a:pPr>
            <a:r>
              <a:rPr lang="en-US" sz="1600" b="1" i="0" dirty="0">
                <a:solidFill>
                  <a:srgbClr val="4E7A12"/>
                </a:solidFill>
              </a:rPr>
              <a:t>Not yet in the code</a:t>
            </a:r>
          </a:p>
          <a:p>
            <a:pPr algn="l">
              <a:spcBef>
                <a:spcPts val="0"/>
              </a:spcBef>
              <a:spcAft>
                <a:spcPts val="200"/>
              </a:spcAft>
            </a:pPr>
            <a:r>
              <a:rPr lang="en-US" sz="1400" b="0" i="0" dirty="0">
                <a:solidFill>
                  <a:srgbClr val="2C3C43"/>
                </a:solidFill>
              </a:rPr>
              <a:t>Log (dB) conversion: db is the raw sample</a:t>
            </a:r>
          </a:p>
          <a:p>
            <a:pPr algn="l">
              <a:spcBef>
                <a:spcPts val="0"/>
              </a:spcBef>
              <a:spcAft>
                <a:spcPts val="200"/>
              </a:spcAft>
            </a:pPr>
            <a:r>
              <a:rPr lang="en-US" sz="1400" b="0" i="0" dirty="0">
                <a:solidFill>
                  <a:srgbClr val="2C3C43"/>
                </a:solidFill>
              </a:rPr>
              <a:t>RMS windowing</a:t>
            </a:r>
          </a:p>
          <a:p>
            <a:pPr algn="l">
              <a:spcBef>
                <a:spcPts val="0"/>
              </a:spcBef>
              <a:spcAft>
                <a:spcPts val="200"/>
              </a:spcAft>
            </a:pPr>
            <a:r>
              <a:rPr lang="en-US" sz="1400" b="0" i="0" dirty="0">
                <a:solidFill>
                  <a:srgbClr val="2C3C43"/>
                </a:solidFill>
              </a:rPr>
              <a:t>Hold timer or decay</a:t>
            </a:r>
          </a:p>
        </p:txBody>
      </p:sp>
      <p:sp>
        <p:nvSpPr>
          <p:cNvPr id="8" name="Thanks"/>
          <p:cNvSpPr txBox="1"/>
          <p:nvPr/>
        </p:nvSpPr>
        <p:spPr>
          <a:xfrm>
            <a:off x="731520" y="4731761"/>
            <a:ext cx="3158993" cy="772927"/>
          </a:xfrm>
          <a:prstGeom prst="rect">
            <a:avLst/>
          </a:prstGeom>
          <a:noFill/>
          <a:ln>
            <a:noFill/>
          </a:ln>
        </p:spPr>
        <p:txBody>
          <a:bodyPr wrap="square" lIns="0" tIns="0" rIns="0" bIns="0" anchor="t">
            <a:noAutofit/>
          </a:bodyPr>
          <a:lstStyle/>
          <a:p>
            <a:pPr algn="l">
              <a:spcBef>
                <a:spcPts val="0"/>
              </a:spcBef>
              <a:spcAft>
                <a:spcPts val="0"/>
              </a:spcAft>
            </a:pPr>
            <a:r>
              <a:rPr lang="en-US" sz="4400" b="1" i="0" dirty="0">
                <a:solidFill>
                  <a:srgbClr val="2C3C43"/>
                </a:solidFill>
              </a:rPr>
              <a:t>Thank you.</a:t>
            </a:r>
          </a:p>
        </p:txBody>
      </p:sp>
      <p:sp>
        <p:nvSpPr>
          <p:cNvPr id="9" name="Refs"/>
          <p:cNvSpPr txBox="1"/>
          <p:nvPr/>
        </p:nvSpPr>
        <p:spPr>
          <a:xfrm>
            <a:off x="731520" y="5715000"/>
            <a:ext cx="6766560" cy="457200"/>
          </a:xfrm>
          <a:prstGeom prst="rect">
            <a:avLst/>
          </a:prstGeom>
          <a:noFill/>
          <a:ln>
            <a:noFill/>
          </a:ln>
        </p:spPr>
        <p:txBody>
          <a:bodyPr wrap="square" lIns="0" tIns="0" rIns="0" bIns="0" anchor="t">
            <a:noAutofit/>
          </a:bodyPr>
          <a:lstStyle/>
          <a:p>
            <a:pPr algn="l">
              <a:spcBef>
                <a:spcPts val="0"/>
              </a:spcBef>
              <a:spcAft>
                <a:spcPts val="0"/>
              </a:spcAft>
            </a:pPr>
            <a:r>
              <a:rPr lang="en-US" sz="1200" b="0" i="0" dirty="0">
                <a:solidFill>
                  <a:srgbClr val="6B7A80"/>
                </a:solidFill>
              </a:rPr>
              <a:t>Refs: Patterson &amp; Hennessy; Stallings; Hamacher</a:t>
            </a:r>
          </a:p>
          <a:p>
            <a:pPr algn="l">
              <a:spcBef>
                <a:spcPts val="0"/>
              </a:spcBef>
              <a:spcAft>
                <a:spcPts val="0"/>
              </a:spcAft>
            </a:pPr>
            <a:r>
              <a:rPr lang="en-US" sz="1200" dirty="0">
                <a:solidFill>
                  <a:srgbClr val="6B7A80"/>
                </a:solidFill>
              </a:rPr>
              <a:t>Complete Code(</a:t>
            </a:r>
            <a:r>
              <a:rPr lang="en-US" sz="1200" dirty="0" err="1">
                <a:solidFill>
                  <a:srgbClr val="6B7A80"/>
                </a:solidFill>
              </a:rPr>
              <a:t>Github</a:t>
            </a:r>
            <a:r>
              <a:rPr lang="en-US" sz="1200" dirty="0">
                <a:solidFill>
                  <a:srgbClr val="6B7A80"/>
                </a:solidFill>
              </a:rPr>
              <a:t>): </a:t>
            </a:r>
            <a:r>
              <a:rPr lang="en-US" sz="1200" dirty="0">
                <a:solidFill>
                  <a:srgbClr val="6B7A80"/>
                </a:solidFill>
                <a:hlinkClick r:id="rId3"/>
              </a:rPr>
              <a:t>Click here</a:t>
            </a:r>
            <a:endParaRPr lang="en-US" sz="1200" b="0" i="0" dirty="0">
              <a:solidFill>
                <a:srgbClr val="6B7A80"/>
              </a:solidFill>
            </a:endParaRPr>
          </a:p>
        </p:txBody>
      </p:sp>
      <p:sp>
        <p:nvSpPr>
          <p:cNvPr id="10" name="Footer"/>
          <p:cNvSpPr txBox="1"/>
          <p:nvPr/>
        </p:nvSpPr>
        <p:spPr>
          <a:xfrm>
            <a:off x="731520" y="6382512"/>
            <a:ext cx="6766560" cy="274320"/>
          </a:xfrm>
          <a:prstGeom prst="rect">
            <a:avLst/>
          </a:prstGeom>
          <a:noFill/>
          <a:ln>
            <a:noFill/>
          </a:ln>
        </p:spPr>
        <p:txBody>
          <a:bodyPr wrap="square" lIns="0" tIns="0" rIns="0" bIns="0" anchor="t">
            <a:noAutofit/>
          </a:bodyPr>
          <a:lstStyle/>
          <a:p>
            <a:pPr algn="l">
              <a:spcBef>
                <a:spcPts val="0"/>
              </a:spcBef>
              <a:spcAft>
                <a:spcPts val="0"/>
              </a:spcAft>
            </a:pPr>
            <a:r>
              <a:rPr lang="en-US" sz="1000" b="0" i="0" dirty="0">
                <a:solidFill>
                  <a:srgbClr val="6B7A80"/>
                </a:solidFill>
              </a:rPr>
              <a:t>Sayantan Bharati  |  BWU/BTS/25/503  |  Section B  |  COA (BTS30101)  |  10</a:t>
            </a:r>
          </a:p>
        </p:txBody>
      </p:sp>
    </p:spTree>
  </p:cSld>
  <p:clrMapOvr>
    <a:masterClrMapping/>
  </p:clrMapOvr>
</p:sld>
</file>

<file path=ppt/theme/theme1.xml><?xml version="1.0" encoding="utf-8"?>
<a:theme xmlns:a="http://schemas.openxmlformats.org/drawingml/2006/main" name="Green Facet">
  <a:themeElements>
    <a:clrScheme name="Green 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6B9F25"/>
      </a:hlink>
      <a:folHlink>
        <a:srgbClr val="BA6906"/>
      </a:folHlink>
    </a:clrScheme>
    <a:fontScheme name="Green Facet">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buchet M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1455</Words>
  <Application>Microsoft Office PowerPoint</Application>
  <PresentationFormat>Widescreen</PresentationFormat>
  <Paragraphs>213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Courier New</vt:lpstr>
      <vt:lpstr>Green 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sayantan bharati</cp:lastModifiedBy>
  <cp:revision>5</cp:revision>
  <dcterms:created xsi:type="dcterms:W3CDTF">2026-10-04T04:28:14Z</dcterms:created>
  <dcterms:modified xsi:type="dcterms:W3CDTF">2026-10-06T18:35:43Z</dcterms:modified>
</cp:coreProperties>
</file>